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0629990244218" /><Relationship Type="http://schemas.openxmlformats.org/officeDocument/2006/relationships/extended-properties" Target="/docProps/app.xml" Id="Re0cdb8d0a6e34d06" /><Relationship Type="http://schemas.openxmlformats.org/officeDocument/2006/relationships/officeDocument" Target="/ppt/presentation.xml" Id="R518758fb71c0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a897fd391142f1"/>
  </p:sldMasterIdLst>
  <p:notesMasterIdLst>
    <p:notesMasterId xmlns:r="http://schemas.openxmlformats.org/officeDocument/2006/relationships" r:id="Ra95576823c8843c0"/>
  </p:notesMasterIdLst>
  <p:sldIdLst>
    <p:sldId xmlns:r="http://schemas.openxmlformats.org/officeDocument/2006/relationships" id="256" r:id="R783ff0ddb86a41eb"/>
    <p:sldId xmlns:r="http://schemas.openxmlformats.org/officeDocument/2006/relationships" id="257" r:id="R14acb64c1962484a"/>
    <p:sldId xmlns:r="http://schemas.openxmlformats.org/officeDocument/2006/relationships" id="258" r:id="R5dd86792381644b2"/>
    <p:sldId xmlns:r="http://schemas.openxmlformats.org/officeDocument/2006/relationships" id="259" r:id="Rbdb41aba83a94a60"/>
    <p:sldId xmlns:r="http://schemas.openxmlformats.org/officeDocument/2006/relationships" id="260" r:id="Rb68a94f32e384757"/>
    <p:sldId xmlns:r="http://schemas.openxmlformats.org/officeDocument/2006/relationships" id="261" r:id="Rca554cf14f664c78"/>
    <p:sldId xmlns:r="http://schemas.openxmlformats.org/officeDocument/2006/relationships" id="262" r:id="Rfe33c47287224486"/>
    <p:sldId xmlns:r="http://schemas.openxmlformats.org/officeDocument/2006/relationships" id="263" r:id="R46e510ef3cc748b0"/>
    <p:sldId xmlns:r="http://schemas.openxmlformats.org/officeDocument/2006/relationships" id="264" r:id="R82b24624321d436d"/>
    <p:sldId xmlns:r="http://schemas.openxmlformats.org/officeDocument/2006/relationships" id="265" r:id="R2ca13f63468b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e7dc777844ea7" /><Relationship Type="http://schemas.openxmlformats.org/officeDocument/2006/relationships/slideMaster" Target="/ppt/slideMasters/slideMaster1.xml" Id="R42a897fd391142f1" /><Relationship Type="http://schemas.openxmlformats.org/officeDocument/2006/relationships/notesMaster" Target="/ppt/notesMasters/notesMaster1.xml" Id="Ra95576823c8843c0" /><Relationship Type="http://schemas.openxmlformats.org/officeDocument/2006/relationships/presProps" Target="/ppt/presProps.xml" Id="R38564ab618e14b11" /><Relationship Type="http://schemas.openxmlformats.org/officeDocument/2006/relationships/tableStyles" Target="/ppt/tableStyles.xml" Id="R99f04c315187487b" /><Relationship Type="http://schemas.openxmlformats.org/officeDocument/2006/relationships/slide" Target="/ppt/slides/slide1.xml" Id="R783ff0ddb86a41eb" /><Relationship Type="http://schemas.openxmlformats.org/officeDocument/2006/relationships/slide" Target="/ppt/slides/slide2.xml" Id="R14acb64c1962484a" /><Relationship Type="http://schemas.openxmlformats.org/officeDocument/2006/relationships/slide" Target="/ppt/slides/slide3.xml" Id="R5dd86792381644b2" /><Relationship Type="http://schemas.openxmlformats.org/officeDocument/2006/relationships/slide" Target="/ppt/slides/slide4.xml" Id="Rbdb41aba83a94a60" /><Relationship Type="http://schemas.openxmlformats.org/officeDocument/2006/relationships/slide" Target="/ppt/slides/slide5.xml" Id="Rb68a94f32e384757" /><Relationship Type="http://schemas.openxmlformats.org/officeDocument/2006/relationships/slide" Target="/ppt/slides/slide6.xml" Id="Rca554cf14f664c78" /><Relationship Type="http://schemas.openxmlformats.org/officeDocument/2006/relationships/slide" Target="/ppt/slides/slide7.xml" Id="Rfe33c47287224486" /><Relationship Type="http://schemas.openxmlformats.org/officeDocument/2006/relationships/slide" Target="/ppt/slides/slide8.xml" Id="R46e510ef3cc748b0" /><Relationship Type="http://schemas.openxmlformats.org/officeDocument/2006/relationships/slide" Target="/ppt/slides/slide9.xml" Id="R82b24624321d436d" /><Relationship Type="http://schemas.openxmlformats.org/officeDocument/2006/relationships/slide" Target="/ppt/slides/slide10.xml" Id="R2ca13f63468b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d867481a8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0cf7c9339e4191" /><Relationship Type="http://schemas.openxmlformats.org/officeDocument/2006/relationships/notesMaster" Target="/ppt/notesMasters/notesMaster1.xml" Id="R5fb64e3f9c70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c429a0e0e417f" /><Relationship Type="http://schemas.openxmlformats.org/officeDocument/2006/relationships/notesMaster" Target="/ppt/notesMasters/notesMaster1.xml" Id="R3ffa931fc8674e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de6bfc2ae94634" /><Relationship Type="http://schemas.openxmlformats.org/officeDocument/2006/relationships/notesMaster" Target="/ppt/notesMasters/notesMaster1.xml" Id="Rfb3fc58b2633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97ae0fd402486b" /><Relationship Type="http://schemas.openxmlformats.org/officeDocument/2006/relationships/notesMaster" Target="/ppt/notesMasters/notesMaster1.xml" Id="R3c1bc46d75e745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edee20dab41c1" /><Relationship Type="http://schemas.openxmlformats.org/officeDocument/2006/relationships/notesMaster" Target="/ppt/notesMasters/notesMaster1.xml" Id="R962a7e8fa9d7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ae2b25698448b6" /><Relationship Type="http://schemas.openxmlformats.org/officeDocument/2006/relationships/notesMaster" Target="/ppt/notesMasters/notesMaster1.xml" Id="R240f99e0127e49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a890340ce4603" /><Relationship Type="http://schemas.openxmlformats.org/officeDocument/2006/relationships/notesMaster" Target="/ppt/notesMasters/notesMaster1.xml" Id="R4b7ad0fe11cd44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980e380b944988" /><Relationship Type="http://schemas.openxmlformats.org/officeDocument/2006/relationships/notesMaster" Target="/ppt/notesMasters/notesMaster1.xml" Id="R7eeb947c04d144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9e0fdaf5b94ffe" /><Relationship Type="http://schemas.openxmlformats.org/officeDocument/2006/relationships/notesMaster" Target="/ppt/notesMasters/notesMaster1.xml" Id="Rc549fd226e804b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1ef57a0ab146bc" /><Relationship Type="http://schemas.openxmlformats.org/officeDocument/2006/relationships/notesMaster" Target="/ppt/notesMasters/notesMaster1.xml" Id="R15a083cac6c1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배경은 프로젝트용으로 생성한 일러스트입니다. 분석 내용은 로컬 산출물과 서울시 공공데이터에 근거합니다.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정의. LLM은 설명 보조 역할이며 순위 근거 자체가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우리마을가게 상권분석서비스 원본 CSV, 서울시 교통·지하철 운영 원본, B078 샘플 파일. B078 전체 원본은 서울 빅데이터캠퍼스 접근 후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샘플: data/external/B078_PURPOSE_250M_202403_sample.csv. 카드매출 예시: data/raw/seoul_commercial_sales_dong_2025.csv 첫 행. B078 MOVE_TIME 공식 단위는 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ODsay API 문서 및 docs/odsay_30min_pipeline.md, docs/local_transit_30min_colab.md. 현재 접근성 결과는 공식 운행자료 기반의 시간대 평균 모형이며 실시간 경로 결과가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data/processed/local_transit_30min/time_period_candidates.csv. 후보 수는 시간대 보정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 및 분석 보고서. Spearman 0.555는 초기 행정동 EDA 결과입니다. R²는 로그매출 기준 분기 홀드아웃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data/processed/flow_sales_gap/multi_period_validation. 분기 홀드아웃 0.990, forward-year 0.981, 동 GroupKFold 0.747은 확장 맥락 모형의 로그매출 R²입니다.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data/processed/purpose_features 및 data/processed/purpose_rankings/path_v0_purpose_rankings_latest.csv. PATH-v0는 학습모형이 아니라 투명한 기준선입니다.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모델 평가 기준은 docs/analysis_roadmap.md에 정의한 시간 순 검증 및 ranking 지표를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63d2073f7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a1bdfc9544dce" /><Relationship Type="http://schemas.openxmlformats.org/officeDocument/2006/relationships/slideLayout" Target="/ppt/slideLayouts/slideLayout1.xml" Id="R9b47f8d9bab844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7f8d9bab844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5392a0ebe42c7" /><Relationship Type="http://schemas.openxmlformats.org/officeDocument/2006/relationships/image" Target="/ppt/media/image.png" Id="Ra14a73a1df2b406a" /><Relationship Type="http://schemas.openxmlformats.org/officeDocument/2006/relationships/notesSlide" Target="/ppt/notesSlides/notesSlide1.xml" Id="R923c0cf6d367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fd690a57e428d" /><Relationship Type="http://schemas.openxmlformats.org/officeDocument/2006/relationships/notesSlide" Target="/ppt/notesSlides/notesSlide2.xml" Id="R53c16c457f7646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0c3c73fe44349" /><Relationship Type="http://schemas.openxmlformats.org/officeDocument/2006/relationships/notesSlide" Target="/ppt/notesSlides/notesSlide3.xml" Id="R2ca94a555ed245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e20a7d6824584" /><Relationship Type="http://schemas.openxmlformats.org/officeDocument/2006/relationships/notesSlide" Target="/ppt/notesSlides/notesSlide4.xml" Id="R9fa8d20d7e524c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21ac9b72a4ef6" /><Relationship Type="http://schemas.openxmlformats.org/officeDocument/2006/relationships/notesSlide" Target="/ppt/notesSlides/notesSlide5.xml" Id="R4dcd6d3441744d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29dd250554450" /><Relationship Type="http://schemas.openxmlformats.org/officeDocument/2006/relationships/chart" Target="/ppt/slides/charts/chart1.xml" Id="R233ef3f282544778" /><Relationship Type="http://schemas.openxmlformats.org/officeDocument/2006/relationships/notesSlide" Target="/ppt/notesSlides/notesSlide6.xml" Id="R39956de74787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79d8e8cf949f0" /><Relationship Type="http://schemas.openxmlformats.org/officeDocument/2006/relationships/chart" Target="/ppt/slides/charts/chart2.xml" Id="R4cfcd022434f449b" /><Relationship Type="http://schemas.openxmlformats.org/officeDocument/2006/relationships/notesSlide" Target="/ppt/notesSlides/notesSlide7.xml" Id="Rb07e58c0f06446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d6fa029a6442e" /><Relationship Type="http://schemas.openxmlformats.org/officeDocument/2006/relationships/chart" Target="/ppt/slides/charts/chart3.xml" Id="R4a81c1d230404ef9" /><Relationship Type="http://schemas.openxmlformats.org/officeDocument/2006/relationships/notesSlide" Target="/ppt/notesSlides/notesSlide8.xml" Id="Rc1042524132747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bb26d65394a4e" /><Relationship Type="http://schemas.openxmlformats.org/officeDocument/2006/relationships/notesSlide" Target="/ppt/notesSlides/notesSlide9.xml" Id="R1d0fc9f41a76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3d28790704f15" /><Relationship Type="http://schemas.openxmlformats.org/officeDocument/2006/relationships/notesSlide" Target="/ppt/notesSlides/notesSlide10.xml" Id="Rb879a4792d8141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행정동 수</c:v>
          </c:tx>
          <c:spPr>
            <a:solidFill xmlns:a="http://schemas.openxmlformats.org/drawingml/2006/main">
              <a:srgbClr val="1B4E77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195</c:v>
                </c:pt>
                <c:pt idx="1">
                  <c:v>139</c:v>
                </c:pt>
                <c:pt idx="2">
                  <c:v>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F4B400"/>
            </a:solidFill>
          </c:spPr>
          <c:cat>
            <c:strRef>
              <c:f>'Chart Data'!$A$2:$A$3</c:f>
              <c:strCache>
                <c:ptCount val="2"/>
                <c:pt idx="0">
                  <c:v>선형 Ridge</c:v>
                </c:pt>
                <c:pt idx="1">
                  <c:v>비선형 HGB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0.792</c:v>
                </c:pt>
                <c:pt idx="1">
                  <c:v>0.895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1B4E77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a73a1df2b406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A2A01-41B0-4AA4-8DCE-2D257DBE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3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97F10-E47D-4C9E-A024-FCCEB12D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A4A8E-501D-482F-BC7C-7658CF71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5F830-7660-49E5-BB92-BB928F86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2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동대문구 출발 30분 생활권 기반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목적지 추천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ED5C-9D10-4966-8A22-C29EDA3B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rPr>
              <a:t>대중교통 접근성 · 상권 구조 · 소비 신호를 결합한 목적지 선택 베이스라인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9B69A-0E01-414C-9C21-0411723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rPr>
              <a:t>DAT 분석 프로젝트  |  장한별 · 지우진 · 최시현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1E883-9755-41D8-A352-81FF761E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rPr>
              <a:t>2026. 09</a:t>
            </a:r>
          </a:p>
        </p:txBody>
      </p:sp>
    </p:spTree>
    <p:extLst>
      <p:ext uri="{BB962C8B-B14F-4D97-AF65-F5344CB8AC3E}">
        <p14:creationId xmlns:p14="http://schemas.microsoft.com/office/powerpoint/2010/main" val="1517446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E3D16-4696-4946-9C88-977D7A5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BA793-ADA7-4A94-AB88-B90479E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9C6BC-2433-4C9B-9DD1-5CC6B114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목적지가 정해지기 전, ‘30분 안에 갈 만한 동네’를 데이터로 좁힌다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73A90-4BB2-4985-ACA7-23A3E8C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A1305-F2CA-408E-A39C-08510B3F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같은 30분 생활권이라도</a:t>
            </a:r>
          </a:p>
          <a:p xmlns:a="http://schemas.openxmlformats.org/drawingml/2006/main">
            <a:pPr algn="l">
              <a:defRPr sz="25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목적에 따라 좋은 동네는 다르다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DE79-BC35-4CBB-B8C4-308265A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대중교통으로 실제 도달 가능한 후보를 먼저 만들고, 상권·소비·시설의 구조를 목적별로 비교한다.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A495A-55BE-44BF-B5A2-7DFA3C0F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857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226BC-CE1A-4DEA-91DA-DC80634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핵심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2C2D6-CAB1-4E03-953E-BBF3F10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3762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동대문구 어디서 출발하더라도</a:t>
            </a:r>
          </a:p>
          <a:p xmlns:a="http://schemas.openxmlformats.org/drawingml/2006/main">
            <a:pPr algn="l">
              <a:def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30분 내 도달 가능한 행정동 중</a:t>
            </a:r>
          </a:p>
          <a:p xmlns:a="http://schemas.openxmlformats.org/drawingml/2006/main">
            <a:pPr algn="l">
              <a:def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식사 · 카페 · 공부 · 쇼핑 · 여가문화에</a:t>
            </a:r>
          </a:p>
          <a:p xmlns:a="http://schemas.openxmlformats.org/drawingml/2006/main">
            <a:pPr algn="l">
              <a:def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각각 적합한 곳은 어디인가?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7F28F-57CA-43B6-853F-3FAC6866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LLM은 결과를 설명할 수 있지만, 후보 생성과 순위 근거는 관측 데이터와 검증 모형이 담당한다.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9CA0B-7E5D-4FFB-BEF7-97FC782A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A4392-E742-4B13-9B0A-20D4DFA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65304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7585B-CEC4-4140-B363-87805A14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9ECF1-1A4E-40A1-94F8-46297EC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분석 데이터와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7BD4A-7BB3-469C-A495-D7E49D3B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행정동 단위 상권 패널과 250m 격자 이동 데이터를 결합하는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6F272-5AA4-4D76-A6B4-CA4D08A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095625"/>
                <a:gridCol w="1809750"/>
                <a:gridCol w="4257675"/>
              </a:tblGrid>
              <a:tr h="51593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데이터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관측 단위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분석 역할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B078 이동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250m 출발·도착 격자 × 시간 × 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원본 접근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목적별 실제 유입량</a:t>
                      </a:r>
                    </a:p>
                  </a:txBody>
                  <a:tcPr marL="76200" marR="76200" marT="47625" marB="47625"/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서울시 카드매출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분기 × 행정동 × 서비스업종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2023Q1–2025Q4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소비 규모·시간대·연령</a:t>
                      </a:r>
                    </a:p>
                  </a:txBody>
                  <a:tcPr marL="76200" marR="76200" marT="47625" marB="47625"/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서울시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분기 × 행정동 × 서비스업종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2023Q1–2025Q4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업종 구성·점포 수</a:t>
                      </a:r>
                    </a:p>
                  </a:txBody>
                  <a:tcPr marL="76200" marR="76200" marT="47625" marB="47625"/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분기 × 행정동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2021Q1–2026Q2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유입·시설 맥락</a:t>
                      </a:r>
                    </a:p>
                  </a:txBody>
                  <a:tcPr marL="76200" marR="76200" marT="47625" marB="47625"/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대중교통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정류장·역·노선·구간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2026년 최신 확보본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30분 후보지 생성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F58B6-6234-4E4A-B1C0-05480C0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FF6F4-CFD6-4EDF-AC2F-C4E9508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9,060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8BD15-1B4F-46D8-9598-11D36AE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목적별 피처 행</a:t>
            </a:r>
          </a:p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151개 동 × 12분기 × 5목적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9DA60-3B38-41DB-806A-EAA28132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76875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B0B0E-C122-47F5-86E0-B7E0B32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959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53개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0CF03-F367-48DD-9203-587E755A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934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카드매출 원본 컬럼</a:t>
            </a:r>
          </a:p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시간대·요일·성·연령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6461E-7507-4D9E-BDDD-8E067B75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76875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E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F4A15-A331-4216-84E2-F55080DC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959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47개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7FE61-E5B3-4A8C-A250-B2BA352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34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B078 이동 원본 컬럼</a:t>
            </a:r>
          </a:p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OD 격자·이동시간·목적 포함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0E5C0-0049-4FA5-9137-C61581B6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B1A1F-403B-4A43-A4F5-FF71FBE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1228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F9B6-7EF7-4756-96BB-4F76DB1E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08671-7208-4A5B-8CF6-04999DEE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원본 데이터는 이렇게 생겼다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5A156-FE79-447A-A121-6E853E3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집계된 상권 패널과 250m OD 이동 레코드를 억지로 개인 단위 결합하지 않는다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2A244-ACB8-4F20-B0D1-564F9BAF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9C79E-6238-4A50-A7E5-241FB6A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B078 이동 데이터 샘플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5143500" cy="1428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1238250"/>
                <a:gridCol w="809625"/>
                <a:gridCol w="809625"/>
                <a:gridCol w="1047750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ST_TIME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출발시각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FE89D-2D75-48C1-811E-96FFD90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서울시 카드매출 원본 행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286500" y="2324100"/>
          <a:ext xmlns:a="http://schemas.openxmlformats.org/drawingml/2006/main" cx="5295900" cy="1428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809625"/>
                <a:gridCol w="1047750"/>
                <a:gridCol w="1143000"/>
                <a:gridCol w="1333500"/>
                <a:gridCol w="962025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매출액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시간대별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13855-3AC0-4357-B05D-EDF25C77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결합 원칙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44969-DE42-4BEC-9108-9A567E6F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782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① B078 250m 격자를 행정동으로 공간 매핑  ② 출발·도착·시간·연령·목적 단위의 이동량을 집계  ③ 같은 행정동·분기 상권 특성과 연결  ④ 개인을 재식별하거나 개인 카드내역과 결합하지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87F39-719A-4F35-B8E5-1595651A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84747"/>
                </a:solidFill>
                <a:latin typeface="Helvetica Neue"/>
                <a:ea typeface="Helvetica Neue"/>
                <a:cs typeface="Helvetica Neue"/>
              </a:rPr>
              <a:t>현재 B078은 499행 스키마 검증용 샘플만 보유한다. 전체 원본을 확보한 뒤에만 목적별 이동량을 학습의 정답값으로 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39EA6-5056-4C13-95E2-D42A134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5D42E-6D2A-4776-B0D4-CEB68CFB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58679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5D5FD-DA58-4109-B492-2EC7C347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7C500-2622-4860-82FA-FF2B9FF8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ODsay 검토와 30분 접근성 모형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81660-5CF7-49AB-BEC7-961FF445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실시간 경로 API는 후보 재검증에 쓰고, 전체 생활권 계산은 재현 가능한 정적 교통망으로 수행한다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7DC9C-CE30-498E-A6F5-CE8C7B84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95A84-ABA7-414E-91EC-E12160B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ODsay에서 확인한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59756-D25A-40A2-AC41-3C15FC45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버스·지하철 통합 경로와 30분 접근성 폴리곤을 제공한다. 다만 수백 개 출발지의 반복 호출은 응답 형식·호출량·시점 차이 관리가 필요하다.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F2CC5-BEA7-4ACE-8755-743B89E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5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현재 실행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73273-42B6-40DD-BBC3-E89263AC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431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서울시 버스 구간시간과 서울교통공사 시간표를 공통 그래프로 바꿔 334개 출발지에서 다익스트라 탐색을 수행했다.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5D349-A676-4885-9182-B5FF7E92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382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B1FD9-9F05-4326-901C-29854A83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출발지 334개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50494-B707-4A74-9EBE-91527A7D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290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버스·지하철 네트워크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CD9CB-0FF6-432A-B341-0E092EC3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29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30분 최단시간 탐색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554D2-52FD-4A13-BA3E-7E9BB798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29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행정동 후보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E2FB3-C5E7-45BC-B507-261FB26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동대문구 정류장·역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4F202-C713-4675-98EA-08168E8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10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공식 구간시간·시간표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B4FA2-3407-42D4-A20E-6B503F3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대기·환승·도보 포함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04156-58B5-4169-9F7E-4A11B521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00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출발지 도달 비율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C9ECB-7392-416E-8FE4-1CD95E2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가정: 버스 대기 5분 · 지하철 대기 3분 · 환승 2분 · 도보 1.2m/s · 출발 접근 600m · 환승 도보 250m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2412F-2E2C-45C9-B60C-19A48822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ODsay는 상위 후보의 개별 경로 재검증과 실서비스 단계의 실시간 경로 조회에 남긴다.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B4827-A3F0-445F-97D1-A2724425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1165D-018E-4FEB-8DF5-DD461633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6606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D4490-D2D9-4E7E-B62E-A8B9795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48682-4170-4815-AB76-F7B62860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30분 후보지의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244D5-E52C-4C8C-A21D-EB849B1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합집합이 아닌 ‘여러 출발지에서 반복 도달 가능한가’를 기준으로 후보군을 고른다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8F256-1B80-48B5-B3F8-E8C0F590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ef3f28254477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260EC-B986-4759-92D5-AD9A5C5F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E7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85F73-170E-4E5A-8102-C9485C5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764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172개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F3D68-840A-4BFA-A41B-0A4A66E1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08시 50% 도달 후보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5EA48-205B-41CF-B1EC-2695624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CA93D-0D17-4BE0-A47C-2AC2BC8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764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153개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00DE1-6F02-4D36-94BD-29D6E43F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14시 50% 도달 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262A3-982A-4732-A0AE-048E5AE8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E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E9156-E0D5-430C-A8C4-4C50DE01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168개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5985F-717D-425E-9AEE-79460005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147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19시 50% 도달 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346AD-BF17-4C46-82FB-09FB5FF2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8C7A5-A9F4-4AA2-A7B0-703406AD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153개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ED0C9-1B10-4436-A63F-27F289E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147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세 시간대 공통 후보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B50FB-7AE5-4354-9F82-02729D3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분석 기본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49B2B-9E4E-4113-B6D6-8DF9331A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08시·14시·19시에 모두 ‘출발지의 50% 이상’에서 30분 내 도달한 153개 행정동. 상권 패널 코드와 안정적으로 결합된 151개 동을 이후 분석에 사용했다.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4B016-B65E-472B-BD82-0AE8011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4CE41-38AC-4A35-B7BB-7614682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2982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D9866-D69C-4C68-8AB0-C7911E6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20108-9830-4068-97BA-56FAB107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EDA: 유동인구만으로 매출을 설명하기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5106B-067A-475F-87F2-D8B32572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비선형 기대매출을 기준으로 ‘사람은 많지만 소비가 약한 곳’과 그 반대를 찾는다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64952-66FF-4D3C-A810-5E0501DF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36D96-92FC-4729-9DD3-8714B1C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306EF-F605-47B4-9AC8-C25F3EB7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F6EB7-961B-4A17-9643-90947682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유동인구–매출 Spearman 상관</a:t>
            </a:r>
          </a:p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단일 지표의 한계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0EC8E-9776-4520-815F-138F321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10587-F8CA-4F13-990F-BF0F0E96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19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A265C-971A-4C9B-A33F-5BCDC89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2025 분기 홀드아웃</a:t>
            </a:r>
          </a:p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33243-AAEE-4EA4-B3B4-BBB74DAB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E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17A19-FAAF-40D1-92D3-231EFD6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11F62-6307-4760-A264-ACC9B536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동일 조건 선형모형 R²</a:t>
            </a:r>
          </a:p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관계의 곡선성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09600" y="3667125"/>
          <a:ext xmlns:a="http://schemas.openxmlformats.org/drawingml/2006/main" cx="5334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fcd022434f449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E0600-AB3D-4803-852D-BCD1AE95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괴리의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9D446-A0B6-4629-9FA3-B08DAADB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실제 매출 − 유동인구·점포 수로 예측한 매출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C3AE8-8A20-490B-B9CE-923820E7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양의 괴리: 규모 대비 소비가 강한 목적소비 후보</a:t>
            </a:r>
          </a:p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음의 괴리: 사람이 지나가지만 소비 전환이 약한 통과형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단일 분기 이상치가 아니라 여러 분기에서 같은 방향으로 나타나는지를 확인했다.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B6DAF-DAD2-4C4C-B7C9-F02EC480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5A33-1524-4E9D-BC8C-F571D00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8633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F7310-A171-462C-AFB9-486EB04F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991AD-E9A0-4531-B6B0-C4620FFC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성능 검증: 높은 점수는 그대로 믿지 않았다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2B76B-4854-4246-AE55-A48B6EEB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같은 동을 여러 분기 반복 관측하면 성능이 과대평가될 수 있어 공간 홀드아웃을 추가했다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E6F0F-3DF3-4BE1-ADA9-D85B0B9C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81c1d230404ef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ED54C-B312-4618-9B3C-4D61B621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47875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99295-FEB9-42C7-8399-D504AA15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98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해석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506EE-258A-4132-82F3-AD876B6E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0.98~0.99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9BE39-FEB8-4F19-85DC-D713D17A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같은 행정동의 과거 패턴을</a:t>
            </a:r>
          </a:p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다음 분기에 설명하는 성능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FFC88-8EC6-496C-96EE-69DFC7D4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0.747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5EA17-CCF9-4F26-AF9F-7BE316CE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처음 보는 행정동에 대한</a:t>
            </a:r>
          </a:p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더 현실적인 일반화 성능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9D3C4-BD35-4F81-8E54-DC3543BA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결론: 0.98을 ‘새 동네에도 그대로 적용되는 성능’으로 발표하지 않는다. 목적별 추천은 시간 순 검증과 미관측 목적지 검증을 함께 통과해야 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41E01-7C0A-4090-ADC6-C4F7075B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C6EF1-CFF5-442C-B53D-C8F1E995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384585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DC3B2-9D90-4339-86DB-6C08A8B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BD527-BE88-4308-9B06-4E630D21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목적별 피처와 PATH-v0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AD7DF-5E88-49DF-85E8-9546DBC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하나의 인기순 대신 목적마다 다른 상권 구조와 소비 패턴을 반영한다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D85EC-E731-4E78-AF08-5719C48F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3857625"/>
                <a:gridCol w="2952750"/>
                <a:gridCol w="3019425"/>
              </a:tblGrid>
              <a:tr h="431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주요 공급 신호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소비 신호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2025Q4 1위</a:t>
                      </a:r>
                    </a:p>
                  </a:txBody>
                  <a:tcPr marL="91440" marR="91440" marT="45720" marB="45720">
                    <a:solidFill>
                      <a:srgbClr val="071D33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사직동</a:t>
                      </a:r>
                    </a:p>
                  </a:txBody>
                  <a:tcPr marL="76200" marR="76200" marT="47625" marB="47625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성수1가2동</a:t>
                      </a:r>
                    </a:p>
                  </a:txBody>
                  <a:tcPr marL="76200" marR="76200" marT="47625" marB="47625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공릉2동</a:t>
                      </a:r>
                    </a:p>
                  </a:txBody>
                  <a:tcPr marL="76200" marR="76200" marT="47625" marB="47625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종로1·2·3·4가동</a:t>
                      </a:r>
                    </a:p>
                  </a:txBody>
                  <a:tcPr marL="76200" marR="76200" marT="47625" marB="47625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2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상봉2동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CA7B0-EE10-4CA3-ACA7-06BED209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B400"/>
                </a:solidFill>
                <a:latin typeface="Helvetica Neue"/>
                <a:ea typeface="Helvetica Neue"/>
                <a:cs typeface="Helvetica Neue"/>
              </a:rPr>
              <a:t>PATH-v0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BC2F2-A935-4056-9FB2-ACB66E2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Purpose-Aware Transit-constrained Heuristic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9DC15-983D-4028-A091-F2FACE6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D33"/>
                </a:solidFill>
                <a:latin typeface="Helvetica Neue"/>
                <a:ea typeface="Helvetica Neue"/>
                <a:cs typeface="Helvetica Neue"/>
              </a:rPr>
              <a:t>점수 = 목적 공급 신호 70% + 직전 분기 소비 신호 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C7DB4-5254-40CA-869F-DCA78EC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149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동시점 매출은 설명용으로 분리하고, 순위 입력에는 직전 분기 소비 신호만 사용해 누수를 막았다. 이 규칙기반 점수는 B078 학습모형과 비교할 기준선이다.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6CAB3-F81E-45F1-B590-BDD67D3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CD613-361B-42D9-9742-7E1E6ED7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89215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39AC6-847C-40D9-83BE-05B5B07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BCCD5-2E5C-495B-83E0-F0DDBE4A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49FCF-177A-4039-AA25-96B1E93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rPr>
              <a:t>현재 만든 후보지·피처·베이스라인 위에 실제 목적지 선택모형을 쌓는다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9750D-F250-4D22-9D7C-33F64327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ADE52-F2E9-4C3D-8297-291267E1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385BA-123E-48CC-94FA-4249D71B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B078 전체 원본 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FC6B2-7FC1-4323-BB1C-CFD62D9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rPr>
              <a:t>250m OD를 행정동·시간·연령·목적으로 집계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15912-14C4-44C7-8082-971FA04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717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226C5-2CDB-4D93-87C4-FA149D2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003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E88F4-9E25-4A4B-893D-F8139622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목적지 선택 데이터마트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01EB0-21BA-4A43-B6C5-3383EDF4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24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rPr>
              <a:t>출발지 조건마다 30분 이내 후보지를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13E27-B7A3-4726-91EC-A212919A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63331-5789-400D-9EE7-992DE1B9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E902E-3A9A-498A-9CC7-3FFDF13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학습·검증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C4F5A-087A-4B2C-AF40-A4E733A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rPr>
              <a:t>Conditional Logit, LightGBM/CatBoost와 PATH-v0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C43D2-5F90-4C3C-816E-161FCAFB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D2667-6D89-4B70-84BE-C310C13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003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EE5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63949-62A3-43CB-9EA4-4806C69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385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설명 가능한 추천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62567-C669-4773-A262-2615738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24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5D5E2"/>
                </a:solidFill>
                <a:latin typeface="Helvetica Neue"/>
                <a:ea typeface="Helvetica Neue"/>
                <a:cs typeface="Helvetica Neue"/>
              </a:rPr>
              <a:t>SHAP·근거 문장·불확실성으로 결과 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5061B-3575-4167-8DEE-C3B1F520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평가 지표: Recall@5 · NDCG@5 · MRR · 출발지 조건별 paired bootstrap 95% 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D6D80-1C38-4193-8F47-26635C6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rPr>
              <a:t>막시무스는 지도 검색 결과를 반복하는 서비스가 아니라, 접근 가능한 선택지와 그 순위 근거를 데이터로 제시하는 분석 프로젝트다.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6A910-AF76-44B5-BDBE-53D9E36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MAXIMUS  |  DATA ANALYTICS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911C0-7D47-4B87-A077-2F758ED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395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3275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2026-09-09T01:00:26.8740000Z</dcterms:created>
  <dcterms:modified xsi:type="dcterms:W3CDTF">2026-09-09T01:00:26.8740000Z</dcterms:modified>
</coreProperties>
</file>