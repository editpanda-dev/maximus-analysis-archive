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b7aca330924bc0" /><Relationship Type="http://schemas.openxmlformats.org/officeDocument/2006/relationships/extended-properties" Target="/docProps/app.xml" Id="R7d2d7f1e5b9c4669" /><Relationship Type="http://schemas.openxmlformats.org/officeDocument/2006/relationships/officeDocument" Target="/ppt/presentation.xml" Id="Rbac3d067d0f24f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79d3f108a94f8a"/>
  </p:sldMasterIdLst>
  <p:notesMasterIdLst>
    <p:notesMasterId xmlns:r="http://schemas.openxmlformats.org/officeDocument/2006/relationships" r:id="Ra0633d4cbf364914"/>
  </p:notesMasterIdLst>
  <p:sldIdLst>
    <p:sldId xmlns:r="http://schemas.openxmlformats.org/officeDocument/2006/relationships" id="256" r:id="Rc494a8326a734878"/>
    <p:sldId xmlns:r="http://schemas.openxmlformats.org/officeDocument/2006/relationships" id="257" r:id="Re8d0fe8e02d24c35"/>
    <p:sldId xmlns:r="http://schemas.openxmlformats.org/officeDocument/2006/relationships" id="258" r:id="R2915d1de08ee41e9"/>
    <p:sldId xmlns:r="http://schemas.openxmlformats.org/officeDocument/2006/relationships" id="259" r:id="R97e54021632a49f4"/>
    <p:sldId xmlns:r="http://schemas.openxmlformats.org/officeDocument/2006/relationships" id="260" r:id="R1bf00ec7e2e24527"/>
    <p:sldId xmlns:r="http://schemas.openxmlformats.org/officeDocument/2006/relationships" id="261" r:id="Rb496c14923ef46cd"/>
    <p:sldId xmlns:r="http://schemas.openxmlformats.org/officeDocument/2006/relationships" id="262" r:id="Rb4890ce80e9f44b8"/>
    <p:sldId xmlns:r="http://schemas.openxmlformats.org/officeDocument/2006/relationships" id="263" r:id="R69ef227b18154548"/>
    <p:sldId xmlns:r="http://schemas.openxmlformats.org/officeDocument/2006/relationships" id="264" r:id="R1e152f135b0042bf"/>
    <p:sldId xmlns:r="http://schemas.openxmlformats.org/officeDocument/2006/relationships" id="265" r:id="Rdc574ee4a13f4d10"/>
    <p:sldId xmlns:r="http://schemas.openxmlformats.org/officeDocument/2006/relationships" id="266" r:id="Ra6f19046843f49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9f00c517cc4ba4" /><Relationship Type="http://schemas.openxmlformats.org/officeDocument/2006/relationships/slideMaster" Target="/ppt/slideMasters/slideMaster1.xml" Id="R9d79d3f108a94f8a" /><Relationship Type="http://schemas.openxmlformats.org/officeDocument/2006/relationships/notesMaster" Target="/ppt/notesMasters/notesMaster1.xml" Id="Ra0633d4cbf364914" /><Relationship Type="http://schemas.openxmlformats.org/officeDocument/2006/relationships/presProps" Target="/ppt/presProps.xml" Id="Rc1b9a33bdde243ba" /><Relationship Type="http://schemas.openxmlformats.org/officeDocument/2006/relationships/tableStyles" Target="/ppt/tableStyles.xml" Id="R3471dac1d10b4bdf" /><Relationship Type="http://schemas.openxmlformats.org/officeDocument/2006/relationships/slide" Target="/ppt/slides/slide1.xml" Id="Rc494a8326a734878" /><Relationship Type="http://schemas.openxmlformats.org/officeDocument/2006/relationships/slide" Target="/ppt/slides/slide2.xml" Id="Re8d0fe8e02d24c35" /><Relationship Type="http://schemas.openxmlformats.org/officeDocument/2006/relationships/slide" Target="/ppt/slides/slide3.xml" Id="R2915d1de08ee41e9" /><Relationship Type="http://schemas.openxmlformats.org/officeDocument/2006/relationships/slide" Target="/ppt/slides/slide4.xml" Id="R97e54021632a49f4" /><Relationship Type="http://schemas.openxmlformats.org/officeDocument/2006/relationships/slide" Target="/ppt/slides/slide5.xml" Id="R1bf00ec7e2e24527" /><Relationship Type="http://schemas.openxmlformats.org/officeDocument/2006/relationships/slide" Target="/ppt/slides/slide6.xml" Id="Rb496c14923ef46cd" /><Relationship Type="http://schemas.openxmlformats.org/officeDocument/2006/relationships/slide" Target="/ppt/slides/slide7.xml" Id="Rb4890ce80e9f44b8" /><Relationship Type="http://schemas.openxmlformats.org/officeDocument/2006/relationships/slide" Target="/ppt/slides/slide8.xml" Id="R69ef227b18154548" /><Relationship Type="http://schemas.openxmlformats.org/officeDocument/2006/relationships/slide" Target="/ppt/slides/slide9.xml" Id="R1e152f135b0042bf" /><Relationship Type="http://schemas.openxmlformats.org/officeDocument/2006/relationships/slide" Target="/ppt/slides/slide10.xml" Id="Rdc574ee4a13f4d10" /><Relationship Type="http://schemas.openxmlformats.org/officeDocument/2006/relationships/slide" Target="/ppt/slides/slide11.xml" Id="Ra6f19046843f49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07ecb4d19548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48b2c07d0e4551" /><Relationship Type="http://schemas.openxmlformats.org/officeDocument/2006/relationships/notesMaster" Target="/ppt/notesMasters/notesMaster1.xml" Id="R0c786146d9fb4c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5e81ac60bb4938" /><Relationship Type="http://schemas.openxmlformats.org/officeDocument/2006/relationships/notesMaster" Target="/ppt/notesMasters/notesMaster1.xml" Id="R38aea7d9c9874c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4b58bd4ec94e98" /><Relationship Type="http://schemas.openxmlformats.org/officeDocument/2006/relationships/notesMaster" Target="/ppt/notesMasters/notesMaster1.xml" Id="R10eeb4d223db4a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789ed216184e10" /><Relationship Type="http://schemas.openxmlformats.org/officeDocument/2006/relationships/notesMaster" Target="/ppt/notesMasters/notesMaster1.xml" Id="R96a99f2646d54c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0a9ffeee16433b" /><Relationship Type="http://schemas.openxmlformats.org/officeDocument/2006/relationships/notesMaster" Target="/ppt/notesMasters/notesMaster1.xml" Id="Reb82102601574e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b9738b03204e9a" /><Relationship Type="http://schemas.openxmlformats.org/officeDocument/2006/relationships/notesMaster" Target="/ppt/notesMasters/notesMaster1.xml" Id="R50f19fadd0fe4d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62277802d34fbc" /><Relationship Type="http://schemas.openxmlformats.org/officeDocument/2006/relationships/notesMaster" Target="/ppt/notesMasters/notesMaster1.xml" Id="R933df483bc6548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8049ad2ee94e99" /><Relationship Type="http://schemas.openxmlformats.org/officeDocument/2006/relationships/notesMaster" Target="/ppt/notesMasters/notesMaster1.xml" Id="R2187632d867e42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5a284655f842f8" /><Relationship Type="http://schemas.openxmlformats.org/officeDocument/2006/relationships/notesMaster" Target="/ppt/notesMasters/notesMaster1.xml" Id="Rfe8a8ee246224c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72e7ea950e4ec3" /><Relationship Type="http://schemas.openxmlformats.org/officeDocument/2006/relationships/notesMaster" Target="/ppt/notesMasters/notesMaster1.xml" Id="R19b976f2539e4b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86f51bd1654e87" /><Relationship Type="http://schemas.openxmlformats.org/officeDocument/2006/relationships/notesMaster" Target="/ppt/notesMasters/notesMaster1.xml" Id="Rc697170d28434c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 배경은 한국외대 서울캠퍼스의 생활권 맥락을 반영해 생성한 캠퍼스 이미지입니다. 실제 캠퍼스 항공사진이나 서울 랜드마크를 사용하지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접근성 산출물: data/processed/local_transit_30min. 공식 상권 후보: data/processed/commercial_area_accessibility. 행정동은 탐색 생활권, 공식 상권은 추천 후보 단위로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서울시 상권분석서비스 원본 CSV, 공식 상권 영역 폴리곤, 교통 운영 원본, B078 표본을 사용했습니다. 공식 상권 1,650개 중 26개가 세 시간대 25% 접근 기준을 통과했습니다.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B078 표본: data/external/B078_PURPOSE_250M_202403_sample.csv. 격자 중심점은 EPSG:5179 좌표계에서 WGS84로 변환한 뒤 서울 행정동 GeoJSON과 point-in-polygon 공간결합합니다.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scripts/build_odsay_origins.py, data/external/odsay_origins.csv. 버스 325개는 ARS_ID 6000–6999, 지하철 9개는 ODsay pointSearch 결과입니다.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scripts/build_seoul_transit_network.py, scripts/static_multimodal_accessibility.py, data/interim/local_transit/network_build_summary.csv, reachable_stops_by_origin.csv.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data/processed/local_transit_30min/time_period_candidates.csv 및 data/processed/commercial_area_accessibility/commercial_area_candidates_25pct.csv. 204개는 25% 기준의 세 시간대 공통 행정동, 26개는 상권 자체의 세 시간대 공통 접근률 25% 이상 후보입니다.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data/processed/transit_validation/ODSAY_STATIC_VALIDATION_REPORT.md. ODsay 등시권 폴리곤과 정적 모형 도달 정류장을 비교했습니다. 정밀도는 0.977~0.986, 재현율은 0.474~0.531입니다. 이는 실시간 분 단위 경로 오차 검증이 아니라 도달 범위 겹침 검증입니다.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data/processed/flow_sales_gap/model_comparison.csv, multi_period_validation. R²는 로그매출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서울시 상권분석서비스 점포-상권·추정매출-상권 2025 원본과 data/processed/commercial_area_accessibility. PATH-v0는 학습모형이 아닌 투명한 기준선입니다.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향후 계획. 현재 26개 공식 상권 후보는 공간·접근성 기준선이며, B078 전체 원본 확보 후 목적지 선택 확률을 학습합니다. 평가는 docs/analysis_roadmap.md의 시간 순·공간 홀드아웃 및 ranking 지표를 따릅니다.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dd19a97b240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802282d2e84abe" /><Relationship Type="http://schemas.openxmlformats.org/officeDocument/2006/relationships/slideLayout" Target="/ppt/slideLayouts/slideLayout1.xml" Id="R7a001c5b43bd44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001c5b43bd44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a7a4efd304e7e" /><Relationship Type="http://schemas.openxmlformats.org/officeDocument/2006/relationships/image" Target="/ppt/media/image.png" Id="R092bc01c53de41dd" /><Relationship Type="http://schemas.openxmlformats.org/officeDocument/2006/relationships/notesSlide" Target="/ppt/notesSlides/notesSlide1.xml" Id="R7e4dfcaafcb945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42bb968784741" /><Relationship Type="http://schemas.openxmlformats.org/officeDocument/2006/relationships/notesSlide" Target="/ppt/notesSlides/notesSlide2.xml" Id="Raa0124611d7142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41956116e4332" /><Relationship Type="http://schemas.openxmlformats.org/officeDocument/2006/relationships/notesSlide" Target="/ppt/notesSlides/notesSlide3.xml" Id="R046de475fdc44e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821f1c8354d3f" /><Relationship Type="http://schemas.openxmlformats.org/officeDocument/2006/relationships/notesSlide" Target="/ppt/notesSlides/notesSlide4.xml" Id="R20e4b3814f414c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e9a83c84849a0" /><Relationship Type="http://schemas.openxmlformats.org/officeDocument/2006/relationships/notesSlide" Target="/ppt/notesSlides/notesSlide5.xml" Id="R882ff452a9bf4d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667c1d6cf4d9f" /><Relationship Type="http://schemas.openxmlformats.org/officeDocument/2006/relationships/notesSlide" Target="/ppt/notesSlides/notesSlide6.xml" Id="Rc39f69deabf046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52507d3914d4e" /><Relationship Type="http://schemas.openxmlformats.org/officeDocument/2006/relationships/chart" Target="/ppt/slides/charts/chart1.xml" Id="R6646f233299c478a" /><Relationship Type="http://schemas.openxmlformats.org/officeDocument/2006/relationships/notesSlide" Target="/ppt/notesSlides/notesSlide7.xml" Id="R411d54b7ae1e4e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cc3662c824bf0" /><Relationship Type="http://schemas.openxmlformats.org/officeDocument/2006/relationships/notesSlide" Target="/ppt/notesSlides/notesSlide8.xml" Id="R6a368fe168fd48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1144b770148f8" /><Relationship Type="http://schemas.openxmlformats.org/officeDocument/2006/relationships/chart" Target="/ppt/slides/charts/chart2.xml" Id="Rb983283066c4475f" /><Relationship Type="http://schemas.openxmlformats.org/officeDocument/2006/relationships/notesSlide" Target="/ppt/notesSlides/notesSlide9.xml" Id="R3822e1b5c17040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d60b698f84438" /><Relationship Type="http://schemas.openxmlformats.org/officeDocument/2006/relationships/notesSlide" Target="/ppt/notesSlides/notesSlide10.xml" Id="Rbd736932857f4d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b128354c34b06" /><Relationship Type="http://schemas.openxmlformats.org/officeDocument/2006/relationships/notesSlide" Target="/ppt/notesSlides/notesSlide11.xml" Id="R8336f17483ca4d1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공식 상권 수</c:v>
          </c:tx>
          <c:spPr>
            <a:solidFill xmlns:a="http://schemas.openxmlformats.org/drawingml/2006/main">
              <a:srgbClr val="3182F6"/>
            </a:solidFill>
          </c:spPr>
          <c:cat>
            <c:strRef>
              <c:f>'Chart Data'!$A$2:$A$4</c:f>
              <c:strCache>
                <c:ptCount val="3"/>
                <c:pt idx="0">
                  <c:v>25% 이상</c:v>
                </c:pt>
                <c:pt idx="1">
                  <c:v>50% 이상</c:v>
                </c:pt>
                <c:pt idx="2">
                  <c:v>80% 이상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26</c:v>
                </c:pt>
                <c:pt idx="1">
                  <c:v>14</c:v>
                </c:pt>
                <c:pt idx="2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1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로그매출 R²</c:v>
          </c:tx>
          <c:spPr>
            <a:solidFill xmlns:a="http://schemas.openxmlformats.org/drawingml/2006/main">
              <a:srgbClr val="3182F6"/>
            </a:solidFill>
          </c:spPr>
          <c:cat>
            <c:strRef>
              <c:f>'Chart Data'!$A$2:$A$4</c:f>
              <c:strCache>
                <c:ptCount val="3"/>
                <c:pt idx="0">
                  <c:v>분기 홀드아웃
확장모형</c:v>
                </c:pt>
                <c:pt idx="1">
                  <c:v>연도 전진 검증
확장모형</c:v>
                </c:pt>
                <c:pt idx="2">
                  <c:v>미관측 동
공간 홀드아웃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0.99</c:v>
                </c:pt>
                <c:pt idx="1">
                  <c:v>0.981</c:v>
                </c:pt>
                <c:pt idx="2">
                  <c:v>0.747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bc01c53de41d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B6444-F59A-48DB-A203-C88B579A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90196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14C95-3B36-43AF-A0B5-D1060368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0F31A-F890-4C84-876C-AF4D05D2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막시무스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57174-19AF-44A0-8CDB-143BFF4C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238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한국외대 서울캠퍼스 생활권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공식 상권 단위 목적지 추천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184E1-9845-4BEE-A94F-6E3D5EA8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동대문구 334개 출발지에서 교통 접근성을 계산하고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공식 상권 피처로 목적별 순위를 산출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99CD0-DA93-437A-AB2D-87FE25B5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666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78381-A2DB-47F7-84E7-5A70F172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DATA PIPELINE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699CA-33CF-44F6-8F45-47421B2D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장한별 · 지우진 · 최시현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395C1-413E-49E7-8A6B-FE0C7C16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52290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5875F9-C4D6-4226-8B23-8FAA419C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FED40-216E-451C-92B9-EE5F52AB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분석 파이프라인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7D80F-0602-4CC9-813F-8FE576E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교통망으로 탐색 생활권을 만들고, 공식 상권 단위에서 목적별 순위를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E29A5-1071-4057-8869-C2B57F05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6DEA6-E8D7-4F48-9AF9-7954E337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EC673-F90C-4627-88F0-70980115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C018C-1068-447E-A7D5-E817D174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C32C6-870D-4226-987B-A8E7FD35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출발지 334개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9EEC0-BCA3-44A4-9380-1817DFF5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동대문구 버스 325개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지하철 9개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D039C-ABA6-45B9-A989-3BEE61D3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EBCE8-A274-45EA-9F00-ABB88FC1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22818-A604-41D7-A2DF-ABBDF25A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FAAF5-78E4-4C1C-8CFB-8E59C83B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도달 정류장 탐색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543C1-6BAB-48C7-A876-E8B7FEDE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버스·지하철 그래프에서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30분 이내 최단시간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D24AA-81FD-4A7C-B0B6-DF4ECAB3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7C156-2126-46D6-8B0F-0D9DE525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9FD89-01D3-4CF6-9119-5C75EC78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BEB2D-84FC-4EE7-B5AC-D7CB591D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단위 세분화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6F3D5-74EE-4D99-885D-7F683271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25% 탐색 생활권 안의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상권 폴리곤을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F36E6-0490-451D-B169-E75BA280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99D78-7B48-4877-BABC-B497158E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47295-432A-4F09-8314-E91A2F4E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21123-8841-412B-8386-13921D4D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상권별 순위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6366F-2BA6-48BD-A274-AC6488BA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점포·매출·시설 피처로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PATH-v0 베이스라인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2CDB0-4828-4F23-83CD-AEB9B694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후보 생성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91369-45E5-4A02-A652-8B1B1318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644,028개 출발지–정류장 도달 기록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AA08BF-8D47-4BF0-A974-4269C144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130개 공식 상권을 행정동 생활권과 공간결합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34A90-A225-442D-954B-8C1A87E7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26개 공식 상권 후보 × 5개 목적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5C346-84AD-4B15-9B43-C25C093B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C30C9-7A1F-4A6D-94F8-FC39378A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핵심 원칙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ADDCA0-21EE-411B-A0E6-3B89A2FA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238750"/>
            <a:ext cx="904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행정동은 탐색 범위를 정하고, 실제 후보와 순위는 골목상권·발달상권·전통시장 같은 공식 상권 단위에서 계산한다.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39F12-F04B-4B9B-B989-E6DA34E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98C7C2-27CD-47A5-921B-C7D1DEE5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02 / 11</a:t>
            </a:r>
          </a:p>
        </p:txBody>
      </p:sp>
    </p:spTree>
    <p:extLst>
      <p:ext uri="{BB962C8B-B14F-4D97-AF65-F5344CB8AC3E}">
        <p14:creationId xmlns:p14="http://schemas.microsoft.com/office/powerpoint/2010/main" val="1401610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9842D-45DD-4142-994D-27F07672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26523-59C0-4D2F-A7E5-4FCE9F91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원본 데이터와 분석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972C7-8943-47DF-868F-CEB7A025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행정동 패널로 탐색하고, 공식 상권 폴리곤에서 최종 후보·피처를 정의한다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E3151-E8CC-43DC-9C23-485EB503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2000250"/>
                <a:gridCol w="3905250"/>
                <a:gridCol w="3257550"/>
              </a:tblGrid>
              <a:tr h="4603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 수 / 컬럼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필드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용도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카드매출 2023–2025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203,656행 / 53개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업종·매출·요일·시간대·성·연령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소비 신호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점포 2023–2025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423,454행 / 12개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업종·점포 수·개·폐업·프랜차이즈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상권 구성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유동·집객시설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9,350행 / 25·23개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유동인구·학교·극장·지하철역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지역 맥락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B078 이동 샘플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499행 / 47개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250m OD·시각·목적·이동시간·성연령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스키마 검증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교통 운영 원본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버스·지하철 노드·엣지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정류소·역·구간시간·시간표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도달성 계산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68CE0-8CF0-4D9F-B15E-4AAE2210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71E53-8B66-4835-9265-13B7DAFF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203,656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F0E2F-9DCE-4A89-8BAA-8C3BF778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카드매출 원본 행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2023Q1–2025Q4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4925B-D574-43D9-A161-5AF14AB4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7443B-3CE5-4851-87FB-D79F6216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423,454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488EA-63D2-4E88-A33C-E6ED486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점포 원본 행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동일 기간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ADAC1-FF7E-49AB-A8D3-F5B4200C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D1DCA-3F4D-480F-8873-60BDA20C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53 + 47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7111B-73F5-4BF0-89A6-7BCA7995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매출·이동 데이터 컬럼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시간·목적을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34F5B-DF94-4EA3-AA53-69E87475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A905D-771B-427F-B01E-611A7CE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26개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49C6E-E725-4871-A26A-D7048DCE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상권 최종 후보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25% 기준·세 시간대 공통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2FDC0-8B5E-4636-8D10-1B5F34E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원본 데이터와 공식 상권 단위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D73DC-90C2-4D01-A78D-1701E87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03 / 11</a:t>
            </a:r>
          </a:p>
        </p:txBody>
      </p:sp>
    </p:spTree>
    <p:extLst>
      <p:ext uri="{BB962C8B-B14F-4D97-AF65-F5344CB8AC3E}">
        <p14:creationId xmlns:p14="http://schemas.microsoft.com/office/powerpoint/2010/main" val="2020226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FECFE-7BAD-41F8-BC8F-C6B21FE3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71AD5-562F-456C-8FBC-84155122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원본 레코드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E2286-59C5-4021-A43B-20D40864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개인 단위로 합치지 않고, 공통 공간·시간 단위로 집계한다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668C0-C9BA-42B9-9BB3-11611F15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638B4-459E-45BB-951A-09CE8F1D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B078 이동 데이터 샘플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5191125" cy="1447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809625"/>
                <a:gridCol w="857250"/>
                <a:gridCol w="857250"/>
              </a:tblGrid>
              <a:tr h="482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O_CELL_ID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D_CELL_ID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ST_TIME_CD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MOVE_PURPOSE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MOVE_TIME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다사31004675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다사31004500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 기타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53분</a:t>
                      </a:r>
                    </a:p>
                  </a:txBody>
                  <a:tcPr marL="76200" marR="76200" marT="47625" marB="47625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도착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 시각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이동 목적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 단위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72842-596E-42C0-B806-75C2745E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서울시 카드매출 원본 행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400800" y="2266950"/>
          <a:ext xmlns:a="http://schemas.openxmlformats.org/drawingml/2006/main" cx="5181600" cy="1447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62000"/>
                <a:gridCol w="1095375"/>
                <a:gridCol w="1143000"/>
                <a:gridCol w="1285875"/>
                <a:gridCol w="895350"/>
              </a:tblGrid>
              <a:tr h="482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당월 매출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11–14시 매출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2025Q1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청운효자동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한식음식점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3,383,806,701원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1,348,487,189원</a:t>
                      </a:r>
                    </a:p>
                  </a:txBody>
                  <a:tcPr marL="76200" marR="76200" marT="47625" marB="47625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 집계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 코드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업종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당월 합계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시간대 합계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BC589-B7C7-46AB-B1A8-247FC70B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DFC5B-B55D-4074-ADB3-1734ABCD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격자–행정동 결합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C643D-F58A-4384-90FA-7FFAC5C9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ID만 보고 위치를 아는 것이 아니다. O_CELL_X·O_CELL_Y 좌표를 격자 중심점으로 만들고, 그 점이 포함되는 행정동 경계 폴리곤을 찾아 동 코드와 이름을 붙인다.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B2152-D83A-442B-B662-08E226B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rPr>
              <a:t>B078 전체 원본을 확보하기 전에는 표본 499행으로 목적지 선호나 추천 성능을 주장하지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CC1A7-54FC-4FA0-8F37-52A4D9FB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2420A-E81B-43E8-97E2-D94933C4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04 / 11</a:t>
            </a:r>
          </a:p>
        </p:txBody>
      </p:sp>
    </p:spTree>
    <p:extLst>
      <p:ext uri="{BB962C8B-B14F-4D97-AF65-F5344CB8AC3E}">
        <p14:creationId xmlns:p14="http://schemas.microsoft.com/office/powerpoint/2010/main" val="446178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8970E-1183-4AC2-AB0C-718D4971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7A533-8DD2-404B-B750-DBB31143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동대문구 출발지 334개를 만든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24272-E2A5-4F4B-B5E1-B2C8889A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 정류장 식별코드와 지하철역 좌표를 하나의 출발지 CSV로 표준화했다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C1928-E216-4F99-8180-F27ACDE6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9C3AF-4116-4B30-86D2-245172FD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C1B52-F4D0-4E6C-8740-DC105994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버스 출발지 325개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7B714-3140-4186-83CD-C131C939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238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D8294-8342-4395-8340-34F4E7BA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009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Seoul OA-15067 · 2026-09-02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FF499-5A47-4641-A6E1-D5B31F85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서울시 버스정류소 위치정보 원본에서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ARS_ID가 6000–6999인 정류소만 필터링했다.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이 ARS 코드 대역이 동대문구 정류소를 식별한다.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CAD2B-0239-4E0F-8B1D-78E30CA8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필수 컬럼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C5BC2-87C7-40D0-9CCB-C9364EF9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NODE_ID · ARS_ID · 정류소명 · X좌표 · Y좌표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0251F-8A86-48D7-9768-0CD591A3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5578E-93AC-4A1A-90E3-8AED4873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지하철 출발지 9개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5DF9F-93D9-4385-8AAA-B89CC586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D0510-9F1D-4A06-8584-10742CC6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ODsay pointSearch 좌표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13A29-EF4A-4C38-8A35-FCA9CE32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동대문구 안의 지하철역을 별도로 검색해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역 ID·역명·경도·위도를 표준화했다.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 정류장과 중복하지 않는 출발 노드다.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7D0D0-9D82-475D-98BE-5BA88775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71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최종 origin 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E61DE-5AA9-49DF-9FEE-33D34107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origin_id · origin_name · longitude · latitude · origin_type ·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6A5D6-338A-4738-8C92-007F6996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8B0EF-3403-4D95-91B3-A0847C33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325개 버스 + 9개 지하철 = 334개 출발지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A376F-2C1F-46FA-82A3-BD85F08C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43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각 출발지를 같은 비중으로 두고 접근 가능한 목적지 비율을 계산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46D98-3578-462A-A6CF-92A9A2EE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FEF54-EB62-4063-9C2C-A850EBF4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05 / 11</a:t>
            </a:r>
          </a:p>
        </p:txBody>
      </p:sp>
    </p:spTree>
    <p:extLst>
      <p:ext uri="{BB962C8B-B14F-4D97-AF65-F5344CB8AC3E}">
        <p14:creationId xmlns:p14="http://schemas.microsoft.com/office/powerpoint/2010/main" val="1601036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91FD1B-AC9F-4D3E-95A3-3235835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1B3A1-07EB-4B2E-A7C0-A2567650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정류장·역에서 30분 내 도달 정류장을 찾는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FF599-9842-4913-8983-4CE5B12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운행 원본을 방향성 그래프로 바꾸고, 환승·도보·대기를 비용으로 넣어 최단시간을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E5AF7-6BA5-436A-9522-D69ED5C1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2E2A4-04EA-4CA8-8CFF-70AA261E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D2A62-1FF0-4D85-8698-ED7E9249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C3A59-C128-4194-B617-867BD9EC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7AE3B-187D-4127-A8AE-BD80BBA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버스 엣지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2917B-9C55-42E1-B504-FEB9FE44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노선별 정류장 순서와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시간대 구간 운행시간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CEC7E-1E7F-4071-B0B0-9C0D4DB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6D709-AD9E-4D42-8248-B37665BD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AFCA9-5151-45D4-B3FA-F75364A8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27477-4F1C-4C9C-9E9D-CA144EE1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지하철 엣지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CF434-68EE-4336-B251-F6911107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평일 시간표에서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역간 운행시간 중앙값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3473D-B917-4BA1-A05E-081D2911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300F9-6411-4A1F-9786-DC6D73C3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2EEB-C260-4D1E-AD57-06481C44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EE9DA-F1B4-4308-88D1-32E99814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보행 엣지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C568A-6F30-4D7D-BB5C-8749D3E2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250m 이내 정류장·역을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도보 시간으로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97D88-EDAB-4A0A-ADD2-3270D49E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2781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FECA5-775A-4817-8BC5-EEBFC1FA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C5D3F-24BA-44C4-B51F-7F750666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1047A-B5F3-474F-9023-5C53C76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다익스트라 탐색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F97FB-44C6-4122-85BD-E810A99A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194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상태 = 정류장, 현재 노선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30분 이하만 유지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23670-FFD6-4C9C-B2D7-D8D36144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BF1C1-0912-41AD-BA7B-4BEC398A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탐색 비용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3CC82-E08C-4025-B5CA-884129BF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출발지→정류장 도보 + 최초 탑승 대기 + 구간 운행시간 + 환승 시 추가 대기·환승시간 + 정류장 간 도보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C8BFA7-6D0C-41F5-AFCC-11795935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BD15CB-10A2-49AA-A174-FBAD270F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40,970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743EC2-F261-4313-9832-4554D35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10시 버스 방향 엣지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12,897개 정류장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FF88C5-69F9-4DD6-A199-460FC70E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DD1C77-7078-4136-8F50-75E029CE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946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00EFA-B51F-4CD6-B464-20E9FDD4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지하철 방향 엣지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454개 좌표 매칭 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3BD891-B407-43EF-93F5-D53E3A54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C3940B-92E5-4E4B-BF59-EC20AF54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644,028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0F48A1-F04D-4BA6-ACA5-0220BA8A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출발지–도달 정류장 쌍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334개 출발지 전체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5074EB-DE30-4B0D-92A3-9EB0CACC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FA2697-317C-4CDE-9E18-428D0DF4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30분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85687D-A93C-4F71-87C7-668BD391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하드 컷오프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도달한 정류장만 저장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61C168-3BBB-4797-87BC-DD23E6AC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7C28F9-B5B9-43F1-8136-4EE20E8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06 / 11</a:t>
            </a:r>
          </a:p>
        </p:txBody>
      </p:sp>
    </p:spTree>
    <p:extLst>
      <p:ext uri="{BB962C8B-B14F-4D97-AF65-F5344CB8AC3E}">
        <p14:creationId xmlns:p14="http://schemas.microsoft.com/office/powerpoint/2010/main" val="576775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2D1C6-9154-4AD8-BFD1-D45A0498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47523-16F8-482F-BEA0-59CEAD85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도달 정류장에서 공식 상권 후보를 뽑는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046C9-44F1-4E44-8F9D-AFCBC8FC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행정동은 25% 탐색 생활권으로 쓰고, 공식 상권 폴리곤별 접근률을 세 시간대에서 다시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9DDD7-BAB9-4579-991E-F9EA6861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22A2-336A-413E-A379-C2940069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9DC51-8473-4298-93BF-01973289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① 도달 정류장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3055A-30BB-45EA-B35D-8BB33745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각 출발지에서 30분 이내로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도달한 정류장·역의 좌표와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최단 소요시간을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B0B0E-9542-411B-80B3-27D078F5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644,028개 origin–stop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1CB0B-8B4A-41E1-8311-4B6E7603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2C455-16A6-47A6-8394-136969D6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② 탐색 생활권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B5D77-349F-424F-955F-6695C223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정류장 point를 서울 행정동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경계에 결합하고 세 시간대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최소 접근률 25%를 적용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A2FBF-5BA0-4952-94EB-6F67B394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세 시간대 공통 204개 행정동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EAA65-F554-4B3F-950D-82711A3D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D2202-5CEB-48BE-A5B1-19FD0218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③ 공식 상권 접근률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42CCD-89A0-4161-BB30-006D7698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상권 경계 400m 안 도달 정류장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보유 출발지 수 / 334를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08·14·19시에 각각 계산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835CB-4B66-4658-BCAD-58F4453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25% 기준 공식 상권 26개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39F78-E33C-4F62-9FE4-540E0770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공식 상권 후보군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2279F-0B1C-4CBF-A019-CAEC6B8D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25% 기준 26개 · 50% 기준 14개 · 80% 기준 5개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경계를 넘는 경우 교집합 면적을 모두 보존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26개 후보에 점포·매출·목적별 피처를 결합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CC89D-EE94-4276-95B9-74644871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62E6F-A171-4A72-8173-52B48C60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07 / 11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609600" y="4810125"/>
          <a:ext xmlns:a="http://schemas.openxmlformats.org/drawingml/2006/main" cx="4953000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46f233299c478a"/>
          </a:graphicData>
        </a:graphic>
      </p:graphicFrame>
    </p:spTree>
    <p:extLst>
      <p:ext uri="{BB962C8B-B14F-4D97-AF65-F5344CB8AC3E}">
        <p14:creationId xmlns:p14="http://schemas.microsoft.com/office/powerpoint/2010/main" val="1961084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D782C-8B79-44AD-ADE7-3E39860A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B5235-1366-4F1E-B03F-D8CF9A35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교통시간 가정과 ODsay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F9D4D-E39C-4AE4-AB12-35F8C4F6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전체 후보군은 정적 교통망으로 계산하고, ODsay 30분 등시권과 겹침을 비교해 정적 모형의 방향을 점검한다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942BB-51AE-4A81-9BAE-00EE83B1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676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476375"/>
                <a:gridCol w="3476625"/>
              </a:tblGrid>
              <a:tr h="4490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기본값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근거·적용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출발지 접근 도보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600m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출발좌표에서 인접 정류장·역 연결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환승 도보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250m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근접한 정류장·역 사이 보행 연결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보행 속도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1.2m/s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거리 ÷ 속도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버스·지하철 대기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노선별 반 간격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운행횟수·시간표 기반, 8·14·19시 보정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환승 추가시간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관측치 기반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시간대별 환승시간 중앙값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컷오프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탐색 중 1,800초 초과 상태 제거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3E883-7511-4DDC-B614-F602D979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3600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28F40-683F-4FA3-9D57-D0081E5F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ODsay 겹침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87313-6DD2-4D59-B36C-51676265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 정류장 정밀도는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08·14·19시 모두 0.98 수준이다.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정적 모형은 ODsay보다 보수적이다.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0817F-EE9D-4213-BEDF-3DD18C3B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971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4B1B6-CCA5-4BC3-AC59-5883D763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671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실서비스 경로 재검증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1C16F-2716-4A18-A290-D5D52C8F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14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정적 후보 생성 후 실제 사용자 경로 조회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4B64D-AC2D-4670-91AE-FDA1FFA5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가정값은 모두 model_assumptions.csv에 남기고, 08·14·19시 결과를 비교했다.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F833A-F89A-40DB-A85C-F46DB7AF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ODsay 정류장 겹침 검증: 정밀도 0.977~0.986, 재현율 0.474~0.531. 가정값과 시간대별 결과는 모두 파일로 보존했다.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013DB-FA5C-42B1-96ED-0F7DF44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08 / 11</a:t>
            </a:r>
          </a:p>
        </p:txBody>
      </p:sp>
    </p:spTree>
    <p:extLst>
      <p:ext uri="{BB962C8B-B14F-4D97-AF65-F5344CB8AC3E}">
        <p14:creationId xmlns:p14="http://schemas.microsoft.com/office/powerpoint/2010/main" val="386034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91532-E83A-4152-9A54-8A3402BE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FFC40-B414-4EFD-A732-622B3789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EDA와 성능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4FBEC-669C-46C3-9CA8-D1392F8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높은 점수 하나보다, 다른 시간·다른 지역에서도 유지되는지를 먼저 확인했다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1A70A-A88F-4587-A0BE-B17C72E9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618A6-A3C2-4136-BAB9-7DD0FBEB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3D62A-377C-4447-AF99-4704E5F4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0.555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D14EA-02C3-432E-B7AE-76B3CD38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유동인구–매출 Spearman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유동인구 하나로는 부족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16968-B10F-4853-BF74-B3CFAF76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E7EFE-10B4-427A-9092-C280513F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0.895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A671A-406B-412F-8556-8B390B89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2025 분기 홀드아웃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비선형 기대매출 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BDA39-2FAA-4BBF-9183-05D8D04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1FD63-C920-441A-885D-0136F081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0.792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DFFD5-F61A-4399-9B49-DECA5C2E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동일 조건 선형 Ridge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로그매출 R²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9E33A-34DF-4FE4-AE96-7A9F08A5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F9697-C385-4DAE-8C29-9E76FF38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0.747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F95F5-0E8D-4F07-AE17-7465891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미관측 행정동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공간 홀드아웃 R²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A30C4-FA0C-40B8-9D54-24AE795E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48768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1304E-97E9-48A0-843D-894C680E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해석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29AE1-792F-44A2-82CD-80D9EC8A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862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0.98~0.99는 같은 동의 과거 패턴을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다음 분기에 맞히는 성능이다.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E6733-5266-43DE-BE64-8C0C3A15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91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새로운 동네에 대한 일반화 성능은 0.747로 별도 보고한다.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따라서 현재 결과를 최종 추천 성능이라고 부르지 않는다.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EED35-9A5A-48DD-A68E-82045A18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괴리 후보는 ‘원인 확정’이 아니라, 유동인구·점포 수로 기대한 매출에서 반복적으로 벗어난 지역을 후속 조사 대상으로 선별한 결과다.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9E840-C21C-4609-AF12-2AB64954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1C43B-0380-425F-85B1-720825B6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09 / 11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09600" y="3619500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83283066c4475f"/>
          </a:graphicData>
        </a:graphic>
      </p:graphicFrame>
    </p:spTree>
    <p:extLst>
      <p:ext uri="{BB962C8B-B14F-4D97-AF65-F5344CB8AC3E}">
        <p14:creationId xmlns:p14="http://schemas.microsoft.com/office/powerpoint/2010/main" val="1720310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03241-10B9-49F7-BB76-E72BEFA4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384A8-B477-4DE1-8C74-52DF5AB8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공식 상권 피처와 PATH-v0 베이스라인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92D41-1375-4541-93FC-777E706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같은 공식 상권 후보라도 목적이 바뀌면 업종 구성·소비 신호·순위 근거가 달라진다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15272-735E-4D2D-ABA8-6A4F1D3F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4286250"/>
                <a:gridCol w="3095625"/>
                <a:gridCol w="2447925"/>
              </a:tblGrid>
              <a:tr h="4286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공급 피처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직전 분기 소비 신호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공식 상권 활용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식사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음식점·제과·주점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커피-음료 점포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독서실·학원·서적·학교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쇼핑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소매 업종·백화점·슈퍼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오후·저녁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여가문화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오락·스포츠·숙박·극장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저녁·야간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4D6E4-27FE-4D99-9392-E906DEC6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12732-83A1-47D0-8EA2-4D71531F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PATH-v0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E100C-9CC1-47D2-9C5A-18CA56C1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Purpose-Aware Transit-constrained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E3773-AF82-41B0-9207-FE9224FD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43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점수 = 목적별 점포·시설 신호 70% + 직전 분기 소비 신호 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1084B-E446-4A2B-AF66-98B1F028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768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26개 공식 상권의 목적별 피처를 비교한다. 동시점 매출은 설명용으로 분리하고, PATH-v0는 B078 학습모형과 비교할 투명한 기준선으로 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11AC6-E866-4299-BA33-E942729F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EC082-FB52-411F-8976-AAD8A3A6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264206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44DD1-F2DB-4916-924A-A86E7FA3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분석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008C1-5E9A-475C-83F3-2DF088FF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95B3E-93EC-40DF-948F-E1C0978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26개 공식 상권 후보와 목적별 피처를 기준선으로 두고, B078 목적지 선택모형으로 확장한다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168CC-A8D5-47A2-84F3-C36D8411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51A81-01BB-48EF-9B1F-F3457433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7AA11-49E0-45DF-8CF8-4E35329A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EEFDC-4454-46FB-A043-9D6A729E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공식 상권 26개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F3338-4520-493E-B839-F8F04189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13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25% 탐색 생활권에서 골목·발달·시장 단위로 세분화 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0D36A-30A4-4BBC-9A8C-79E1D2DC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3A759-77F9-4ED0-9AFA-FD4AC916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F44BA-8317-4E72-80E0-07BCB3F3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76FB3-14AF-406C-BF23-58640695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B078 전체 원본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192A5-9B94-43F7-BDF8-1574A48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250m OD를 행정동·상권·시간·목적으로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B98D1-BFE6-4F2A-8AB3-BEFFD034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08F53-4494-429C-9550-8CCAF2AC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48A0F-F2E6-480E-B939-FEBD151C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86A50-187E-4ADF-BEEA-FA9CD013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Choice set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62E10-D35D-4673-AA6E-22DB5106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29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출발지 조건별 30분 내 공식 상권 후보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91CAC-4884-4C63-8097-1F90168C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781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DBD6B-FB2D-4798-B230-9638D354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86B3B-56F9-4809-84B0-79AB4E37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ADF95-1D4B-4C58-9B89-0AF1D3F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학습·설명·검증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D7527-8E59-4897-8F76-FDC5E2F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57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33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Conditional Logit · LightGBM · CatBoost · SHAP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86C20-4360-4403-BE3E-2E9874AB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C4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1C1D04-02D9-4635-8FCC-3B68C61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비교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A938F-51CC-4556-9282-85916CCC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191125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7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이동시간 최단순, 전체 인기순, PATH-v0, 학습 순위모형을 같은 출발지 조건에서 비교한다. Recall@5·NDCG@5·MRR과 paired bootstrap 95% CI로 차이를 검증한다.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E175C-BA28-4C01-8124-DD17A374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현재 산출물: 334개 출발지, 시간대별 교통망, 204개 탐색 행정동, 26개 공식 상권 후보, 목적별 점포·매출 피처, PATH-v0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9B7491-1702-4DBC-80DA-EBC62A73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A9DDEA-39B4-47E1-AFA6-2077E670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1399506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2026-09-09T04:48:27.7660000Z</dcterms:created>
  <dcterms:modified xsi:type="dcterms:W3CDTF">2026-09-09T04:48:27.7660000Z</dcterms:modified>
</coreProperties>
</file>