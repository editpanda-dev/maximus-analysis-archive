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fe8209c4dc45f1" /><Relationship Type="http://schemas.openxmlformats.org/officeDocument/2006/relationships/extended-properties" Target="/docProps/app.xml" Id="R6f34be016a03464e" /><Relationship Type="http://schemas.openxmlformats.org/officeDocument/2006/relationships/officeDocument" Target="/ppt/presentation.xml" Id="Rb91b3fd40c224b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2718cde436459c"/>
  </p:sldMasterIdLst>
  <p:notesMasterIdLst>
    <p:notesMasterId xmlns:r="http://schemas.openxmlformats.org/officeDocument/2006/relationships" r:id="Rd788d6f0b1e24ed3"/>
  </p:notesMasterIdLst>
  <p:sldIdLst>
    <p:sldId xmlns:r="http://schemas.openxmlformats.org/officeDocument/2006/relationships" id="256" r:id="Rdcbb082fe1b24a00"/>
    <p:sldId xmlns:r="http://schemas.openxmlformats.org/officeDocument/2006/relationships" id="257" r:id="Rbec3024a00684800"/>
    <p:sldId xmlns:r="http://schemas.openxmlformats.org/officeDocument/2006/relationships" id="258" r:id="Ree5b065f30754e4a"/>
    <p:sldId xmlns:r="http://schemas.openxmlformats.org/officeDocument/2006/relationships" id="259" r:id="Rb2d6aaf05fdf450b"/>
    <p:sldId xmlns:r="http://schemas.openxmlformats.org/officeDocument/2006/relationships" id="260" r:id="R36755990bef34d73"/>
    <p:sldId xmlns:r="http://schemas.openxmlformats.org/officeDocument/2006/relationships" id="261" r:id="R334bec4607b94299"/>
    <p:sldId xmlns:r="http://schemas.openxmlformats.org/officeDocument/2006/relationships" id="262" r:id="R4638d1f290784cc3"/>
    <p:sldId xmlns:r="http://schemas.openxmlformats.org/officeDocument/2006/relationships" id="263" r:id="R850a003375aa4f94"/>
    <p:sldId xmlns:r="http://schemas.openxmlformats.org/officeDocument/2006/relationships" id="264" r:id="Rc3935456a38a476e"/>
    <p:sldId xmlns:r="http://schemas.openxmlformats.org/officeDocument/2006/relationships" id="265" r:id="R6aab1501b23f422b"/>
    <p:sldId xmlns:r="http://schemas.openxmlformats.org/officeDocument/2006/relationships" id="266" r:id="Rcfa6ec8e20ab4070"/>
    <p:sldId xmlns:r="http://schemas.openxmlformats.org/officeDocument/2006/relationships" id="267" r:id="Rc878b99d8d114b20"/>
    <p:sldId xmlns:r="http://schemas.openxmlformats.org/officeDocument/2006/relationships" id="268" r:id="Re13cc742f1a448ad"/>
    <p:sldId xmlns:r="http://schemas.openxmlformats.org/officeDocument/2006/relationships" id="269" r:id="R879cce2d2bd2428a"/>
    <p:sldId xmlns:r="http://schemas.openxmlformats.org/officeDocument/2006/relationships" id="270" r:id="Rcbde709767f742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da5c8e43cd4c4e" /><Relationship Type="http://schemas.openxmlformats.org/officeDocument/2006/relationships/slideMaster" Target="/ppt/slideMasters/slideMaster1.xml" Id="Rdf2718cde436459c" /><Relationship Type="http://schemas.openxmlformats.org/officeDocument/2006/relationships/notesMaster" Target="/ppt/notesMasters/notesMaster1.xml" Id="Rd788d6f0b1e24ed3" /><Relationship Type="http://schemas.openxmlformats.org/officeDocument/2006/relationships/presProps" Target="/ppt/presProps.xml" Id="R1e5b4923ab9a4094" /><Relationship Type="http://schemas.openxmlformats.org/officeDocument/2006/relationships/tableStyles" Target="/ppt/tableStyles.xml" Id="R7b55d443497a47b2" /><Relationship Type="http://schemas.openxmlformats.org/officeDocument/2006/relationships/slide" Target="/ppt/slides/slide1.xml" Id="Rdcbb082fe1b24a00" /><Relationship Type="http://schemas.openxmlformats.org/officeDocument/2006/relationships/slide" Target="/ppt/slides/slide2.xml" Id="Rbec3024a00684800" /><Relationship Type="http://schemas.openxmlformats.org/officeDocument/2006/relationships/slide" Target="/ppt/slides/slide3.xml" Id="Ree5b065f30754e4a" /><Relationship Type="http://schemas.openxmlformats.org/officeDocument/2006/relationships/slide" Target="/ppt/slides/slide4.xml" Id="Rb2d6aaf05fdf450b" /><Relationship Type="http://schemas.openxmlformats.org/officeDocument/2006/relationships/slide" Target="/ppt/slides/slide5.xml" Id="R36755990bef34d73" /><Relationship Type="http://schemas.openxmlformats.org/officeDocument/2006/relationships/slide" Target="/ppt/slides/slide6.xml" Id="R334bec4607b94299" /><Relationship Type="http://schemas.openxmlformats.org/officeDocument/2006/relationships/slide" Target="/ppt/slides/slide7.xml" Id="R4638d1f290784cc3" /><Relationship Type="http://schemas.openxmlformats.org/officeDocument/2006/relationships/slide" Target="/ppt/slides/slide8.xml" Id="R850a003375aa4f94" /><Relationship Type="http://schemas.openxmlformats.org/officeDocument/2006/relationships/slide" Target="/ppt/slides/slide9.xml" Id="Rc3935456a38a476e" /><Relationship Type="http://schemas.openxmlformats.org/officeDocument/2006/relationships/slide" Target="/ppt/slides/slide10.xml" Id="R6aab1501b23f422b" /><Relationship Type="http://schemas.openxmlformats.org/officeDocument/2006/relationships/slide" Target="/ppt/slides/slide11.xml" Id="Rcfa6ec8e20ab4070" /><Relationship Type="http://schemas.openxmlformats.org/officeDocument/2006/relationships/slide" Target="/ppt/slides/slide12.xml" Id="Rc878b99d8d114b20" /><Relationship Type="http://schemas.openxmlformats.org/officeDocument/2006/relationships/slide" Target="/ppt/slides/slide13.xml" Id="Re13cc742f1a448ad" /><Relationship Type="http://schemas.openxmlformats.org/officeDocument/2006/relationships/slide" Target="/ppt/slides/slide14.xml" Id="R879cce2d2bd2428a" /><Relationship Type="http://schemas.openxmlformats.org/officeDocument/2006/relationships/slide" Target="/ppt/slides/slide15.xml" Id="Rcbde709767f742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7a056e71b049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a48de310464674" /><Relationship Type="http://schemas.openxmlformats.org/officeDocument/2006/relationships/notesMaster" Target="/ppt/notesMasters/notesMaster1.xml" Id="Rb3644c4992f242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755e27810342ef" /><Relationship Type="http://schemas.openxmlformats.org/officeDocument/2006/relationships/notesMaster" Target="/ppt/notesMasters/notesMaster1.xml" Id="Ra7c69cd5ef9e4c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08f2087c0243a8" /><Relationship Type="http://schemas.openxmlformats.org/officeDocument/2006/relationships/notesMaster" Target="/ppt/notesMasters/notesMaster1.xml" Id="R3f7382f8600541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69aa07b4e647a1" /><Relationship Type="http://schemas.openxmlformats.org/officeDocument/2006/relationships/notesMaster" Target="/ppt/notesMasters/notesMaster1.xml" Id="Radc8c30778de46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279ff80084418b" /><Relationship Type="http://schemas.openxmlformats.org/officeDocument/2006/relationships/notesMaster" Target="/ppt/notesMasters/notesMaster1.xml" Id="Re725e316c0c049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3374068249400b" /><Relationship Type="http://schemas.openxmlformats.org/officeDocument/2006/relationships/notesMaster" Target="/ppt/notesMasters/notesMaster1.xml" Id="R3021eec355254e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75400049f04c55" /><Relationship Type="http://schemas.openxmlformats.org/officeDocument/2006/relationships/notesMaster" Target="/ppt/notesMasters/notesMaster1.xml" Id="R019a3afe3d7246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f07b8c9356433b" /><Relationship Type="http://schemas.openxmlformats.org/officeDocument/2006/relationships/notesMaster" Target="/ppt/notesMasters/notesMaster1.xml" Id="Ra5afcd2d6c5742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00aad9bf9b456d" /><Relationship Type="http://schemas.openxmlformats.org/officeDocument/2006/relationships/notesMaster" Target="/ppt/notesMasters/notesMaster1.xml" Id="Re8d53631c3894e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7930f28f824530" /><Relationship Type="http://schemas.openxmlformats.org/officeDocument/2006/relationships/notesMaster" Target="/ppt/notesMasters/notesMaster1.xml" Id="R3938dd61903d49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d5d79fbd7f4510" /><Relationship Type="http://schemas.openxmlformats.org/officeDocument/2006/relationships/notesMaster" Target="/ppt/notesMasters/notesMaster1.xml" Id="Ra04749b185f84f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e66ac398b94dfd" /><Relationship Type="http://schemas.openxmlformats.org/officeDocument/2006/relationships/notesMaster" Target="/ppt/notesMasters/notesMaster1.xml" Id="Rb292cb673e2042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aff0781b454cd0" /><Relationship Type="http://schemas.openxmlformats.org/officeDocument/2006/relationships/notesMaster" Target="/ppt/notesMasters/notesMaster1.xml" Id="R171e4b1cd09344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15de88e17294285" /><Relationship Type="http://schemas.openxmlformats.org/officeDocument/2006/relationships/notesMaster" Target="/ppt/notesMasters/notesMaster1.xml" Id="R3b821753856342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5a7820055748ab" /><Relationship Type="http://schemas.openxmlformats.org/officeDocument/2006/relationships/notesMaster" Target="/ppt/notesMasters/notesMaster1.xml" Id="Rf358ca49eb7d40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2주차 업데이트. 공식 상권 후보 786개와 공공 학습시설 원천 POI 268개를 결합해 목적별 추천 근거를 보강했다.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지난주에는 동대문구 버스정류장과 지하철역 334개를 출발지로 두고, 세 시간대에서 반복 접근 가능한 행정동 204개를 탐색 생활권으로 정했다. 이후 공식 상권 폴리곤과 400m 기준으로 결합해 786개를 후보로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공공 학습시설 원천은 268행·41열이며, 상권 피처는 area_code 기준 786행으로 집계했다. 2026 POI는 현재 추천용 보조 피처로만 쓰고 2025년 매출 예측 검증에는 쓰지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공개 접근이 확인된 공공도서관 205곳, 열람실 14곳, 청년공간 17곳으로 총 236개를 점수에 반영한다. 대학시설 후보 9개는 전체 검토 245개에는 보존하지만 순위에는 반영하지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원천 POI 268개의 place_id는 고유하다. 상위 20개 상권의 117개 상권-시설 연결을 수동 확인했다. 2026년 POI는 2025년 성능 검증에 넣지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담당 산출물을 area_code 786개 기준으로 결합했다. 공부 체류 점수와 학교 목적 이동 비중의 Spearman 상관은 0.198, 최소 접근률과의 상관은 0.089다. 이동 자료는 동대문구 출발 OD 선택 라벨이 아니므로 목적 맥락 대리변수로만 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교통 접근성은 334개 출발지에서 정류장·역·환승·도보를 연결한 정적 교통 그래프에서 계산했다. 오전 8시, 오후 2시, 오후 7시의 반복 접근성을 함께 보며 후보를 고른다.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행정동은 넓고 상권 성격이 섞여 있어 탐색 범위로만 사용했다. 786개의 공식 상권 폴리곤은 도달 정류장 400m 기준과 세 시간대 25% 접근률을 통과한 비교·추천 단위다.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PATH-v0의 일반 목적 점수는 목적 공급 신호 70%와 직전 분기 소비 신호 30%다. 공부는 독서실만 체류형 학습 업종으로 정의하고, 매출 원천에 독서실 소비가 없어 독서실 공급 신호 90%와 접근성 10%로 계산한다.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생활이동 데이터는 source_period가 26개 기간으로 혼재하고 동대문구 출발 OD가 아니다. 따라서 학교 이동 비중은 목적 맥락 대리변수로만 해석하며, 실제 추천 성능 지표로 쓰지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단계는 B078 원본으로 실제 선택 라벨을 얻어 목적지 선택 데이터셋을 만드는 것이다. 현재의 후보군·시설·접근성·목적 맥락 변수는 학습과 검증을 위한 설명 피처 기반이다.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표는 official_area_purpose_quarter_features.csv의 2025년 4분기 공부 목적 상위 5행을 읽기 쉽게 축약한 것이다. 전체 피처 테이블은 15,720행, 최신 분기 순위 테이블은 3,930행이다.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표는 official_area_week2_integration.csv에서 동대문구의 대표 상권 5개를 추린 실제 결합 행이다. 이동 비중은 source_period가 혼재한 목적 맥락 대리변수이며 개별 목적지 선택 라벨이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목적별 상위 이름과 점수는 official_area_purpose_latest_rankings.csv의 2025 Q4 PATH-v0 순위에서 가져온다. 목적별 상세 Top 10은 다음 지도에서 공식 상권 폴리곤으로 표시한다.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지도는 commercial_area_candidates_25pct.geojson의 786개 공식 상권 폴리곤과 official_area_purpose_latest_rankings.csv의 2025 Q4 목적별 Top 10을 area_code로 결합해 제작했다. 밝은 폴리곤의 숫자는 각 목적 안의 순위다.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2ac2c6d4204d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399aec37b84396" /><Relationship Type="http://schemas.openxmlformats.org/officeDocument/2006/relationships/slideLayout" Target="/ppt/slideLayouts/slideLayout1.xml" Id="R9a61d0a6aabc4e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61d0a6aabc4e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3427725414a06" /><Relationship Type="http://schemas.openxmlformats.org/officeDocument/2006/relationships/notesSlide" Target="/ppt/notesSlides/notesSlide1.xml" Id="R68b0467eff5847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c2364c73a4788" /><Relationship Type="http://schemas.openxmlformats.org/officeDocument/2006/relationships/notesSlide" Target="/ppt/notesSlides/notesSlide2.xml" Id="R7426aa077da64d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26cac98fc4d63" /><Relationship Type="http://schemas.openxmlformats.org/officeDocument/2006/relationships/notesSlide" Target="/ppt/notesSlides/notesSlide3.xml" Id="R90ac23f1b95448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64f8531634947" /><Relationship Type="http://schemas.openxmlformats.org/officeDocument/2006/relationships/notesSlide" Target="/ppt/notesSlides/notesSlide4.xml" Id="R3c4a001bc0e04e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0174f72024848" /><Relationship Type="http://schemas.openxmlformats.org/officeDocument/2006/relationships/notesSlide" Target="/ppt/notesSlides/notesSlide5.xml" Id="Rc64a894388464c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4e4f419594d47" /><Relationship Type="http://schemas.openxmlformats.org/officeDocument/2006/relationships/notesSlide" Target="/ppt/notesSlides/notesSlide6.xml" Id="R14aca7c86aa746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7a1969f5f4d1a" /><Relationship Type="http://schemas.openxmlformats.org/officeDocument/2006/relationships/notesSlide" Target="/ppt/notesSlides/notesSlide7.xml" Id="Rd6e38bcbe0cf47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644624c734b8b" /><Relationship Type="http://schemas.openxmlformats.org/officeDocument/2006/relationships/notesSlide" Target="/ppt/notesSlides/notesSlide8.xml" Id="Rfdbd051b05bf4b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93e99c0e14e70" /><Relationship Type="http://schemas.openxmlformats.org/officeDocument/2006/relationships/notesSlide" Target="/ppt/notesSlides/notesSlide9.xml" Id="Ra93ac013d74243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ba0c8cf0d498d" /><Relationship Type="http://schemas.openxmlformats.org/officeDocument/2006/relationships/notesSlide" Target="/ppt/notesSlides/notesSlide10.xml" Id="Ra9f0275c050c42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5b5e1313e4805" /><Relationship Type="http://schemas.openxmlformats.org/officeDocument/2006/relationships/notesSlide" Target="/ppt/notesSlides/notesSlide11.xml" Id="R97c0ad2e93d140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b80bff11e4b74" /><Relationship Type="http://schemas.openxmlformats.org/officeDocument/2006/relationships/notesSlide" Target="/ppt/notesSlides/notesSlide12.xml" Id="Rf6c2a034996840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a4d0001fe4c11" /><Relationship Type="http://schemas.openxmlformats.org/officeDocument/2006/relationships/notesSlide" Target="/ppt/notesSlides/notesSlide13.xml" Id="R7620b176b844454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9255a95b94faa" /><Relationship Type="http://schemas.openxmlformats.org/officeDocument/2006/relationships/notesSlide" Target="/ppt/notesSlides/notesSlide14.xml" Id="R29e9eef14d374e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733f242794e86" /><Relationship Type="http://schemas.openxmlformats.org/officeDocument/2006/relationships/image" Target="/ppt/media/image.png" Id="Rcd78298498d842b3" /><Relationship Type="http://schemas.openxmlformats.org/officeDocument/2006/relationships/notesSlide" Target="/ppt/notesSlides/notesSlide15.xml" Id="R49ed6e8470c243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F45BD8-BF29-4760-BD16-EC5AB20E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2A7A3-5635-4CD8-93BB-1416484B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D56BF-BC7D-4666-B2EE-2A6B5A57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TEAM MAXIMUS  /  DAT 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23334-70D2-404B-A77A-4252D7A1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65722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공식 상권을</a:t>
            </a:r>
          </a:p>
          <a:p xmlns:a="http://schemas.openxmlformats.org/drawingml/2006/main">
            <a:pPr>
              <a:def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목적 데이터로</a:t>
            </a:r>
          </a:p>
          <a:p xmlns:a="http://schemas.openxmlformats.org/drawingml/2006/main">
            <a:pPr>
              <a:def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1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읽는 방법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FB2E3-81DA-4C24-B06F-E15557E1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 출발 생활권 안에서</a:t>
            </a:r>
          </a:p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추천 가능한 상권의 근거를 보강했습니다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9164A-78FD-4876-AD40-35103020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97155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AF844-4546-46DD-B476-CFD11A69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71550"/>
            <a:ext cx="2400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FD4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B4127-74B9-4E7B-A17E-FCB2896B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4780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366"/>
          </a:bodyPr>
          <a:lstStyle xmlns:a="http://schemas.openxmlformats.org/drawingml/2006/main"/>
          <a:p xmlns:a="http://schemas.openxmlformats.org/drawingml/2006/main">
            <a:pPr>
              <a:defRPr sz="5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3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786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2BED5-2DBA-421F-B5E0-03BE45EB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3812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공식 상권 후보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327BA-982A-4BFD-8CC0-C5B73DF6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29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CD68D-E1BE-4ED2-AD43-F5DE3FF3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8671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공공 학습시설 원천 POI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AE6EC-6F3F-46A9-9298-75923368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52950"/>
            <a:ext cx="228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29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334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BC5EB-43AF-47DA-ADBE-2E621CB5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3149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 출발지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0BCC4-23B0-4856-832E-95F5155F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장한별  ·  지우진  ·  최시현</a:t>
            </a:r>
          </a:p>
        </p:txBody>
      </p:sp>
    </p:spTree>
    <p:extLst>
      <p:ext uri="{BB962C8B-B14F-4D97-AF65-F5344CB8AC3E}">
        <p14:creationId xmlns:p14="http://schemas.microsoft.com/office/powerpoint/2010/main" val="7564709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6449D-FD29-4A76-82D0-45030727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2F6FC-6225-4043-A93C-BE483149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WEEK 1 RECAP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2A2F1-CD82-43F7-854A-CA004068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9F051-61D6-4EBD-8761-7E9887DC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DE873-3FA0-483E-B4E5-628C5EAB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지난주에는 추천의 공간 단위를 확정했습니다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8B4C7-CDFF-4F10-804A-FCE331F1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동대문구의 모든 출발지에서 반복 접근 가능한 범위를 먼저 정하고, 행정동보다 세밀한 공식 상권 폴리곤으로 옮겼습니다.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72D50-F6F2-4163-9A54-7746C773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C6DEF-AF7C-46AC-B84E-F3589BDF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동대문구 버스·지하철 출발지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A06CC-5CE9-4A91-829C-C2BE5AE8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575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EFA56-36A8-4949-A4FB-3245BE72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67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25% 이상 접근 가능한 행정동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9C753-C4AD-4CA6-83B1-5836F9BF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786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5A68D-04DA-4936-A6DF-D6D13AE8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67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400m 결합 후 공식 상권 후보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7D3FD-BFC9-4FB5-AFD5-D0EB660E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147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69B1F-843A-482C-A358-F62A0256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14700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F1BD9-0E3B-4CCB-BCF5-EF4F2E9E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세 시간대 공통 기준  /  오전 8시 · 오후 2시 · 오후 7시</a:t>
            </a:r>
          </a:p>
        </p:txBody>
      </p:sp>
    </p:spTree>
    <p:extLst>
      <p:ext uri="{BB962C8B-B14F-4D97-AF65-F5344CB8AC3E}">
        <p14:creationId xmlns:p14="http://schemas.microsoft.com/office/powerpoint/2010/main" val="12247813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6D0A24-F740-450B-8F44-58DE130F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1757A-AED1-4774-A609-4ACDCB43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WEEK 2 DATA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766A7-2DC7-4779-84B7-4359368D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2A675-9CFA-4E46-A4D4-DA8FC56B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79D52-735C-489D-AAC3-B7D3F2EA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2주차에는 목적별 피처 테이블을 보강했습니다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55A52-E817-4A12-9C68-D85C7F49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같은 area_code를 유지해 공공시설, 상권 피처, 추천 보조순위를 하나의 분석 단위로 결합했습니다.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A0C0B-8827-4A4D-8BB1-6B8B12E5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4C05F-9B19-44E5-9E71-C3532241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6D2855-0C54-4327-8374-E0683BBA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7B8B5-F247-48A7-BC0D-6C04DE13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시설명·좌표·접근조건·출처를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41개 필드로 보존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7B3656-9140-45E0-A63B-1FCCDA38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24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597B8-1D9D-4EE1-BF7C-920C3D9E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67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786개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FBE02-FFAE-4BF1-B6BE-DBDAA08B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91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폴리곤 내부와 400m 이내를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분리해 시설 수 집계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B2C0B-3C83-4797-81E7-9B8F223C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86896-462D-4B67-8FA0-C73B4D26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671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현재 순위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74C043-521F-49FF-90ED-762084FE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910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2025 업종 신호와 2026 POI를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분리해 보조순위 산출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3BC974-7FB1-46AC-BE34-265EDC80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분석 키  area_code  /  추천 단위  공식 상권 786개</a:t>
            </a:r>
          </a:p>
        </p:txBody>
      </p:sp>
    </p:spTree>
    <p:extLst>
      <p:ext uri="{BB962C8B-B14F-4D97-AF65-F5344CB8AC3E}">
        <p14:creationId xmlns:p14="http://schemas.microsoft.com/office/powerpoint/2010/main" val="8941436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4093EE-983C-4380-8F13-A3EFF3EF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F91B0-5FF4-4C57-A570-CF759912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FEATURE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8341E-91DC-4F14-A9B8-DAD583AE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74869-71C3-4E31-8B36-597A688F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30115-7956-4DB8-B8D0-62F53694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점수 반영과 검토 대상을 구분했습니다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B5E2CD-C2ED-4CD7-BF92-1E409616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공개 접근 여부가 불확실한 대학시설을 곧바로 추천 점수에 넣지 않았습니다.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C8CF6-59A5-40A7-89FD-1A3E92F9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4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FA753-5B92-4831-9678-41803992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766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원천 POI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8C418-1A6D-40CF-BADE-B78DA871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718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EF905-35D5-4DEA-AEDB-2E7544DE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4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236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93243-81C1-4B09-B7A1-32F29397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766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공개 접근 확인 후 점수 반영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FF553-44F8-4250-A9D6-414CCB22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8487F-44EA-43E3-A743-D1B1549F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099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4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245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BB2CA-623A-4128-804C-D2F93301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766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대학시설 후보 포함 검토용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A998A-514E-4DD6-BDB4-395814D3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공부 체류 보조순위  /  상권 내부 80% + 400m 이내 20%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6F66A2-EB8E-4A9C-B016-ECC40E8B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대학 학습시설 9개는 공개 접근 확인 전까지 점수에서 제외합니다</a:t>
            </a:r>
          </a:p>
        </p:txBody>
      </p:sp>
    </p:spTree>
    <p:extLst>
      <p:ext uri="{BB962C8B-B14F-4D97-AF65-F5344CB8AC3E}">
        <p14:creationId xmlns:p14="http://schemas.microsoft.com/office/powerpoint/2010/main" val="21170990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F120E-3474-4CA0-9DAA-3297E05A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48BB4-C4D3-49E6-B714-6FA86A03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QA &amp; 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57214-D31F-4748-A071-2F37801F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18B40-43A8-48BD-8A8D-B6EDDDBC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F5F46-A2E6-4E7B-AF88-4FFCB483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재현 가능한 산출물로 정리했습니다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BB230-2028-4D6A-B17D-F90DE79C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원천 식별자, 공간 결합 기준, 점수 반영 범위를 분리해 다음 분석 단계에서 다시 확인할 수 있게 남겼습니다.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67722-C7F8-451C-B185-FC6FE71C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857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6633B-C534-4891-899B-6A8CB042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45B71-0CA5-47D7-8084-FE8F936D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고유 place_id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원천 식별자 보존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25FE1-21BF-4A7C-995B-5E02B62F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813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786 × 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1C2AB-B8D7-461B-B90E-ECDBAAEB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575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상권 피처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점수용·검토용 필드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73215-5834-4109-8BA1-7A3830D4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117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046A6-B67E-4309-B6B3-0D5131EC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575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상권–시설 연결 수동 점검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Top 20 상권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63D3C-CDC4-4B12-A21C-5A8CB87D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2026 POI는 2025년 성능 검증에 사용하지 않습니다</a:t>
            </a:r>
          </a:p>
        </p:txBody>
      </p:sp>
    </p:spTree>
    <p:extLst>
      <p:ext uri="{BB962C8B-B14F-4D97-AF65-F5344CB8AC3E}">
        <p14:creationId xmlns:p14="http://schemas.microsoft.com/office/powerpoint/2010/main" val="2571375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AE7FE-752D-4747-BD18-B69EEF6D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39710-E1E9-4AFB-B59D-5BFAB7CD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CROSS-WORK 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C840D-2528-411B-BA2A-140CF410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9A0E7-E9CF-4866-89D4-7DB7F9B8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D1607-4696-472E-A7FB-E73482D0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세 데이터는 서로 다른 신호를 보여줍니다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16856-45A7-40C0-B59C-F92FD6F5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공부 점수와 학교 이동 비중의 상관은 0.198, 공부 점수와 접근성의 상관은 0.089입니다.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7C900-661A-4F64-8E52-27533549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2122C-A28B-4558-A2A4-5B58DB00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시설·접근성·학교 신호가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함께 높은 우선 검증군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D26B2-BD8A-49AB-B503-A8498279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00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125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EA80E-F333-4381-87A2-F55FF627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시설 점수는 높지만 학교 신호가 낮아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실제 선택 검증이 필요한 상권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8DF22-EA33-4014-8A9C-8D5B80E1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2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47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EC6EB-A029-4C05-8CDB-7123935D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290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학교 신호는 높지만 현재 시설 피처가 낮아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추가 조사할 상권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A7B3A6-3085-4077-9F2B-27CC06F1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다음 단계  /  B078 선택 라벨로 세 그룹의 실제 목적지 선택확률을 비교</a:t>
            </a:r>
          </a:p>
        </p:txBody>
      </p:sp>
    </p:spTree>
    <p:extLst>
      <p:ext uri="{BB962C8B-B14F-4D97-AF65-F5344CB8AC3E}">
        <p14:creationId xmlns:p14="http://schemas.microsoft.com/office/powerpoint/2010/main" val="1500159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4FC4CC-8991-4318-BAB9-A6A00ACD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14F0EF-D0B2-4AF6-B8DF-F3F5E23C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ACCESSIBILITY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5F168-53B0-4B7B-B683-804C264E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6601C-C2FF-4C56-8706-02F4E49B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40C1F-CE8A-46D5-B3F9-360101FF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30분 생활권은 교통망에서 먼저 계산했습니다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28140-EA24-4902-8A16-9DAFA71D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334개 출발지에서 버스·지하철 운행 정보를 그래프로 만들고, 대기·환승·도보를 포함한 최소 이동시간을 계산했습니다.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FB33E-85FB-4206-9753-BB429FA5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출발지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7D049-E9A1-462D-A574-520A47A6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17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334개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15DFF-DA30-4D8D-AD64-4BDDE7A8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67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교통 그래프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738C2-1FCC-47AF-B583-3E64F0FE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81375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17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30분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439EE-BE76-47FC-A4BF-585DE4D2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67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도달 정류장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15B3D-2A7F-45B6-B48B-2B507D04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81375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17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상권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4FA4A-9E88-42B0-B6E9-F4811CEA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884236-F9EF-4F91-B684-3E4C4333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385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13585-AA4F-4F4E-8723-4C57CDE9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971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세 시간대 공통 접근률을 사용해 특정 시간대에만 열리는 후보를 줄였습니다</a:t>
            </a:r>
          </a:p>
        </p:txBody>
      </p:sp>
    </p:spTree>
    <p:extLst>
      <p:ext uri="{BB962C8B-B14F-4D97-AF65-F5344CB8AC3E}">
        <p14:creationId xmlns:p14="http://schemas.microsoft.com/office/powerpoint/2010/main" val="2037601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48F4A-4399-45F6-A78F-A6F9986A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F5D8B-A2BC-462A-9C17-442B4F71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CANDIDATE UNIVERSE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96321-9012-4A4C-9022-AB62213B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AA408-1A99-413F-907D-52A00EE2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6A81E-C50D-444B-B593-4482BE32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후보군은 행정동이 아니라 공식 상권 폴리곤입니다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84DF6-305C-4CDE-ACA5-3484B006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행정동은 탐색 범위로 쓰고, 실제 비교·추천 단위는 서울시 공식 상권 경계로 세분화했습니다.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03FEE-81CD-45A7-82E7-4F27601F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B25CF-6A3C-4178-A4B5-804E87AF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접근 가능 행정동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탐색 생활권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C1222-464B-48E4-BF54-BD60C3B2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400m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543EF-D36D-4721-91D4-FC02E43C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576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도달 정류장과 상권 경계의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공간 결합 거리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24266-F7DB-4C75-A258-8FE69B88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48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786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99799-7E98-4027-8837-42E54290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57625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세 시간대 25% 기준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공식 상권 후보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69D1E-BB68-4394-AEB5-07BB1798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242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16691-1DE6-4DB7-884A-E8BE5934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242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CF6CD-8E0D-42C6-8A3B-76D30700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25%는 소수 출발지에서만 접근 가능한 상권을 걸러내되, 동대문구 내부의 생활권 다양성을 보존하기 위한 탐색 기준입니다</a:t>
            </a:r>
          </a:p>
        </p:txBody>
      </p:sp>
    </p:spTree>
    <p:extLst>
      <p:ext uri="{BB962C8B-B14F-4D97-AF65-F5344CB8AC3E}">
        <p14:creationId xmlns:p14="http://schemas.microsoft.com/office/powerpoint/2010/main" val="20958945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4A598A-5737-4D25-AAD3-8344EB36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A09A9-29B6-4E03-B612-C901688F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PATH-V0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146F6-1DC6-4762-AF95-BD68F4B6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72096-C410-4F49-A7CF-6B6CC418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B1B77-D03A-4003-9645-B3F559EE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목적별 Top 10은 PATH-v0 점수로 계산합니다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6FBDF-C872-4041-A2FC-B0BE0167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PATH는 Purpose-Aware Transit-constrained Heuristic입니다. 2025 Q4의 접근 가능한 공식 상권 안에서 목적별 순위를 만드는 규칙기반 기준선입니다.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B3168-9689-420E-93A5-08DFD74A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일반 목적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5CC93-1F9B-4CD8-8CDA-3F3E3B31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03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0.70 × 공급 신호  +  0.30 × 직전 분기 소비 신호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F2540-9E7C-486E-8DE2-F358884B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공급 신호 = 점포 수 백분위 65% + 상권 내 목적 업종 비중 35%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B2525-45FA-48FA-85CC-50C6ABE5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소비 신호 = 매출 규모 50% + 목적 매출 비중 25% + 적합 시간대 비중 25%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82BD7-3C96-4EE8-917D-7AC7F6D1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5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02D4A-7AF9-4ECB-A8B8-2408A5FA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공부 목적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6A254-4445-4678-A3A7-243A6981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0.90 × 독서실 공급 신호  +  0.10 × 접근성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1EEAB-281A-4269-B0A9-401A9E49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007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2025 매출 원천에 독서실 소비가 없어 임의의 매출 신호를 넣지 않았습니다</a:t>
            </a:r>
          </a:p>
        </p:txBody>
      </p:sp>
    </p:spTree>
    <p:extLst>
      <p:ext uri="{BB962C8B-B14F-4D97-AF65-F5344CB8AC3E}">
        <p14:creationId xmlns:p14="http://schemas.microsoft.com/office/powerpoint/2010/main" val="8949428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60177C-F13F-442B-96CC-509FA830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AA53C-E533-4784-A7E3-D0C4F10F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MOBILITY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1C903-5AFB-4128-A5D5-7CC97E53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D3602-762F-4178-BE47-9D0E9A7D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149B3-40AC-46B1-B15D-47FC5ED9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생활이동 데이터는 ‘선택 라벨’이 아닌 맥락 신호입니다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E9248-44B4-480B-A9AF-023755CC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지우진의 생활이동 집계는 지역별 학교·업무·여가 목적 비중을 보여주지만, 동대문구에서 출발한 개인의 실제 목적지 선택 기록은 아닙니다.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245B1-7A20-42B5-BE54-E4370DC5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17E7B-32F8-444B-A5A0-FEF37509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source_period가 섞인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관측 기간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DA69B-3055-410F-B049-79B90E09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908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0.198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6F699-F76A-4B3F-AA98-57CE133C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100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공부 점수와 학교 이동 비중의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Spearman 상관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C1A54-9686-4BDF-BB02-43723EE3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908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782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0.089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AF3C6-4FE0-4BD6-AAB1-84F0F829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공부 점수와 최소 접근률의</a:t>
            </a:r>
          </a:p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Spearman 상관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C6B192-7F58-4087-BEAF-E2CDAAB2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따라서 생활이동 비중은 상권의 목적 맥락을 보완하는 변수로만 사용합니다</a:t>
            </a:r>
          </a:p>
        </p:txBody>
      </p:sp>
    </p:spTree>
    <p:extLst>
      <p:ext uri="{BB962C8B-B14F-4D97-AF65-F5344CB8AC3E}">
        <p14:creationId xmlns:p14="http://schemas.microsoft.com/office/powerpoint/2010/main" val="9394677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546FE-A398-4C31-9E27-FC3B5EFF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75D3B-A9CA-40E6-9FD2-169905FC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NEXT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473A1-8323-4F62-B78D-62F29984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30DDB-E03D-4FBA-8DC5-CC8CC69F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56589-6264-458B-B125-541B0CFF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다음 단계는 실제 선택 데이터로 기준선을 검증하는 일입니다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D2946-80A1-4D59-857F-49D391D7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지금의 786개 상권은 후보군과 설명 피처를 갖춘 상태입니다. B078 원본 접근이 가능해지면 목적지 선택모형으로 넘어갑니다.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DC092-18E9-48C6-9BDB-FFBE2D9C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917D7-0480-4D56-AC29-CF1A8911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480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B078 원본에서 출발지·도착지·시간대·목적 관련 변수를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7C6BD-BB9B-4BF6-BEC7-F855FB74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1963C-03D9-4D76-9D20-B15980C5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052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실제 선택 상권과 미선택 후보를 비교하는 목적지 선택 데이터셋 구성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FE34D-86F1-4EA8-B696-028BC551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3F2C1-15C4-47EB-80C1-AAD5F6B9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625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다항 로짓·트리 기반 모델로 추천 성능과 설명력을 함께 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6CB2B6-D70A-4085-AF07-63A4501A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현재 산출물은 추천 서비스의 답이 아니라, 학습·검증 가능한 후보 공간과 피처의 기반입니다</a:t>
            </a:r>
          </a:p>
        </p:txBody>
      </p:sp>
    </p:spTree>
    <p:extLst>
      <p:ext uri="{BB962C8B-B14F-4D97-AF65-F5344CB8AC3E}">
        <p14:creationId xmlns:p14="http://schemas.microsoft.com/office/powerpoint/2010/main" val="12506190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10828-6A51-472B-BC67-F9DE4304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FAC5C-890C-4652-9FAF-A4216A42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RAW FEATURE HEAD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EE7C8-06EB-420C-8C67-D71D3FDE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AA6F1-D0DD-436B-8F11-FC78418E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3C819-75F3-4480-8977-7A558E7F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실제 목적별 피처 테이블은 이렇게 생겼습니다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DC6D4-CAE8-41F5-AB29-D6CA294B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2025 Q4 ‘공부’ 목적의 PATH-v0 상위 행 5개입니다. 각 행은 상권 1개와 목적 1개의 결합 단위입니다.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647950"/>
          <a:ext xmlns:a="http://schemas.openxmlformats.org/drawingml/2006/main" cx="1076325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"/>
                <a:gridCol w="933450"/>
                <a:gridCol w="2000250"/>
                <a:gridCol w="1047750"/>
                <a:gridCol w="1104900"/>
                <a:gridCol w="742950"/>
                <a:gridCol w="1066800"/>
                <a:gridCol w="1066800"/>
                <a:gridCol w="971550"/>
              </a:tblGrid>
              <a:tr h="38893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rank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area_code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상권명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유형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최소접근률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점포수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공급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접근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PATH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3120059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구삼강변맛길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발달상권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0.904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98.2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59.4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94.3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3110241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먹골역 5번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골목상권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93.8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95.6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94.0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3110220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외대앞역 1번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골목상권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0.991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93.2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85.3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92.4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3120064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경희대학교(경희대)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발달상권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0.967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6.0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94.0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70.8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91.7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3120067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장안동사거리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발달상권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0.988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92.6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82.4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91.5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546AE-6794-4604-9388-C05DC27D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총 15,720행 = 4개 분기 × 786개 상권 × 5개 목적. 최신 분기 순위는 3,930행입니다.</a:t>
            </a:r>
          </a:p>
        </p:txBody>
      </p:sp>
    </p:spTree>
    <p:extLst>
      <p:ext uri="{BB962C8B-B14F-4D97-AF65-F5344CB8AC3E}">
        <p14:creationId xmlns:p14="http://schemas.microsoft.com/office/powerpoint/2010/main" val="2756433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E2DAC-3998-4BE4-BDF9-B380192E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E78BA-8617-416F-8DE4-00036C42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FEATURE JOIN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D9740-7046-40A8-8DBB-F521003D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0633A-0B24-4465-826A-22BF325D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2B873-39B2-4289-B843-A424FC83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상권 피처는 area_code 하나로 결합됩니다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7554E-C6A4-4FDD-8681-4ACA173A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접근성, 공공 학습시설, 카카오 스터디카페, 생활이동 맥락을 같은 786개 공식 상권 키에 붙였습니다.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2647950"/>
          <a:ext xmlns:a="http://schemas.openxmlformats.org/drawingml/2006/main" cx="1076325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143000"/>
                <a:gridCol w="1095375"/>
                <a:gridCol w="1143000"/>
                <a:gridCol w="1285875"/>
                <a:gridCol w="1428750"/>
                <a:gridCol w="2286000"/>
              </a:tblGrid>
              <a:tr h="38893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최소접근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공공 내부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공공 400m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스터디카페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학교 이동비중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9DFD4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통합 분류</a:t>
                      </a:r>
                    </a:p>
                  </a:txBody>
                  <a:tcPr marL="91440" marR="91440" marT="45720" marB="45720">
                    <a:solidFill>
                      <a:srgbClr val="0C2340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외대앞역 1번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0.991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study ready signal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경희대학교(경희대)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0.967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0.056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study ready signal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회기시장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0.988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0.053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study ready signal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경희대후문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0.955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demand signal feature gap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  <a:tr h="388938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청량초등학교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0.988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1.0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0.057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EAF3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study ready signal</a:t>
                      </a:r>
                    </a:p>
                  </a:txBody>
                  <a:tcPr marL="91440" marR="91440" marT="45720" marB="45720">
                    <a:solidFill>
                      <a:srgbClr val="07182E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5864E-31C5-4300-A24C-10CF605F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이동 비중은 실제 개인 선택 라벨이 아니라 지역의 목적 맥락 대리변수입니다.</a:t>
            </a:r>
          </a:p>
        </p:txBody>
      </p:sp>
    </p:spTree>
    <p:extLst>
      <p:ext uri="{BB962C8B-B14F-4D97-AF65-F5344CB8AC3E}">
        <p14:creationId xmlns:p14="http://schemas.microsoft.com/office/powerpoint/2010/main" val="3982260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F4C9C4-B7B0-4589-8CCF-9E38B408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2A15D-FE6B-4E8B-A7DC-0C13B8D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SCORE EXAMPLES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79043-66B4-4396-9DC8-A883D43D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E86D3-38AA-4FFB-81E5-0B949FB8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43F89-0532-4F96-80ED-19FC303F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점수는 실제로 목적에 따라 다르게 나옵니다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8BBAB-E7DC-48AF-A3C7-48FA1537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같은 786개 후보를 놓고도 목적별 공급 구조와 소비 신호가 달라 상위 상권이 달라집니다.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77DAF-EF7F-414F-8A3D-EEAE4B0F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9DFD4F"/>
                </a:solidFill>
                <a:latin typeface="Apple SD Gothic Neo"/>
                <a:ea typeface="Apple SD Gothic Neo"/>
                <a:cs typeface="Apple SD Gothic Neo"/>
              </a:rPr>
              <a:t>공부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97176-1C34-49AE-8A0A-C8A05318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구삼강변맛길  94.3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60DB0-1400-4DD6-A7FF-0788FB90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외대앞역 1번  92.4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31BAB-3336-496F-8030-FE69418A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카페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84CB6-2046-4E02-9684-4A21FD3E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북촌(안국역)  96.5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9BAF86-629A-4E33-A4D1-3C5B6E06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57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서촌(경복궁역)  96.1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34703-CCE2-4D92-ADFC-CD6FFF20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575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B454"/>
                </a:solidFill>
                <a:latin typeface="Apple SD Gothic Neo"/>
                <a:ea typeface="Apple SD Gothic Neo"/>
                <a:cs typeface="Apple SD Gothic Neo"/>
              </a:rPr>
              <a:t>식사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5F461-9F00-4F45-895D-DE284038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385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광화문역  94.3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AF2F53-99E5-4278-9B6B-6DC5AFC3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57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종각역  92.4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C35A8-BE28-4F18-8279-997D865D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06CB5"/>
                </a:solidFill>
                <a:latin typeface="Apple SD Gothic Neo"/>
                <a:ea typeface="Apple SD Gothic Neo"/>
                <a:cs typeface="Apple SD Gothic Neo"/>
              </a:rPr>
              <a:t>쇼핑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D120C-D0A2-43F4-9472-20823624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롯데백화점 시청광장  95.8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364A38-F4BC-46DA-91C6-FAD82977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95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A68BFF"/>
                </a:solidFill>
                <a:latin typeface="Apple SD Gothic Neo"/>
                <a:ea typeface="Apple SD Gothic Neo"/>
                <a:cs typeface="Apple SD Gothic Neo"/>
              </a:rPr>
              <a:t>여가문화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C28423-FEBD-4ABA-8A75-DC5E6862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76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수유역  97.6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9BBB2E-FBF2-4D04-BA7A-9002109B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점수는 PATH-v0 기준이며, 아래 지도에는 각 목적별 상위 10개 공식 상권 폴리곤을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2980774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8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5472E-7AFD-44C3-A778-F67D1EF6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DF9F1-71ED-4F3D-86E3-DFF43B2F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PURPOSE TOP 10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8CD72-6A77-4081-9809-A7A6C093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2AEF3-CE83-4B81-8B79-FAA6025D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26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6B35D-F343-43C6-B91E-48657C54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EAF3FF"/>
                </a:solidFill>
                <a:latin typeface="Apple SD Gothic Neo"/>
                <a:ea typeface="Apple SD Gothic Neo"/>
                <a:cs typeface="Apple SD Gothic Neo"/>
              </a:rPr>
              <a:t>목적별 상위 10개는 서로 다른 공식 상권 폴리곤입니다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7B863-B33C-4E6B-A888-27861852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9FB6CF"/>
                </a:solidFill>
                <a:latin typeface="Apple SD Gothic Neo"/>
                <a:ea typeface="Apple SD Gothic Neo"/>
                <a:cs typeface="Apple SD Gothic Neo"/>
              </a:rPr>
              <a:t>어두운 면은 786개 전체 후보, 밝은 면과 숫자는 2025 Q4 목적별 PATH-v0 상위 10개입니다.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78298498d842b3"/>
          <a:stretch xmlns:a="http://schemas.openxmlformats.org/drawingml/2006/main"/>
        </p:blipFill>
        <p:spPr>
          <a:xfrm xmlns:a="http://schemas.openxmlformats.org/drawingml/2006/main">
            <a:off x="2965538" y="1952625"/>
            <a:ext cx="6051374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55241-4C5B-46ED-9A06-51264D21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F80FF"/>
                </a:solidFill>
                <a:latin typeface="Apple SD Gothic Neo"/>
                <a:ea typeface="Apple SD Gothic Neo"/>
                <a:cs typeface="Apple SD Gothic Neo"/>
              </a:rPr>
              <a:t>각 목적은 독립적으로 순위를 계산합니다. 따라서 같은 30분 생활권이라도 목적에 따라 상위 상권의 위치와 구성은 달라집니다.</a:t>
            </a:r>
          </a:p>
        </p:txBody>
      </p:sp>
    </p:spTree>
    <p:extLst>
      <p:ext uri="{BB962C8B-B14F-4D97-AF65-F5344CB8AC3E}">
        <p14:creationId xmlns:p14="http://schemas.microsoft.com/office/powerpoint/2010/main" val="1592482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2026-09-22T01:32:24.2640000Z</dcterms:created>
  <dcterms:modified xsi:type="dcterms:W3CDTF">2026-09-22T01:32:24.2640000Z</dcterms:modified>
</coreProperties>
</file>