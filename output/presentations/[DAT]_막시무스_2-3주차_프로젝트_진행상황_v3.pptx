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d6e2e55e7c4cd2" /><Relationship Type="http://schemas.openxmlformats.org/officeDocument/2006/relationships/extended-properties" Target="/docProps/app.xml" Id="R96384139f7104a27" /><Relationship Type="http://schemas.openxmlformats.org/officeDocument/2006/relationships/officeDocument" Target="/ppt/presentation.xml" Id="Rb5dba3d59ae14a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13723addb84c81"/>
  </p:sldMasterIdLst>
  <p:notesMasterIdLst>
    <p:notesMasterId xmlns:r="http://schemas.openxmlformats.org/officeDocument/2006/relationships" r:id="Rbfd856ad25b94b87"/>
  </p:notesMasterIdLst>
  <p:sldIdLst>
    <p:sldId xmlns:r="http://schemas.openxmlformats.org/officeDocument/2006/relationships" id="256" r:id="Ra5937aeb54a64967"/>
    <p:sldId xmlns:r="http://schemas.openxmlformats.org/officeDocument/2006/relationships" id="257" r:id="R5744e35b3d314e09"/>
    <p:sldId xmlns:r="http://schemas.openxmlformats.org/officeDocument/2006/relationships" id="258" r:id="R4a39399887774f35"/>
    <p:sldId xmlns:r="http://schemas.openxmlformats.org/officeDocument/2006/relationships" id="259" r:id="R4197980f854f48c3"/>
    <p:sldId xmlns:r="http://schemas.openxmlformats.org/officeDocument/2006/relationships" id="260" r:id="Rfcac54ba72954aac"/>
    <p:sldId xmlns:r="http://schemas.openxmlformats.org/officeDocument/2006/relationships" id="261" r:id="Rf3cf151e578a467b"/>
    <p:sldId xmlns:r="http://schemas.openxmlformats.org/officeDocument/2006/relationships" id="262" r:id="Rd2a4f5ac84b04931"/>
    <p:sldId xmlns:r="http://schemas.openxmlformats.org/officeDocument/2006/relationships" id="263" r:id="Recac2737595541df"/>
    <p:sldId xmlns:r="http://schemas.openxmlformats.org/officeDocument/2006/relationships" id="264" r:id="R51ae534a840049dc"/>
    <p:sldId xmlns:r="http://schemas.openxmlformats.org/officeDocument/2006/relationships" id="265" r:id="Rd0e0c56624534361"/>
    <p:sldId xmlns:r="http://schemas.openxmlformats.org/officeDocument/2006/relationships" id="266" r:id="Rfe4aebc634524141"/>
    <p:sldId xmlns:r="http://schemas.openxmlformats.org/officeDocument/2006/relationships" id="267" r:id="Rdeac0098f69c4890"/>
    <p:sldId xmlns:r="http://schemas.openxmlformats.org/officeDocument/2006/relationships" id="268" r:id="R781d54c417c442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202f67873d4389" /><Relationship Type="http://schemas.openxmlformats.org/officeDocument/2006/relationships/slideMaster" Target="/ppt/slideMasters/slideMaster1.xml" Id="Rb113723addb84c81" /><Relationship Type="http://schemas.openxmlformats.org/officeDocument/2006/relationships/notesMaster" Target="/ppt/notesMasters/notesMaster1.xml" Id="Rbfd856ad25b94b87" /><Relationship Type="http://schemas.openxmlformats.org/officeDocument/2006/relationships/presProps" Target="/ppt/presProps.xml" Id="Rfad90ef5ba5c4b81" /><Relationship Type="http://schemas.openxmlformats.org/officeDocument/2006/relationships/tableStyles" Target="/ppt/tableStyles.xml" Id="R920b3eb9392e4f46" /><Relationship Type="http://schemas.openxmlformats.org/officeDocument/2006/relationships/slide" Target="/ppt/slides/slide1.xml" Id="Ra5937aeb54a64967" /><Relationship Type="http://schemas.openxmlformats.org/officeDocument/2006/relationships/slide" Target="/ppt/slides/slide2.xml" Id="R5744e35b3d314e09" /><Relationship Type="http://schemas.openxmlformats.org/officeDocument/2006/relationships/slide" Target="/ppt/slides/slide3.xml" Id="R4a39399887774f35" /><Relationship Type="http://schemas.openxmlformats.org/officeDocument/2006/relationships/slide" Target="/ppt/slides/slide4.xml" Id="R4197980f854f48c3" /><Relationship Type="http://schemas.openxmlformats.org/officeDocument/2006/relationships/slide" Target="/ppt/slides/slide5.xml" Id="Rfcac54ba72954aac" /><Relationship Type="http://schemas.openxmlformats.org/officeDocument/2006/relationships/slide" Target="/ppt/slides/slide6.xml" Id="Rf3cf151e578a467b" /><Relationship Type="http://schemas.openxmlformats.org/officeDocument/2006/relationships/slide" Target="/ppt/slides/slide7.xml" Id="Rd2a4f5ac84b04931" /><Relationship Type="http://schemas.openxmlformats.org/officeDocument/2006/relationships/slide" Target="/ppt/slides/slide8.xml" Id="Recac2737595541df" /><Relationship Type="http://schemas.openxmlformats.org/officeDocument/2006/relationships/slide" Target="/ppt/slides/slide9.xml" Id="R51ae534a840049dc" /><Relationship Type="http://schemas.openxmlformats.org/officeDocument/2006/relationships/slide" Target="/ppt/slides/slide10.xml" Id="Rd0e0c56624534361" /><Relationship Type="http://schemas.openxmlformats.org/officeDocument/2006/relationships/slide" Target="/ppt/slides/slide11.xml" Id="Rfe4aebc634524141" /><Relationship Type="http://schemas.openxmlformats.org/officeDocument/2006/relationships/slide" Target="/ppt/slides/slide12.xml" Id="Rdeac0098f69c4890" /><Relationship Type="http://schemas.openxmlformats.org/officeDocument/2006/relationships/slide" Target="/ppt/slides/slide13.xml" Id="R781d54c417c442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4cc51b0df840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8adbf16c094ec4" /><Relationship Type="http://schemas.openxmlformats.org/officeDocument/2006/relationships/notesMaster" Target="/ppt/notesMasters/notesMaster1.xml" Id="Rb9a8d337137542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3342a6467b4d20" /><Relationship Type="http://schemas.openxmlformats.org/officeDocument/2006/relationships/notesMaster" Target="/ppt/notesMasters/notesMaster1.xml" Id="R7136d578885845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9f9714c29140b4" /><Relationship Type="http://schemas.openxmlformats.org/officeDocument/2006/relationships/notesMaster" Target="/ppt/notesMasters/notesMaster1.xml" Id="R39e183f3a2c144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0863d1b7664d27" /><Relationship Type="http://schemas.openxmlformats.org/officeDocument/2006/relationships/notesMaster" Target="/ppt/notesMasters/notesMaster1.xml" Id="Red666248a85447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a42a4e804b4d93" /><Relationship Type="http://schemas.openxmlformats.org/officeDocument/2006/relationships/notesMaster" Target="/ppt/notesMasters/notesMaster1.xml" Id="R04ea0c8f1b3e42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4ba1e43aae4588" /><Relationship Type="http://schemas.openxmlformats.org/officeDocument/2006/relationships/notesMaster" Target="/ppt/notesMasters/notesMaster1.xml" Id="R70dac4bc5c0c4e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687d47aeb34cf3" /><Relationship Type="http://schemas.openxmlformats.org/officeDocument/2006/relationships/notesMaster" Target="/ppt/notesMasters/notesMaster1.xml" Id="R8234902ff1f147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cadcc47b454803" /><Relationship Type="http://schemas.openxmlformats.org/officeDocument/2006/relationships/notesMaster" Target="/ppt/notesMasters/notesMaster1.xml" Id="R5e8b953869b449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525ae081d7481d" /><Relationship Type="http://schemas.openxmlformats.org/officeDocument/2006/relationships/notesMaster" Target="/ppt/notesMasters/notesMaster1.xml" Id="Rd0149ce49a5a45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6692a66be8443a" /><Relationship Type="http://schemas.openxmlformats.org/officeDocument/2006/relationships/notesMaster" Target="/ppt/notesMasters/notesMaster1.xml" Id="R9a0b4041120a45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f75efaf6b04d1d" /><Relationship Type="http://schemas.openxmlformats.org/officeDocument/2006/relationships/notesMaster" Target="/ppt/notesMasters/notesMaster1.xml" Id="R6b8283f0430f4b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c7e7b109f84fed" /><Relationship Type="http://schemas.openxmlformats.org/officeDocument/2006/relationships/notesMaster" Target="/ppt/notesMasters/notesMaster1.xml" Id="Rfed0aa4edc2e4e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523c6a9a2c4abb" /><Relationship Type="http://schemas.openxmlformats.org/officeDocument/2006/relationships/notesMaster" Target="/ppt/notesMasters/notesMaster1.xml" Id="R87351fc1b2f840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Maximus Week 1–3 internal outputs</a:t>
            </a:r>
          </a:p>
          <a:p xmlns:a="http://schemas.openxmlformats.org/drawingml/2006/main">
            <a:r>
              <a:t>- Cover visual: team-generated transit hero asset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data/processed/commercial_area_accessibility/COMMERCIAL_AREA_ACCESSIBILITY_REPORT.md</a:t>
            </a:r>
          </a:p>
          <a:p xmlns:a="http://schemas.openxmlformats.org/drawingml/2006/main">
            <a:r>
              <a:t>- Week 2/3 member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 1 transit pipeline</a:t>
            </a:r>
          </a:p>
          <a:p xmlns:a="http://schemas.openxmlformats.org/drawingml/2006/main">
            <a:r>
              <a:t>- Week 2/3 purpose scoring methods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data/processed/commercial_area_accessibility/commercial_area_candidates_25pct.csv</a:t>
            </a:r>
          </a:p>
          <a:p xmlns:a="http://schemas.openxmlformats.org/drawingml/2006/main">
            <a:r>
              <a:t>- Output counts: 334 origins, 786 official polygons, 6 tourism special zones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official_area_poi_features(최종).csv</a:t>
            </a:r>
          </a:p>
          <a:p xmlns:a="http://schemas.openxmlformats.org/drawingml/2006/main">
            <a:r>
              <a:t>- Week 2 public facility and Kakao POI enrichment work</a:t>
            </a:r>
          </a:p>
          <a:p xmlns:a="http://schemas.openxmlformats.org/drawingml/2006/main">
            <a:r>
              <a:t>- Workplan rule: public facilities and café POIs are not double counted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/private/tmp/maximus-jiujin-leisure/data/processed/leisure_culture_v1/leisure_culture_v1_audit.json</a:t>
            </a:r>
          </a:p>
          <a:p xmlns:a="http://schemas.openxmlformats.org/drawingml/2006/main">
            <a:r>
              <a:t>- 1,229 collected; 739 inside; 167 candidates; 148 verified walk400; 465 night-food; 422 adult tags excluded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/private/tmp/maximus-geonwoo-meal-shopping/docs/meal_shopping_v1_method.md</a:t>
            </a:r>
          </a:p>
          <a:p xmlns:a="http://schemas.openxmlformats.org/drawingml/2006/main">
            <a:r>
              <a:t>- Meal: 6; shopping: 5; tourism 6 excluded; wholesale/special 7 excluded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/private/tmp/maximus-geonwoo-meal-shopping/data/processed/meal_shopping_v1/meal_shopping_v1_audit.json</a:t>
            </a:r>
          </a:p>
          <a:p xmlns:a="http://schemas.openxmlformats.org/drawingml/2006/main">
            <a:r>
              <a:t>- Raw→adjusted Pearson r: meal area .134→.013, shopping area .135→.017; meal total stores .194→-.015, shopping total stores .334→.120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meal_shopping_v1 method and outputs</a:t>
            </a:r>
          </a:p>
          <a:p xmlns:a="http://schemas.openxmlformats.org/drawingml/2006/main">
            <a:r>
              <a:t>- leisure_culture_v1 method and outputs</a:t>
            </a:r>
          </a:p>
          <a:p xmlns:a="http://schemas.openxmlformats.org/drawingml/2006/main">
            <a:r>
              <a:t>- Weights are transparent baseline weights, not learned final model parameters.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/private/tmp/maximus-geonwoo-meal-shopping/data/processed/meal_shopping_v1/meal_plus_shopping_v1_top10.csv</a:t>
            </a:r>
          </a:p>
          <a:p xmlns:a="http://schemas.openxmlformats.org/drawingml/2006/main">
            <a:r>
              <a:t>- Example reason data from official_area_meal_shopping_v1_786x2.csv, area 3130104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Meal+shopping high-confidence output: 동부시장</a:t>
            </a:r>
          </a:p>
          <a:p xmlns:a="http://schemas.openxmlformats.org/drawingml/2006/main">
            <a:r>
              <a:t>- Shopping reason card: 전곡시장</a:t>
            </a:r>
          </a:p>
          <a:p xmlns:a="http://schemas.openxmlformats.org/drawingml/2006/main">
            <a:r>
              <a:t>- Leisure v1 output: 중랑역 2번</a:t>
            </a:r>
          </a:p>
          <a:p xmlns:a="http://schemas.openxmlformats.org/drawingml/2006/main">
            <a:r>
              <a:t>- LLM answer column is an illustrative generic response, not a benchmark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data-access status</a:t>
            </a:r>
          </a:p>
          <a:p xmlns:a="http://schemas.openxmlformats.org/drawingml/2006/main">
            <a:r>
              <a:t>- B078/B079 full raw data requires Seoul Big Data Campus offline access; not used as training labels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roadmap and current data-access constraints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61042684a44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217fd932ca46c3" /><Relationship Type="http://schemas.openxmlformats.org/officeDocument/2006/relationships/slideLayout" Target="/ppt/slideLayouts/slideLayout1.xml" Id="R95aa8271028d4e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aa8271028d4e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8bea4502f4a32" /><Relationship Type="http://schemas.openxmlformats.org/officeDocument/2006/relationships/image" Target="/ppt/media/image.png" Id="R312dd16896b04b5e" /><Relationship Type="http://schemas.openxmlformats.org/officeDocument/2006/relationships/notesSlide" Target="/ppt/notesSlides/notesSlide1.xml" Id="R77bb39804ae142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91bdbc1d34f16" /><Relationship Type="http://schemas.openxmlformats.org/officeDocument/2006/relationships/notesSlide" Target="/ppt/notesSlides/notesSlide2.xml" Id="R2b2e1805b0a046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670b7b9e44ac3" /><Relationship Type="http://schemas.openxmlformats.org/officeDocument/2006/relationships/notesSlide" Target="/ppt/notesSlides/notesSlide3.xml" Id="Rbbb11bb50b5640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9a183258a4b81" /><Relationship Type="http://schemas.openxmlformats.org/officeDocument/2006/relationships/image" Target="/ppt/media/image2.png" Id="R75a8057ab4fb4d0f" /><Relationship Type="http://schemas.openxmlformats.org/officeDocument/2006/relationships/notesSlide" Target="/ppt/notesSlides/notesSlide4.xml" Id="Ra377149978724b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8ad4e581e4933" /><Relationship Type="http://schemas.openxmlformats.org/officeDocument/2006/relationships/notesSlide" Target="/ppt/notesSlides/notesSlide5.xml" Id="R9d5f93f0371247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bf08237ca4ab6" /><Relationship Type="http://schemas.openxmlformats.org/officeDocument/2006/relationships/notesSlide" Target="/ppt/notesSlides/notesSlide6.xml" Id="Rf7bb4f7fdee54a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46fe3f889457c" /><Relationship Type="http://schemas.openxmlformats.org/officeDocument/2006/relationships/notesSlide" Target="/ppt/notesSlides/notesSlide7.xml" Id="R706da58166034f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085a3b23b4114" /><Relationship Type="http://schemas.openxmlformats.org/officeDocument/2006/relationships/chart" Target="/ppt/slides/charts/chart1.xml" Id="R112e674541c3442e" /><Relationship Type="http://schemas.openxmlformats.org/officeDocument/2006/relationships/notesSlide" Target="/ppt/notesSlides/notesSlide8.xml" Id="Rb0e8305b5a3c4e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cce916c284e85" /><Relationship Type="http://schemas.openxmlformats.org/officeDocument/2006/relationships/notesSlide" Target="/ppt/notesSlides/notesSlide9.xml" Id="Rba162f79170344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42a40e3dd436d" /><Relationship Type="http://schemas.openxmlformats.org/officeDocument/2006/relationships/notesSlide" Target="/ppt/notesSlides/notesSlide10.xml" Id="Rbaa1252807094b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d458f748748b1" /><Relationship Type="http://schemas.openxmlformats.org/officeDocument/2006/relationships/notesSlide" Target="/ppt/notesSlides/notesSlide11.xml" Id="R03937bb0511b40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b1575ed38480c" /><Relationship Type="http://schemas.openxmlformats.org/officeDocument/2006/relationships/notesSlide" Target="/ppt/notesSlides/notesSlide12.xml" Id="R30292c1eaeeb4d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db81214b7456d" /><Relationship Type="http://schemas.openxmlformats.org/officeDocument/2006/relationships/notesSlide" Target="/ppt/notesSlides/notesSlide13.xml" Id="Ra7904d31907948d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원점수</c:v>
          </c:tx>
          <c:spPr>
            <a:solidFill xmlns:a="http://schemas.openxmlformats.org/drawingml/2006/main">
              <a:srgbClr val="F5C444"/>
            </a:solidFill>
          </c:spPr>
          <c:cat>
            <c:strRef>
              <c:f>'Chart Data'!$A$2:$A$5</c:f>
              <c:strCache>
                <c:ptCount val="4"/>
                <c:pt idx="0">
                  <c:v>식사·면적</c:v>
                </c:pt>
                <c:pt idx="1">
                  <c:v>쇼핑·면적</c:v>
                </c:pt>
                <c:pt idx="2">
                  <c:v>식사·총점포</c:v>
                </c:pt>
                <c:pt idx="3">
                  <c:v>쇼핑·총점포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0.134</c:v>
                </c:pt>
                <c:pt idx="1">
                  <c:v>0.135</c:v>
                </c:pt>
                <c:pt idx="2">
                  <c:v>0.194</c:v>
                </c:pt>
                <c:pt idx="3">
                  <c:v>0.334</c:v>
                </c:pt>
              </c:numCache>
            </c:numRef>
          </c:val>
        </c:ser>
        <c:ser>
          <c:idx val="1"/>
          <c:order val="1"/>
          <c:tx>
            <c:v>보정 후</c:v>
          </c:tx>
          <c:spPr>
            <a:solidFill xmlns:a="http://schemas.openxmlformats.org/drawingml/2006/main">
              <a:srgbClr val="071A3D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식사·면적</c:v>
                </c:pt>
                <c:pt idx="1">
                  <c:v>쇼핑·면적</c:v>
                </c:pt>
                <c:pt idx="2">
                  <c:v>식사·총점포</c:v>
                </c:pt>
                <c:pt idx="3">
                  <c:v>쇼핑·총점포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0.013</c:v>
                </c:pt>
                <c:pt idx="1">
                  <c:v>0.017</c:v>
                </c:pt>
                <c:pt idx="2">
                  <c:v>-0.015</c:v>
                </c:pt>
                <c:pt idx="3">
                  <c:v>0.12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41DFE-8B96-4BE8-A351-4A8091DC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7395B-C77F-44DE-A9A3-6C0A942E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TEAM MAXIMUS · DAT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AD97F-8D7E-4292-AB6B-2BED69B1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5429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후보군은 만들었고,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이제 목적별 근거를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정교화합니다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604B3-6CDE-4D90-8775-5FBFD757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2·3주차 프로젝트 진행상황 보고</a:t>
            </a:r>
          </a:p>
          <a:p xmlns:a="http://schemas.openxmlformats.org/drawingml/2006/main">
            <a:pPr>
              <a:defRPr sz="150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786개 공식 상권의 목적별 추천 기준선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572D6-FB6A-4ED7-9B7E-80C94983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542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F62"/>
          </a:solidFill>
          <a:ln xmlns:a="http://schemas.openxmlformats.org/drawingml/2006/main" w="0">
            <a:solidFill>
              <a:srgbClr val="102F6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0699E-F8DA-4FF5-9D03-8EAC053C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REACH × PURPOSE ×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8CF70-3A05-42E2-9AB8-3F761CDE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장한별  ·  지우진  ·  김건우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dd16896b04b5e"/>
          <a:srcRect xmlns:a="http://schemas.openxmlformats.org/drawingml/2006/main" l="2792" t="0" r="2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028700"/>
            <a:ext cx="4857750" cy="2895600"/>
          </a:xfrm>
          <a:prstGeom xmlns:a="http://schemas.openxmlformats.org/drawingml/2006/main" prst="roundRect">
            <a:avLst>
              <a:gd name="adj" fmla="val 5921"/>
            </a:avLst>
          </a:prstGeom>
        </p:spPr>
      </p:pic>
    </p:spTree>
    <p:extLst>
      <p:ext uri="{BB962C8B-B14F-4D97-AF65-F5344CB8AC3E}">
        <p14:creationId xmlns:p14="http://schemas.microsoft.com/office/powerpoint/2010/main" val="201181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54977E-1912-4D52-AEDE-00ECC41D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3BDAC-5685-4B9D-8019-1397AE50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1 →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8811D-AF01-49EA-9CA6-94D92B53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74CAD-75DA-41FB-8CEE-A5EFB3FE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32ECE-F746-48B0-B19C-B82D5E4C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3주간, “갈 수 있는 상권”을 “설명 가능한 후보”로 바꿨습니다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059FA-0F01-48BE-9A6B-487681E8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접근성으로 후보군을 정의하고, 목적별 공급·소비·공간 신호를 결합했습니다.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8CB0E-67E8-48A1-AB13-EE1EC82A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40EB6-A64A-4B92-AD8C-55499C19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D64F2-AD30-4AEE-A3AE-4C67F639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AAB3B-DA25-495E-BB85-66F9F60F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동대문구 출발 정류장·역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EA101-3B3C-4BEE-BDFA-19CE4A14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B46F1-44DD-4FCA-8CED-6A5B29FF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01482-79BC-46F6-B0A4-2E1EA887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174F5-5D11-433D-8E60-08BCBDF3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908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대중교통 생활권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4192C-E4BF-4AD3-AD08-B49D54B7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86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61480-363B-4B27-A2C6-06FFD619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860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9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3419B-07D6-4994-8FA1-F4D5272C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765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786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DFAC8-A3EC-45DE-82E0-AF19931D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공식 상권 폴리곤 후보군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B6A47-DB1D-4C2F-9A08-98050204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3314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BE53E-9986-44A9-934C-0FA14D28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D6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771F0B-4F58-47E0-8512-F0CE238C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4개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3070F-2BAD-498F-B040-4FAA36B6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908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식사·쇼핑·카페·여가문화 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EE6C6-3658-4752-A40A-74570024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W1  접근성 기반 후보군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5B9CB1-B300-4E60-AD37-BA9381C6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334개 출발지에서 시간대별 도달 정류장을 계산하고, 공식 상권 폴리곤으로 후보를 고정했습니다.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69C3E4-4774-4693-9E61-A8F708F6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910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W2  목적별 증거·시설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258CBF-4FCC-4E70-8C4A-986F05EB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52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공부·카페·공공시설과 여가문화 POI를 상권 내부·보행 400m 범위로 분리해 피처화했습니다.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E85B1-E914-43B7-A9C9-F0FB718C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W3  보정된 추천 기준선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532F4F-334D-4956-8843-FD3025B5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식사·쇼핑 하위분류와 규모 쏠림 보정을 적용해 목적별 순위의 해석 가능성을 높였습니다.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6A2202-5350-4D1C-ADEC-A8B99362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DE6EAB-0E5D-474D-B6E3-5C4DA09B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96920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D750ED-90E8-4E3C-A6E5-5FCDBA16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1EEFD-67C3-4893-B6E4-320F21F9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SYSTEM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9EC6A-6AB1-4CED-A6DD-45B5B9E1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36653-8298-4D4A-BCDA-BF1881BC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1A5CD-7571-48B8-97BC-089BF7C5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추천은 네 개의 판단을 순서대로 통과합니다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C5E5E-C546-4748-97FB-E38FEFAE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장소를 바로 나열하지 않고, 이동 제약·공식 경계·목적 신호·제외 규칙을 순차 적용합니다.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48018-9FF9-4F32-A02A-37EB738D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2C3EE-E759-44BB-9A24-78AE71BA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C03A4-99D4-4FE7-9DB2-1FC29E6D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5304D-8808-45B2-8E65-F053536B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01  REACH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8F6D2-278F-49C0-89B1-FCF99015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334개 출발지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30분 도달 가능성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3E776-4555-4764-AC22-C2D88112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C4E7F-79BB-4FD5-8F50-E97CC7D8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698E7-9970-4E8A-BF9C-B75CD67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87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66047-9BF3-4C73-8775-8B35C7CC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4D017-8164-4C1B-A2B6-42EA66F1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02 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E696A-C4ED-4938-BAD8-A7BA14C0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814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786개 서울시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공식 상권 폴리곤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33C18-F708-4B9D-96C2-BF517958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19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D9F13-CA77-4999-9E39-7877CE19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1031E-4408-40E0-85AD-FA7056EF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79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89E5E-D9C3-4CEA-B522-16C73028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C373D-ABB8-4683-A50D-B9BF75CA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03  PURPOSE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3A43E-A429-4682-9867-1D1C1F06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점포·매출·POI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시간대·보행권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0E7BF-0D05-4258-BDD0-CC3707FE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78EEFF-0CE8-48A0-8135-FECDE47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87AFF-0E6E-4B2F-A1DD-9591BE27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D6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D974BB-6247-42AC-A553-386BE6A3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2C7F3A-BC00-4904-B8DF-1D6C5665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04  RANK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729F73-32A5-4DD2-8E7D-FE541E52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814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규모 보정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제외·신뢰도 표기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15A0D3-1F7D-4D62-8192-2EEAB637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28004C-5EB5-4DA4-8CCC-5296DAE8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핵심 원칙   |   “도달 가능”은 후보 조건이고, “추천할 만함”은 목적별 증거와 규모 보정 후에만 판단합니다.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6F4B2C-6D4E-4965-90C7-BDFF7277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B8A8E3-C8F9-46E0-8159-95CD5EF4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455214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62332-0D70-490D-8B31-8D18334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6DA33-5DD1-427E-BE73-A6FAF61B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CANDIDATE UNIVERSE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45706-3664-4A01-9EEB-C7EDD317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01BEE-B4A2-435A-A39F-F6436706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079C2-614E-4553-915F-9DE6557E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동대문구에서 출발해도, 추천 단위는 “행정동”이 아니라 “공식 상권”입니다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9C36E-7EB1-4158-8620-8C2326FA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행정동은 넓고 성격이 섞여 있어, 서울시 공식 상권 경계(폴리곤)를 최종 비교 단위로 사용합니다.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8057ab4fb4d0f"/>
          <a:srcRect xmlns:a="http://schemas.openxmlformats.org/drawingml/2006/main" l="0" t="12147" r="0" b="12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14550"/>
            <a:ext cx="5000625" cy="3524250"/>
          </a:xfrm>
          <a:prstGeom xmlns:a="http://schemas.openxmlformats.org/drawingml/2006/main" prst="roundRect">
            <a:avLst>
              <a:gd name="adj" fmla="val 486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68AC8-DED6-4434-ACFE-BEEDA385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334개 출발지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55D8A-FF6C-41AC-83B2-52FDA7C7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동대문구 내 버스정류장·지하철역을 출발지로 두고, 오전 8시·오후 2시·오후 7시의 접근성을 함께 확인했습니다.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5C7BC-0D1F-4609-AABC-2ABF35C1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62375"/>
            <a:ext cx="5029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0">
            <a:solidFill>
              <a:srgbClr val="FFF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CDC4F-CA80-48E0-BB7A-9C04086A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147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25% 이상 출발지가 도달 가능 → 후보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3E8B1-3207-4154-9E44-DF003F23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결과: 786개 공식 상권 폴리곤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20A88-0C07-418B-AF1B-DD6EB8BF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435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관광특구 6개는 권역이 과도하게 넓어 목적지 추천에서 제외하며, 나머지는 목적별 점수로 다시 정렬합니다.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5125E-E8CE-40B1-A336-69EFA2EF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62A971-3494-4ADE-ADCD-81D8892D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722677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15FFE4-11BF-49AF-B332-1B3EB2D1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BF89E-9C88-4781-A3B8-47EFF583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2 ·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F30E4-FEA2-4837-8C73-175900BC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62E9B-6CB3-424C-AABF-78D5022B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8D5A0-0B34-4C77-9F52-4E863674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점포 수만 세지 않고, “어떤 경험을 할 수 있는가”를 피처로 만들었습니다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99DFC-830B-4E0F-A784-39DDB71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상권 내부와 도보권 시설을 분리해 목적별 체류·학습·문화 신호를 구조화했습니다.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BF827-20C8-4732-8FE8-ABFDCB57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8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87FF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AE29D-18E9-41E8-B9A8-CBDF28DE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공부·카페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22E2F-CC68-456E-834D-0C5DDA9B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도서관·열람실·청년공간·대학 학습시설을 공공 피처로 사용하고, 스터디카페·대형카페는 별도 참고 신호로 관리합니다.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3CCD9-E931-4A3C-9253-40778168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9A4CB-39F1-49DF-BD4C-71C7DAF3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B7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B796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54C82-7316-4DC9-B7B8-B29FEFCD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여가문화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68C6C-04B1-48A1-95A4-B4CD94A4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박물관·미술관·공연장·영화관·문화센터·전시공간·공원·스포츠시설을 상권 내부/보행권으로 나눠 집계합니다.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ED8B8-C766-4409-8B55-157B8EAF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91B9E-A43F-448C-99B7-BB8F7A12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08F5D-C490-4EEA-80EA-0319C972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공간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27CC6-0C7A-4237-A4AA-E1A18192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148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폴리곤 내부 수와 “도보 400m 이내” 수를 분리합니다. 단순 직선거리의 과대평가를 피하기 위해 보행 경로 확인으로 전환했습니다.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6BCDE-0BC6-46DF-ADF5-256F0179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816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CFA75-76E3-4907-8274-FE1E85A4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6863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2D9F51-E4D4-498E-9E6F-D088E8FC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시설 피처의 역할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6A05A-1689-4C27-8863-D30735B8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공급 신호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18285-9DFA-436A-AAC4-698652DF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무엇을 할 수 있는가</a:t>
            </a:r>
          </a:p>
          <a:p xmlns:a="http://schemas.openxmlformats.org/drawingml/2006/main">
            <a:pPr>
              <a:def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시설 수·다양성·특화도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5139B-C939-4BF3-B205-A45351E9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6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2B254-9EB2-4CBE-8077-80A9697A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소비 신호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F91AC7-0811-4FDC-9F43-38E56F18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실제 소비가 있는가</a:t>
            </a:r>
          </a:p>
          <a:p xmlns:a="http://schemas.openxmlformats.org/drawingml/2006/main">
            <a:pPr>
              <a:def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매출·거래건수·시간대 적합도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B85237-1681-48BB-8CEA-6B9E4C66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C06CF6-BA01-4748-A2F9-CA725BED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508460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C4BD25-1BB9-4B79-B193-EF764E52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5E55C-9063-48AA-8B69-F953946B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2 · WALK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6214B-76DA-49AE-BBBD-3E7B2BDE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4461E-3D4F-4063-BE77-96D2A8CD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B5539-6E91-47AE-BC77-B0CF894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2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여가문화는 “검색 결과”가 아니라, 실제 도보권 검증을 거친 POI만 점수에 반영했습니다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42BEE-D32B-4B61-A7D1-E17D9610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실시간 성격의 POI는 2026년 스냅샷으로 분리하고, 2025년 매출과 혼용하지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E0962-6087-492D-B7C6-473E1C25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066800" cy="1809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F55A1-6090-4AA6-B5D1-9D4C3B52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93012-8FFE-489F-91B2-F63AA1AD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수집 POI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BF858-9321-4992-B3B5-0E7C30C7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71900"/>
            <a:ext cx="1066800" cy="10858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78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72245-6ECD-42A8-99CE-38B5D3E3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909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739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A8046-1D90-4782-993F-67DA7B11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폴리곤 내부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438A4-39BE-429E-A9EB-7CA08694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0100"/>
            <a:ext cx="10668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CB4AB-E815-45FE-B264-FA14D64D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291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167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F391B-4401-46DF-9395-D8D76F02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경계 외 후보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90084-83F0-4FD1-B6DF-AD2F3E64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38675"/>
            <a:ext cx="10668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27B79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AF872-60B7-4EA0-9432-88005DE7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577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148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BFBDC-02C0-44E1-8D23-F2DE802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도보 400m 통과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D0CD0F-C72B-474D-BF36-B3FAC787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1066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6D6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E4BBE-2AF8-48E3-BBB9-287A5CFC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465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5FC118-80FC-448E-88F1-738AD167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요리주점</a:t>
            </a:r>
          </a:p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반영 후보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B5EE9-3BF3-47FE-9EFA-B0725119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38625"/>
            <a:ext cx="10668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A9B6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1E18B-D7A9-486D-8FE7-9122ACB1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576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422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FED3C-81E7-4FB1-99E9-3DAB1A80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성인 유흥</a:t>
            </a:r>
          </a:p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점수 제외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99ABF-AE78-4E9D-97F3-CBBF89B0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78F8E5-A9E6-44EC-9FEE-FEDDB811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066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5899E4-005E-42B7-9C83-FD088D26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517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“요리주점·유흥주점”은 2025년 공식 100대 업종에서 분리 코드가 불충분합니다. 요리주점은 현재 POI를 도보 검증해 보조 신호로 쓰고, 성인 유흥은 추천 점수에서 제외했습니다.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5646C5-8CB8-4EEF-A699-B031E8F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F58FC-B67D-4520-A189-547B5210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918399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B24B3-B320-418E-A435-380F0A19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1320E-71B6-479A-8223-364D70BB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3 · TAXONOMY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FF391-C3EA-4BF9-B630-93E1E1CB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53893-48E6-4DF8-A457-9E415E30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EAEC9-C13D-4814-8F3E-D493EA55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식사와 쇼핑은 대분류 하나가 아니라, 하위 목적의 조합으로 다룹니다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C798A-E6B1-4DD1-A88D-F8C904CA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같은 “식사”라도 메뉴와 가격대가 다르고, 같은 “쇼핑”이라도 찾는 품목이 다르기 때문입니다.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C38C6-EB59-4CC2-BD31-34A35FB1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5095875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7896A-8239-42C9-A881-863D01EA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79042-9222-4795-A310-52DC4990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MEAL · 6 SUBCATEGORIES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6D38B-E94B-46E4-B048-E6577B40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한식  ·  중식  ·  일식</a:t>
            </a:r>
          </a:p>
          <a:p xmlns:a="http://schemas.openxmlformats.org/drawingml/2006/main">
            <a:pPr>
              <a:def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양식  ·  간편식  ·  치킨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A43FA-8143-4EB4-9401-0B8CC254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가격대는 메뉴 가격을 임의로 추정하지 않고,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동일 음식 세부업종의 점심 시간대 객단가 Q25 / Q75로 구분합니다.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84951-C48A-4A6B-AA54-39D73BFB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47900"/>
            <a:ext cx="5095875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9B63C-317F-40BC-AF49-7506F5DB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FABE6-CA89-4B44-A36B-6A894C31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105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SHOPPING · 5 SUBCATEGORIES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235F7-B3FD-449D-85D9-1322BF74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패션·뷰티  ·  식품·생활</a:t>
            </a:r>
          </a:p>
          <a:p xmlns:a="http://schemas.openxmlformats.org/drawingml/2006/main">
            <a:pPr>
              <a:defRPr sz="15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취미·문화  ·  디지털·홈  ·  건강·반려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DDD7A-EE6B-4D13-B079-C295D6C8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도매·특수시장 7개는 소비자 소매 추천에서 제외합니다.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관광특구 6개도 지나치게 넓어 순위 대상에서 제외합니다.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22321-AEB7-40C1-88C4-B76EE00A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베이커리·디저트는 카페, 호프·요리주점은 여가문화로 귀속해 중복 반영을 줄였습니다.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71D76-B3B3-4CDD-A63D-F078EE6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147E6-AA40-41F6-8442-0A61B8F9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233279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80CA6-D4DF-41B0-8523-5159935D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BA9A1-DA89-4A04-8D42-1D1A439C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3 · DE-BIASING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43600-21E9-4D6F-97B2-918802A8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9B114-538C-4B64-8427-43F9E118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EAF88-4FA9-45EC-85E7-9EDA0E61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“큰 상권이라 높은 점수”가 되지 않도록, 규모 효과를 분리했습니다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76E72-640C-4674-9890-B2F5072E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원점수는 면적·총점포 수와 연동되기 쉬워, 목적 신호의 잔차를 최종 순위 점수로 사용합니다.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47700" y="2333625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2e674541c3442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48B3E-C2C8-4873-9C16-12CE9ABC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3714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9A0DB-B7D6-4EE2-97E0-8C702521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28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보정 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ACB18-8A9D-430C-A1E1-86B2B03D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62300"/>
            <a:ext cx="266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1. 점포 밀도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2. 업종 다양성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3. 서울 평균 대비 특화도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4. 매출·거래 밀도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5. 접근성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DE757-8AD5-426A-9092-47EAA8A2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387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보정 후 순위는 “상권의 크기”보다 “목적에 맞는 밀도·특화도”를 더 많이 반영합니다.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608EB-2BEC-4501-9B35-16E2E83F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4D3C8-E67E-4405-B4B9-DD19364D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7075332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7A787-7270-4264-BF0A-702606E0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EB2B9-86C4-44E7-A466-59C97281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RECOMMENDATION BASELINE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58BE4-0278-4AFD-AB89-4ED3C797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0AC1F-AA59-43A0-AEED-A8558F51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D6C38-E7FF-4C7E-995A-6D13A122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현재의 추천은 “학습 완료 모델”이 아니라, 검증 가능한 목적별 기준선입니다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EBC57-438D-478F-ABAD-E6D8E63E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각 목적별로 같은 구조의 피처를 쓰되, 하위분류와 제외 규칙만 다르게 적용합니다.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057D0-58F8-471C-98C2-B3100DB8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0668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13B35-E918-47D5-9F37-3F94D57D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Purpose Score = 0.20 × 접근성 + 0.35 × 공급 신호 + 0.35 × 활동·소비 신호 + 0.10 × 시간 적합도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11131-BC54-47B5-BF46-49338CC7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BA9F1-BDFB-4FA4-9749-7026EE6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접근성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174D7-A8EC-40C8-8015-6172B814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33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08·14·19시 도달 비율, 최소 도달 비율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CF75A-9FE1-46B7-83FB-A3DB5275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A903E-FD88-4D30-93BB-1FDA0807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공급 신호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E90E6-DBBC-4B70-9999-8DA515E4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576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점포·시설 밀도, 업종 다양성, 특화도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34D25-51B0-4A0B-A8CA-9DAD9614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0F7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AD4EA-5945-4C75-AF96-520C2F24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활동·소비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D34C8-82CF-40FD-9709-8FCDFE8C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815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매출·거래 밀도, 관측 여부, 보행권 POI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7E9F0-3EBB-402E-89B7-F79BDC54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DEB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C3087-7CD7-49F7-B31F-9B173343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시간 적합도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7C389-697D-4979-A9AE-839A897B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054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목적별 시간대 매출 비중 / 저녁·심야 신호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B2E31-7233-4B27-8174-61E265BC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단, 매출이 비공개인 행은 추정 여부를 표시하고 “고신뢰 Top10”과 일반 탐색 후보를 분리합니다.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3FA27-A75E-4A23-AF37-118AD75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9F29F-60D3-488C-B92B-181507F5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83981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B0B881-B066-4042-BFC6-318369B4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D5F1B-440F-4F40-9252-2180EE28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CURRENT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6B90F-A0FB-47AA-9359-D1E1C828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C6485-9C7A-4713-97FB-C8C558D0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12035-8520-45C9-B6E5-121C0219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목적별 Top10은 이미 생성되지만, “정답 추천”으로 주장하지는 않습니다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0D002-2D3A-4304-877F-ABC7404A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후보별 점수와 추천 이유를 함께 저장해, 사용자가 순위의 근거를 확인할 수 있도록 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7F91D-05E1-4B30-A8DD-63D9DC85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5143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DC034-B083-4E12-AA2D-334C45A9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3619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B16E6-2AC3-49B2-9106-00C36B48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MEAL + SHOPPING · HIGH-CONFIDENCE 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3ABC6-8FE7-47E9-890C-32D39BBF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01  동부시장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514CE-2C7C-431A-9C9B-3DE9AAC0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02  마포시장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63FA0-EC14-44F3-8C69-D9D11DA2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03  면곡골목시장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79B03-E5E8-49BF-B702-150B773D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04  화양제일골목시장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8BD89-E42D-45E6-90B3-0404EC38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05  답십리현대시장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A2C90-2996-442B-98E4-967C87EE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조합 목적은 각 목적 점수를 합산하기 전에</a:t>
            </a:r>
          </a:p>
          <a:p xmlns:a="http://schemas.openxmlformats.org/drawingml/2006/main">
            <a:pPr>
              <a:defRPr sz="9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관광·도매 제외와 고신뢰 규칙을 동일하게 적용합니다.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DA2A6-4F99-49CB-9186-52EFA658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38375"/>
            <a:ext cx="49911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82112-C789-4E0C-A9B2-8760ECE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47925"/>
            <a:ext cx="247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3B89B-0705-49B8-A263-6414C035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669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RECOMMENDATION REASON CARD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FDE7A-BC61-4B9A-8F3E-45665902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전곡시장 · 쇼핑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D99E0-BA6E-4382-A4B5-4DD8DD0A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3810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주요 유형  식품·생활</a:t>
            </a:r>
          </a:p>
          <a:p xmlns:a="http://schemas.openxmlformats.org/drawingml/2006/main">
            <a:pPr>
              <a:def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관련 점포  38개</a:t>
            </a:r>
          </a:p>
          <a:p xmlns:a="http://schemas.openxmlformats.org/drawingml/2006/main">
            <a:pPr>
              <a:def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업종 매출 공개율  24%</a:t>
            </a:r>
          </a:p>
          <a:p xmlns:a="http://schemas.openxmlformats.org/drawingml/2006/main">
            <a:pPr>
              <a:def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세 시간대 접근률  0.99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0D5CA-7C18-44A1-9DA5-9E68CCBA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434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“점포·매출이 모두 관측된 상권”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03FA3-7A27-49F2-84D1-CE829958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1433FF-BE9B-4095-94A6-3C2E92BC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7706110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836AAC-FBE9-4BEB-BC74-2AABBDEF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C6CA1-91C5-48BE-96F4-6FAD7284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PERSONA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A3D1F-F11F-449F-8BC5-29E223FD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93A6D-C918-4D5C-BF6E-2D751407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445BE-8494-47DF-BBE2-986F4E8A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07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같은 요구라도, 일반 LLM은 인기 장소를 말하고 우리는 “조건에 맞는 상권 유형”을 제안합니다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497F4-D7D5-45AA-A6DA-1F634551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예시는 동일 입력을 가정한 비교입니다. LLM 답변은 시간표·상권별 피처·제외 규칙에 접근하지 않는 일반적 상황을 기준으로 작성했습니다.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2F2ED-A9F0-4B19-AD6D-85ED3841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33337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DEBE8"/>
          </a:solidFill>
          <a:ln xmlns:a="http://schemas.openxmlformats.org/drawingml/2006/main" w="0">
            <a:solidFill>
              <a:srgbClr val="FDEB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1F62E-2E1E-4D11-8A79-B724E977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23421-4D87-4C82-8ABF-87B420F1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46D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46D62"/>
                </a:solidFill>
                <a:latin typeface="Helvetica Neue"/>
                <a:ea typeface="Helvetica Neue"/>
                <a:cs typeface="Helvetica Neue"/>
              </a:rPr>
              <a:t>일반 LLM 응답 예시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A6B8C-0248-449D-96FF-A16F0A9B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0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“외대앞에서 30분 안에</a:t>
            </a:r>
          </a:p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뭐 할까?”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CF419-962D-49CD-AAE5-335C790D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171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37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동대문</a:t>
            </a:r>
          </a:p>
          <a:p xmlns:a="http://schemas.openxmlformats.org/drawingml/2006/main">
            <a:pPr>
              <a:def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명동</a:t>
            </a:r>
          </a:p>
          <a:p xmlns:a="http://schemas.openxmlformats.org/drawingml/2006/main">
            <a:pPr>
              <a:def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왕십리</a:t>
            </a:r>
          </a:p>
          <a:p xmlns:a="http://schemas.openxmlformats.org/drawingml/2006/main">
            <a:pPr>
              <a:def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청량리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91FBC-31B4-46A9-8924-B8626032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유명도·검색 노출을 바탕으로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대표 장소를 나열하기 쉽습니다.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C82F3-6A73-4F6B-906C-72049920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38375"/>
            <a:ext cx="2114550" cy="3257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16A58-974A-4727-8822-EDD03182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57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F1AD1-37E7-4C45-9D26-C895C5DD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146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가성비 생활쇼핑형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E9BA0-3A66-4AAE-A496-E04023A4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385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전곡시장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FF556-090F-49EF-A6FC-FCACADE2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9575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0E6DC-49EE-4464-A06D-8C536E21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95775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식품·생활 38개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세 시간대 접근률 0.99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EA9CF5-53A8-4D3B-A335-B87C88C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0482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B7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B796"/>
                </a:solidFill>
                <a:latin typeface="Helvetica Neue"/>
                <a:ea typeface="Helvetica Neue"/>
                <a:cs typeface="Helvetica Neue"/>
              </a:rPr>
              <a:t>추천 근거 카드 제공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8FEA5-4D54-41B3-9A9A-05AC1CBA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2114550" cy="3257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3EEC68-A331-42F1-AA40-6A3552A2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57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AC849-CAAE-428F-AADB-3B299577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식사+쇼핑 복합형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8E1CD-3596-4CA0-B0B5-7D27E990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385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동부시장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CE1EBD-2FA5-4260-BD47-49E04FEC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9575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460ED9-3DE5-4E71-9ADD-DC3A2FA3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95775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고신뢰 조합 Top1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시장형 복합 소비 신호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B8229E-8348-411D-928E-194050E7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482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B7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B796"/>
                </a:solidFill>
                <a:latin typeface="Helvetica Neue"/>
                <a:ea typeface="Helvetica Neue"/>
                <a:cs typeface="Helvetica Neue"/>
              </a:rPr>
              <a:t>추천 근거 카드 제공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AE0FBE-3E76-433F-9725-F34CF1AD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38375"/>
            <a:ext cx="2114550" cy="3257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64A528-4358-4C1F-B999-8735C1FA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57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9C5419-03E2-4F20-8646-462AB9B5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146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저녁 여가 탐색형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AC3951-C3C0-44F6-9EEB-1CC9C6F3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385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중랑역 2번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59862-6A41-474A-B4CB-5DC85383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9575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89153C-8059-4CDA-AFC2-D7539E24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295775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내부 문화 POI 1개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저녁·심야 소비 신호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3A65B7-B250-4B69-BA42-D56A74B5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0482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7B7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7B796"/>
                </a:solidFill>
                <a:latin typeface="Helvetica Neue"/>
                <a:ea typeface="Helvetica Neue"/>
                <a:cs typeface="Helvetica Neue"/>
              </a:rPr>
              <a:t>추천 근거 카드 제공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EE0319-9807-48C5-9C51-E99F864F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차이점: 우리 기준선은 “누가, 어떤 목적에서, 왜 이 상권을 볼 만한가”를 수치와 제외 사유까지 함께 남깁니다.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851BB8-21C2-4A94-BAA1-C074B83D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7FD8FC-8BF0-4084-807F-E299F6E6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4627346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F99F1-42C5-4E30-9CA9-FB9B42A5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C5CDD-A5E5-4F59-BECC-ECF1C34F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WHAT WE CAN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60C58-5EFD-404D-8DF2-CCB96C87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F992D-B745-4B40-8D2B-D1BF8E9A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BE0EC-1C97-4090-B952-AAFDFE9C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2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이번 주차의 성과는 “추천 성능”이 아니라, 추천을 학습·검증할 데이터 구조를 만든 것입니다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09569-0ACC-4FA0-94E9-5371E14F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후보군·피처·제외 규칙은 재현 가능하지만, 개인의 실제 선택을 예측했다는 주장은 아직 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E7971-286F-4F04-BC25-78FA3E7D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0006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0F7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CE321-DA9F-40CC-97E8-4FE0AFB1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현재 말할 수 있는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CF696-795C-4B98-BE47-EE1F85C1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786개 후보의 목적별 피처와 점수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면적·점포 수 쏠림을 줄인 순위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상권 내부와 보행권 시설의 분리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제외 사유·매출 추정 여부·추천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A5D71-3798-467A-B7F8-54244D62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50006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DEB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2C5D0-E469-4ED5-9C0F-9A24805B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67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아직 말하지 않는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DAEE4-73D0-445D-B445-348E19A4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90875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개인별 “선택 확률”의 정확도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실제 사용자 만족도·클릭 성과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B078/B079 원본 기반 이동–소비 전환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2026년 POI로 2025년 과거 성과 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17778-1125-45CA-AA44-4CEED80F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핵심: 지금은 “그럴듯한 답”이 아니라, 어떤 근거로 순위가 나왔는지 추적 가능한 추천 기준선을 만드는 단계입니다.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B17A7-8B79-4413-90A0-133E953C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1D9FF-87FE-4634-A2C5-4DD8D392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759870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38F7FF-1D88-4E35-8B44-25F12766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31041-1F27-4A69-A6E4-B24C087C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NEXT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58D9C-0757-4517-924F-26F8554F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28818-8F6F-441B-A5A1-1E9D66AA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448F-18E9-47DF-8510-8361415E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다음 단계는 더 많은 장소를 넣는 것이 아니라, 기준선이 실제 선택과 맞는지 검증하는 일입니다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E967C-1547-4664-B024-0DF9654A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10월 중간발표 전에는 목적별 하위분류·보행경로·공개 이동데이터 기반의 검증 단위를 고정합니다.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4F84B-00F3-46A8-B4B7-EBC6617B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2362200" cy="2428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733B5-8159-4744-AD1B-665B79C9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41B75-5067-4CD2-96F8-B3A360CD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하위분류 고정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5FEA8-08BB-46B0-876E-F06C0A47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식사·쇼핑·카페·공부·여가문화별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포함/제외 업종과 근거를 확정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A7D4C-C7BD-4773-AD65-B020B609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24125"/>
            <a:ext cx="2362200" cy="2428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10EF9-05E9-4259-A9A0-050FABDE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09B21-884C-40BB-A93A-9BA3BD2B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보행경로 적용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A6B78-C82E-4530-9407-A6988113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3380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직선거리 대신 카카오 도보 경로로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400m 도보권 규칙을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FFFFB-2533-4632-9F92-6AD76F8F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24125"/>
            <a:ext cx="2362200" cy="2428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DEF15-FBC6-4A93-ACEC-7D9A057A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E3BBF-CCC0-4DD1-9C78-AF2A9B36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공개 이동데이터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63EE7-4584-4265-A701-46C3FBD9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행정동·시간대 생활이동 공개본으로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후보 접근성과 목적 신호를 교차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3CC76-F096-4EB5-9952-641BD4A2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24125"/>
            <a:ext cx="2362200" cy="2428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66068-8D08-4640-99E2-DE007534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DC60E6-D65B-48A7-A6B3-3F92DEA9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설명 카드·평가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5B4D3-E7E9-48DC-BB7B-9C6020D0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추천 이유 카드와 고신뢰 표기를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확정하고 사용자 평가 설계를 시작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5CBAF-AB27-4D59-978E-2AE3E71D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10744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48BEB-3F6C-4F8C-829A-1E8F0391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1023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목표  |  접근 가능한 786개 상권에 대해, 목적별 순위와 그 이유를 같은 기준으로 설명하는 추천 기준선 v1 완성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CA31DB-646F-4B92-9E45-324D7CE2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A5DBD-7C76-4529-8524-253528C2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THANK YOU</a:t>
            </a:r>
          </a:p>
        </p:txBody>
      </p:sp>
    </p:spTree>
    <p:extLst>
      <p:ext uri="{BB962C8B-B14F-4D97-AF65-F5344CB8AC3E}">
        <p14:creationId xmlns:p14="http://schemas.microsoft.com/office/powerpoint/2010/main" val="662521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2026-09-30T00:42:37.9480000Z</dcterms:created>
  <dcterms:modified xsi:type="dcterms:W3CDTF">2026-09-30T00:42:37.9480000Z</dcterms:modified>
</coreProperties>
</file>