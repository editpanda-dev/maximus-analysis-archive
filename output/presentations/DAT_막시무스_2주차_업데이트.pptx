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7a9fe5ff63431f" /><Relationship Type="http://schemas.openxmlformats.org/officeDocument/2006/relationships/extended-properties" Target="/docProps/app.xml" Id="R46c1b676dbdd4970" /><Relationship Type="http://schemas.openxmlformats.org/officeDocument/2006/relationships/officeDocument" Target="/ppt/presentation.xml" Id="R127bb0d67f5c4a4c" /></Relationships>
</file>

<file path=ppt/presentation.xml><?xml version="1.0" encoding="utf-8"?>
<p:presentation xmlns:p="http://schemas.openxmlformats.org/presentationml/2006/main">
  <p:sldMasterIdLst>
    <p:sldMasterId xmlns:r="http://schemas.openxmlformats.org/officeDocument/2006/relationships" id="2147483648" r:id="R16b2768fe7d74499"/>
  </p:sldMasterIdLst>
  <p:notesMasterIdLst>
    <p:notesMasterId xmlns:r="http://schemas.openxmlformats.org/officeDocument/2006/relationships" r:id="R223d035b23944f07"/>
  </p:notesMasterIdLst>
  <p:sldIdLst>
    <p:sldId xmlns:r="http://schemas.openxmlformats.org/officeDocument/2006/relationships" id="256" r:id="R11351088f12d4b9b"/>
    <p:sldId xmlns:r="http://schemas.openxmlformats.org/officeDocument/2006/relationships" id="257" r:id="Rb9b9e54a7ca941ae"/>
    <p:sldId xmlns:r="http://schemas.openxmlformats.org/officeDocument/2006/relationships" id="258" r:id="R308ebd3e846e48f1"/>
    <p:sldId xmlns:r="http://schemas.openxmlformats.org/officeDocument/2006/relationships" id="259" r:id="R64fe8f54d9a2445b"/>
    <p:sldId xmlns:r="http://schemas.openxmlformats.org/officeDocument/2006/relationships" id="260" r:id="R648572ad121e4ee8"/>
    <p:sldId xmlns:r="http://schemas.openxmlformats.org/officeDocument/2006/relationships" id="261" r:id="R0321c6b30e9d46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d06fc442114fea" /><Relationship Type="http://schemas.openxmlformats.org/officeDocument/2006/relationships/slideMaster" Target="/ppt/slideMasters/slideMaster1.xml" Id="R16b2768fe7d74499" /><Relationship Type="http://schemas.openxmlformats.org/officeDocument/2006/relationships/notesMaster" Target="/ppt/notesMasters/notesMaster1.xml" Id="R223d035b23944f07" /><Relationship Type="http://schemas.openxmlformats.org/officeDocument/2006/relationships/presProps" Target="/ppt/presProps.xml" Id="R63bc98bf48d54dec" /><Relationship Type="http://schemas.openxmlformats.org/officeDocument/2006/relationships/tableStyles" Target="/ppt/tableStyles.xml" Id="R04eea24273b448a7" /><Relationship Type="http://schemas.openxmlformats.org/officeDocument/2006/relationships/slide" Target="/ppt/slides/slide1.xml" Id="R11351088f12d4b9b" /><Relationship Type="http://schemas.openxmlformats.org/officeDocument/2006/relationships/slide" Target="/ppt/slides/slide2.xml" Id="Rb9b9e54a7ca941ae" /><Relationship Type="http://schemas.openxmlformats.org/officeDocument/2006/relationships/slide" Target="/ppt/slides/slide3.xml" Id="R308ebd3e846e48f1" /><Relationship Type="http://schemas.openxmlformats.org/officeDocument/2006/relationships/slide" Target="/ppt/slides/slide4.xml" Id="R64fe8f54d9a2445b" /><Relationship Type="http://schemas.openxmlformats.org/officeDocument/2006/relationships/slide" Target="/ppt/slides/slide5.xml" Id="R648572ad121e4ee8" /><Relationship Type="http://schemas.openxmlformats.org/officeDocument/2006/relationships/slide" Target="/ppt/slides/slide6.xml" Id="R0321c6b30e9d46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1c7ee2fb994b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fc00b8261a4c57" /><Relationship Type="http://schemas.openxmlformats.org/officeDocument/2006/relationships/notesMaster" Target="/ppt/notesMasters/notesMaster1.xml" Id="R86c512592e4947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2ad474be3648d3" /><Relationship Type="http://schemas.openxmlformats.org/officeDocument/2006/relationships/notesMaster" Target="/ppt/notesMasters/notesMaster1.xml" Id="R7217b9d5e7a744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7e3a6efe484b00" /><Relationship Type="http://schemas.openxmlformats.org/officeDocument/2006/relationships/notesMaster" Target="/ppt/notesMasters/notesMaster1.xml" Id="R404815a924134a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df284a261741d0" /><Relationship Type="http://schemas.openxmlformats.org/officeDocument/2006/relationships/notesMaster" Target="/ppt/notesMasters/notesMaster1.xml" Id="Re28a996a5c3140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6f3125f0d1467e" /><Relationship Type="http://schemas.openxmlformats.org/officeDocument/2006/relationships/notesMaster" Target="/ppt/notesMasters/notesMaster1.xml" Id="Rf3bd5dbd267744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a3c87dd2af4ff8" /><Relationship Type="http://schemas.openxmlformats.org/officeDocument/2006/relationships/notesMaster" Target="/ppt/notesMasters/notesMaster1.xml" Id="Rea3d2f88892141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2주차 업데이트 발표. 출처: data/processed/commercial_area_accessibility 및 data/external/study_public_facility_poi.csv. 공식 상권 후보 786개, 공공 학습시설 원천 268개.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지난주 요약. 동대문구 버스정류장·지하철역 334개를 출발지로 두고, 오전 8시·오후 2시·오후 7시에 25% 이상 출발지가 접근 가능한 행정동을 탐색 생활권으로 정했다. 이후 공식 상권 폴리곤과 400m 기준으로 결합해 786개 공식 상권을 후보 단위로 사용한다. 출처: docs/accessibility_threshold_validation.md.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2주차 데이터 업데이트. data/external/study_public_facility_poi.csv는 268행·41열이다. data/processed/study_public_facility_features.csv는 786행·24열이며 area_code를 키로 한다. 2026 POI는 현재 추천용 보조 피처로만 사용하고, 2025년 매출 예측 검증에는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점수 거버넌스. study_public_*는 공개 접근이 확인된 236개 시설만 집계하는 생산 점수용 필드다. study_public_all_*는 대학시설 후보 9개를 포함한 245개 검토용 필드이며 순위 계산에 사용하지 않는다. 출처: docs/study_poi_source_and_taxonomy.md, docs/poi_feature_integration.md.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재현성 기록. 원천 POI 268개는 place_id가 모두 고유하다. 수동 점검은 상위 20개 상권의 117개 상권-시설 연결을 확인했고, 18개는 폴리곤 내부, 99개는 400m 이내다. 전체 테스트 14건이 통과했다. 출처: docs/study_poi_license_and_deduplication.md, docs/study_public_facility_top20_manual_check.md.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단계. 2주차 결과를 목적별 추천의 투명한 기준선으로 사용한다. B078 전체 원본은 현재 오프라인 분석실 방문이 필요한 상태이므로, 원본 수령 전에는 대체 목적 대리변수와 관측 단위를 명확히 정의한다. 이후 Huff, Conditional Logit, LightGBM 계열을 같은 후보군에서 비교하고 시간·공간 홀드아웃으로 평가한다.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1488d8c59241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7902574960436a" /><Relationship Type="http://schemas.openxmlformats.org/officeDocument/2006/relationships/slideLayout" Target="/ppt/slideLayouts/slideLayout1.xml" Id="R2ffb115c3b1d4c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fb115c3b1d4c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aa8df7453e4817" /><Relationship Type="http://schemas.openxmlformats.org/officeDocument/2006/relationships/image" Target="/ppt/media/image.png" Id="R2829ae43cf4a45f3" /><Relationship Type="http://schemas.openxmlformats.org/officeDocument/2006/relationships/notesSlide" Target="/ppt/notesSlides/notesSlide1.xml" Id="Rf6d9f47e349e42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6cb7c616eb4066" /><Relationship Type="http://schemas.openxmlformats.org/officeDocument/2006/relationships/image" Target="/ppt/media/image2.png" Id="Rd9d2260625eb4915" /><Relationship Type="http://schemas.openxmlformats.org/officeDocument/2006/relationships/notesSlide" Target="/ppt/notesSlides/notesSlide2.xml" Id="R78e404ea385942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24c30c7b1e4dc2" /><Relationship Type="http://schemas.openxmlformats.org/officeDocument/2006/relationships/image" Target="/ppt/media/image3.png" Id="R19c821b275f9421a" /><Relationship Type="http://schemas.openxmlformats.org/officeDocument/2006/relationships/image" Target="/ppt/media/image4.png" Id="R4ddd6e33b2524f74" /><Relationship Type="http://schemas.openxmlformats.org/officeDocument/2006/relationships/image" Target="/ppt/media/image5.png" Id="Re6216af4b6134c60" /><Relationship Type="http://schemas.openxmlformats.org/officeDocument/2006/relationships/notesSlide" Target="/ppt/notesSlides/notesSlide3.xml" Id="R584a3f678bde47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6749fb8d0e4965" /><Relationship Type="http://schemas.openxmlformats.org/officeDocument/2006/relationships/image" Target="/ppt/media/image6.png" Id="R36a9fb08046d4847" /><Relationship Type="http://schemas.openxmlformats.org/officeDocument/2006/relationships/notesSlide" Target="/ppt/notesSlides/notesSlide4.xml" Id="Rf5c813fa5e424f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81db5920004e4b" /><Relationship Type="http://schemas.openxmlformats.org/officeDocument/2006/relationships/image" Target="/ppt/media/image7.png" Id="R7be662b832704a1e" /><Relationship Type="http://schemas.openxmlformats.org/officeDocument/2006/relationships/notesSlide" Target="/ppt/notesSlides/notesSlide5.xml" Id="R67b8d498849a43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5bc4e648fd44d6" /><Relationship Type="http://schemas.openxmlformats.org/officeDocument/2006/relationships/image" Target="/ppt/media/image8.png" Id="R313cb8afcc5949eb" /><Relationship Type="http://schemas.openxmlformats.org/officeDocument/2006/relationships/notesSlide" Target="/ppt/notesSlides/notesSlide6.xml" Id="R8b493d31e70741b5" /></Relationships>
</file>

<file path=ppt/slides/slide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accent">
            <a:extLst xmlns:a="http://schemas.openxmlformats.org/drawingml/2006/main">
              <a:ext uri="{FF2B5EF4-FFF2-40B4-BE49-F238E27FC236}">
                <a16:creationId xmlns:a16="http://schemas.microsoft.com/office/drawing/2014/main" id="{B6CB3786-4844-4E35-A19B-4040C34921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4F23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797C4A1D-7321-4A5B-8D7B-21C76FA90812}"/>
              </a:ext>
            </a:extLst>
          </p:cNvPr>
          <p:cNvSpPr>
            <a:spLocks xmlns:a="http://schemas.openxmlformats.org/drawingml/2006/main" noGrp="1"/>
          </p:cNvSpPr>
          <p:nvPr/>
        </p:nvSpPr>
        <p:spPr>
          <a:xfrm xmlns:a="http://schemas.openxmlformats.org/drawingml/2006/main">
            <a:off x="590550" y="457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4567F2"/>
                </a:solidFill>
              </a:defRPr>
            </a:pPr>
            <a:r>
              <a:rPr sz="1050" b="1">
                <a:solidFill>
                  <a:srgbClr val="4567F2"/>
                </a:solidFill>
              </a:rPr>
              <a:t>TEAM MAXIMUS · DAT WEEK 2</a:t>
            </a:r>
          </a:p>
        </p:txBody>
      </p:sp>
      <p:sp>
        <p:nvSpPr>
          <p:cNvPr id="3" name="hero">
            <a:extLst xmlns:a="http://schemas.openxmlformats.org/drawingml/2006/main">
              <a:ext uri="{FF2B5EF4-FFF2-40B4-BE49-F238E27FC236}">
                <a16:creationId xmlns:a16="http://schemas.microsoft.com/office/drawing/2014/main" id="{7F669609-E1C9-45DD-BE30-17EAD0BAAD6A}"/>
              </a:ext>
            </a:extLst>
          </p:cNvPr>
          <p:cNvSpPr>
            <a:spLocks xmlns:a="http://schemas.openxmlformats.org/drawingml/2006/main" noGrp="1"/>
          </p:cNvSpPr>
          <p:nvPr/>
        </p:nvSpPr>
        <p:spPr>
          <a:xfrm xmlns:a="http://schemas.openxmlformats.org/drawingml/2006/main">
            <a:off x="590550" y="1257300"/>
            <a:ext cx="533400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125" b="1">
                <a:solidFill>
                  <a:srgbClr val="161A18"/>
                </a:solidFill>
              </a:defRPr>
            </a:pPr>
            <a:r>
              <a:rPr sz="4125" b="1">
                <a:solidFill>
                  <a:srgbClr val="161A18"/>
                </a:solidFill>
              </a:rPr>
              <a:t>후보 상권을</a:t>
            </a:r>
          </a:p>
          <a:p xmlns:a="http://schemas.openxmlformats.org/drawingml/2006/main">
            <a:pPr algn="l">
              <a:buNone/>
              <a:defRPr sz="4125" b="1">
                <a:solidFill>
                  <a:srgbClr val="161A18"/>
                </a:solidFill>
              </a:defRPr>
            </a:pPr>
            <a:r>
              <a:rPr sz="4125" b="1">
                <a:solidFill>
                  <a:srgbClr val="161A18"/>
                </a:solidFill>
              </a:rPr>
              <a:t>데이터로 정리하고</a:t>
            </a:r>
          </a:p>
          <a:p xmlns:a="http://schemas.openxmlformats.org/drawingml/2006/main">
            <a:pPr algn="l">
              <a:buNone/>
              <a:defRPr sz="4125" b="1">
                <a:solidFill>
                  <a:srgbClr val="161A18"/>
                </a:solidFill>
              </a:defRPr>
            </a:pPr>
            <a:r>
              <a:rPr sz="4125" b="1">
                <a:solidFill>
                  <a:srgbClr val="161A18"/>
                </a:solidFill>
              </a:rPr>
              <a:t>추천 근거를 쌓다</a:t>
            </a:r>
          </a:p>
        </p:txBody>
      </p:sp>
      <p:sp>
        <p:nvSpPr>
          <p:cNvPr id="4" name="sub">
            <a:extLst xmlns:a="http://schemas.openxmlformats.org/drawingml/2006/main">
              <a:ext uri="{FF2B5EF4-FFF2-40B4-BE49-F238E27FC236}">
                <a16:creationId xmlns:a16="http://schemas.microsoft.com/office/drawing/2014/main" id="{64E391FC-E864-4F64-A07D-9DCC2990C550}"/>
              </a:ext>
            </a:extLst>
          </p:cNvPr>
          <p:cNvSpPr>
            <a:spLocks xmlns:a="http://schemas.openxmlformats.org/drawingml/2006/main" noGrp="1"/>
          </p:cNvSpPr>
          <p:nvPr/>
        </p:nvSpPr>
        <p:spPr>
          <a:xfrm xmlns:a="http://schemas.openxmlformats.org/drawingml/2006/main">
            <a:off x="628650" y="4048125"/>
            <a:ext cx="485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6E746F"/>
                </a:solidFill>
              </a:defRPr>
            </a:pPr>
            <a:r>
              <a:rPr sz="1650" b="0">
                <a:solidFill>
                  <a:srgbClr val="6E746F"/>
                </a:solidFill>
              </a:rPr>
              <a:t>동대문구 출발 30분 생활권을 공식 상권으로 세분화하고,</a:t>
            </a:r>
          </a:p>
          <a:p xmlns:a="http://schemas.openxmlformats.org/drawingml/2006/main">
            <a:pPr algn="l">
              <a:buNone/>
              <a:defRPr sz="1650" b="0">
                <a:solidFill>
                  <a:srgbClr val="6E746F"/>
                </a:solidFill>
              </a:defRPr>
            </a:pPr>
            <a:r>
              <a:rPr sz="1650" b="0">
                <a:solidFill>
                  <a:srgbClr val="6E746F"/>
                </a:solidFill>
              </a:rPr>
              <a:t>학습 체류 목적의 시설 피처를 보강했습니다.</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829ae43cf4a45f3"/>
          <a:stretch xmlns:a="http://schemas.openxmlformats.org/drawingml/2006/main"/>
        </p:blipFill>
        <p:spPr>
          <a:xfrm xmlns:a="http://schemas.openxmlformats.org/drawingml/2006/main">
            <a:off x="5905500" y="1070610"/>
            <a:ext cx="5429250" cy="3040380"/>
          </a:xfrm>
          <a:prstGeom xmlns:a="http://schemas.openxmlformats.org/drawingml/2006/main" prst="rect">
            <a:avLst/>
          </a:prstGeom>
        </p:spPr>
      </p:pic>
      <p:sp>
        <p:nvSpPr>
          <p:cNvPr id="6" name="formula-band">
            <a:extLst xmlns:a="http://schemas.openxmlformats.org/drawingml/2006/main">
              <a:ext uri="{FF2B5EF4-FFF2-40B4-BE49-F238E27FC236}">
                <a16:creationId xmlns:a16="http://schemas.microsoft.com/office/drawing/2014/main" id="{133B031D-82D8-42F5-B9DE-7A96AE07B4AE}"/>
              </a:ext>
            </a:extLst>
          </p:cNvPr>
          <p:cNvSpPr>
            <a:spLocks xmlns:a="http://schemas.openxmlformats.org/drawingml/2006/main" noGrp="1"/>
          </p:cNvSpPr>
          <p:nvPr/>
        </p:nvSpPr>
        <p:spPr>
          <a:xfrm xmlns:a="http://schemas.openxmlformats.org/drawingml/2006/main">
            <a:off x="5905500" y="4514850"/>
            <a:ext cx="5429250" cy="685800"/>
          </a:xfrm>
          <a:prstGeom xmlns:a="http://schemas.openxmlformats.org/drawingml/2006/main" prst="rect">
            <a:avLst/>
          </a:prstGeom>
          <a:solidFill xmlns:a="http://schemas.openxmlformats.org/drawingml/2006/main">
            <a:srgbClr val="161A18"/>
          </a:solidFill>
          <a:ln xmlns:a="http://schemas.openxmlformats.org/drawingml/2006/main" w="0">
            <a:noFill/>
            <a:prstDash val="solid"/>
          </a:ln>
        </p:spPr>
      </p:sp>
      <p:sp>
        <p:nvSpPr>
          <p:cNvPr id="7" name="formula">
            <a:extLst xmlns:a="http://schemas.openxmlformats.org/drawingml/2006/main">
              <a:ext uri="{FF2B5EF4-FFF2-40B4-BE49-F238E27FC236}">
                <a16:creationId xmlns:a16="http://schemas.microsoft.com/office/drawing/2014/main" id="{E9DB878E-DD27-48AE-BF62-1DE57DDD289C}"/>
              </a:ext>
            </a:extLst>
          </p:cNvPr>
          <p:cNvSpPr>
            <a:spLocks xmlns:a="http://schemas.openxmlformats.org/drawingml/2006/main" noGrp="1"/>
          </p:cNvSpPr>
          <p:nvPr/>
        </p:nvSpPr>
        <p:spPr>
          <a:xfrm xmlns:a="http://schemas.openxmlformats.org/drawingml/2006/main">
            <a:off x="6172200" y="4648200"/>
            <a:ext cx="4895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786 areas × 268 POIs × 3 time periods</a:t>
            </a:r>
          </a:p>
        </p:txBody>
      </p:sp>
      <p:sp>
        <p:nvSpPr>
          <p:cNvPr id="8" name="members">
            <a:extLst xmlns:a="http://schemas.openxmlformats.org/drawingml/2006/main">
              <a:ext uri="{FF2B5EF4-FFF2-40B4-BE49-F238E27FC236}">
                <a16:creationId xmlns:a16="http://schemas.microsoft.com/office/drawing/2014/main" id="{16AE0A94-CC06-4350-8A12-BEF2F74236BA}"/>
              </a:ext>
            </a:extLst>
          </p:cNvPr>
          <p:cNvSpPr>
            <a:spLocks xmlns:a="http://schemas.openxmlformats.org/drawingml/2006/main" noGrp="1"/>
          </p:cNvSpPr>
          <p:nvPr/>
        </p:nvSpPr>
        <p:spPr>
          <a:xfrm xmlns:a="http://schemas.openxmlformats.org/drawingml/2006/main">
            <a:off x="628650" y="6134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161A18"/>
                </a:solidFill>
              </a:defRPr>
            </a:pPr>
            <a:r>
              <a:rPr sz="1275" b="1">
                <a:solidFill>
                  <a:srgbClr val="161A18"/>
                </a:solidFill>
              </a:rPr>
              <a:t>장한별  ·  지우진  ·  최시현</a:t>
            </a:r>
          </a:p>
        </p:txBody>
      </p:sp>
    </p:spTree>
    <p:extLst>
      <p:ext uri="{BB962C8B-B14F-4D97-AF65-F5344CB8AC3E}">
        <p14:creationId xmlns:p14="http://schemas.microsoft.com/office/powerpoint/2010/main" val="1635502541"/>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7" name="n-2">
            <a:extLst xmlns:a="http://schemas.openxmlformats.org/drawingml/2006/main">
              <a:ext uri="{FF2B5EF4-FFF2-40B4-BE49-F238E27FC236}">
                <a16:creationId xmlns:a16="http://schemas.microsoft.com/office/drawing/2014/main" id="{F7EC0B58-131B-47B5-92BC-612B5CF83AB3}"/>
              </a:ext>
            </a:extLst>
          </p:cNvPr>
          <p:cNvSpPr>
            <a:spLocks xmlns:a="http://schemas.openxmlformats.org/drawingml/2006/main" noGrp="1"/>
          </p:cNvSpPr>
          <p:nvPr/>
        </p:nvSpPr>
        <p:spPr>
          <a:xfrm xmlns:a="http://schemas.openxmlformats.org/drawingml/2006/main">
            <a:off x="552450" y="3238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4567F2"/>
                </a:solidFill>
              </a:defRPr>
            </a:pPr>
            <a:r>
              <a:rPr sz="975" b="1">
                <a:solidFill>
                  <a:srgbClr val="4567F2"/>
                </a:solidFill>
              </a:rPr>
              <a:t>02</a:t>
            </a:r>
          </a:p>
        </p:txBody>
      </p:sp>
      <p:sp>
        <p:nvSpPr>
          <p:cNvPr id="2" name="k-2">
            <a:extLst xmlns:a="http://schemas.openxmlformats.org/drawingml/2006/main">
              <a:ext uri="{FF2B5EF4-FFF2-40B4-BE49-F238E27FC236}">
                <a16:creationId xmlns:a16="http://schemas.microsoft.com/office/drawing/2014/main" id="{8E33457C-A14D-48AA-A1D4-BA783A72C327}"/>
              </a:ext>
            </a:extLst>
          </p:cNvPr>
          <p:cNvSpPr>
            <a:spLocks xmlns:a="http://schemas.openxmlformats.org/drawingml/2006/main" noGrp="1"/>
          </p:cNvSpPr>
          <p:nvPr/>
        </p:nvSpPr>
        <p:spPr>
          <a:xfrm xmlns:a="http://schemas.openxmlformats.org/drawingml/2006/main">
            <a:off x="10287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6E746F"/>
                </a:solidFill>
              </a:defRPr>
            </a:pPr>
            <a:r>
              <a:rPr sz="975" b="1">
                <a:solidFill>
                  <a:srgbClr val="6E746F"/>
                </a:solidFill>
              </a:rPr>
              <a:t>WEEK 1 RECAP</a:t>
            </a:r>
          </a:p>
        </p:txBody>
      </p:sp>
      <p:sp>
        <p:nvSpPr>
          <p:cNvPr id="3" name="brand-2">
            <a:extLst xmlns:a="http://schemas.openxmlformats.org/drawingml/2006/main">
              <a:ext uri="{FF2B5EF4-FFF2-40B4-BE49-F238E27FC236}">
                <a16:creationId xmlns:a16="http://schemas.microsoft.com/office/drawing/2014/main" id="{BF4F1958-2923-4DD3-8C4A-BFFFD0FD53F4}"/>
              </a:ext>
            </a:extLst>
          </p:cNvPr>
          <p:cNvSpPr>
            <a:spLocks xmlns:a="http://schemas.openxmlformats.org/drawingml/2006/main" noGrp="1"/>
          </p:cNvSpPr>
          <p:nvPr/>
        </p:nvSpPr>
        <p:spPr>
          <a:xfrm xmlns:a="http://schemas.openxmlformats.org/drawingml/2006/main">
            <a:off x="9810750" y="3238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6E746F"/>
                </a:solidFill>
              </a:defRPr>
            </a:pPr>
            <a:r>
              <a:rPr sz="975" b="1">
                <a:solidFill>
                  <a:srgbClr val="6E746F"/>
                </a:solidFill>
              </a:rPr>
              <a:t>MAXIMUS · DAT</a:t>
            </a:r>
          </a:p>
        </p:txBody>
      </p:sp>
      <p:sp>
        <p:nvSpPr>
          <p:cNvPr id="4" name="rule-2">
            <a:extLst xmlns:a="http://schemas.openxmlformats.org/drawingml/2006/main">
              <a:ext uri="{FF2B5EF4-FFF2-40B4-BE49-F238E27FC236}">
                <a16:creationId xmlns:a16="http://schemas.microsoft.com/office/drawing/2014/main" id="{71357597-5A8B-4993-9CA3-C53FA10A0C11}"/>
              </a:ext>
            </a:extLst>
          </p:cNvPr>
          <p:cNvSpPr>
            <a:spLocks xmlns:a="http://schemas.openxmlformats.org/drawingml/2006/main" noGrp="1"/>
          </p:cNvSpPr>
          <p:nvPr/>
        </p:nvSpPr>
        <p:spPr>
          <a:xfrm xmlns:a="http://schemas.openxmlformats.org/drawingml/2006/main">
            <a:off x="552450" y="638175"/>
            <a:ext cx="1108710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5" name="title">
            <a:extLst xmlns:a="http://schemas.openxmlformats.org/drawingml/2006/main">
              <a:ext uri="{FF2B5EF4-FFF2-40B4-BE49-F238E27FC236}">
                <a16:creationId xmlns:a16="http://schemas.microsoft.com/office/drawing/2014/main" id="{0B09EF0A-E9C9-43A4-A788-5013BEB46525}"/>
              </a:ext>
            </a:extLst>
          </p:cNvPr>
          <p:cNvSpPr>
            <a:spLocks xmlns:a="http://schemas.openxmlformats.org/drawingml/2006/main" noGrp="1"/>
          </p:cNvSpPr>
          <p:nvPr/>
        </p:nvSpPr>
        <p:spPr>
          <a:xfrm xmlns:a="http://schemas.openxmlformats.org/drawingml/2006/main">
            <a:off x="552450" y="971550"/>
            <a:ext cx="742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a:solidFill>
                  <a:srgbClr val="161A18"/>
                </a:solidFill>
              </a:defRPr>
            </a:pPr>
            <a:r>
              <a:rPr sz="3000" b="1">
                <a:solidFill>
                  <a:srgbClr val="161A18"/>
                </a:solidFill>
              </a:rPr>
              <a:t>지난주에는 분석의 공간 단위를 확정했습니다</a:t>
            </a:r>
          </a:p>
        </p:txBody>
      </p:sp>
      <p:sp>
        <p:nvSpPr>
          <p:cNvPr id="6" name="desc">
            <a:extLst xmlns:a="http://schemas.openxmlformats.org/drawingml/2006/main">
              <a:ext uri="{FF2B5EF4-FFF2-40B4-BE49-F238E27FC236}">
                <a16:creationId xmlns:a16="http://schemas.microsoft.com/office/drawing/2014/main" id="{A4B00860-203C-4587-BCF4-5A355A8B93B6}"/>
              </a:ext>
            </a:extLst>
          </p:cNvPr>
          <p:cNvSpPr>
            <a:spLocks xmlns:a="http://schemas.openxmlformats.org/drawingml/2006/main" noGrp="1"/>
          </p:cNvSpPr>
          <p:nvPr/>
        </p:nvSpPr>
        <p:spPr>
          <a:xfrm xmlns:a="http://schemas.openxmlformats.org/drawingml/2006/main">
            <a:off x="571500" y="1638300"/>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E746F"/>
                </a:solidFill>
              </a:defRPr>
            </a:pPr>
            <a:r>
              <a:rPr sz="1425" b="0">
                <a:solidFill>
                  <a:srgbClr val="6E746F"/>
                </a:solidFill>
              </a:rPr>
              <a:t>동대문구 내 334개 출발지를 기준으로 시간대별 교통 접근성을 계산했습니다.</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9d2260625eb4915"/>
          <a:stretch xmlns:a="http://schemas.openxmlformats.org/drawingml/2006/main"/>
        </p:blipFill>
        <p:spPr>
          <a:xfrm xmlns:a="http://schemas.openxmlformats.org/drawingml/2006/main">
            <a:off x="1005568" y="2476500"/>
            <a:ext cx="3741964" cy="3143250"/>
          </a:xfrm>
          <a:prstGeom xmlns:a="http://schemas.openxmlformats.org/drawingml/2006/main" prst="rect">
            <a:avLst/>
          </a:prstGeom>
        </p:spPr>
      </p:pic>
      <p:sp>
        <p:nvSpPr>
          <p:cNvPr id="8" name="gap">
            <a:extLst xmlns:a="http://schemas.openxmlformats.org/drawingml/2006/main">
              <a:ext uri="{FF2B5EF4-FFF2-40B4-BE49-F238E27FC236}">
                <a16:creationId xmlns:a16="http://schemas.microsoft.com/office/drawing/2014/main" id="{F50D19F9-6B9F-46D7-89A5-BE76748BB3F0}"/>
              </a:ext>
            </a:extLst>
          </p:cNvPr>
          <p:cNvSpPr>
            <a:spLocks xmlns:a="http://schemas.openxmlformats.org/drawingml/2006/main" noGrp="1"/>
          </p:cNvSpPr>
          <p:nvPr/>
        </p:nvSpPr>
        <p:spPr>
          <a:xfrm xmlns:a="http://schemas.openxmlformats.org/drawingml/2006/main">
            <a:off x="6191250" y="2324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450" b="1">
                <a:solidFill>
                  <a:srgbClr val="4567F2"/>
                </a:solidFill>
              </a:defRPr>
            </a:pPr>
            <a:r>
              <a:rPr sz="3450" b="1">
                <a:solidFill>
                  <a:srgbClr val="4567F2"/>
                </a:solidFill>
              </a:rPr>
              <a:t>334 → 204 → 786</a:t>
            </a:r>
          </a:p>
        </p:txBody>
      </p:sp>
      <p:sp>
        <p:nvSpPr>
          <p:cNvPr id="9" name="eq">
            <a:extLst xmlns:a="http://schemas.openxmlformats.org/drawingml/2006/main">
              <a:ext uri="{FF2B5EF4-FFF2-40B4-BE49-F238E27FC236}">
                <a16:creationId xmlns:a16="http://schemas.microsoft.com/office/drawing/2014/main" id="{8CFCF1C7-A76C-471F-9C1B-B1477E4E87D8}"/>
              </a:ext>
            </a:extLst>
          </p:cNvPr>
          <p:cNvSpPr>
            <a:spLocks xmlns:a="http://schemas.openxmlformats.org/drawingml/2006/main" noGrp="1"/>
          </p:cNvSpPr>
          <p:nvPr/>
        </p:nvSpPr>
        <p:spPr>
          <a:xfrm xmlns:a="http://schemas.openxmlformats.org/drawingml/2006/main">
            <a:off x="6191250" y="28956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325" b="1">
                <a:solidFill>
                  <a:srgbClr val="161A18"/>
                </a:solidFill>
              </a:defRPr>
            </a:pPr>
            <a:r>
              <a:rPr sz="2325" b="1">
                <a:solidFill>
                  <a:srgbClr val="161A18"/>
                </a:solidFill>
              </a:rPr>
              <a:t>출발지 → 탐색 행정동 → 공식 상권</a:t>
            </a:r>
          </a:p>
        </p:txBody>
      </p:sp>
      <p:sp>
        <p:nvSpPr>
          <p:cNvPr id="10" name="sep">
            <a:extLst xmlns:a="http://schemas.openxmlformats.org/drawingml/2006/main">
              <a:ext uri="{FF2B5EF4-FFF2-40B4-BE49-F238E27FC236}">
                <a16:creationId xmlns:a16="http://schemas.microsoft.com/office/drawing/2014/main" id="{216EA4C9-AFC5-43C7-9571-570B3DC51964}"/>
              </a:ext>
            </a:extLst>
          </p:cNvPr>
          <p:cNvSpPr>
            <a:spLocks xmlns:a="http://schemas.openxmlformats.org/drawingml/2006/main" noGrp="1"/>
          </p:cNvSpPr>
          <p:nvPr/>
        </p:nvSpPr>
        <p:spPr>
          <a:xfrm xmlns:a="http://schemas.openxmlformats.org/drawingml/2006/main">
            <a:off x="6191250" y="3638550"/>
            <a:ext cx="476250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11" name="plus">
            <a:extLst xmlns:a="http://schemas.openxmlformats.org/drawingml/2006/main">
              <a:ext uri="{FF2B5EF4-FFF2-40B4-BE49-F238E27FC236}">
                <a16:creationId xmlns:a16="http://schemas.microsoft.com/office/drawing/2014/main" id="{EC9469B6-A3E6-4275-8423-D7A3872C26DE}"/>
              </a:ext>
            </a:extLst>
          </p:cNvPr>
          <p:cNvSpPr>
            <a:spLocks xmlns:a="http://schemas.openxmlformats.org/drawingml/2006/main" noGrp="1"/>
          </p:cNvSpPr>
          <p:nvPr/>
        </p:nvSpPr>
        <p:spPr>
          <a:xfrm xmlns:a="http://schemas.openxmlformats.org/drawingml/2006/main">
            <a:off x="6191250" y="39814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4567F2"/>
                </a:solidFill>
              </a:defRPr>
            </a:pPr>
            <a:r>
              <a:rPr sz="1650" b="1">
                <a:solidFill>
                  <a:srgbClr val="4567F2"/>
                </a:solidFill>
              </a:rPr>
              <a:t>25% 기준</a:t>
            </a:r>
          </a:p>
        </p:txBody>
      </p:sp>
      <p:sp>
        <p:nvSpPr>
          <p:cNvPr id="12" name="plus-desc">
            <a:extLst xmlns:a="http://schemas.openxmlformats.org/drawingml/2006/main">
              <a:ext uri="{FF2B5EF4-FFF2-40B4-BE49-F238E27FC236}">
                <a16:creationId xmlns:a16="http://schemas.microsoft.com/office/drawing/2014/main" id="{1B2B7C84-DA3F-46F4-9D14-43A7D46B0681}"/>
              </a:ext>
            </a:extLst>
          </p:cNvPr>
          <p:cNvSpPr>
            <a:spLocks xmlns:a="http://schemas.openxmlformats.org/drawingml/2006/main" noGrp="1"/>
          </p:cNvSpPr>
          <p:nvPr/>
        </p:nvSpPr>
        <p:spPr>
          <a:xfrm xmlns:a="http://schemas.openxmlformats.org/drawingml/2006/main">
            <a:off x="7715250" y="39814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161A18"/>
                </a:solidFill>
              </a:defRPr>
            </a:pPr>
            <a:r>
              <a:rPr sz="1425" b="0">
                <a:solidFill>
                  <a:srgbClr val="161A18"/>
                </a:solidFill>
              </a:rPr>
              <a:t>세 시간대 모두에서 반복 접근 가능한 범위</a:t>
            </a:r>
          </a:p>
        </p:txBody>
      </p:sp>
      <p:sp>
        <p:nvSpPr>
          <p:cNvPr id="13" name="minus">
            <a:extLst xmlns:a="http://schemas.openxmlformats.org/drawingml/2006/main">
              <a:ext uri="{FF2B5EF4-FFF2-40B4-BE49-F238E27FC236}">
                <a16:creationId xmlns:a16="http://schemas.microsoft.com/office/drawing/2014/main" id="{114DD5F5-8802-4D13-81F9-EBC8D3990B8B}"/>
              </a:ext>
            </a:extLst>
          </p:cNvPr>
          <p:cNvSpPr>
            <a:spLocks xmlns:a="http://schemas.openxmlformats.org/drawingml/2006/main" noGrp="1"/>
          </p:cNvSpPr>
          <p:nvPr/>
        </p:nvSpPr>
        <p:spPr>
          <a:xfrm xmlns:a="http://schemas.openxmlformats.org/drawingml/2006/main">
            <a:off x="6191250" y="45529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6E746F"/>
                </a:solidFill>
              </a:defRPr>
            </a:pPr>
            <a:r>
              <a:rPr sz="1650" b="1">
                <a:solidFill>
                  <a:srgbClr val="6E746F"/>
                </a:solidFill>
              </a:rPr>
              <a:t>400m 결합</a:t>
            </a:r>
          </a:p>
        </p:txBody>
      </p:sp>
      <p:sp>
        <p:nvSpPr>
          <p:cNvPr id="14" name="minus-desc">
            <a:extLst xmlns:a="http://schemas.openxmlformats.org/drawingml/2006/main">
              <a:ext uri="{FF2B5EF4-FFF2-40B4-BE49-F238E27FC236}">
                <a16:creationId xmlns:a16="http://schemas.microsoft.com/office/drawing/2014/main" id="{D0165EE4-6F03-4AA2-8E87-F99B3205339B}"/>
              </a:ext>
            </a:extLst>
          </p:cNvPr>
          <p:cNvSpPr>
            <a:spLocks xmlns:a="http://schemas.openxmlformats.org/drawingml/2006/main" noGrp="1"/>
          </p:cNvSpPr>
          <p:nvPr/>
        </p:nvSpPr>
        <p:spPr>
          <a:xfrm xmlns:a="http://schemas.openxmlformats.org/drawingml/2006/main">
            <a:off x="7715250" y="45529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161A18"/>
                </a:solidFill>
              </a:defRPr>
            </a:pPr>
            <a:r>
              <a:rPr sz="1425" b="0">
                <a:solidFill>
                  <a:srgbClr val="161A18"/>
                </a:solidFill>
              </a:rPr>
              <a:t>도달 정류장과 공식 상권 경계를 연결</a:t>
            </a:r>
          </a:p>
        </p:txBody>
      </p:sp>
      <p:sp>
        <p:nvSpPr>
          <p:cNvPr id="15" name="condition">
            <a:extLst xmlns:a="http://schemas.openxmlformats.org/drawingml/2006/main">
              <a:ext uri="{FF2B5EF4-FFF2-40B4-BE49-F238E27FC236}">
                <a16:creationId xmlns:a16="http://schemas.microsoft.com/office/drawing/2014/main" id="{5FDA6545-7DAB-477E-9FED-BA694A1D863D}"/>
              </a:ext>
            </a:extLst>
          </p:cNvPr>
          <p:cNvSpPr>
            <a:spLocks xmlns:a="http://schemas.openxmlformats.org/drawingml/2006/main" noGrp="1"/>
          </p:cNvSpPr>
          <p:nvPr/>
        </p:nvSpPr>
        <p:spPr>
          <a:xfrm xmlns:a="http://schemas.openxmlformats.org/drawingml/2006/main">
            <a:off x="6191250" y="5314950"/>
            <a:ext cx="4762500" cy="552450"/>
          </a:xfrm>
          <a:prstGeom xmlns:a="http://schemas.openxmlformats.org/drawingml/2006/main" prst="rect">
            <a:avLst/>
          </a:prstGeom>
          <a:solidFill xmlns:a="http://schemas.openxmlformats.org/drawingml/2006/main">
            <a:srgbClr val="B4F236"/>
          </a:solidFill>
          <a:ln xmlns:a="http://schemas.openxmlformats.org/drawingml/2006/main" w="0">
            <a:noFill/>
            <a:prstDash val="solid"/>
          </a:ln>
        </p:spPr>
      </p:sp>
      <p:sp>
        <p:nvSpPr>
          <p:cNvPr id="16" name="condition-text">
            <a:extLst xmlns:a="http://schemas.openxmlformats.org/drawingml/2006/main">
              <a:ext uri="{FF2B5EF4-FFF2-40B4-BE49-F238E27FC236}">
                <a16:creationId xmlns:a16="http://schemas.microsoft.com/office/drawing/2014/main" id="{11FAD02A-1CB7-4BAC-B4AE-FEE91A7B981B}"/>
              </a:ext>
            </a:extLst>
          </p:cNvPr>
          <p:cNvSpPr>
            <a:spLocks xmlns:a="http://schemas.openxmlformats.org/drawingml/2006/main" noGrp="1"/>
          </p:cNvSpPr>
          <p:nvPr/>
        </p:nvSpPr>
        <p:spPr>
          <a:xfrm xmlns:a="http://schemas.openxmlformats.org/drawingml/2006/main">
            <a:off x="6419850" y="5419725"/>
            <a:ext cx="430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61A18"/>
                </a:solidFill>
              </a:defRPr>
            </a:pPr>
            <a:r>
              <a:rPr sz="1350" b="1">
                <a:solidFill>
                  <a:srgbClr val="161A18"/>
                </a:solidFill>
              </a:rPr>
              <a:t>행정동은 탐색 범위, 공식 상권은 추천 후보 단위</a:t>
            </a:r>
          </a:p>
        </p:txBody>
      </p:sp>
    </p:spTree>
    <p:extLst>
      <p:ext uri="{BB962C8B-B14F-4D97-AF65-F5344CB8AC3E}">
        <p14:creationId xmlns:p14="http://schemas.microsoft.com/office/powerpoint/2010/main" val="1235735431"/>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4" name="n-3">
            <a:extLst xmlns:a="http://schemas.openxmlformats.org/drawingml/2006/main">
              <a:ext uri="{FF2B5EF4-FFF2-40B4-BE49-F238E27FC236}">
                <a16:creationId xmlns:a16="http://schemas.microsoft.com/office/drawing/2014/main" id="{0C94A30E-8D00-44E3-A1CB-E92BC41AFEB6}"/>
              </a:ext>
            </a:extLst>
          </p:cNvPr>
          <p:cNvSpPr>
            <a:spLocks xmlns:a="http://schemas.openxmlformats.org/drawingml/2006/main" noGrp="1"/>
          </p:cNvSpPr>
          <p:nvPr/>
        </p:nvSpPr>
        <p:spPr>
          <a:xfrm xmlns:a="http://schemas.openxmlformats.org/drawingml/2006/main">
            <a:off x="552450" y="3238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4567F2"/>
                </a:solidFill>
              </a:defRPr>
            </a:pPr>
            <a:r>
              <a:rPr sz="975" b="1">
                <a:solidFill>
                  <a:srgbClr val="4567F2"/>
                </a:solidFill>
              </a:rPr>
              <a:t>03</a:t>
            </a:r>
          </a:p>
        </p:txBody>
      </p:sp>
      <p:sp>
        <p:nvSpPr>
          <p:cNvPr id="2" name="k-3">
            <a:extLst xmlns:a="http://schemas.openxmlformats.org/drawingml/2006/main">
              <a:ext uri="{FF2B5EF4-FFF2-40B4-BE49-F238E27FC236}">
                <a16:creationId xmlns:a16="http://schemas.microsoft.com/office/drawing/2014/main" id="{EC1FEF0B-52CA-459E-9921-472B568696BA}"/>
              </a:ext>
            </a:extLst>
          </p:cNvPr>
          <p:cNvSpPr>
            <a:spLocks xmlns:a="http://schemas.openxmlformats.org/drawingml/2006/main" noGrp="1"/>
          </p:cNvSpPr>
          <p:nvPr/>
        </p:nvSpPr>
        <p:spPr>
          <a:xfrm xmlns:a="http://schemas.openxmlformats.org/drawingml/2006/main">
            <a:off x="10287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6E746F"/>
                </a:solidFill>
              </a:defRPr>
            </a:pPr>
            <a:r>
              <a:rPr sz="975" b="1">
                <a:solidFill>
                  <a:srgbClr val="6E746F"/>
                </a:solidFill>
              </a:rPr>
              <a:t>WEEK 2 DATA UPDATE</a:t>
            </a:r>
          </a:p>
        </p:txBody>
      </p:sp>
      <p:sp>
        <p:nvSpPr>
          <p:cNvPr id="3" name="brand-3">
            <a:extLst xmlns:a="http://schemas.openxmlformats.org/drawingml/2006/main">
              <a:ext uri="{FF2B5EF4-FFF2-40B4-BE49-F238E27FC236}">
                <a16:creationId xmlns:a16="http://schemas.microsoft.com/office/drawing/2014/main" id="{FB4A58B3-980F-469B-B07C-B65624A984C5}"/>
              </a:ext>
            </a:extLst>
          </p:cNvPr>
          <p:cNvSpPr>
            <a:spLocks xmlns:a="http://schemas.openxmlformats.org/drawingml/2006/main" noGrp="1"/>
          </p:cNvSpPr>
          <p:nvPr/>
        </p:nvSpPr>
        <p:spPr>
          <a:xfrm xmlns:a="http://schemas.openxmlformats.org/drawingml/2006/main">
            <a:off x="9810750" y="3238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6E746F"/>
                </a:solidFill>
              </a:defRPr>
            </a:pPr>
            <a:r>
              <a:rPr sz="975" b="1">
                <a:solidFill>
                  <a:srgbClr val="6E746F"/>
                </a:solidFill>
              </a:rPr>
              <a:t>MAXIMUS · DAT</a:t>
            </a:r>
          </a:p>
        </p:txBody>
      </p:sp>
      <p:sp>
        <p:nvSpPr>
          <p:cNvPr id="4" name="rule-3">
            <a:extLst xmlns:a="http://schemas.openxmlformats.org/drawingml/2006/main">
              <a:ext uri="{FF2B5EF4-FFF2-40B4-BE49-F238E27FC236}">
                <a16:creationId xmlns:a16="http://schemas.microsoft.com/office/drawing/2014/main" id="{4794A3B5-1B1F-4BDF-A187-B8C7818DFC0E}"/>
              </a:ext>
            </a:extLst>
          </p:cNvPr>
          <p:cNvSpPr>
            <a:spLocks xmlns:a="http://schemas.openxmlformats.org/drawingml/2006/main" noGrp="1"/>
          </p:cNvSpPr>
          <p:nvPr/>
        </p:nvSpPr>
        <p:spPr>
          <a:xfrm xmlns:a="http://schemas.openxmlformats.org/drawingml/2006/main">
            <a:off x="552450" y="638175"/>
            <a:ext cx="1108710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5" name="title">
            <a:extLst xmlns:a="http://schemas.openxmlformats.org/drawingml/2006/main">
              <a:ext uri="{FF2B5EF4-FFF2-40B4-BE49-F238E27FC236}">
                <a16:creationId xmlns:a16="http://schemas.microsoft.com/office/drawing/2014/main" id="{DC11CA80-0F45-4878-9A91-0F10DBFB756B}"/>
              </a:ext>
            </a:extLst>
          </p:cNvPr>
          <p:cNvSpPr>
            <a:spLocks xmlns:a="http://schemas.openxmlformats.org/drawingml/2006/main" noGrp="1"/>
          </p:cNvSpPr>
          <p:nvPr/>
        </p:nvSpPr>
        <p:spPr>
          <a:xfrm xmlns:a="http://schemas.openxmlformats.org/drawingml/2006/main">
            <a:off x="552450" y="971550"/>
            <a:ext cx="723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a:solidFill>
                  <a:srgbClr val="161A18"/>
                </a:solidFill>
              </a:defRPr>
            </a:pPr>
            <a:r>
              <a:rPr sz="3000" b="1">
                <a:solidFill>
                  <a:srgbClr val="161A18"/>
                </a:solidFill>
              </a:rPr>
              <a:t>2주차에는 목적별 피처 테이블을 보강했습니다</a:t>
            </a:r>
          </a:p>
        </p:txBody>
      </p:sp>
      <p:sp>
        <p:nvSpPr>
          <p:cNvPr id="6" name="desc">
            <a:extLst xmlns:a="http://schemas.openxmlformats.org/drawingml/2006/main">
              <a:ext uri="{FF2B5EF4-FFF2-40B4-BE49-F238E27FC236}">
                <a16:creationId xmlns:a16="http://schemas.microsoft.com/office/drawing/2014/main" id="{F82E6DF2-9404-4A8E-81FC-D5219AFD8AC0}"/>
              </a:ext>
            </a:extLst>
          </p:cNvPr>
          <p:cNvSpPr>
            <a:spLocks xmlns:a="http://schemas.openxmlformats.org/drawingml/2006/main" noGrp="1"/>
          </p:cNvSpPr>
          <p:nvPr/>
        </p:nvSpPr>
        <p:spPr>
          <a:xfrm xmlns:a="http://schemas.openxmlformats.org/drawingml/2006/main">
            <a:off x="571500" y="16383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6E746F"/>
                </a:solidFill>
              </a:defRPr>
            </a:pPr>
            <a:r>
              <a:rPr sz="1500" b="0">
                <a:solidFill>
                  <a:srgbClr val="6E746F"/>
                </a:solidFill>
              </a:rPr>
              <a:t>공식 상권 786개를 같은 키로 유지하면서 공공 학습시설 원천을 결합했습니다.</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9c821b275f9421a"/>
          <a:stretch xmlns:a="http://schemas.openxmlformats.org/drawingml/2006/main"/>
        </p:blipFill>
        <p:spPr>
          <a:xfrm xmlns:a="http://schemas.openxmlformats.org/drawingml/2006/main">
            <a:off x="848179" y="2209800"/>
            <a:ext cx="2494643" cy="2095500"/>
          </a:xfrm>
          <a:prstGeom xmlns:a="http://schemas.openxmlformats.org/drawingml/2006/main" prst="rect">
            <a:avLst/>
          </a:prstGeom>
        </p:spPr>
      </p:pic>
      <p:sp>
        <p:nvSpPr>
          <p:cNvPr id="8" name="num-0">
            <a:extLst xmlns:a="http://schemas.openxmlformats.org/drawingml/2006/main">
              <a:ext uri="{FF2B5EF4-FFF2-40B4-BE49-F238E27FC236}">
                <a16:creationId xmlns:a16="http://schemas.microsoft.com/office/drawing/2014/main" id="{EF618C21-DEEB-4EDB-9BDF-59EF879751A1}"/>
              </a:ext>
            </a:extLst>
          </p:cNvPr>
          <p:cNvSpPr>
            <a:spLocks xmlns:a="http://schemas.openxmlformats.org/drawingml/2006/main" noGrp="1"/>
          </p:cNvSpPr>
          <p:nvPr/>
        </p:nvSpPr>
        <p:spPr>
          <a:xfrm xmlns:a="http://schemas.openxmlformats.org/drawingml/2006/main">
            <a:off x="571500" y="44386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4567F2"/>
                </a:solidFill>
              </a:defRPr>
            </a:pPr>
            <a:r>
              <a:rPr sz="1425" b="1">
                <a:solidFill>
                  <a:srgbClr val="4567F2"/>
                </a:solidFill>
              </a:rPr>
              <a:t>01</a:t>
            </a:r>
          </a:p>
        </p:txBody>
      </p:sp>
      <p:sp>
        <p:nvSpPr>
          <p:cNvPr id="9" name="head-0">
            <a:extLst xmlns:a="http://schemas.openxmlformats.org/drawingml/2006/main">
              <a:ext uri="{FF2B5EF4-FFF2-40B4-BE49-F238E27FC236}">
                <a16:creationId xmlns:a16="http://schemas.microsoft.com/office/drawing/2014/main" id="{BE316CC7-B6D3-4DA7-A7FF-30772AB50B5F}"/>
              </a:ext>
            </a:extLst>
          </p:cNvPr>
          <p:cNvSpPr>
            <a:spLocks xmlns:a="http://schemas.openxmlformats.org/drawingml/2006/main" noGrp="1"/>
          </p:cNvSpPr>
          <p:nvPr/>
        </p:nvSpPr>
        <p:spPr>
          <a:xfrm xmlns:a="http://schemas.openxmlformats.org/drawingml/2006/main">
            <a:off x="1104900" y="44005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61A18"/>
                </a:solidFill>
              </a:defRPr>
            </a:pPr>
            <a:r>
              <a:rPr sz="2025" b="1">
                <a:solidFill>
                  <a:srgbClr val="161A18"/>
                </a:solidFill>
              </a:rPr>
              <a:t>SOURCE</a:t>
            </a:r>
          </a:p>
        </p:txBody>
      </p:sp>
      <p:sp>
        <p:nvSpPr>
          <p:cNvPr id="10" name="ko-0">
            <a:extLst xmlns:a="http://schemas.openxmlformats.org/drawingml/2006/main">
              <a:ext uri="{FF2B5EF4-FFF2-40B4-BE49-F238E27FC236}">
                <a16:creationId xmlns:a16="http://schemas.microsoft.com/office/drawing/2014/main" id="{9E80410A-991D-45CE-BA70-23CB18A00AE0}"/>
              </a:ext>
            </a:extLst>
          </p:cNvPr>
          <p:cNvSpPr>
            <a:spLocks xmlns:a="http://schemas.openxmlformats.org/drawingml/2006/main" noGrp="1"/>
          </p:cNvSpPr>
          <p:nvPr/>
        </p:nvSpPr>
        <p:spPr>
          <a:xfrm xmlns:a="http://schemas.openxmlformats.org/drawingml/2006/main">
            <a:off x="1104900" y="4819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4567F2"/>
                </a:solidFill>
              </a:defRPr>
            </a:pPr>
            <a:r>
              <a:rPr sz="1350" b="1">
                <a:solidFill>
                  <a:srgbClr val="4567F2"/>
                </a:solidFill>
              </a:rPr>
              <a:t>원천 POI 268개</a:t>
            </a:r>
          </a:p>
        </p:txBody>
      </p:sp>
      <p:sp>
        <p:nvSpPr>
          <p:cNvPr id="11" name="body-0">
            <a:extLst xmlns:a="http://schemas.openxmlformats.org/drawingml/2006/main">
              <a:ext uri="{FF2B5EF4-FFF2-40B4-BE49-F238E27FC236}">
                <a16:creationId xmlns:a16="http://schemas.microsoft.com/office/drawing/2014/main" id="{B91DE700-03EF-4C11-8FAD-7A5B6A3BB99D}"/>
              </a:ext>
            </a:extLst>
          </p:cNvPr>
          <p:cNvSpPr>
            <a:spLocks xmlns:a="http://schemas.openxmlformats.org/drawingml/2006/main" noGrp="1"/>
          </p:cNvSpPr>
          <p:nvPr/>
        </p:nvSpPr>
        <p:spPr>
          <a:xfrm xmlns:a="http://schemas.openxmlformats.org/drawingml/2006/main">
            <a:off x="1104900" y="5219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6E746F"/>
                </a:solidFill>
              </a:defRPr>
            </a:pPr>
            <a:r>
              <a:rPr sz="1200" b="0">
                <a:solidFill>
                  <a:srgbClr val="6E746F"/>
                </a:solidFill>
              </a:rPr>
              <a:t>시설명·좌표·접근조건·출처를</a:t>
            </a:r>
          </a:p>
          <a:p xmlns:a="http://schemas.openxmlformats.org/drawingml/2006/main">
            <a:pPr algn="l">
              <a:buNone/>
              <a:defRPr sz="1200" b="0">
                <a:solidFill>
                  <a:srgbClr val="6E746F"/>
                </a:solidFill>
              </a:defRPr>
            </a:pPr>
            <a:r>
              <a:rPr sz="1200" b="0">
                <a:solidFill>
                  <a:srgbClr val="6E746F"/>
                </a:solidFill>
              </a:rPr>
              <a:t>41개 필드로 보존</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ddd6e33b2524f74"/>
          <a:stretch xmlns:a="http://schemas.openxmlformats.org/drawingml/2006/main"/>
        </p:blipFill>
        <p:spPr>
          <a:xfrm xmlns:a="http://schemas.openxmlformats.org/drawingml/2006/main">
            <a:off x="4562929" y="2209800"/>
            <a:ext cx="2494643" cy="2095500"/>
          </a:xfrm>
          <a:prstGeom xmlns:a="http://schemas.openxmlformats.org/drawingml/2006/main" prst="rect">
            <a:avLst/>
          </a:prstGeom>
        </p:spPr>
      </p:pic>
      <p:sp>
        <p:nvSpPr>
          <p:cNvPr id="13" name="num-1">
            <a:extLst xmlns:a="http://schemas.openxmlformats.org/drawingml/2006/main">
              <a:ext uri="{FF2B5EF4-FFF2-40B4-BE49-F238E27FC236}">
                <a16:creationId xmlns:a16="http://schemas.microsoft.com/office/drawing/2014/main" id="{9BC57D06-A00F-47A1-BDBD-40A11B8A217F}"/>
              </a:ext>
            </a:extLst>
          </p:cNvPr>
          <p:cNvSpPr>
            <a:spLocks xmlns:a="http://schemas.openxmlformats.org/drawingml/2006/main" noGrp="1"/>
          </p:cNvSpPr>
          <p:nvPr/>
        </p:nvSpPr>
        <p:spPr>
          <a:xfrm xmlns:a="http://schemas.openxmlformats.org/drawingml/2006/main">
            <a:off x="4286250" y="44386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4567F2"/>
                </a:solidFill>
              </a:defRPr>
            </a:pPr>
            <a:r>
              <a:rPr sz="1425" b="1">
                <a:solidFill>
                  <a:srgbClr val="4567F2"/>
                </a:solidFill>
              </a:rPr>
              <a:t>02</a:t>
            </a:r>
          </a:p>
        </p:txBody>
      </p:sp>
      <p:sp>
        <p:nvSpPr>
          <p:cNvPr id="14" name="head-1">
            <a:extLst xmlns:a="http://schemas.openxmlformats.org/drawingml/2006/main">
              <a:ext uri="{FF2B5EF4-FFF2-40B4-BE49-F238E27FC236}">
                <a16:creationId xmlns:a16="http://schemas.microsoft.com/office/drawing/2014/main" id="{E965E6EA-9CF5-4126-BF87-3CD52925DE61}"/>
              </a:ext>
            </a:extLst>
          </p:cNvPr>
          <p:cNvSpPr>
            <a:spLocks xmlns:a="http://schemas.openxmlformats.org/drawingml/2006/main" noGrp="1"/>
          </p:cNvSpPr>
          <p:nvPr/>
        </p:nvSpPr>
        <p:spPr>
          <a:xfrm xmlns:a="http://schemas.openxmlformats.org/drawingml/2006/main">
            <a:off x="4819650" y="44005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61A18"/>
                </a:solidFill>
              </a:defRPr>
            </a:pPr>
            <a:r>
              <a:rPr sz="2025" b="1">
                <a:solidFill>
                  <a:srgbClr val="161A18"/>
                </a:solidFill>
              </a:rPr>
              <a:t>MAP</a:t>
            </a:r>
          </a:p>
        </p:txBody>
      </p:sp>
      <p:sp>
        <p:nvSpPr>
          <p:cNvPr id="15" name="ko-1">
            <a:extLst xmlns:a="http://schemas.openxmlformats.org/drawingml/2006/main">
              <a:ext uri="{FF2B5EF4-FFF2-40B4-BE49-F238E27FC236}">
                <a16:creationId xmlns:a16="http://schemas.microsoft.com/office/drawing/2014/main" id="{5D3CFD98-7304-4E1D-AFE6-AF246B089EED}"/>
              </a:ext>
            </a:extLst>
          </p:cNvPr>
          <p:cNvSpPr>
            <a:spLocks xmlns:a="http://schemas.openxmlformats.org/drawingml/2006/main" noGrp="1"/>
          </p:cNvSpPr>
          <p:nvPr/>
        </p:nvSpPr>
        <p:spPr>
          <a:xfrm xmlns:a="http://schemas.openxmlformats.org/drawingml/2006/main">
            <a:off x="4819650" y="4819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4567F2"/>
                </a:solidFill>
              </a:defRPr>
            </a:pPr>
            <a:r>
              <a:rPr sz="1350" b="1">
                <a:solidFill>
                  <a:srgbClr val="4567F2"/>
                </a:solidFill>
              </a:rPr>
              <a:t>상권 피처 786개</a:t>
            </a:r>
          </a:p>
        </p:txBody>
      </p:sp>
      <p:sp>
        <p:nvSpPr>
          <p:cNvPr id="16" name="body-1">
            <a:extLst xmlns:a="http://schemas.openxmlformats.org/drawingml/2006/main">
              <a:ext uri="{FF2B5EF4-FFF2-40B4-BE49-F238E27FC236}">
                <a16:creationId xmlns:a16="http://schemas.microsoft.com/office/drawing/2014/main" id="{0AA3F543-BDBE-404B-B440-DA988CA0583C}"/>
              </a:ext>
            </a:extLst>
          </p:cNvPr>
          <p:cNvSpPr>
            <a:spLocks xmlns:a="http://schemas.openxmlformats.org/drawingml/2006/main" noGrp="1"/>
          </p:cNvSpPr>
          <p:nvPr/>
        </p:nvSpPr>
        <p:spPr>
          <a:xfrm xmlns:a="http://schemas.openxmlformats.org/drawingml/2006/main">
            <a:off x="4819650" y="5219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6E746F"/>
                </a:solidFill>
              </a:defRPr>
            </a:pPr>
            <a:r>
              <a:rPr sz="1200" b="0">
                <a:solidFill>
                  <a:srgbClr val="6E746F"/>
                </a:solidFill>
              </a:rPr>
              <a:t>폴리곤 내부와 400m 범위를</a:t>
            </a:r>
          </a:p>
          <a:p xmlns:a="http://schemas.openxmlformats.org/drawingml/2006/main">
            <a:pPr algn="l">
              <a:buNone/>
              <a:defRPr sz="1200" b="0">
                <a:solidFill>
                  <a:srgbClr val="6E746F"/>
                </a:solidFill>
              </a:defRPr>
            </a:pPr>
            <a:r>
              <a:rPr sz="1200" b="0">
                <a:solidFill>
                  <a:srgbClr val="6E746F"/>
                </a:solidFill>
              </a:rPr>
              <a:t>분리해 시설 수 집계</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e6216af4b6134c60"/>
          <a:stretch xmlns:a="http://schemas.openxmlformats.org/drawingml/2006/main"/>
        </p:blipFill>
        <p:spPr>
          <a:xfrm xmlns:a="http://schemas.openxmlformats.org/drawingml/2006/main">
            <a:off x="7905750" y="2211265"/>
            <a:ext cx="3238500" cy="2092569"/>
          </a:xfrm>
          <a:prstGeom xmlns:a="http://schemas.openxmlformats.org/drawingml/2006/main" prst="rect">
            <a:avLst/>
          </a:prstGeom>
        </p:spPr>
      </p:pic>
      <p:sp>
        <p:nvSpPr>
          <p:cNvPr id="18" name="num-2">
            <a:extLst xmlns:a="http://schemas.openxmlformats.org/drawingml/2006/main">
              <a:ext uri="{FF2B5EF4-FFF2-40B4-BE49-F238E27FC236}">
                <a16:creationId xmlns:a16="http://schemas.microsoft.com/office/drawing/2014/main" id="{6DA6044F-99E8-4607-A8C1-7A3AFC1C5816}"/>
              </a:ext>
            </a:extLst>
          </p:cNvPr>
          <p:cNvSpPr>
            <a:spLocks xmlns:a="http://schemas.openxmlformats.org/drawingml/2006/main" noGrp="1"/>
          </p:cNvSpPr>
          <p:nvPr/>
        </p:nvSpPr>
        <p:spPr>
          <a:xfrm xmlns:a="http://schemas.openxmlformats.org/drawingml/2006/main">
            <a:off x="8001000" y="44386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4567F2"/>
                </a:solidFill>
              </a:defRPr>
            </a:pPr>
            <a:r>
              <a:rPr sz="1425" b="1">
                <a:solidFill>
                  <a:srgbClr val="4567F2"/>
                </a:solidFill>
              </a:rPr>
              <a:t>03</a:t>
            </a:r>
          </a:p>
        </p:txBody>
      </p:sp>
      <p:sp>
        <p:nvSpPr>
          <p:cNvPr id="19" name="head-2">
            <a:extLst xmlns:a="http://schemas.openxmlformats.org/drawingml/2006/main">
              <a:ext uri="{FF2B5EF4-FFF2-40B4-BE49-F238E27FC236}">
                <a16:creationId xmlns:a16="http://schemas.microsoft.com/office/drawing/2014/main" id="{3C68C9B6-8D21-4F1B-9547-213B014B6494}"/>
              </a:ext>
            </a:extLst>
          </p:cNvPr>
          <p:cNvSpPr>
            <a:spLocks xmlns:a="http://schemas.openxmlformats.org/drawingml/2006/main" noGrp="1"/>
          </p:cNvSpPr>
          <p:nvPr/>
        </p:nvSpPr>
        <p:spPr>
          <a:xfrm xmlns:a="http://schemas.openxmlformats.org/drawingml/2006/main">
            <a:off x="8534400" y="44005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61A18"/>
                </a:solidFill>
              </a:defRPr>
            </a:pPr>
            <a:r>
              <a:rPr sz="2025" b="1">
                <a:solidFill>
                  <a:srgbClr val="161A18"/>
                </a:solidFill>
              </a:rPr>
              <a:t>SCORE</a:t>
            </a:r>
          </a:p>
        </p:txBody>
      </p:sp>
      <p:sp>
        <p:nvSpPr>
          <p:cNvPr id="20" name="ko-2">
            <a:extLst xmlns:a="http://schemas.openxmlformats.org/drawingml/2006/main">
              <a:ext uri="{FF2B5EF4-FFF2-40B4-BE49-F238E27FC236}">
                <a16:creationId xmlns:a16="http://schemas.microsoft.com/office/drawing/2014/main" id="{3FDE26E6-89F3-4C4A-952D-DAA70CA7923C}"/>
              </a:ext>
            </a:extLst>
          </p:cNvPr>
          <p:cNvSpPr>
            <a:spLocks xmlns:a="http://schemas.openxmlformats.org/drawingml/2006/main" noGrp="1"/>
          </p:cNvSpPr>
          <p:nvPr/>
        </p:nvSpPr>
        <p:spPr>
          <a:xfrm xmlns:a="http://schemas.openxmlformats.org/drawingml/2006/main">
            <a:off x="8534400" y="4819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4567F2"/>
                </a:solidFill>
              </a:defRPr>
            </a:pPr>
            <a:r>
              <a:rPr sz="1350" b="1">
                <a:solidFill>
                  <a:srgbClr val="4567F2"/>
                </a:solidFill>
              </a:rPr>
              <a:t>공부 체류 보조순위</a:t>
            </a:r>
          </a:p>
        </p:txBody>
      </p:sp>
      <p:sp>
        <p:nvSpPr>
          <p:cNvPr id="21" name="body-2">
            <a:extLst xmlns:a="http://schemas.openxmlformats.org/drawingml/2006/main">
              <a:ext uri="{FF2B5EF4-FFF2-40B4-BE49-F238E27FC236}">
                <a16:creationId xmlns:a16="http://schemas.microsoft.com/office/drawing/2014/main" id="{16CC2DC8-F7B2-4696-AEBF-A97F2EB4DB2F}"/>
              </a:ext>
            </a:extLst>
          </p:cNvPr>
          <p:cNvSpPr>
            <a:spLocks xmlns:a="http://schemas.openxmlformats.org/drawingml/2006/main" noGrp="1"/>
          </p:cNvSpPr>
          <p:nvPr/>
        </p:nvSpPr>
        <p:spPr>
          <a:xfrm xmlns:a="http://schemas.openxmlformats.org/drawingml/2006/main">
            <a:off x="8534400" y="521970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6E746F"/>
                </a:solidFill>
              </a:defRPr>
            </a:pPr>
            <a:r>
              <a:rPr sz="1200" b="0">
                <a:solidFill>
                  <a:srgbClr val="6E746F"/>
                </a:solidFill>
              </a:rPr>
              <a:t>2025 업종 신호와 2026 POI를</a:t>
            </a:r>
          </a:p>
          <a:p xmlns:a="http://schemas.openxmlformats.org/drawingml/2006/main">
            <a:pPr algn="l">
              <a:buNone/>
              <a:defRPr sz="1200" b="0">
                <a:solidFill>
                  <a:srgbClr val="6E746F"/>
                </a:solidFill>
              </a:defRPr>
            </a:pPr>
            <a:r>
              <a:rPr sz="1200" b="0">
                <a:solidFill>
                  <a:srgbClr val="6E746F"/>
                </a:solidFill>
              </a:rPr>
              <a:t>분리해 현재 순위 산출</a:t>
            </a:r>
          </a:p>
        </p:txBody>
      </p:sp>
      <p:sp>
        <p:nvSpPr>
          <p:cNvPr id="22" name="bottom-rule">
            <a:extLst xmlns:a="http://schemas.openxmlformats.org/drawingml/2006/main">
              <a:ext uri="{FF2B5EF4-FFF2-40B4-BE49-F238E27FC236}">
                <a16:creationId xmlns:a16="http://schemas.microsoft.com/office/drawing/2014/main" id="{C1D5DE6A-9A14-4341-BD3D-B5FCC1E96C85}"/>
              </a:ext>
            </a:extLst>
          </p:cNvPr>
          <p:cNvSpPr>
            <a:spLocks xmlns:a="http://schemas.openxmlformats.org/drawingml/2006/main" noGrp="1"/>
          </p:cNvSpPr>
          <p:nvPr/>
        </p:nvSpPr>
        <p:spPr>
          <a:xfrm xmlns:a="http://schemas.openxmlformats.org/drawingml/2006/main">
            <a:off x="571500" y="6191250"/>
            <a:ext cx="1066800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23" name="label">
            <a:extLst xmlns:a="http://schemas.openxmlformats.org/drawingml/2006/main">
              <a:ext uri="{FF2B5EF4-FFF2-40B4-BE49-F238E27FC236}">
                <a16:creationId xmlns:a16="http://schemas.microsoft.com/office/drawing/2014/main" id="{881FA72A-26C1-4913-B1D8-4C6978E4FD30}"/>
              </a:ext>
            </a:extLst>
          </p:cNvPr>
          <p:cNvSpPr>
            <a:spLocks xmlns:a="http://schemas.openxmlformats.org/drawingml/2006/main" noGrp="1"/>
          </p:cNvSpPr>
          <p:nvPr/>
        </p:nvSpPr>
        <p:spPr>
          <a:xfrm xmlns:a="http://schemas.openxmlformats.org/drawingml/2006/main">
            <a:off x="571500" y="62865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161A18"/>
                </a:solidFill>
              </a:defRPr>
            </a:pPr>
            <a:r>
              <a:rPr sz="1275" b="1">
                <a:solidFill>
                  <a:srgbClr val="161A18"/>
                </a:solidFill>
              </a:rPr>
              <a:t>집계 키  area_code  ·  분석 단위  공식 상권 786개</a:t>
            </a:r>
          </a:p>
        </p:txBody>
      </p:sp>
    </p:spTree>
    <p:extLst>
      <p:ext uri="{BB962C8B-B14F-4D97-AF65-F5344CB8AC3E}">
        <p14:creationId xmlns:p14="http://schemas.microsoft.com/office/powerpoint/2010/main" val="268526961"/>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2" name="n-4">
            <a:extLst xmlns:a="http://schemas.openxmlformats.org/drawingml/2006/main">
              <a:ext uri="{FF2B5EF4-FFF2-40B4-BE49-F238E27FC236}">
                <a16:creationId xmlns:a16="http://schemas.microsoft.com/office/drawing/2014/main" id="{57163F67-BA23-45D7-91B7-15D14CD44E88}"/>
              </a:ext>
            </a:extLst>
          </p:cNvPr>
          <p:cNvSpPr>
            <a:spLocks xmlns:a="http://schemas.openxmlformats.org/drawingml/2006/main" noGrp="1"/>
          </p:cNvSpPr>
          <p:nvPr/>
        </p:nvSpPr>
        <p:spPr>
          <a:xfrm xmlns:a="http://schemas.openxmlformats.org/drawingml/2006/main">
            <a:off x="552450" y="3238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4567F2"/>
                </a:solidFill>
              </a:defRPr>
            </a:pPr>
            <a:r>
              <a:rPr sz="975" b="1">
                <a:solidFill>
                  <a:srgbClr val="4567F2"/>
                </a:solidFill>
              </a:rPr>
              <a:t>04</a:t>
            </a:r>
          </a:p>
        </p:txBody>
      </p:sp>
      <p:sp>
        <p:nvSpPr>
          <p:cNvPr id="2" name="k-4">
            <a:extLst xmlns:a="http://schemas.openxmlformats.org/drawingml/2006/main">
              <a:ext uri="{FF2B5EF4-FFF2-40B4-BE49-F238E27FC236}">
                <a16:creationId xmlns:a16="http://schemas.microsoft.com/office/drawing/2014/main" id="{A9A54AB2-4B48-4F43-ACAD-E0347E53F326}"/>
              </a:ext>
            </a:extLst>
          </p:cNvPr>
          <p:cNvSpPr>
            <a:spLocks xmlns:a="http://schemas.openxmlformats.org/drawingml/2006/main" noGrp="1"/>
          </p:cNvSpPr>
          <p:nvPr/>
        </p:nvSpPr>
        <p:spPr>
          <a:xfrm xmlns:a="http://schemas.openxmlformats.org/drawingml/2006/main">
            <a:off x="10287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6E746F"/>
                </a:solidFill>
              </a:defRPr>
            </a:pPr>
            <a:r>
              <a:rPr sz="975" b="1">
                <a:solidFill>
                  <a:srgbClr val="6E746F"/>
                </a:solidFill>
              </a:rPr>
              <a:t>FEATURE GOVERNANCE</a:t>
            </a:r>
          </a:p>
        </p:txBody>
      </p:sp>
      <p:sp>
        <p:nvSpPr>
          <p:cNvPr id="3" name="brand-4">
            <a:extLst xmlns:a="http://schemas.openxmlformats.org/drawingml/2006/main">
              <a:ext uri="{FF2B5EF4-FFF2-40B4-BE49-F238E27FC236}">
                <a16:creationId xmlns:a16="http://schemas.microsoft.com/office/drawing/2014/main" id="{C900CC3C-C872-4B4F-90A6-2BE3E623B55A}"/>
              </a:ext>
            </a:extLst>
          </p:cNvPr>
          <p:cNvSpPr>
            <a:spLocks xmlns:a="http://schemas.openxmlformats.org/drawingml/2006/main" noGrp="1"/>
          </p:cNvSpPr>
          <p:nvPr/>
        </p:nvSpPr>
        <p:spPr>
          <a:xfrm xmlns:a="http://schemas.openxmlformats.org/drawingml/2006/main">
            <a:off x="9810750" y="3238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6E746F"/>
                </a:solidFill>
              </a:defRPr>
            </a:pPr>
            <a:r>
              <a:rPr sz="975" b="1">
                <a:solidFill>
                  <a:srgbClr val="6E746F"/>
                </a:solidFill>
              </a:rPr>
              <a:t>MAXIMUS · DAT</a:t>
            </a:r>
          </a:p>
        </p:txBody>
      </p:sp>
      <p:sp>
        <p:nvSpPr>
          <p:cNvPr id="4" name="rule-4">
            <a:extLst xmlns:a="http://schemas.openxmlformats.org/drawingml/2006/main">
              <a:ext uri="{FF2B5EF4-FFF2-40B4-BE49-F238E27FC236}">
                <a16:creationId xmlns:a16="http://schemas.microsoft.com/office/drawing/2014/main" id="{FF518667-6B47-40C4-A228-DC6B3924F7D1}"/>
              </a:ext>
            </a:extLst>
          </p:cNvPr>
          <p:cNvSpPr>
            <a:spLocks xmlns:a="http://schemas.openxmlformats.org/drawingml/2006/main" noGrp="1"/>
          </p:cNvSpPr>
          <p:nvPr/>
        </p:nvSpPr>
        <p:spPr>
          <a:xfrm xmlns:a="http://schemas.openxmlformats.org/drawingml/2006/main">
            <a:off x="552450" y="638175"/>
            <a:ext cx="1108710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5" name="title">
            <a:extLst xmlns:a="http://schemas.openxmlformats.org/drawingml/2006/main">
              <a:ext uri="{FF2B5EF4-FFF2-40B4-BE49-F238E27FC236}">
                <a16:creationId xmlns:a16="http://schemas.microsoft.com/office/drawing/2014/main" id="{49B9F22E-D578-4273-A5E7-099B628B2495}"/>
              </a:ext>
            </a:extLst>
          </p:cNvPr>
          <p:cNvSpPr>
            <a:spLocks xmlns:a="http://schemas.openxmlformats.org/drawingml/2006/main" noGrp="1"/>
          </p:cNvSpPr>
          <p:nvPr/>
        </p:nvSpPr>
        <p:spPr>
          <a:xfrm xmlns:a="http://schemas.openxmlformats.org/drawingml/2006/main">
            <a:off x="552450" y="971550"/>
            <a:ext cx="723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a:solidFill>
                  <a:srgbClr val="161A18"/>
                </a:solidFill>
              </a:defRPr>
            </a:pPr>
            <a:r>
              <a:rPr sz="3000" b="1">
                <a:solidFill>
                  <a:srgbClr val="161A18"/>
                </a:solidFill>
              </a:rPr>
              <a:t>공공 학습시설은 점수와 검토 후보를 분리했습니다</a:t>
            </a:r>
          </a:p>
        </p:txBody>
      </p:sp>
      <p:sp>
        <p:nvSpPr>
          <p:cNvPr id="6" name="desc">
            <a:extLst xmlns:a="http://schemas.openxmlformats.org/drawingml/2006/main">
              <a:ext uri="{FF2B5EF4-FFF2-40B4-BE49-F238E27FC236}">
                <a16:creationId xmlns:a16="http://schemas.microsoft.com/office/drawing/2014/main" id="{85519979-485F-4278-814D-66D06B3E1319}"/>
              </a:ext>
            </a:extLst>
          </p:cNvPr>
          <p:cNvSpPr>
            <a:spLocks xmlns:a="http://schemas.openxmlformats.org/drawingml/2006/main" noGrp="1"/>
          </p:cNvSpPr>
          <p:nvPr/>
        </p:nvSpPr>
        <p:spPr>
          <a:xfrm xmlns:a="http://schemas.openxmlformats.org/drawingml/2006/main">
            <a:off x="571500" y="16383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E746F"/>
                </a:solidFill>
              </a:defRPr>
            </a:pPr>
            <a:r>
              <a:rPr sz="1425" b="0">
                <a:solidFill>
                  <a:srgbClr val="6E746F"/>
                </a:solidFill>
              </a:rPr>
              <a:t>공개 접근 여부가 불확실한 대학시설을 바로 순위에 넣지 않았습니다.</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6a9fb08046d4847"/>
          <a:stretch xmlns:a="http://schemas.openxmlformats.org/drawingml/2006/main"/>
        </p:blipFill>
        <p:spPr>
          <a:xfrm xmlns:a="http://schemas.openxmlformats.org/drawingml/2006/main">
            <a:off x="6885214" y="2114550"/>
            <a:ext cx="4422321" cy="2857500"/>
          </a:xfrm>
          <a:prstGeom xmlns:a="http://schemas.openxmlformats.org/drawingml/2006/main" prst="rect">
            <a:avLst/>
          </a:prstGeom>
        </p:spPr>
      </p:pic>
      <p:sp>
        <p:nvSpPr>
          <p:cNvPr id="8" name="mn-0">
            <a:extLst xmlns:a="http://schemas.openxmlformats.org/drawingml/2006/main">
              <a:ext uri="{FF2B5EF4-FFF2-40B4-BE49-F238E27FC236}">
                <a16:creationId xmlns:a16="http://schemas.microsoft.com/office/drawing/2014/main" id="{33AC5BD9-8037-4AFE-8E88-86B486157248}"/>
              </a:ext>
            </a:extLst>
          </p:cNvPr>
          <p:cNvSpPr>
            <a:spLocks xmlns:a="http://schemas.openxmlformats.org/drawingml/2006/main" noGrp="1"/>
          </p:cNvSpPr>
          <p:nvPr/>
        </p:nvSpPr>
        <p:spPr>
          <a:xfrm xmlns:a="http://schemas.openxmlformats.org/drawingml/2006/main">
            <a:off x="609600" y="23241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6E746F"/>
                </a:solidFill>
              </a:defRPr>
            </a:pPr>
            <a:r>
              <a:rPr sz="1575" b="1">
                <a:solidFill>
                  <a:srgbClr val="6E746F"/>
                </a:solidFill>
              </a:rPr>
              <a:t>01</a:t>
            </a:r>
          </a:p>
        </p:txBody>
      </p:sp>
      <p:sp>
        <p:nvSpPr>
          <p:cNvPr id="9" name="mh-0">
            <a:extLst xmlns:a="http://schemas.openxmlformats.org/drawingml/2006/main">
              <a:ext uri="{FF2B5EF4-FFF2-40B4-BE49-F238E27FC236}">
                <a16:creationId xmlns:a16="http://schemas.microsoft.com/office/drawing/2014/main" id="{EA14DCB8-F77C-4C5E-85DF-F9EFC207F20E}"/>
              </a:ext>
            </a:extLst>
          </p:cNvPr>
          <p:cNvSpPr>
            <a:spLocks xmlns:a="http://schemas.openxmlformats.org/drawingml/2006/main" noGrp="1"/>
          </p:cNvSpPr>
          <p:nvPr/>
        </p:nvSpPr>
        <p:spPr>
          <a:xfrm xmlns:a="http://schemas.openxmlformats.org/drawingml/2006/main">
            <a:off x="1276350" y="22860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75" b="1">
                <a:solidFill>
                  <a:srgbClr val="161A18"/>
                </a:solidFill>
              </a:defRPr>
            </a:pPr>
            <a:r>
              <a:rPr sz="2175" b="1">
                <a:solidFill>
                  <a:srgbClr val="161A18"/>
                </a:solidFill>
              </a:rPr>
              <a:t>236개 점수 반영</a:t>
            </a:r>
          </a:p>
        </p:txBody>
      </p:sp>
      <p:sp>
        <p:nvSpPr>
          <p:cNvPr id="10" name="mb-0">
            <a:extLst xmlns:a="http://schemas.openxmlformats.org/drawingml/2006/main">
              <a:ext uri="{FF2B5EF4-FFF2-40B4-BE49-F238E27FC236}">
                <a16:creationId xmlns:a16="http://schemas.microsoft.com/office/drawing/2014/main" id="{D08E2E3B-B051-4A34-9251-2CC9DCE8AD9A}"/>
              </a:ext>
            </a:extLst>
          </p:cNvPr>
          <p:cNvSpPr>
            <a:spLocks xmlns:a="http://schemas.openxmlformats.org/drawingml/2006/main" noGrp="1"/>
          </p:cNvSpPr>
          <p:nvPr/>
        </p:nvSpPr>
        <p:spPr>
          <a:xfrm xmlns:a="http://schemas.openxmlformats.org/drawingml/2006/main">
            <a:off x="1276350" y="27051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6E746F"/>
                </a:solidFill>
              </a:defRPr>
            </a:pPr>
            <a:r>
              <a:rPr sz="1275" b="0">
                <a:solidFill>
                  <a:srgbClr val="6E746F"/>
                </a:solidFill>
              </a:rPr>
              <a:t>공공도서관 205 · 열람실 14 · 청년공간 17</a:t>
            </a:r>
          </a:p>
        </p:txBody>
      </p:sp>
      <p:sp>
        <p:nvSpPr>
          <p:cNvPr id="11" name="ml-0">
            <a:extLst xmlns:a="http://schemas.openxmlformats.org/drawingml/2006/main">
              <a:ext uri="{FF2B5EF4-FFF2-40B4-BE49-F238E27FC236}">
                <a16:creationId xmlns:a16="http://schemas.microsoft.com/office/drawing/2014/main" id="{4C9B00FA-E2FD-48D4-B0DA-75E61843FCC2}"/>
              </a:ext>
            </a:extLst>
          </p:cNvPr>
          <p:cNvSpPr>
            <a:spLocks xmlns:a="http://schemas.openxmlformats.org/drawingml/2006/main" noGrp="1"/>
          </p:cNvSpPr>
          <p:nvPr/>
        </p:nvSpPr>
        <p:spPr>
          <a:xfrm xmlns:a="http://schemas.openxmlformats.org/drawingml/2006/main">
            <a:off x="1276350" y="3162300"/>
            <a:ext cx="447675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12" name="mn-1">
            <a:extLst xmlns:a="http://schemas.openxmlformats.org/drawingml/2006/main">
              <a:ext uri="{FF2B5EF4-FFF2-40B4-BE49-F238E27FC236}">
                <a16:creationId xmlns:a16="http://schemas.microsoft.com/office/drawing/2014/main" id="{55932A47-6BD3-4783-A03C-3463F3DAFDD1}"/>
              </a:ext>
            </a:extLst>
          </p:cNvPr>
          <p:cNvSpPr>
            <a:spLocks xmlns:a="http://schemas.openxmlformats.org/drawingml/2006/main" noGrp="1"/>
          </p:cNvSpPr>
          <p:nvPr/>
        </p:nvSpPr>
        <p:spPr>
          <a:xfrm xmlns:a="http://schemas.openxmlformats.org/drawingml/2006/main">
            <a:off x="609600" y="35242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6E746F"/>
                </a:solidFill>
              </a:defRPr>
            </a:pPr>
            <a:r>
              <a:rPr sz="1575" b="1">
                <a:solidFill>
                  <a:srgbClr val="6E746F"/>
                </a:solidFill>
              </a:rPr>
              <a:t>02</a:t>
            </a:r>
          </a:p>
        </p:txBody>
      </p:sp>
      <p:sp>
        <p:nvSpPr>
          <p:cNvPr id="13" name="mh-1">
            <a:extLst xmlns:a="http://schemas.openxmlformats.org/drawingml/2006/main">
              <a:ext uri="{FF2B5EF4-FFF2-40B4-BE49-F238E27FC236}">
                <a16:creationId xmlns:a16="http://schemas.microsoft.com/office/drawing/2014/main" id="{0FD86527-E7DC-4EA8-9312-D279BAB9AA45}"/>
              </a:ext>
            </a:extLst>
          </p:cNvPr>
          <p:cNvSpPr>
            <a:spLocks xmlns:a="http://schemas.openxmlformats.org/drawingml/2006/main" noGrp="1"/>
          </p:cNvSpPr>
          <p:nvPr/>
        </p:nvSpPr>
        <p:spPr>
          <a:xfrm xmlns:a="http://schemas.openxmlformats.org/drawingml/2006/main">
            <a:off x="1276350" y="34861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75" b="1">
                <a:solidFill>
                  <a:srgbClr val="161A18"/>
                </a:solidFill>
              </a:defRPr>
            </a:pPr>
            <a:r>
              <a:rPr sz="2175" b="1">
                <a:solidFill>
                  <a:srgbClr val="161A18"/>
                </a:solidFill>
              </a:rPr>
              <a:t>245개 검토 후보</a:t>
            </a:r>
          </a:p>
        </p:txBody>
      </p:sp>
      <p:sp>
        <p:nvSpPr>
          <p:cNvPr id="14" name="mb-1">
            <a:extLst xmlns:a="http://schemas.openxmlformats.org/drawingml/2006/main">
              <a:ext uri="{FF2B5EF4-FFF2-40B4-BE49-F238E27FC236}">
                <a16:creationId xmlns:a16="http://schemas.microsoft.com/office/drawing/2014/main" id="{011B5753-4731-4708-9CE6-3E5CEF306236}"/>
              </a:ext>
            </a:extLst>
          </p:cNvPr>
          <p:cNvSpPr>
            <a:spLocks xmlns:a="http://schemas.openxmlformats.org/drawingml/2006/main" noGrp="1"/>
          </p:cNvSpPr>
          <p:nvPr/>
        </p:nvSpPr>
        <p:spPr>
          <a:xfrm xmlns:a="http://schemas.openxmlformats.org/drawingml/2006/main">
            <a:off x="1276350" y="39052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6E746F"/>
                </a:solidFill>
              </a:defRPr>
            </a:pPr>
            <a:r>
              <a:rPr sz="1275" b="0">
                <a:solidFill>
                  <a:srgbClr val="6E746F"/>
                </a:solidFill>
              </a:rPr>
              <a:t>대학 학습시설 9개는 공개 접근 확인 전 별도 보존</a:t>
            </a:r>
          </a:p>
        </p:txBody>
      </p:sp>
      <p:sp>
        <p:nvSpPr>
          <p:cNvPr id="15" name="ml-1">
            <a:extLst xmlns:a="http://schemas.openxmlformats.org/drawingml/2006/main">
              <a:ext uri="{FF2B5EF4-FFF2-40B4-BE49-F238E27FC236}">
                <a16:creationId xmlns:a16="http://schemas.microsoft.com/office/drawing/2014/main" id="{7B05399F-F210-46FB-8EE0-B7DD216E835E}"/>
              </a:ext>
            </a:extLst>
          </p:cNvPr>
          <p:cNvSpPr>
            <a:spLocks xmlns:a="http://schemas.openxmlformats.org/drawingml/2006/main" noGrp="1"/>
          </p:cNvSpPr>
          <p:nvPr/>
        </p:nvSpPr>
        <p:spPr>
          <a:xfrm xmlns:a="http://schemas.openxmlformats.org/drawingml/2006/main">
            <a:off x="1276350" y="4362450"/>
            <a:ext cx="447675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16" name="mn-2">
            <a:extLst xmlns:a="http://schemas.openxmlformats.org/drawingml/2006/main">
              <a:ext uri="{FF2B5EF4-FFF2-40B4-BE49-F238E27FC236}">
                <a16:creationId xmlns:a16="http://schemas.microsoft.com/office/drawing/2014/main" id="{C78E861C-C3D6-4305-9FE0-BCFD9B2D633B}"/>
              </a:ext>
            </a:extLst>
          </p:cNvPr>
          <p:cNvSpPr>
            <a:spLocks xmlns:a="http://schemas.openxmlformats.org/drawingml/2006/main" noGrp="1"/>
          </p:cNvSpPr>
          <p:nvPr/>
        </p:nvSpPr>
        <p:spPr>
          <a:xfrm xmlns:a="http://schemas.openxmlformats.org/drawingml/2006/main">
            <a:off x="609600" y="4724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4567F2"/>
                </a:solidFill>
              </a:defRPr>
            </a:pPr>
            <a:r>
              <a:rPr sz="1575" b="1">
                <a:solidFill>
                  <a:srgbClr val="4567F2"/>
                </a:solidFill>
              </a:rPr>
              <a:t>03</a:t>
            </a:r>
          </a:p>
        </p:txBody>
      </p:sp>
      <p:sp>
        <p:nvSpPr>
          <p:cNvPr id="17" name="mh-2">
            <a:extLst xmlns:a="http://schemas.openxmlformats.org/drawingml/2006/main">
              <a:ext uri="{FF2B5EF4-FFF2-40B4-BE49-F238E27FC236}">
                <a16:creationId xmlns:a16="http://schemas.microsoft.com/office/drawing/2014/main" id="{4AB91AA1-AE26-4759-B90E-D8221339E819}"/>
              </a:ext>
            </a:extLst>
          </p:cNvPr>
          <p:cNvSpPr>
            <a:spLocks xmlns:a="http://schemas.openxmlformats.org/drawingml/2006/main" noGrp="1"/>
          </p:cNvSpPr>
          <p:nvPr/>
        </p:nvSpPr>
        <p:spPr>
          <a:xfrm xmlns:a="http://schemas.openxmlformats.org/drawingml/2006/main">
            <a:off x="1276350" y="46863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75" b="1">
                <a:solidFill>
                  <a:srgbClr val="4567F2"/>
                </a:solidFill>
              </a:defRPr>
            </a:pPr>
            <a:r>
              <a:rPr sz="2175" b="1">
                <a:solidFill>
                  <a:srgbClr val="4567F2"/>
                </a:solidFill>
              </a:rPr>
              <a:t>내부와 400m 인접</a:t>
            </a:r>
          </a:p>
        </p:txBody>
      </p:sp>
      <p:sp>
        <p:nvSpPr>
          <p:cNvPr id="18" name="mb-2">
            <a:extLst xmlns:a="http://schemas.openxmlformats.org/drawingml/2006/main">
              <a:ext uri="{FF2B5EF4-FFF2-40B4-BE49-F238E27FC236}">
                <a16:creationId xmlns:a16="http://schemas.microsoft.com/office/drawing/2014/main" id="{2D239884-82EB-47AE-B2CC-72AAC7285A83}"/>
              </a:ext>
            </a:extLst>
          </p:cNvPr>
          <p:cNvSpPr>
            <a:spLocks xmlns:a="http://schemas.openxmlformats.org/drawingml/2006/main" noGrp="1"/>
          </p:cNvSpPr>
          <p:nvPr/>
        </p:nvSpPr>
        <p:spPr>
          <a:xfrm xmlns:a="http://schemas.openxmlformats.org/drawingml/2006/main">
            <a:off x="1276350" y="51054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6E746F"/>
                </a:solidFill>
              </a:defRPr>
            </a:pPr>
            <a:r>
              <a:rPr sz="1275" b="0">
                <a:solidFill>
                  <a:srgbClr val="6E746F"/>
                </a:solidFill>
              </a:rPr>
              <a:t>공부 체류 점수에서 내부 80%, 인접 20% 반영</a:t>
            </a:r>
          </a:p>
        </p:txBody>
      </p:sp>
      <p:sp>
        <p:nvSpPr>
          <p:cNvPr id="19" name="ml-2">
            <a:extLst xmlns:a="http://schemas.openxmlformats.org/drawingml/2006/main">
              <a:ext uri="{FF2B5EF4-FFF2-40B4-BE49-F238E27FC236}">
                <a16:creationId xmlns:a16="http://schemas.microsoft.com/office/drawing/2014/main" id="{CF35265B-12F4-48C6-BD3B-F452FD6BF314}"/>
              </a:ext>
            </a:extLst>
          </p:cNvPr>
          <p:cNvSpPr>
            <a:spLocks xmlns:a="http://schemas.openxmlformats.org/drawingml/2006/main" noGrp="1"/>
          </p:cNvSpPr>
          <p:nvPr/>
        </p:nvSpPr>
        <p:spPr>
          <a:xfrm xmlns:a="http://schemas.openxmlformats.org/drawingml/2006/main">
            <a:off x="1276350" y="5562600"/>
            <a:ext cx="447675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20" name="verify">
            <a:extLst xmlns:a="http://schemas.openxmlformats.org/drawingml/2006/main">
              <a:ext uri="{FF2B5EF4-FFF2-40B4-BE49-F238E27FC236}">
                <a16:creationId xmlns:a16="http://schemas.microsoft.com/office/drawing/2014/main" id="{74AD820C-3A23-450E-99BC-2B15D4CEB65A}"/>
              </a:ext>
            </a:extLst>
          </p:cNvPr>
          <p:cNvSpPr>
            <a:spLocks xmlns:a="http://schemas.openxmlformats.org/drawingml/2006/main" noGrp="1"/>
          </p:cNvSpPr>
          <p:nvPr/>
        </p:nvSpPr>
        <p:spPr>
          <a:xfrm xmlns:a="http://schemas.openxmlformats.org/drawingml/2006/main">
            <a:off x="571500" y="5791200"/>
            <a:ext cx="10668000" cy="590550"/>
          </a:xfrm>
          <a:prstGeom xmlns:a="http://schemas.openxmlformats.org/drawingml/2006/main" prst="rect">
            <a:avLst/>
          </a:prstGeom>
          <a:solidFill xmlns:a="http://schemas.openxmlformats.org/drawingml/2006/main">
            <a:srgbClr val="161A18"/>
          </a:solidFill>
          <a:ln xmlns:a="http://schemas.openxmlformats.org/drawingml/2006/main" w="0">
            <a:noFill/>
            <a:prstDash val="solid"/>
          </a:ln>
        </p:spPr>
      </p:sp>
      <p:sp>
        <p:nvSpPr>
          <p:cNvPr id="21" name="verify-text">
            <a:extLst xmlns:a="http://schemas.openxmlformats.org/drawingml/2006/main">
              <a:ext uri="{FF2B5EF4-FFF2-40B4-BE49-F238E27FC236}">
                <a16:creationId xmlns:a16="http://schemas.microsoft.com/office/drawing/2014/main" id="{25CED83E-9625-48C2-8757-72C200FB1D5F}"/>
              </a:ext>
            </a:extLst>
          </p:cNvPr>
          <p:cNvSpPr>
            <a:spLocks xmlns:a="http://schemas.openxmlformats.org/drawingml/2006/main" noGrp="1"/>
          </p:cNvSpPr>
          <p:nvPr/>
        </p:nvSpPr>
        <p:spPr>
          <a:xfrm xmlns:a="http://schemas.openxmlformats.org/drawingml/2006/main">
            <a:off x="838200" y="5905500"/>
            <a:ext cx="1013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FFFFFF"/>
                </a:solidFill>
              </a:defRPr>
            </a:pPr>
            <a:r>
              <a:rPr sz="1425" b="1">
                <a:solidFill>
                  <a:srgbClr val="FFFFFF"/>
                </a:solidFill>
              </a:rPr>
              <a:t>공부 체류 보조순위  공공시설 20%  ·  공개 접근 미확인 대학시설은 점수 제외</a:t>
            </a:r>
          </a:p>
        </p:txBody>
      </p:sp>
    </p:spTree>
    <p:extLst>
      <p:ext uri="{BB962C8B-B14F-4D97-AF65-F5344CB8AC3E}">
        <p14:creationId xmlns:p14="http://schemas.microsoft.com/office/powerpoint/2010/main" val="241427887"/>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1" name="n-5">
            <a:extLst xmlns:a="http://schemas.openxmlformats.org/drawingml/2006/main">
              <a:ext uri="{FF2B5EF4-FFF2-40B4-BE49-F238E27FC236}">
                <a16:creationId xmlns:a16="http://schemas.microsoft.com/office/drawing/2014/main" id="{10FCA8D9-9554-450A-88B3-1940564FE285}"/>
              </a:ext>
            </a:extLst>
          </p:cNvPr>
          <p:cNvSpPr>
            <a:spLocks xmlns:a="http://schemas.openxmlformats.org/drawingml/2006/main" noGrp="1"/>
          </p:cNvSpPr>
          <p:nvPr/>
        </p:nvSpPr>
        <p:spPr>
          <a:xfrm xmlns:a="http://schemas.openxmlformats.org/drawingml/2006/main">
            <a:off x="552450" y="3238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4567F2"/>
                </a:solidFill>
              </a:defRPr>
            </a:pPr>
            <a:r>
              <a:rPr sz="975" b="1">
                <a:solidFill>
                  <a:srgbClr val="4567F2"/>
                </a:solidFill>
              </a:rPr>
              <a:t>05</a:t>
            </a:r>
          </a:p>
        </p:txBody>
      </p:sp>
      <p:sp>
        <p:nvSpPr>
          <p:cNvPr id="2" name="k-5">
            <a:extLst xmlns:a="http://schemas.openxmlformats.org/drawingml/2006/main">
              <a:ext uri="{FF2B5EF4-FFF2-40B4-BE49-F238E27FC236}">
                <a16:creationId xmlns:a16="http://schemas.microsoft.com/office/drawing/2014/main" id="{35C89D2F-3648-4F94-BA9F-DECBA05F4514}"/>
              </a:ext>
            </a:extLst>
          </p:cNvPr>
          <p:cNvSpPr>
            <a:spLocks xmlns:a="http://schemas.openxmlformats.org/drawingml/2006/main" noGrp="1"/>
          </p:cNvSpPr>
          <p:nvPr/>
        </p:nvSpPr>
        <p:spPr>
          <a:xfrm xmlns:a="http://schemas.openxmlformats.org/drawingml/2006/main">
            <a:off x="10287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6E746F"/>
                </a:solidFill>
              </a:defRPr>
            </a:pPr>
            <a:r>
              <a:rPr sz="975" b="1">
                <a:solidFill>
                  <a:srgbClr val="6E746F"/>
                </a:solidFill>
              </a:rPr>
              <a:t>QA &amp; REPRODUCIBILITY</a:t>
            </a:r>
          </a:p>
        </p:txBody>
      </p:sp>
      <p:sp>
        <p:nvSpPr>
          <p:cNvPr id="3" name="brand-5">
            <a:extLst xmlns:a="http://schemas.openxmlformats.org/drawingml/2006/main">
              <a:ext uri="{FF2B5EF4-FFF2-40B4-BE49-F238E27FC236}">
                <a16:creationId xmlns:a16="http://schemas.microsoft.com/office/drawing/2014/main" id="{8ACBE737-C258-471B-B975-A8BD251ADF88}"/>
              </a:ext>
            </a:extLst>
          </p:cNvPr>
          <p:cNvSpPr>
            <a:spLocks xmlns:a="http://schemas.openxmlformats.org/drawingml/2006/main" noGrp="1"/>
          </p:cNvSpPr>
          <p:nvPr/>
        </p:nvSpPr>
        <p:spPr>
          <a:xfrm xmlns:a="http://schemas.openxmlformats.org/drawingml/2006/main">
            <a:off x="9810750" y="3238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6E746F"/>
                </a:solidFill>
              </a:defRPr>
            </a:pPr>
            <a:r>
              <a:rPr sz="975" b="1">
                <a:solidFill>
                  <a:srgbClr val="6E746F"/>
                </a:solidFill>
              </a:rPr>
              <a:t>MAXIMUS · DAT</a:t>
            </a:r>
          </a:p>
        </p:txBody>
      </p:sp>
      <p:sp>
        <p:nvSpPr>
          <p:cNvPr id="4" name="rule-5">
            <a:extLst xmlns:a="http://schemas.openxmlformats.org/drawingml/2006/main">
              <a:ext uri="{FF2B5EF4-FFF2-40B4-BE49-F238E27FC236}">
                <a16:creationId xmlns:a16="http://schemas.microsoft.com/office/drawing/2014/main" id="{49A700EB-2AA5-4263-BE96-C5FCAFD18611}"/>
              </a:ext>
            </a:extLst>
          </p:cNvPr>
          <p:cNvSpPr>
            <a:spLocks xmlns:a="http://schemas.openxmlformats.org/drawingml/2006/main" noGrp="1"/>
          </p:cNvSpPr>
          <p:nvPr/>
        </p:nvSpPr>
        <p:spPr>
          <a:xfrm xmlns:a="http://schemas.openxmlformats.org/drawingml/2006/main">
            <a:off x="552450" y="638175"/>
            <a:ext cx="1108710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5" name="title">
            <a:extLst xmlns:a="http://schemas.openxmlformats.org/drawingml/2006/main">
              <a:ext uri="{FF2B5EF4-FFF2-40B4-BE49-F238E27FC236}">
                <a16:creationId xmlns:a16="http://schemas.microsoft.com/office/drawing/2014/main" id="{40CFE97F-C4E6-443F-871C-A066A29F5C91}"/>
              </a:ext>
            </a:extLst>
          </p:cNvPr>
          <p:cNvSpPr>
            <a:spLocks xmlns:a="http://schemas.openxmlformats.org/drawingml/2006/main" noGrp="1"/>
          </p:cNvSpPr>
          <p:nvPr/>
        </p:nvSpPr>
        <p:spPr>
          <a:xfrm xmlns:a="http://schemas.openxmlformats.org/drawingml/2006/main">
            <a:off x="552450" y="971550"/>
            <a:ext cx="628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a:solidFill>
                  <a:srgbClr val="161A18"/>
                </a:solidFill>
              </a:defRPr>
            </a:pPr>
            <a:r>
              <a:rPr sz="3000" b="1">
                <a:solidFill>
                  <a:srgbClr val="161A18"/>
                </a:solidFill>
              </a:rPr>
              <a:t>검증 가능한 산출물로 정리했습니다</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be662b832704a1e"/>
          <a:stretch xmlns:a="http://schemas.openxmlformats.org/drawingml/2006/main"/>
        </p:blipFill>
        <p:spPr>
          <a:xfrm xmlns:a="http://schemas.openxmlformats.org/drawingml/2006/main">
            <a:off x="6381750" y="1295400"/>
            <a:ext cx="4857750" cy="2400300"/>
          </a:xfrm>
          <a:prstGeom xmlns:a="http://schemas.openxmlformats.org/drawingml/2006/main" prst="rect">
            <a:avLst/>
          </a:prstGeom>
        </p:spPr>
      </p:pic>
      <p:sp>
        <p:nvSpPr>
          <p:cNvPr id="7" name="rt-0">
            <a:extLst xmlns:a="http://schemas.openxmlformats.org/drawingml/2006/main">
              <a:ext uri="{FF2B5EF4-FFF2-40B4-BE49-F238E27FC236}">
                <a16:creationId xmlns:a16="http://schemas.microsoft.com/office/drawing/2014/main" id="{349F5E9A-78CD-4830-B852-ED6040F0DDD2}"/>
              </a:ext>
            </a:extLst>
          </p:cNvPr>
          <p:cNvSpPr>
            <a:spLocks xmlns:a="http://schemas.openxmlformats.org/drawingml/2006/main" noGrp="1"/>
          </p:cNvSpPr>
          <p:nvPr/>
        </p:nvSpPr>
        <p:spPr>
          <a:xfrm xmlns:a="http://schemas.openxmlformats.org/drawingml/2006/main">
            <a:off x="609600" y="30480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4567F2"/>
                </a:solidFill>
              </a:defRPr>
            </a:pPr>
            <a:r>
              <a:rPr sz="1200" b="1">
                <a:solidFill>
                  <a:srgbClr val="4567F2"/>
                </a:solidFill>
              </a:rPr>
              <a:t>RAW</a:t>
            </a:r>
          </a:p>
        </p:txBody>
      </p:sp>
      <p:sp>
        <p:nvSpPr>
          <p:cNvPr id="8" name="rh-0">
            <a:extLst xmlns:a="http://schemas.openxmlformats.org/drawingml/2006/main">
              <a:ext uri="{FF2B5EF4-FFF2-40B4-BE49-F238E27FC236}">
                <a16:creationId xmlns:a16="http://schemas.microsoft.com/office/drawing/2014/main" id="{4B6777C1-25A0-417D-B903-1B58CE09E4A5}"/>
              </a:ext>
            </a:extLst>
          </p:cNvPr>
          <p:cNvSpPr>
            <a:spLocks xmlns:a="http://schemas.openxmlformats.org/drawingml/2006/main" noGrp="1"/>
          </p:cNvSpPr>
          <p:nvPr/>
        </p:nvSpPr>
        <p:spPr>
          <a:xfrm xmlns:a="http://schemas.openxmlformats.org/drawingml/2006/main">
            <a:off x="1619250" y="29908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4567F2"/>
                </a:solidFill>
              </a:defRPr>
            </a:pPr>
            <a:r>
              <a:rPr sz="1875" b="1">
                <a:solidFill>
                  <a:srgbClr val="4567F2"/>
                </a:solidFill>
              </a:rPr>
              <a:t>268개 place_id</a:t>
            </a:r>
          </a:p>
        </p:txBody>
      </p:sp>
      <p:sp>
        <p:nvSpPr>
          <p:cNvPr id="9" name="rb-0">
            <a:extLst xmlns:a="http://schemas.openxmlformats.org/drawingml/2006/main">
              <a:ext uri="{FF2B5EF4-FFF2-40B4-BE49-F238E27FC236}">
                <a16:creationId xmlns:a16="http://schemas.microsoft.com/office/drawing/2014/main" id="{ED34C9CC-05DC-4D02-A2F3-39D0CB827CC5}"/>
              </a:ext>
            </a:extLst>
          </p:cNvPr>
          <p:cNvSpPr>
            <a:spLocks xmlns:a="http://schemas.openxmlformats.org/drawingml/2006/main" noGrp="1"/>
          </p:cNvSpPr>
          <p:nvPr/>
        </p:nvSpPr>
        <p:spPr>
          <a:xfrm xmlns:a="http://schemas.openxmlformats.org/drawingml/2006/main">
            <a:off x="1619250" y="337185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6E746F"/>
                </a:solidFill>
              </a:defRPr>
            </a:pPr>
            <a:r>
              <a:rPr sz="1275" b="0">
                <a:solidFill>
                  <a:srgbClr val="6E746F"/>
                </a:solidFill>
              </a:rPr>
              <a:t>원천 식별자는 모두 고유하고, 주소 누락 46건은 상태 열로 보존</a:t>
            </a:r>
          </a:p>
        </p:txBody>
      </p:sp>
      <p:sp>
        <p:nvSpPr>
          <p:cNvPr id="10" name="rl-0">
            <a:extLst xmlns:a="http://schemas.openxmlformats.org/drawingml/2006/main">
              <a:ext uri="{FF2B5EF4-FFF2-40B4-BE49-F238E27FC236}">
                <a16:creationId xmlns:a16="http://schemas.microsoft.com/office/drawing/2014/main" id="{69E6C250-F28F-42A2-89C2-263A010594AE}"/>
              </a:ext>
            </a:extLst>
          </p:cNvPr>
          <p:cNvSpPr>
            <a:spLocks xmlns:a="http://schemas.openxmlformats.org/drawingml/2006/main" noGrp="1"/>
          </p:cNvSpPr>
          <p:nvPr/>
        </p:nvSpPr>
        <p:spPr>
          <a:xfrm xmlns:a="http://schemas.openxmlformats.org/drawingml/2006/main">
            <a:off x="1619250" y="3752850"/>
            <a:ext cx="885825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11" name="rt-1">
            <a:extLst xmlns:a="http://schemas.openxmlformats.org/drawingml/2006/main">
              <a:ext uri="{FF2B5EF4-FFF2-40B4-BE49-F238E27FC236}">
                <a16:creationId xmlns:a16="http://schemas.microsoft.com/office/drawing/2014/main" id="{6B88A59D-DDC9-442E-AAF3-E86F52DC8439}"/>
              </a:ext>
            </a:extLst>
          </p:cNvPr>
          <p:cNvSpPr>
            <a:spLocks xmlns:a="http://schemas.openxmlformats.org/drawingml/2006/main" noGrp="1"/>
          </p:cNvSpPr>
          <p:nvPr/>
        </p:nvSpPr>
        <p:spPr>
          <a:xfrm xmlns:a="http://schemas.openxmlformats.org/drawingml/2006/main">
            <a:off x="609600" y="39243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6E746F"/>
                </a:solidFill>
              </a:defRPr>
            </a:pPr>
            <a:r>
              <a:rPr sz="1200" b="1">
                <a:solidFill>
                  <a:srgbClr val="6E746F"/>
                </a:solidFill>
              </a:rPr>
              <a:t>CHECK</a:t>
            </a:r>
          </a:p>
        </p:txBody>
      </p:sp>
      <p:sp>
        <p:nvSpPr>
          <p:cNvPr id="12" name="rh-1">
            <a:extLst xmlns:a="http://schemas.openxmlformats.org/drawingml/2006/main">
              <a:ext uri="{FF2B5EF4-FFF2-40B4-BE49-F238E27FC236}">
                <a16:creationId xmlns:a16="http://schemas.microsoft.com/office/drawing/2014/main" id="{6E75C0E2-3CB7-4198-A905-ECF0EA01CD05}"/>
              </a:ext>
            </a:extLst>
          </p:cNvPr>
          <p:cNvSpPr>
            <a:spLocks xmlns:a="http://schemas.openxmlformats.org/drawingml/2006/main" noGrp="1"/>
          </p:cNvSpPr>
          <p:nvPr/>
        </p:nvSpPr>
        <p:spPr>
          <a:xfrm xmlns:a="http://schemas.openxmlformats.org/drawingml/2006/main">
            <a:off x="1619250" y="38671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161A18"/>
                </a:solidFill>
              </a:defRPr>
            </a:pPr>
            <a:r>
              <a:rPr sz="1875" b="1">
                <a:solidFill>
                  <a:srgbClr val="161A18"/>
                </a:solidFill>
              </a:rPr>
              <a:t>786 × 24 피처</a:t>
            </a:r>
          </a:p>
        </p:txBody>
      </p:sp>
      <p:sp>
        <p:nvSpPr>
          <p:cNvPr id="13" name="rb-1">
            <a:extLst xmlns:a="http://schemas.openxmlformats.org/drawingml/2006/main">
              <a:ext uri="{FF2B5EF4-FFF2-40B4-BE49-F238E27FC236}">
                <a16:creationId xmlns:a16="http://schemas.microsoft.com/office/drawing/2014/main" id="{80D65C94-D20E-4FF3-9B05-256CC3E1B58F}"/>
              </a:ext>
            </a:extLst>
          </p:cNvPr>
          <p:cNvSpPr>
            <a:spLocks xmlns:a="http://schemas.openxmlformats.org/drawingml/2006/main" noGrp="1"/>
          </p:cNvSpPr>
          <p:nvPr/>
        </p:nvSpPr>
        <p:spPr>
          <a:xfrm xmlns:a="http://schemas.openxmlformats.org/drawingml/2006/main">
            <a:off x="1619250" y="424815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6E746F"/>
                </a:solidFill>
              </a:defRPr>
            </a:pPr>
            <a:r>
              <a:rPr sz="1275" b="0">
                <a:solidFill>
                  <a:srgbClr val="6E746F"/>
                </a:solidFill>
              </a:rPr>
              <a:t>점수용 study_public_*와 전체 후보 study_public_all_*를 분리</a:t>
            </a:r>
          </a:p>
        </p:txBody>
      </p:sp>
      <p:sp>
        <p:nvSpPr>
          <p:cNvPr id="14" name="rl-1">
            <a:extLst xmlns:a="http://schemas.openxmlformats.org/drawingml/2006/main">
              <a:ext uri="{FF2B5EF4-FFF2-40B4-BE49-F238E27FC236}">
                <a16:creationId xmlns:a16="http://schemas.microsoft.com/office/drawing/2014/main" id="{6E1EE755-0398-46F8-998F-5A174E4125BA}"/>
              </a:ext>
            </a:extLst>
          </p:cNvPr>
          <p:cNvSpPr>
            <a:spLocks xmlns:a="http://schemas.openxmlformats.org/drawingml/2006/main" noGrp="1"/>
          </p:cNvSpPr>
          <p:nvPr/>
        </p:nvSpPr>
        <p:spPr>
          <a:xfrm xmlns:a="http://schemas.openxmlformats.org/drawingml/2006/main">
            <a:off x="1619250" y="4629150"/>
            <a:ext cx="885825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15" name="rt-2">
            <a:extLst xmlns:a="http://schemas.openxmlformats.org/drawingml/2006/main">
              <a:ext uri="{FF2B5EF4-FFF2-40B4-BE49-F238E27FC236}">
                <a16:creationId xmlns:a16="http://schemas.microsoft.com/office/drawing/2014/main" id="{03A2E35F-68E4-48D6-8B55-D5AC653BE0A1}"/>
              </a:ext>
            </a:extLst>
          </p:cNvPr>
          <p:cNvSpPr>
            <a:spLocks xmlns:a="http://schemas.openxmlformats.org/drawingml/2006/main" noGrp="1"/>
          </p:cNvSpPr>
          <p:nvPr/>
        </p:nvSpPr>
        <p:spPr>
          <a:xfrm xmlns:a="http://schemas.openxmlformats.org/drawingml/2006/main">
            <a:off x="609600" y="48006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6E746F"/>
                </a:solidFill>
              </a:defRPr>
            </a:pPr>
            <a:r>
              <a:rPr sz="1200" b="1">
                <a:solidFill>
                  <a:srgbClr val="6E746F"/>
                </a:solidFill>
              </a:rPr>
              <a:t>REVIEW</a:t>
            </a:r>
          </a:p>
        </p:txBody>
      </p:sp>
      <p:sp>
        <p:nvSpPr>
          <p:cNvPr id="16" name="rh-2">
            <a:extLst xmlns:a="http://schemas.openxmlformats.org/drawingml/2006/main">
              <a:ext uri="{FF2B5EF4-FFF2-40B4-BE49-F238E27FC236}">
                <a16:creationId xmlns:a16="http://schemas.microsoft.com/office/drawing/2014/main" id="{DAB901DF-E42E-45D5-8498-07D226CA4943}"/>
              </a:ext>
            </a:extLst>
          </p:cNvPr>
          <p:cNvSpPr>
            <a:spLocks xmlns:a="http://schemas.openxmlformats.org/drawingml/2006/main" noGrp="1"/>
          </p:cNvSpPr>
          <p:nvPr/>
        </p:nvSpPr>
        <p:spPr>
          <a:xfrm xmlns:a="http://schemas.openxmlformats.org/drawingml/2006/main">
            <a:off x="1619250" y="47434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161A18"/>
                </a:solidFill>
              </a:defRPr>
            </a:pPr>
            <a:r>
              <a:rPr sz="1875" b="1">
                <a:solidFill>
                  <a:srgbClr val="161A18"/>
                </a:solidFill>
              </a:rPr>
              <a:t>Top 20 · 117개 연결</a:t>
            </a:r>
          </a:p>
        </p:txBody>
      </p:sp>
      <p:sp>
        <p:nvSpPr>
          <p:cNvPr id="17" name="rb-2">
            <a:extLst xmlns:a="http://schemas.openxmlformats.org/drawingml/2006/main">
              <a:ext uri="{FF2B5EF4-FFF2-40B4-BE49-F238E27FC236}">
                <a16:creationId xmlns:a16="http://schemas.microsoft.com/office/drawing/2014/main" id="{101B4CC4-ABD9-43F5-AB20-2A7C4F920ECB}"/>
              </a:ext>
            </a:extLst>
          </p:cNvPr>
          <p:cNvSpPr>
            <a:spLocks xmlns:a="http://schemas.openxmlformats.org/drawingml/2006/main" noGrp="1"/>
          </p:cNvSpPr>
          <p:nvPr/>
        </p:nvSpPr>
        <p:spPr>
          <a:xfrm xmlns:a="http://schemas.openxmlformats.org/drawingml/2006/main">
            <a:off x="1619250" y="512445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6E746F"/>
                </a:solidFill>
              </a:defRPr>
            </a:pPr>
            <a:r>
              <a:rPr sz="1275" b="0">
                <a:solidFill>
                  <a:srgbClr val="6E746F"/>
                </a:solidFill>
              </a:rPr>
              <a:t>상권 내부 18건, 400m 이내 99건을 지도 좌표로 확인</a:t>
            </a:r>
          </a:p>
        </p:txBody>
      </p:sp>
      <p:sp>
        <p:nvSpPr>
          <p:cNvPr id="18" name="rl-2">
            <a:extLst xmlns:a="http://schemas.openxmlformats.org/drawingml/2006/main">
              <a:ext uri="{FF2B5EF4-FFF2-40B4-BE49-F238E27FC236}">
                <a16:creationId xmlns:a16="http://schemas.microsoft.com/office/drawing/2014/main" id="{3711FF78-79B0-4B66-8BFC-A70FC136B415}"/>
              </a:ext>
            </a:extLst>
          </p:cNvPr>
          <p:cNvSpPr>
            <a:spLocks xmlns:a="http://schemas.openxmlformats.org/drawingml/2006/main" noGrp="1"/>
          </p:cNvSpPr>
          <p:nvPr/>
        </p:nvSpPr>
        <p:spPr>
          <a:xfrm xmlns:a="http://schemas.openxmlformats.org/drawingml/2006/main">
            <a:off x="1619250" y="5505450"/>
            <a:ext cx="885825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19" name="adopt">
            <a:extLst xmlns:a="http://schemas.openxmlformats.org/drawingml/2006/main">
              <a:ext uri="{FF2B5EF4-FFF2-40B4-BE49-F238E27FC236}">
                <a16:creationId xmlns:a16="http://schemas.microsoft.com/office/drawing/2014/main" id="{98C878FD-553E-4E6C-BA2F-4900DA39CF8F}"/>
              </a:ext>
            </a:extLst>
          </p:cNvPr>
          <p:cNvSpPr>
            <a:spLocks xmlns:a="http://schemas.openxmlformats.org/drawingml/2006/main" noGrp="1"/>
          </p:cNvSpPr>
          <p:nvPr/>
        </p:nvSpPr>
        <p:spPr>
          <a:xfrm xmlns:a="http://schemas.openxmlformats.org/drawingml/2006/main">
            <a:off x="571500" y="5810250"/>
            <a:ext cx="10668000" cy="590550"/>
          </a:xfrm>
          <a:prstGeom xmlns:a="http://schemas.openxmlformats.org/drawingml/2006/main" prst="rect">
            <a:avLst/>
          </a:prstGeom>
          <a:solidFill xmlns:a="http://schemas.openxmlformats.org/drawingml/2006/main">
            <a:srgbClr val="B4F236"/>
          </a:solidFill>
          <a:ln xmlns:a="http://schemas.openxmlformats.org/drawingml/2006/main" w="0">
            <a:noFill/>
            <a:prstDash val="solid"/>
          </a:ln>
        </p:spPr>
      </p:sp>
      <p:sp>
        <p:nvSpPr>
          <p:cNvPr id="20" name="adopt-text">
            <a:extLst xmlns:a="http://schemas.openxmlformats.org/drawingml/2006/main">
              <a:ext uri="{FF2B5EF4-FFF2-40B4-BE49-F238E27FC236}">
                <a16:creationId xmlns:a16="http://schemas.microsoft.com/office/drawing/2014/main" id="{A37D04BD-9A50-4CDC-AC2E-5031E677C4F3}"/>
              </a:ext>
            </a:extLst>
          </p:cNvPr>
          <p:cNvSpPr>
            <a:spLocks xmlns:a="http://schemas.openxmlformats.org/drawingml/2006/main" noGrp="1"/>
          </p:cNvSpPr>
          <p:nvPr/>
        </p:nvSpPr>
        <p:spPr>
          <a:xfrm xmlns:a="http://schemas.openxmlformats.org/drawingml/2006/main">
            <a:off x="876300" y="5924550"/>
            <a:ext cx="10058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161A18"/>
                </a:solidFill>
              </a:defRPr>
            </a:pPr>
            <a:r>
              <a:rPr sz="1425" b="1">
                <a:solidFill>
                  <a:srgbClr val="161A18"/>
                </a:solidFill>
              </a:rPr>
              <a:t>자동 테스트 14건 통과  ·  이용 조건 문서화  ·  2026 POI는 2025 성능 검증에 사용하지 않음</a:t>
            </a:r>
          </a:p>
        </p:txBody>
      </p:sp>
    </p:spTree>
    <p:extLst>
      <p:ext uri="{BB962C8B-B14F-4D97-AF65-F5344CB8AC3E}">
        <p14:creationId xmlns:p14="http://schemas.microsoft.com/office/powerpoint/2010/main" val="1270078635"/>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2" name="n-6">
            <a:extLst xmlns:a="http://schemas.openxmlformats.org/drawingml/2006/main">
              <a:ext uri="{FF2B5EF4-FFF2-40B4-BE49-F238E27FC236}">
                <a16:creationId xmlns:a16="http://schemas.microsoft.com/office/drawing/2014/main" id="{F3B5AE74-3202-4358-A6B9-3E76F178F6BE}"/>
              </a:ext>
            </a:extLst>
          </p:cNvPr>
          <p:cNvSpPr>
            <a:spLocks xmlns:a="http://schemas.openxmlformats.org/drawingml/2006/main" noGrp="1"/>
          </p:cNvSpPr>
          <p:nvPr/>
        </p:nvSpPr>
        <p:spPr>
          <a:xfrm xmlns:a="http://schemas.openxmlformats.org/drawingml/2006/main">
            <a:off x="552450" y="3238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4567F2"/>
                </a:solidFill>
              </a:defRPr>
            </a:pPr>
            <a:r>
              <a:rPr sz="975" b="1">
                <a:solidFill>
                  <a:srgbClr val="4567F2"/>
                </a:solidFill>
              </a:rPr>
              <a:t>06</a:t>
            </a:r>
          </a:p>
        </p:txBody>
      </p:sp>
      <p:sp>
        <p:nvSpPr>
          <p:cNvPr id="2" name="k-6">
            <a:extLst xmlns:a="http://schemas.openxmlformats.org/drawingml/2006/main">
              <a:ext uri="{FF2B5EF4-FFF2-40B4-BE49-F238E27FC236}">
                <a16:creationId xmlns:a16="http://schemas.microsoft.com/office/drawing/2014/main" id="{284D61AF-A0C5-4689-B500-75BEABC42159}"/>
              </a:ext>
            </a:extLst>
          </p:cNvPr>
          <p:cNvSpPr>
            <a:spLocks xmlns:a="http://schemas.openxmlformats.org/drawingml/2006/main" noGrp="1"/>
          </p:cNvSpPr>
          <p:nvPr/>
        </p:nvSpPr>
        <p:spPr>
          <a:xfrm xmlns:a="http://schemas.openxmlformats.org/drawingml/2006/main">
            <a:off x="10287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6E746F"/>
                </a:solidFill>
              </a:defRPr>
            </a:pPr>
            <a:r>
              <a:rPr sz="975" b="1">
                <a:solidFill>
                  <a:srgbClr val="6E746F"/>
                </a:solidFill>
              </a:rPr>
              <a:t>NEXT ANALYSIS STEP</a:t>
            </a:r>
          </a:p>
        </p:txBody>
      </p:sp>
      <p:sp>
        <p:nvSpPr>
          <p:cNvPr id="3" name="brand-6">
            <a:extLst xmlns:a="http://schemas.openxmlformats.org/drawingml/2006/main">
              <a:ext uri="{FF2B5EF4-FFF2-40B4-BE49-F238E27FC236}">
                <a16:creationId xmlns:a16="http://schemas.microsoft.com/office/drawing/2014/main" id="{D60798F4-231D-4805-B2C7-A2C365A1A5EE}"/>
              </a:ext>
            </a:extLst>
          </p:cNvPr>
          <p:cNvSpPr>
            <a:spLocks xmlns:a="http://schemas.openxmlformats.org/drawingml/2006/main" noGrp="1"/>
          </p:cNvSpPr>
          <p:nvPr/>
        </p:nvSpPr>
        <p:spPr>
          <a:xfrm xmlns:a="http://schemas.openxmlformats.org/drawingml/2006/main">
            <a:off x="9810750" y="3238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6E746F"/>
                </a:solidFill>
              </a:defRPr>
            </a:pPr>
            <a:r>
              <a:rPr sz="975" b="1">
                <a:solidFill>
                  <a:srgbClr val="6E746F"/>
                </a:solidFill>
              </a:rPr>
              <a:t>MAXIMUS · DAT</a:t>
            </a:r>
          </a:p>
        </p:txBody>
      </p:sp>
      <p:sp>
        <p:nvSpPr>
          <p:cNvPr id="4" name="rule-6">
            <a:extLst xmlns:a="http://schemas.openxmlformats.org/drawingml/2006/main">
              <a:ext uri="{FF2B5EF4-FFF2-40B4-BE49-F238E27FC236}">
                <a16:creationId xmlns:a16="http://schemas.microsoft.com/office/drawing/2014/main" id="{C237B280-9960-4B19-A90A-C178C49D550E}"/>
              </a:ext>
            </a:extLst>
          </p:cNvPr>
          <p:cNvSpPr>
            <a:spLocks xmlns:a="http://schemas.openxmlformats.org/drawingml/2006/main" noGrp="1"/>
          </p:cNvSpPr>
          <p:nvPr/>
        </p:nvSpPr>
        <p:spPr>
          <a:xfrm xmlns:a="http://schemas.openxmlformats.org/drawingml/2006/main">
            <a:off x="552450" y="638175"/>
            <a:ext cx="11087100" cy="19050"/>
          </a:xfrm>
          <a:prstGeom xmlns:a="http://schemas.openxmlformats.org/drawingml/2006/main" prst="rect">
            <a:avLst/>
          </a:prstGeom>
          <a:solidFill xmlns:a="http://schemas.openxmlformats.org/drawingml/2006/main">
            <a:srgbClr val="D9DCD6"/>
          </a:solidFill>
          <a:ln xmlns:a="http://schemas.openxmlformats.org/drawingml/2006/main" w="0">
            <a:noFill/>
            <a:prstDash val="solid"/>
          </a:ln>
        </p:spPr>
      </p:sp>
      <p:sp>
        <p:nvSpPr>
          <p:cNvPr id="5" name="title">
            <a:extLst xmlns:a="http://schemas.openxmlformats.org/drawingml/2006/main">
              <a:ext uri="{FF2B5EF4-FFF2-40B4-BE49-F238E27FC236}">
                <a16:creationId xmlns:a16="http://schemas.microsoft.com/office/drawing/2014/main" id="{9B5BF167-D3A0-45AA-983E-8FBA90621535}"/>
              </a:ext>
            </a:extLst>
          </p:cNvPr>
          <p:cNvSpPr>
            <a:spLocks xmlns:a="http://schemas.openxmlformats.org/drawingml/2006/main" noGrp="1"/>
          </p:cNvSpPr>
          <p:nvPr/>
        </p:nvSpPr>
        <p:spPr>
          <a:xfrm xmlns:a="http://schemas.openxmlformats.org/drawingml/2006/main">
            <a:off x="552450" y="971550"/>
            <a:ext cx="781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a:solidFill>
                  <a:srgbClr val="161A18"/>
                </a:solidFill>
              </a:defRPr>
            </a:pPr>
            <a:r>
              <a:rPr sz="3000" b="1">
                <a:solidFill>
                  <a:srgbClr val="161A18"/>
                </a:solidFill>
              </a:rPr>
              <a:t>다음 단계는 목적별 추천 기준선의 검증입니다</a:t>
            </a:r>
          </a:p>
        </p:txBody>
      </p:sp>
      <p:sp>
        <p:nvSpPr>
          <p:cNvPr id="6" name="desc">
            <a:extLst xmlns:a="http://schemas.openxmlformats.org/drawingml/2006/main">
              <a:ext uri="{FF2B5EF4-FFF2-40B4-BE49-F238E27FC236}">
                <a16:creationId xmlns:a16="http://schemas.microsoft.com/office/drawing/2014/main" id="{1AF20D2C-E659-4C15-AC6A-8FE13B7E3671}"/>
              </a:ext>
            </a:extLst>
          </p:cNvPr>
          <p:cNvSpPr>
            <a:spLocks xmlns:a="http://schemas.openxmlformats.org/drawingml/2006/main" noGrp="1"/>
          </p:cNvSpPr>
          <p:nvPr/>
        </p:nvSpPr>
        <p:spPr>
          <a:xfrm xmlns:a="http://schemas.openxmlformats.org/drawingml/2006/main">
            <a:off x="571500" y="163830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E746F"/>
                </a:solidFill>
              </a:defRPr>
            </a:pPr>
            <a:r>
              <a:rPr sz="1425" b="0">
                <a:solidFill>
                  <a:srgbClr val="6E746F"/>
                </a:solidFill>
              </a:rPr>
              <a:t>현재 산출물은 추천 모델 학습 전, 후보와 피처의 재현 가능한 기준선입니다.</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13cb8afcc5949eb"/>
          <a:stretch xmlns:a="http://schemas.openxmlformats.org/drawingml/2006/main"/>
        </p:blipFill>
        <p:spPr>
          <a:xfrm xmlns:a="http://schemas.openxmlformats.org/drawingml/2006/main">
            <a:off x="552450" y="2211705"/>
            <a:ext cx="5334000" cy="2987040"/>
          </a:xfrm>
          <a:prstGeom xmlns:a="http://schemas.openxmlformats.org/drawingml/2006/main" prst="rect">
            <a:avLst/>
          </a:prstGeom>
        </p:spPr>
      </p:pic>
      <p:sp>
        <p:nvSpPr>
          <p:cNvPr id="8" name="in-0">
            <a:extLst xmlns:a="http://schemas.openxmlformats.org/drawingml/2006/main">
              <a:ext uri="{FF2B5EF4-FFF2-40B4-BE49-F238E27FC236}">
                <a16:creationId xmlns:a16="http://schemas.microsoft.com/office/drawing/2014/main" id="{4B928A95-0755-43CD-9660-32888FA22112}"/>
              </a:ext>
            </a:extLst>
          </p:cNvPr>
          <p:cNvSpPr>
            <a:spLocks xmlns:a="http://schemas.openxmlformats.org/drawingml/2006/main" noGrp="1"/>
          </p:cNvSpPr>
          <p:nvPr/>
        </p:nvSpPr>
        <p:spPr>
          <a:xfrm xmlns:a="http://schemas.openxmlformats.org/drawingml/2006/main">
            <a:off x="6496050" y="22860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4567F2"/>
                </a:solidFill>
              </a:defRPr>
            </a:pPr>
            <a:r>
              <a:rPr sz="1275" b="1">
                <a:solidFill>
                  <a:srgbClr val="4567F2"/>
                </a:solidFill>
              </a:rPr>
              <a:t>01</a:t>
            </a:r>
          </a:p>
        </p:txBody>
      </p:sp>
      <p:sp>
        <p:nvSpPr>
          <p:cNvPr id="9" name="ih-0">
            <a:extLst xmlns:a="http://schemas.openxmlformats.org/drawingml/2006/main">
              <a:ext uri="{FF2B5EF4-FFF2-40B4-BE49-F238E27FC236}">
                <a16:creationId xmlns:a16="http://schemas.microsoft.com/office/drawing/2014/main" id="{DC820C79-2823-4A0B-A160-7216E1C0730F}"/>
              </a:ext>
            </a:extLst>
          </p:cNvPr>
          <p:cNvSpPr>
            <a:spLocks xmlns:a="http://schemas.openxmlformats.org/drawingml/2006/main" noGrp="1"/>
          </p:cNvSpPr>
          <p:nvPr/>
        </p:nvSpPr>
        <p:spPr>
          <a:xfrm xmlns:a="http://schemas.openxmlformats.org/drawingml/2006/main">
            <a:off x="6496050" y="26098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61A18"/>
                </a:solidFill>
              </a:defRPr>
            </a:pPr>
            <a:r>
              <a:rPr sz="1800" b="1">
                <a:solidFill>
                  <a:srgbClr val="161A18"/>
                </a:solidFill>
              </a:rPr>
              <a:t>FEATURE</a:t>
            </a:r>
          </a:p>
        </p:txBody>
      </p:sp>
      <p:sp>
        <p:nvSpPr>
          <p:cNvPr id="10" name="ib-0">
            <a:extLst xmlns:a="http://schemas.openxmlformats.org/drawingml/2006/main">
              <a:ext uri="{FF2B5EF4-FFF2-40B4-BE49-F238E27FC236}">
                <a16:creationId xmlns:a16="http://schemas.microsoft.com/office/drawing/2014/main" id="{BAE9CF83-FEAC-4FBF-AAE2-0FC2BA3B619D}"/>
              </a:ext>
            </a:extLst>
          </p:cNvPr>
          <p:cNvSpPr>
            <a:spLocks xmlns:a="http://schemas.openxmlformats.org/drawingml/2006/main" noGrp="1"/>
          </p:cNvSpPr>
          <p:nvPr/>
        </p:nvSpPr>
        <p:spPr>
          <a:xfrm xmlns:a="http://schemas.openxmlformats.org/drawingml/2006/main">
            <a:off x="6496050" y="30289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6E746F"/>
                </a:solidFill>
              </a:defRPr>
            </a:pPr>
            <a:r>
              <a:rPr sz="1200" b="0">
                <a:solidFill>
                  <a:srgbClr val="6E746F"/>
                </a:solidFill>
              </a:rPr>
              <a:t>식사·카페·공부·쇼핑·여가문화</a:t>
            </a:r>
          </a:p>
          <a:p xmlns:a="http://schemas.openxmlformats.org/drawingml/2006/main">
            <a:pPr algn="l">
              <a:buNone/>
              <a:defRPr sz="1200" b="0">
                <a:solidFill>
                  <a:srgbClr val="6E746F"/>
                </a:solidFill>
              </a:defRPr>
            </a:pPr>
            <a:r>
              <a:rPr sz="1200" b="0">
                <a:solidFill>
                  <a:srgbClr val="6E746F"/>
                </a:solidFill>
              </a:rPr>
              <a:t>목적별 공급 신호 정교화</a:t>
            </a:r>
          </a:p>
        </p:txBody>
      </p:sp>
      <p:sp>
        <p:nvSpPr>
          <p:cNvPr id="11" name="in-1">
            <a:extLst xmlns:a="http://schemas.openxmlformats.org/drawingml/2006/main">
              <a:ext uri="{FF2B5EF4-FFF2-40B4-BE49-F238E27FC236}">
                <a16:creationId xmlns:a16="http://schemas.microsoft.com/office/drawing/2014/main" id="{1592094B-A8C2-4876-9EEE-51C278C89A26}"/>
              </a:ext>
            </a:extLst>
          </p:cNvPr>
          <p:cNvSpPr>
            <a:spLocks xmlns:a="http://schemas.openxmlformats.org/drawingml/2006/main" noGrp="1"/>
          </p:cNvSpPr>
          <p:nvPr/>
        </p:nvSpPr>
        <p:spPr>
          <a:xfrm xmlns:a="http://schemas.openxmlformats.org/drawingml/2006/main">
            <a:off x="8972550" y="22860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4567F2"/>
                </a:solidFill>
              </a:defRPr>
            </a:pPr>
            <a:r>
              <a:rPr sz="1275" b="1">
                <a:solidFill>
                  <a:srgbClr val="4567F2"/>
                </a:solidFill>
              </a:rPr>
              <a:t>02</a:t>
            </a:r>
          </a:p>
        </p:txBody>
      </p:sp>
      <p:sp>
        <p:nvSpPr>
          <p:cNvPr id="12" name="ih-1">
            <a:extLst xmlns:a="http://schemas.openxmlformats.org/drawingml/2006/main">
              <a:ext uri="{FF2B5EF4-FFF2-40B4-BE49-F238E27FC236}">
                <a16:creationId xmlns:a16="http://schemas.microsoft.com/office/drawing/2014/main" id="{D29EE28D-134F-4E60-93D0-289C60A9CFEB}"/>
              </a:ext>
            </a:extLst>
          </p:cNvPr>
          <p:cNvSpPr>
            <a:spLocks xmlns:a="http://schemas.openxmlformats.org/drawingml/2006/main" noGrp="1"/>
          </p:cNvSpPr>
          <p:nvPr/>
        </p:nvSpPr>
        <p:spPr>
          <a:xfrm xmlns:a="http://schemas.openxmlformats.org/drawingml/2006/main">
            <a:off x="8972550" y="26098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61A18"/>
                </a:solidFill>
              </a:defRPr>
            </a:pPr>
            <a:r>
              <a:rPr sz="1800" b="1">
                <a:solidFill>
                  <a:srgbClr val="161A18"/>
                </a:solidFill>
              </a:rPr>
              <a:t>LABEL</a:t>
            </a:r>
          </a:p>
        </p:txBody>
      </p:sp>
      <p:sp>
        <p:nvSpPr>
          <p:cNvPr id="13" name="ib-1">
            <a:extLst xmlns:a="http://schemas.openxmlformats.org/drawingml/2006/main">
              <a:ext uri="{FF2B5EF4-FFF2-40B4-BE49-F238E27FC236}">
                <a16:creationId xmlns:a16="http://schemas.microsoft.com/office/drawing/2014/main" id="{E21412C3-0C8A-4437-9225-E0BFD5244125}"/>
              </a:ext>
            </a:extLst>
          </p:cNvPr>
          <p:cNvSpPr>
            <a:spLocks xmlns:a="http://schemas.openxmlformats.org/drawingml/2006/main" noGrp="1"/>
          </p:cNvSpPr>
          <p:nvPr/>
        </p:nvSpPr>
        <p:spPr>
          <a:xfrm xmlns:a="http://schemas.openxmlformats.org/drawingml/2006/main">
            <a:off x="8972550" y="30289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6E746F"/>
                </a:solidFill>
              </a:defRPr>
            </a:pPr>
            <a:r>
              <a:rPr sz="1200" b="0">
                <a:solidFill>
                  <a:srgbClr val="6E746F"/>
                </a:solidFill>
              </a:rPr>
              <a:t>B078 원본 확보 전</a:t>
            </a:r>
          </a:p>
          <a:p xmlns:a="http://schemas.openxmlformats.org/drawingml/2006/main">
            <a:pPr algn="l">
              <a:buNone/>
              <a:defRPr sz="1200" b="0">
                <a:solidFill>
                  <a:srgbClr val="6E746F"/>
                </a:solidFill>
              </a:defRPr>
            </a:pPr>
            <a:r>
              <a:rPr sz="1200" b="0">
                <a:solidFill>
                  <a:srgbClr val="6E746F"/>
                </a:solidFill>
              </a:rPr>
              <a:t>대체 목적 대리변수 정의</a:t>
            </a:r>
          </a:p>
        </p:txBody>
      </p:sp>
      <p:sp>
        <p:nvSpPr>
          <p:cNvPr id="14" name="in-2">
            <a:extLst xmlns:a="http://schemas.openxmlformats.org/drawingml/2006/main">
              <a:ext uri="{FF2B5EF4-FFF2-40B4-BE49-F238E27FC236}">
                <a16:creationId xmlns:a16="http://schemas.microsoft.com/office/drawing/2014/main" id="{B31F659B-65E1-41CC-A15A-6F7F05E17CBC}"/>
              </a:ext>
            </a:extLst>
          </p:cNvPr>
          <p:cNvSpPr>
            <a:spLocks xmlns:a="http://schemas.openxmlformats.org/drawingml/2006/main" noGrp="1"/>
          </p:cNvSpPr>
          <p:nvPr/>
        </p:nvSpPr>
        <p:spPr>
          <a:xfrm xmlns:a="http://schemas.openxmlformats.org/drawingml/2006/main">
            <a:off x="6496050" y="37719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4567F2"/>
                </a:solidFill>
              </a:defRPr>
            </a:pPr>
            <a:r>
              <a:rPr sz="1275" b="1">
                <a:solidFill>
                  <a:srgbClr val="4567F2"/>
                </a:solidFill>
              </a:rPr>
              <a:t>03</a:t>
            </a:r>
          </a:p>
        </p:txBody>
      </p:sp>
      <p:sp>
        <p:nvSpPr>
          <p:cNvPr id="15" name="ih-2">
            <a:extLst xmlns:a="http://schemas.openxmlformats.org/drawingml/2006/main">
              <a:ext uri="{FF2B5EF4-FFF2-40B4-BE49-F238E27FC236}">
                <a16:creationId xmlns:a16="http://schemas.microsoft.com/office/drawing/2014/main" id="{90D4FB4B-FBCA-46DF-B169-7F2C1CF4851A}"/>
              </a:ext>
            </a:extLst>
          </p:cNvPr>
          <p:cNvSpPr>
            <a:spLocks xmlns:a="http://schemas.openxmlformats.org/drawingml/2006/main" noGrp="1"/>
          </p:cNvSpPr>
          <p:nvPr/>
        </p:nvSpPr>
        <p:spPr>
          <a:xfrm xmlns:a="http://schemas.openxmlformats.org/drawingml/2006/main">
            <a:off x="6496050" y="4095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61A18"/>
                </a:solidFill>
              </a:defRPr>
            </a:pPr>
            <a:r>
              <a:rPr sz="1800" b="1">
                <a:solidFill>
                  <a:srgbClr val="161A18"/>
                </a:solidFill>
              </a:rPr>
              <a:t>MODEL</a:t>
            </a:r>
          </a:p>
        </p:txBody>
      </p:sp>
      <p:sp>
        <p:nvSpPr>
          <p:cNvPr id="16" name="ib-2">
            <a:extLst xmlns:a="http://schemas.openxmlformats.org/drawingml/2006/main">
              <a:ext uri="{FF2B5EF4-FFF2-40B4-BE49-F238E27FC236}">
                <a16:creationId xmlns:a16="http://schemas.microsoft.com/office/drawing/2014/main" id="{DBE17349-A0ED-40A9-ADC4-F096C40DDAE0}"/>
              </a:ext>
            </a:extLst>
          </p:cNvPr>
          <p:cNvSpPr>
            <a:spLocks xmlns:a="http://schemas.openxmlformats.org/drawingml/2006/main" noGrp="1"/>
          </p:cNvSpPr>
          <p:nvPr/>
        </p:nvSpPr>
        <p:spPr>
          <a:xfrm xmlns:a="http://schemas.openxmlformats.org/drawingml/2006/main">
            <a:off x="6496050" y="45148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6E746F"/>
                </a:solidFill>
              </a:defRPr>
            </a:pPr>
            <a:r>
              <a:rPr sz="1200" b="0">
                <a:solidFill>
                  <a:srgbClr val="6E746F"/>
                </a:solidFill>
              </a:rPr>
              <a:t>Huff·Conditional Logit·LightGBM을</a:t>
            </a:r>
          </a:p>
          <a:p xmlns:a="http://schemas.openxmlformats.org/drawingml/2006/main">
            <a:pPr algn="l">
              <a:buNone/>
              <a:defRPr sz="1200" b="0">
                <a:solidFill>
                  <a:srgbClr val="6E746F"/>
                </a:solidFill>
              </a:defRPr>
            </a:pPr>
            <a:r>
              <a:rPr sz="1200" b="0">
                <a:solidFill>
                  <a:srgbClr val="6E746F"/>
                </a:solidFill>
              </a:rPr>
              <a:t>같은 후보군에서 비교</a:t>
            </a:r>
          </a:p>
        </p:txBody>
      </p:sp>
      <p:sp>
        <p:nvSpPr>
          <p:cNvPr id="17" name="in-3">
            <a:extLst xmlns:a="http://schemas.openxmlformats.org/drawingml/2006/main">
              <a:ext uri="{FF2B5EF4-FFF2-40B4-BE49-F238E27FC236}">
                <a16:creationId xmlns:a16="http://schemas.microsoft.com/office/drawing/2014/main" id="{B03C1A1C-377D-41FE-B107-0DB99D8FE9DF}"/>
              </a:ext>
            </a:extLst>
          </p:cNvPr>
          <p:cNvSpPr>
            <a:spLocks xmlns:a="http://schemas.openxmlformats.org/drawingml/2006/main" noGrp="1"/>
          </p:cNvSpPr>
          <p:nvPr/>
        </p:nvSpPr>
        <p:spPr>
          <a:xfrm xmlns:a="http://schemas.openxmlformats.org/drawingml/2006/main">
            <a:off x="8972550" y="37719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4567F2"/>
                </a:solidFill>
              </a:defRPr>
            </a:pPr>
            <a:r>
              <a:rPr sz="1275" b="1">
                <a:solidFill>
                  <a:srgbClr val="4567F2"/>
                </a:solidFill>
              </a:rPr>
              <a:t>04</a:t>
            </a:r>
          </a:p>
        </p:txBody>
      </p:sp>
      <p:sp>
        <p:nvSpPr>
          <p:cNvPr id="18" name="ih-3">
            <a:extLst xmlns:a="http://schemas.openxmlformats.org/drawingml/2006/main">
              <a:ext uri="{FF2B5EF4-FFF2-40B4-BE49-F238E27FC236}">
                <a16:creationId xmlns:a16="http://schemas.microsoft.com/office/drawing/2014/main" id="{1A2C99F0-08DB-4D3A-8E04-4FD1C8AAE447}"/>
              </a:ext>
            </a:extLst>
          </p:cNvPr>
          <p:cNvSpPr>
            <a:spLocks xmlns:a="http://schemas.openxmlformats.org/drawingml/2006/main" noGrp="1"/>
          </p:cNvSpPr>
          <p:nvPr/>
        </p:nvSpPr>
        <p:spPr>
          <a:xfrm xmlns:a="http://schemas.openxmlformats.org/drawingml/2006/main">
            <a:off x="8972550" y="4095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161A18"/>
                </a:solidFill>
              </a:defRPr>
            </a:pPr>
            <a:r>
              <a:rPr sz="1800" b="1">
                <a:solidFill>
                  <a:srgbClr val="161A18"/>
                </a:solidFill>
              </a:rPr>
              <a:t>EVAL</a:t>
            </a:r>
          </a:p>
        </p:txBody>
      </p:sp>
      <p:sp>
        <p:nvSpPr>
          <p:cNvPr id="19" name="ib-3">
            <a:extLst xmlns:a="http://schemas.openxmlformats.org/drawingml/2006/main">
              <a:ext uri="{FF2B5EF4-FFF2-40B4-BE49-F238E27FC236}">
                <a16:creationId xmlns:a16="http://schemas.microsoft.com/office/drawing/2014/main" id="{AEB8E600-4AFB-45B1-816A-8CF2B65CA38A}"/>
              </a:ext>
            </a:extLst>
          </p:cNvPr>
          <p:cNvSpPr>
            <a:spLocks xmlns:a="http://schemas.openxmlformats.org/drawingml/2006/main" noGrp="1"/>
          </p:cNvSpPr>
          <p:nvPr/>
        </p:nvSpPr>
        <p:spPr>
          <a:xfrm xmlns:a="http://schemas.openxmlformats.org/drawingml/2006/main">
            <a:off x="8972550" y="45148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0">
                <a:solidFill>
                  <a:srgbClr val="6E746F"/>
                </a:solidFill>
              </a:defRPr>
            </a:pPr>
            <a:r>
              <a:rPr sz="1200" b="0">
                <a:solidFill>
                  <a:srgbClr val="6E746F"/>
                </a:solidFill>
              </a:rPr>
              <a:t>시간·공간 홀드아웃으로</a:t>
            </a:r>
          </a:p>
          <a:p xmlns:a="http://schemas.openxmlformats.org/drawingml/2006/main">
            <a:pPr algn="l">
              <a:buNone/>
              <a:defRPr sz="1200" b="0">
                <a:solidFill>
                  <a:srgbClr val="6E746F"/>
                </a:solidFill>
              </a:defRPr>
            </a:pPr>
            <a:r>
              <a:rPr sz="1200" b="0">
                <a:solidFill>
                  <a:srgbClr val="6E746F"/>
                </a:solidFill>
              </a:rPr>
              <a:t>NDCG@5·Recall@5·SHAP 안정성 확인</a:t>
            </a:r>
          </a:p>
        </p:txBody>
      </p:sp>
      <p:sp>
        <p:nvSpPr>
          <p:cNvPr id="20" name="final">
            <a:extLst xmlns:a="http://schemas.openxmlformats.org/drawingml/2006/main">
              <a:ext uri="{FF2B5EF4-FFF2-40B4-BE49-F238E27FC236}">
                <a16:creationId xmlns:a16="http://schemas.microsoft.com/office/drawing/2014/main" id="{21E9A1ED-146A-410A-8A8A-EEBC9AD1813A}"/>
              </a:ext>
            </a:extLst>
          </p:cNvPr>
          <p:cNvSpPr>
            <a:spLocks xmlns:a="http://schemas.openxmlformats.org/drawingml/2006/main" noGrp="1"/>
          </p:cNvSpPr>
          <p:nvPr/>
        </p:nvSpPr>
        <p:spPr>
          <a:xfrm xmlns:a="http://schemas.openxmlformats.org/drawingml/2006/main">
            <a:off x="552450" y="5734050"/>
            <a:ext cx="11087100" cy="685800"/>
          </a:xfrm>
          <a:prstGeom xmlns:a="http://schemas.openxmlformats.org/drawingml/2006/main" prst="rect">
            <a:avLst/>
          </a:prstGeom>
          <a:solidFill xmlns:a="http://schemas.openxmlformats.org/drawingml/2006/main">
            <a:srgbClr val="161A18"/>
          </a:solidFill>
          <a:ln xmlns:a="http://schemas.openxmlformats.org/drawingml/2006/main" w="0">
            <a:noFill/>
            <a:prstDash val="solid"/>
          </a:ln>
        </p:spPr>
      </p:sp>
      <p:sp>
        <p:nvSpPr>
          <p:cNvPr id="21" name="final-text">
            <a:extLst xmlns:a="http://schemas.openxmlformats.org/drawingml/2006/main">
              <a:ext uri="{FF2B5EF4-FFF2-40B4-BE49-F238E27FC236}">
                <a16:creationId xmlns:a16="http://schemas.microsoft.com/office/drawing/2014/main" id="{DCE4C498-20A6-45FE-BC6C-146CA034A784}"/>
              </a:ext>
            </a:extLst>
          </p:cNvPr>
          <p:cNvSpPr>
            <a:spLocks xmlns:a="http://schemas.openxmlformats.org/drawingml/2006/main" noGrp="1"/>
          </p:cNvSpPr>
          <p:nvPr/>
        </p:nvSpPr>
        <p:spPr>
          <a:xfrm xmlns:a="http://schemas.openxmlformats.org/drawingml/2006/main">
            <a:off x="838200" y="5867400"/>
            <a:ext cx="1051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2주차 결과  786개 공식 상권 × 재현 가능한 POI 피처 × 검증 기록</a:t>
            </a:r>
          </a:p>
        </p:txBody>
      </p:sp>
    </p:spTree>
    <p:extLst>
      <p:ext uri="{BB962C8B-B14F-4D97-AF65-F5344CB8AC3E}">
        <p14:creationId xmlns:p14="http://schemas.microsoft.com/office/powerpoint/2010/main" val="12434194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2026-09-22T00:30:37.0340000Z</dcterms:created>
  <dcterms:modified xsi:type="dcterms:W3CDTF">2026-09-22T00:30:37.0350000Z</dcterms:modified>
</coreProperties>
</file>