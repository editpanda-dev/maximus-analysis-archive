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dea4c1ebea4664" /><Relationship Type="http://schemas.openxmlformats.org/officeDocument/2006/relationships/extended-properties" Target="/docProps/app.xml" Id="Rae90129a02ce42aa" /><Relationship Type="http://schemas.openxmlformats.org/officeDocument/2006/relationships/officeDocument" Target="/ppt/presentation.xml" Id="R6806fe61a76e4c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0c6ad5eddc497d"/>
  </p:sldMasterIdLst>
  <p:notesMasterIdLst>
    <p:notesMasterId xmlns:r="http://schemas.openxmlformats.org/officeDocument/2006/relationships" r:id="R8c4d5bef890745e2"/>
  </p:notesMasterIdLst>
  <p:sldIdLst>
    <p:sldId xmlns:r="http://schemas.openxmlformats.org/officeDocument/2006/relationships" id="256" r:id="R86789c1259004836"/>
    <p:sldId xmlns:r="http://schemas.openxmlformats.org/officeDocument/2006/relationships" id="257" r:id="R01190a0a57824026"/>
    <p:sldId xmlns:r="http://schemas.openxmlformats.org/officeDocument/2006/relationships" id="258" r:id="Rbc58830dd68c4e0b"/>
    <p:sldId xmlns:r="http://schemas.openxmlformats.org/officeDocument/2006/relationships" id="259" r:id="Rb63b91889f6c4457"/>
    <p:sldId xmlns:r="http://schemas.openxmlformats.org/officeDocument/2006/relationships" id="260" r:id="Rbb35cf94c486477b"/>
    <p:sldId xmlns:r="http://schemas.openxmlformats.org/officeDocument/2006/relationships" id="261" r:id="R83b1678e6dcd4a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05dae87c284b37" /><Relationship Type="http://schemas.openxmlformats.org/officeDocument/2006/relationships/slideMaster" Target="/ppt/slideMasters/slideMaster1.xml" Id="Rf40c6ad5eddc497d" /><Relationship Type="http://schemas.openxmlformats.org/officeDocument/2006/relationships/notesMaster" Target="/ppt/notesMasters/notesMaster1.xml" Id="R8c4d5bef890745e2" /><Relationship Type="http://schemas.openxmlformats.org/officeDocument/2006/relationships/presProps" Target="/ppt/presProps.xml" Id="Rad916a2e184e4885" /><Relationship Type="http://schemas.openxmlformats.org/officeDocument/2006/relationships/tableStyles" Target="/ppt/tableStyles.xml" Id="Rd15f5ae904f6408d" /><Relationship Type="http://schemas.openxmlformats.org/officeDocument/2006/relationships/slide" Target="/ppt/slides/slide1.xml" Id="R86789c1259004836" /><Relationship Type="http://schemas.openxmlformats.org/officeDocument/2006/relationships/slide" Target="/ppt/slides/slide2.xml" Id="R01190a0a57824026" /><Relationship Type="http://schemas.openxmlformats.org/officeDocument/2006/relationships/slide" Target="/ppt/slides/slide3.xml" Id="Rbc58830dd68c4e0b" /><Relationship Type="http://schemas.openxmlformats.org/officeDocument/2006/relationships/slide" Target="/ppt/slides/slide4.xml" Id="Rb63b91889f6c4457" /><Relationship Type="http://schemas.openxmlformats.org/officeDocument/2006/relationships/slide" Target="/ppt/slides/slide5.xml" Id="Rbb35cf94c486477b" /><Relationship Type="http://schemas.openxmlformats.org/officeDocument/2006/relationships/slide" Target="/ppt/slides/slide6.xml" Id="R83b1678e6dcd4a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7443d7e7b94c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9d83ebf7434f25" /><Relationship Type="http://schemas.openxmlformats.org/officeDocument/2006/relationships/notesMaster" Target="/ppt/notesMasters/notesMaster1.xml" Id="R9e4d53d605f843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4e7ccbada04f65" /><Relationship Type="http://schemas.openxmlformats.org/officeDocument/2006/relationships/notesMaster" Target="/ppt/notesMasters/notesMaster1.xml" Id="Rbd051db484514f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01739c485149d8" /><Relationship Type="http://schemas.openxmlformats.org/officeDocument/2006/relationships/notesMaster" Target="/ppt/notesMasters/notesMaster1.xml" Id="R4100df91287244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bf384120e849b3" /><Relationship Type="http://schemas.openxmlformats.org/officeDocument/2006/relationships/notesMaster" Target="/ppt/notesMasters/notesMaster1.xml" Id="Ra12c3d5af40a4d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74c8c66efc4255" /><Relationship Type="http://schemas.openxmlformats.org/officeDocument/2006/relationships/notesMaster" Target="/ppt/notesMasters/notesMaster1.xml" Id="R7395656d8a8349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bd7e378e8c4e85" /><Relationship Type="http://schemas.openxmlformats.org/officeDocument/2006/relationships/notesMaster" Target="/ppt/notesMasters/notesMaster1.xml" Id="Ra9f1ba0ba09449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저희의 출발점은 단순합니다. 사람이 많이 다니는 곳이 반드시 실제 목적지가 되는 것은 아닙니다. 그래서 유명 상권을 나열하는 대신, 출발지와 목적, 시간 제약이 주어졌을 때 어떤 동네가 선택되는지를 확률과 순위로 모델링합니다.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Maximus Week 3 final report,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데이터 신호는 유동과 소비 사이의 괴리입니다. 유동인구와 점포 구조로 기대매출을 예측한 뒤 실제 매출과의 잔차를 봅니다. 기대보다 계속 높은 곳은 목적 소비형, 낮은 곳은 통과형으로 해석하고 최소 3개 분기 지속성을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Team-provided Spearman EDA</a:t>
            </a:r>
          </a:p>
          <a:p xmlns:a="http://schemas.openxmlformats.org/drawingml/2006/main">
            <a:r>
              <a:t>- Week 3 final report section 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 파이프라인은 세 단계입니다. 첫째 실제 50분 생활권으로 후보를 제한합니다. 둘째 접근성, 목적 관련 시설, 업종 다양성, 소비 전환력을 특징으로 만듭니다. 셋째 같은 출발지·목적·시간대의 후보끼리 비교하도록 조건부 선택모형과 LambdaRank를 학습합니다.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B078/B079 sample schemas</a:t>
            </a:r>
          </a:p>
          <a:p xmlns:a="http://schemas.openxmlformats.org/drawingml/2006/main">
            <a:r>
              <a:t>- Huff 1963</a:t>
            </a:r>
          </a:p>
          <a:p xmlns:a="http://schemas.openxmlformats.org/drawingml/2006/main">
            <a:r>
              <a:t>- Arentze et al. 2005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모델은 복잡도 순서로 경쟁시킵니다. Huff와 PPML로 거리저항을 해석하고, GAM과 트리 모델로 비선형성을 확인한 다음, LambdaRank로 순위를 직접 최적화합니다. 랜덤 분할은 쓰지 않고 미래 분기와 미관측 지역에서 살아남는 모델만 채택합니다.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Huff 1963</a:t>
            </a:r>
          </a:p>
          <a:p xmlns:a="http://schemas.openxmlformats.org/drawingml/2006/main">
            <a:r>
              <a:t>- Alam et al. 2025</a:t>
            </a:r>
          </a:p>
          <a:p xmlns:a="http://schemas.openxmlformats.org/drawingml/2006/main">
            <a:r>
              <a:t>- Week 3 final report sections 2.2 and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파인튜닝은 현재 핵심 과제가 아닙니다. 초기에는 사전학습 SBERT를 고정하고 사용자 목적 문장과 점포 텍스트의 유사도를 랭킹 피처로만 씁니다. 실제 선택 로그와 어려운 음성 예시가 충분히 쌓였을 때 대조학습을 실험하고, frozen baseline보다 검증 성능이 좋아질 때만 채택합니다.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modeling decision: frozen-encoder baseline before fine-tuning</a:t>
            </a:r>
          </a:p>
          <a:p xmlns:a="http://schemas.openxmlformats.org/drawingml/2006/main">
            <a:r>
              <a:t>- Week 3 final report section 2.3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학기 동안 데이터 정합성, 괴리모형, 목적별 랭킹, 설명력 검증을 순서대로 완성합니다. 최종 결과는 앱 화면이 아니라 목적별 후보 생성기와 괴리모형, 그리고 추천 이유를 설명하고 반증할 수 있는 목적지 랭커입니다.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 3 final report section 4</a:t>
            </a:r>
          </a:p>
          <a:p xmlns:a="http://schemas.openxmlformats.org/drawingml/2006/main">
            <a:r>
              <a:t>- Local semester roadmap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2b8a53361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4307d3c4334a29" /><Relationship Type="http://schemas.openxmlformats.org/officeDocument/2006/relationships/slideLayout" Target="/ppt/slideLayouts/slideLayout1.xml" Id="Rf3b126fa2a0a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b126fa2a0a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c29770ce84f96" /><Relationship Type="http://schemas.openxmlformats.org/officeDocument/2006/relationships/notesSlide" Target="/ppt/notesSlides/notesSlide1.xml" Id="R79ea090a6af242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069ddabf749c2" /><Relationship Type="http://schemas.openxmlformats.org/officeDocument/2006/relationships/notesSlide" Target="/ppt/notesSlides/notesSlide2.xml" Id="Re5d8cbdf615448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199bc5e734581" /><Relationship Type="http://schemas.openxmlformats.org/officeDocument/2006/relationships/notesSlide" Target="/ppt/notesSlides/notesSlide3.xml" Id="R6bf32c989b994d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30f9acbd94822" /><Relationship Type="http://schemas.openxmlformats.org/officeDocument/2006/relationships/notesSlide" Target="/ppt/notesSlides/notesSlide4.xml" Id="R8d992da0eb404c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b756d1f31409f" /><Relationship Type="http://schemas.openxmlformats.org/officeDocument/2006/relationships/notesSlide" Target="/ppt/notesSlides/notesSlide5.xml" Id="Rf938d033eb784c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1f9d182624fd8" /><Relationship Type="http://schemas.openxmlformats.org/officeDocument/2006/relationships/notesSlide" Target="/ppt/notesSlides/notesSlide6.xml" Id="R503e3c2bd55749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am">
            <a:extLst xmlns:a="http://schemas.openxmlformats.org/drawingml/2006/main">
              <a:ext uri="{FF2B5EF4-FFF2-40B4-BE49-F238E27FC236}">
                <a16:creationId xmlns:a16="http://schemas.microsoft.com/office/drawing/2014/main" id="{D45D099A-C33D-4DF6-9A18-BC18811E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FF38"/>
                </a:solidFill>
              </a:defRPr>
            </a:pPr>
            <a:r>
              <a:rPr sz="1050" b="1">
                <a:solidFill>
                  <a:srgbClr val="B9FF38"/>
                </a:solidFill>
              </a:rPr>
              <a:t>TEAM MAXIMUS</a:t>
            </a:r>
          </a:p>
        </p:txBody>
      </p:sp>
      <p:sp>
        <p:nvSpPr>
          <p:cNvPr id="2" name="hero">
            <a:extLst xmlns:a="http://schemas.openxmlformats.org/drawingml/2006/main">
              <a:ext uri="{FF2B5EF4-FFF2-40B4-BE49-F238E27FC236}">
                <a16:creationId xmlns:a16="http://schemas.microsoft.com/office/drawing/2014/main" id="{0ABD3686-E138-4F0A-AB31-E86C69DD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3F0E8"/>
                </a:solidFill>
              </a:defRPr>
            </a:pPr>
            <a:r>
              <a:rPr sz="4200" b="1">
                <a:solidFill>
                  <a:srgbClr val="F3F0E8"/>
                </a:solidFill>
              </a:rPr>
              <a:t>사람이 많은 동네가</a:t>
            </a:r>
          </a:p>
          <a:p xmlns:a="http://schemas.openxmlformats.org/drawingml/2006/main">
            <a:pPr algn="l">
              <a:defRPr sz="4200" b="1">
                <a:solidFill>
                  <a:srgbClr val="F3F0E8"/>
                </a:solidFill>
              </a:defRPr>
            </a:pPr>
            <a:r>
              <a:rPr sz="4200" b="1">
                <a:solidFill>
                  <a:srgbClr val="F3F0E8"/>
                </a:solidFill>
              </a:rPr>
              <a:t>좋은 목적지는 아니다</a:t>
            </a:r>
          </a:p>
        </p:txBody>
      </p:sp>
      <p:sp>
        <p:nvSpPr>
          <p:cNvPr id="3" name="sub">
            <a:extLst xmlns:a="http://schemas.openxmlformats.org/drawingml/2006/main">
              <a:ext uri="{FF2B5EF4-FFF2-40B4-BE49-F238E27FC236}">
                <a16:creationId xmlns:a16="http://schemas.microsoft.com/office/drawing/2014/main" id="{485DC63A-3BA5-4106-99BD-072832E4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BA39E"/>
                </a:solidFill>
              </a:defRPr>
            </a:pPr>
            <a:r>
              <a:rPr sz="1875" b="0">
                <a:solidFill>
                  <a:srgbClr val="9BA39E"/>
                </a:solidFill>
              </a:rPr>
              <a:t>우리는 ‘어디가 유명한가’가 아니라</a:t>
            </a:r>
          </a:p>
          <a:p xmlns:a="http://schemas.openxmlformats.org/drawingml/2006/main">
            <a:pPr algn="l">
              <a:defRPr sz="1875" b="0">
                <a:solidFill>
                  <a:srgbClr val="9BA39E"/>
                </a:solidFill>
              </a:defRPr>
            </a:pPr>
            <a:r>
              <a:rPr sz="1875" b="0">
                <a:solidFill>
                  <a:srgbClr val="9BA39E"/>
                </a:solidFill>
              </a:rPr>
              <a:t>‘왜 이 조건에서 선택되는가’를 모델링한다.</a:t>
            </a:r>
          </a:p>
        </p:txBody>
      </p:sp>
      <p:sp>
        <p:nvSpPr>
          <p:cNvPr id="4" name="trace-base">
            <a:extLst xmlns:a="http://schemas.openxmlformats.org/drawingml/2006/main">
              <a:ext uri="{FF2B5EF4-FFF2-40B4-BE49-F238E27FC236}">
                <a16:creationId xmlns:a16="http://schemas.microsoft.com/office/drawing/2014/main" id="{E243047F-F41B-4C17-8687-14A6DB63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369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C"/>
            </a:solidFill>
            <a:prstDash val="solid"/>
          </a:ln>
        </p:spPr>
      </p:sp>
      <p:sp>
        <p:nvSpPr>
          <p:cNvPr id="5" name="trace-0">
            <a:extLst xmlns:a="http://schemas.openxmlformats.org/drawingml/2006/main">
              <a:ext uri="{FF2B5EF4-FFF2-40B4-BE49-F238E27FC236}">
                <a16:creationId xmlns:a16="http://schemas.microsoft.com/office/drawing/2014/main" id="{ABABBF9E-A68E-4CA6-B818-93EEC001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33550"/>
            <a:ext cx="4572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A39E"/>
            </a:solidFill>
            <a:prstDash val="solid"/>
          </a:ln>
        </p:spPr>
      </p:sp>
      <p:sp>
        <p:nvSpPr>
          <p:cNvPr id="6" name="trace-1">
            <a:extLst xmlns:a="http://schemas.openxmlformats.org/drawingml/2006/main">
              <a:ext uri="{FF2B5EF4-FFF2-40B4-BE49-F238E27FC236}">
                <a16:creationId xmlns:a16="http://schemas.microsoft.com/office/drawing/2014/main" id="{A8A5641E-65F3-432A-B0AC-6015E323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45720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A39E"/>
            </a:solidFill>
            <a:prstDash val="solid"/>
          </a:ln>
        </p:spPr>
      </p:sp>
      <p:sp>
        <p:nvSpPr>
          <p:cNvPr id="7" name="trace-2">
            <a:extLst xmlns:a="http://schemas.openxmlformats.org/drawingml/2006/main">
              <a:ext uri="{FF2B5EF4-FFF2-40B4-BE49-F238E27FC236}">
                <a16:creationId xmlns:a16="http://schemas.microsoft.com/office/drawing/2014/main" id="{670FED7A-8575-4598-A66D-14977213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00200"/>
            <a:ext cx="45720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A39E"/>
            </a:solidFill>
            <a:prstDash val="solid"/>
          </a:ln>
        </p:spPr>
      </p:sp>
      <p:sp>
        <p:nvSpPr>
          <p:cNvPr id="8" name="trace-3">
            <a:extLst xmlns:a="http://schemas.openxmlformats.org/drawingml/2006/main">
              <a:ext uri="{FF2B5EF4-FFF2-40B4-BE49-F238E27FC236}">
                <a16:creationId xmlns:a16="http://schemas.microsoft.com/office/drawing/2014/main" id="{14DD641A-6F83-41D3-BB73-D2484CB2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00200"/>
            <a:ext cx="4572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A39E"/>
            </a:solidFill>
            <a:prstDash val="solid"/>
          </a:ln>
        </p:spPr>
      </p:sp>
      <p:sp>
        <p:nvSpPr>
          <p:cNvPr id="9" name="trace-4">
            <a:extLst xmlns:a="http://schemas.openxmlformats.org/drawingml/2006/main">
              <a:ext uri="{FF2B5EF4-FFF2-40B4-BE49-F238E27FC236}">
                <a16:creationId xmlns:a16="http://schemas.microsoft.com/office/drawing/2014/main" id="{4638E985-7227-4E6C-8284-3FDE81AE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104900"/>
            <a:ext cx="4572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9FF38"/>
            </a:solidFill>
            <a:prstDash val="solid"/>
          </a:ln>
        </p:spPr>
      </p:sp>
      <p:sp>
        <p:nvSpPr>
          <p:cNvPr id="10" name="trace-5">
            <a:extLst xmlns:a="http://schemas.openxmlformats.org/drawingml/2006/main">
              <a:ext uri="{FF2B5EF4-FFF2-40B4-BE49-F238E27FC236}">
                <a16:creationId xmlns:a16="http://schemas.microsoft.com/office/drawing/2014/main" id="{A891D94E-E9E9-4D77-AA52-7DC60D3D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04900"/>
            <a:ext cx="45720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A39E"/>
            </a:solidFill>
            <a:prstDash val="solid"/>
          </a:ln>
        </p:spPr>
      </p:sp>
      <p:sp>
        <p:nvSpPr>
          <p:cNvPr id="11" name="trace-6">
            <a:extLst xmlns:a="http://schemas.openxmlformats.org/drawingml/2006/main">
              <a:ext uri="{FF2B5EF4-FFF2-40B4-BE49-F238E27FC236}">
                <a16:creationId xmlns:a16="http://schemas.microsoft.com/office/drawing/2014/main" id="{163EF180-36A4-494C-B353-90F199C3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95450"/>
            <a:ext cx="4572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A39E"/>
            </a:solidFill>
            <a:prstDash val="solid"/>
          </a:ln>
        </p:spPr>
      </p:sp>
      <p:sp>
        <p:nvSpPr>
          <p:cNvPr id="12" name="trace-7">
            <a:extLst xmlns:a="http://schemas.openxmlformats.org/drawingml/2006/main">
              <a:ext uri="{FF2B5EF4-FFF2-40B4-BE49-F238E27FC236}">
                <a16:creationId xmlns:a16="http://schemas.microsoft.com/office/drawing/2014/main" id="{FB0F42C2-E728-4FA7-8751-45324C08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695450"/>
            <a:ext cx="3619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A39E"/>
            </a:solidFill>
            <a:prstDash val="solid"/>
          </a:ln>
        </p:spPr>
      </p:sp>
      <p:sp>
        <p:nvSpPr>
          <p:cNvPr id="13" name="anomaly">
            <a:extLst xmlns:a="http://schemas.openxmlformats.org/drawingml/2006/main">
              <a:ext uri="{FF2B5EF4-FFF2-40B4-BE49-F238E27FC236}">
                <a16:creationId xmlns:a16="http://schemas.microsoft.com/office/drawing/2014/main" id="{189D4550-C191-4F4D-A088-FEAB496B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009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nomaly-label">
            <a:extLst xmlns:a="http://schemas.openxmlformats.org/drawingml/2006/main">
              <a:ext uri="{FF2B5EF4-FFF2-40B4-BE49-F238E27FC236}">
                <a16:creationId xmlns:a16="http://schemas.microsoft.com/office/drawing/2014/main" id="{130CFDF6-E1CC-4019-B55B-237F49DF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42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ANOMALY</a:t>
            </a:r>
          </a:p>
        </p:txBody>
      </p:sp>
      <p:sp>
        <p:nvSpPr>
          <p:cNvPr id="15" name="question">
            <a:extLst xmlns:a="http://schemas.openxmlformats.org/drawingml/2006/main">
              <a:ext uri="{FF2B5EF4-FFF2-40B4-BE49-F238E27FC236}">
                <a16:creationId xmlns:a16="http://schemas.microsoft.com/office/drawing/2014/main" id="{C50F979D-512C-45E8-AF39-E3B341B7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7950"/>
            <a:ext cx="3714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714"/>
          </a:solidFill>
          <a:ln xmlns:a="http://schemas.openxmlformats.org/drawingml/2006/main" w="9525">
            <a:solidFill>
              <a:srgbClr val="29302C"/>
            </a:solidFill>
            <a:prstDash val="solid"/>
          </a:ln>
        </p:spPr>
      </p:sp>
      <p:sp>
        <p:nvSpPr>
          <p:cNvPr id="16" name="prob">
            <a:extLst xmlns:a="http://schemas.openxmlformats.org/drawingml/2006/main">
              <a:ext uri="{FF2B5EF4-FFF2-40B4-BE49-F238E27FC236}">
                <a16:creationId xmlns:a16="http://schemas.microsoft.com/office/drawing/2014/main" id="{37905D61-6B54-4AE2-BEB6-35A5D631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0375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FF38"/>
                </a:solidFill>
              </a:defRPr>
            </a:pPr>
            <a:r>
              <a:rPr sz="1650" b="1">
                <a:solidFill>
                  <a:srgbClr val="B9FF38"/>
                </a:solidFill>
              </a:rPr>
              <a:t>P(destination j | origin, purpose, time)</a:t>
            </a:r>
          </a:p>
        </p:txBody>
      </p:sp>
      <p:sp>
        <p:nvSpPr>
          <p:cNvPr id="17" name="prob-sub">
            <a:extLst xmlns:a="http://schemas.openxmlformats.org/drawingml/2006/main">
              <a:ext uri="{FF2B5EF4-FFF2-40B4-BE49-F238E27FC236}">
                <a16:creationId xmlns:a16="http://schemas.microsoft.com/office/drawing/2014/main" id="{8D5399A8-39B1-4D47-A84A-EC3EDDB1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147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3F0E8"/>
                </a:solidFill>
              </a:defRPr>
            </a:pPr>
            <a:r>
              <a:rPr sz="1275" b="0">
                <a:solidFill>
                  <a:srgbClr val="F3F0E8"/>
                </a:solidFill>
              </a:rPr>
              <a:t>목적지 선택확률 → 후보 내부 순위</a:t>
            </a:r>
          </a:p>
        </p:txBody>
      </p:sp>
      <p:sp>
        <p:nvSpPr>
          <p:cNvPr id="18" name="members">
            <a:extLst xmlns:a="http://schemas.openxmlformats.org/drawingml/2006/main">
              <a:ext uri="{FF2B5EF4-FFF2-40B4-BE49-F238E27FC236}">
                <a16:creationId xmlns:a16="http://schemas.microsoft.com/office/drawing/2014/main" id="{4A208996-1AC9-4A70-9417-01821A3F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F0E8"/>
                </a:solidFill>
              </a:defRPr>
            </a:pPr>
            <a:r>
              <a:rPr sz="1275" b="1">
                <a:solidFill>
                  <a:srgbClr val="F3F0E8"/>
                </a:solidFill>
              </a:rPr>
              <a:t>장한별  ·  지우진  ·  최시현</a:t>
            </a:r>
          </a:p>
        </p:txBody>
      </p:sp>
    </p:spTree>
    <p:extLst>
      <p:ext uri="{BB962C8B-B14F-4D97-AF65-F5344CB8AC3E}">
        <p14:creationId xmlns:p14="http://schemas.microsoft.com/office/powerpoint/2010/main" val="611253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ase-2">
            <a:extLst xmlns:a="http://schemas.openxmlformats.org/drawingml/2006/main">
              <a:ext uri="{FF2B5EF4-FFF2-40B4-BE49-F238E27FC236}">
                <a16:creationId xmlns:a16="http://schemas.microsoft.com/office/drawing/2014/main" id="{8D9530B9-8A56-4F2E-97C0-8D8B3224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CASE 02</a:t>
            </a:r>
          </a:p>
        </p:txBody>
      </p:sp>
      <p:sp>
        <p:nvSpPr>
          <p:cNvPr id="2" name="label-2">
            <a:extLst xmlns:a="http://schemas.openxmlformats.org/drawingml/2006/main">
              <a:ext uri="{FF2B5EF4-FFF2-40B4-BE49-F238E27FC236}">
                <a16:creationId xmlns:a16="http://schemas.microsoft.com/office/drawing/2014/main" id="{9FEC9550-3E7E-498D-8536-95048C94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39E"/>
                </a:solidFill>
              </a:defRPr>
            </a:pPr>
            <a:r>
              <a:rPr sz="975" b="1">
                <a:solidFill>
                  <a:srgbClr val="9BA39E"/>
                </a:solidFill>
              </a:rPr>
              <a:t>THE GAP</a:t>
            </a:r>
          </a:p>
        </p:txBody>
      </p:sp>
      <p:sp>
        <p:nvSpPr>
          <p:cNvPr id="3" name="date-2">
            <a:extLst xmlns:a="http://schemas.openxmlformats.org/drawingml/2006/main">
              <a:ext uri="{FF2B5EF4-FFF2-40B4-BE49-F238E27FC236}">
                <a16:creationId xmlns:a16="http://schemas.microsoft.com/office/drawing/2014/main" id="{A090D0EA-76F2-4FEA-B144-D3D0527E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39E"/>
                </a:solidFill>
              </a:defRPr>
            </a:pPr>
            <a:r>
              <a:rPr sz="900" b="1">
                <a:solidFill>
                  <a:srgbClr val="9BA39E"/>
                </a:solidFill>
              </a:rPr>
              <a:t>MAXIMUS / DAT / 2026.09.03</a:t>
            </a:r>
          </a:p>
        </p:txBody>
      </p:sp>
      <p:sp>
        <p:nvSpPr>
          <p:cNvPr id="4" name="top-rule-2">
            <a:extLst xmlns:a="http://schemas.openxmlformats.org/drawingml/2006/main">
              <a:ext uri="{FF2B5EF4-FFF2-40B4-BE49-F238E27FC236}">
                <a16:creationId xmlns:a16="http://schemas.microsoft.com/office/drawing/2014/main" id="{0D0B026E-1D38-46A8-B8CA-34A8418A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02C"/>
            </a:solidFill>
            <a:prstDash val="solid"/>
          </a:ln>
        </p:spPr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FF6C6B4E-5CD7-4E83-9B32-C082C147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722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39E"/>
                </a:solidFill>
              </a:defRPr>
            </a:pPr>
            <a:r>
              <a:rPr sz="900" b="1">
                <a:solidFill>
                  <a:srgbClr val="9BA39E"/>
                </a:solidFill>
              </a:rPr>
              <a:t>02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B119EE1-A2D7-4487-AE0E-FC75A9F8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0E8"/>
                </a:solidFill>
              </a:defRPr>
            </a:pPr>
            <a:r>
              <a:rPr sz="3225" b="1">
                <a:solidFill>
                  <a:srgbClr val="F3F0E8"/>
                </a:solidFill>
              </a:rPr>
              <a:t>유입과 소비 사이의</a:t>
            </a:r>
          </a:p>
          <a:p xmlns:a="http://schemas.openxmlformats.org/drawingml/2006/main">
            <a:pPr algn="l">
              <a:defRPr sz="3225" b="1">
                <a:solidFill>
                  <a:srgbClr val="F3F0E8"/>
                </a:solidFill>
              </a:defRPr>
            </a:pPr>
            <a:r>
              <a:rPr sz="3225" b="1">
                <a:solidFill>
                  <a:srgbClr val="F3F0E8"/>
                </a:solidFill>
              </a:rPr>
              <a:t>‘괴리’가 단서다</a:t>
            </a:r>
          </a:p>
        </p:txBody>
      </p:sp>
      <p:sp>
        <p:nvSpPr>
          <p:cNvPr id="7" name="desc">
            <a:extLst xmlns:a="http://schemas.openxmlformats.org/drawingml/2006/main">
              <a:ext uri="{FF2B5EF4-FFF2-40B4-BE49-F238E27FC236}">
                <a16:creationId xmlns:a16="http://schemas.microsoft.com/office/drawing/2014/main" id="{BD2A28F6-8AE0-45EE-B685-E8844E0B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A39E"/>
                </a:solidFill>
              </a:defRPr>
            </a:pPr>
            <a:r>
              <a:rPr sz="1425" b="0">
                <a:solidFill>
                  <a:srgbClr val="9BA39E"/>
                </a:solidFill>
              </a:rPr>
              <a:t>같은 유동인구라도 매출은 다르게 움직인다.</a:t>
            </a:r>
          </a:p>
          <a:p xmlns:a="http://schemas.openxmlformats.org/drawingml/2006/main">
            <a:pPr algn="l">
              <a:defRPr sz="1425" b="0">
                <a:solidFill>
                  <a:srgbClr val="9BA39E"/>
                </a:solidFill>
              </a:defRPr>
            </a:pPr>
            <a:r>
              <a:rPr sz="1425" b="0">
                <a:solidFill>
                  <a:srgbClr val="9BA39E"/>
                </a:solidFill>
              </a:rPr>
              <a:t>그 차이를 잔차로 남겨 상권의 역할을 구분한다.</a:t>
            </a:r>
          </a:p>
        </p:txBody>
      </p:sp>
      <p:sp>
        <p:nvSpPr>
          <p:cNvPr id="8" name="x-axis">
            <a:extLst xmlns:a="http://schemas.openxmlformats.org/drawingml/2006/main">
              <a:ext uri="{FF2B5EF4-FFF2-40B4-BE49-F238E27FC236}">
                <a16:creationId xmlns:a16="http://schemas.microsoft.com/office/drawing/2014/main" id="{4B619C04-51E3-48B5-8E80-465F9318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76900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A39E"/>
            </a:solidFill>
            <a:prstDash val="solid"/>
          </a:ln>
        </p:spPr>
      </p:sp>
      <p:sp>
        <p:nvSpPr>
          <p:cNvPr id="9" name="y-axis">
            <a:extLst xmlns:a="http://schemas.openxmlformats.org/drawingml/2006/main">
              <a:ext uri="{FF2B5EF4-FFF2-40B4-BE49-F238E27FC236}">
                <a16:creationId xmlns:a16="http://schemas.microsoft.com/office/drawing/2014/main" id="{F13FC099-FC5E-45F8-972D-114C3CB6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43000"/>
            <a:ext cx="9525" cy="453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A39E"/>
            </a:solidFill>
            <a:prstDash val="solid"/>
          </a:ln>
        </p:spPr>
      </p:sp>
      <p:sp>
        <p:nvSpPr>
          <p:cNvPr id="10" name="x-label">
            <a:extLst xmlns:a="http://schemas.openxmlformats.org/drawingml/2006/main">
              <a:ext uri="{FF2B5EF4-FFF2-40B4-BE49-F238E27FC236}">
                <a16:creationId xmlns:a16="http://schemas.microsoft.com/office/drawing/2014/main" id="{A17FBDA5-5B1F-4F08-B8BA-097EB07D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29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BA39E"/>
                </a:solidFill>
              </a:defRPr>
            </a:pPr>
            <a:r>
              <a:rPr sz="1125" b="1">
                <a:solidFill>
                  <a:srgbClr val="9BA39E"/>
                </a:solidFill>
              </a:rPr>
              <a:t>유동인구 →</a:t>
            </a:r>
          </a:p>
        </p:txBody>
      </p:sp>
      <p:sp>
        <p:nvSpPr>
          <p:cNvPr id="11" name="y-label">
            <a:extLst xmlns:a="http://schemas.openxmlformats.org/drawingml/2006/main">
              <a:ext uri="{FF2B5EF4-FFF2-40B4-BE49-F238E27FC236}">
                <a16:creationId xmlns:a16="http://schemas.microsoft.com/office/drawing/2014/main" id="{0299C45A-157F-4297-AD54-7AED1F63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876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A39E"/>
                </a:solidFill>
              </a:defRPr>
            </a:pPr>
            <a:r>
              <a:rPr sz="1125" b="1">
                <a:solidFill>
                  <a:srgbClr val="9BA39E"/>
                </a:solidFill>
              </a:rPr>
              <a:t>매출</a:t>
            </a:r>
          </a:p>
        </p:txBody>
      </p:sp>
      <p:sp>
        <p:nvSpPr>
          <p:cNvPr id="12" name="trend">
            <a:extLst xmlns:a="http://schemas.openxmlformats.org/drawingml/2006/main">
              <a:ext uri="{FF2B5EF4-FFF2-40B4-BE49-F238E27FC236}">
                <a16:creationId xmlns:a16="http://schemas.microsoft.com/office/drawing/2014/main" id="{1840987D-DD40-4D1E-8A3F-45BE7952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381500" cy="360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BA39E"/>
            </a:solidFill>
            <a:prstDash val="solid"/>
          </a:ln>
        </p:spPr>
      </p:sp>
      <p:sp>
        <p:nvSpPr>
          <p:cNvPr id="13" name="normal-0">
            <a:extLst xmlns:a="http://schemas.openxmlformats.org/drawingml/2006/main">
              <a:ext uri="{FF2B5EF4-FFF2-40B4-BE49-F238E27FC236}">
                <a16:creationId xmlns:a16="http://schemas.microsoft.com/office/drawing/2014/main" id="{86D96C1A-0446-4138-BD9C-300A9A4B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rmal-1">
            <a:extLst xmlns:a="http://schemas.openxmlformats.org/drawingml/2006/main">
              <a:ext uri="{FF2B5EF4-FFF2-40B4-BE49-F238E27FC236}">
                <a16:creationId xmlns:a16="http://schemas.microsoft.com/office/drawing/2014/main" id="{8D6C6530-A8CF-47B9-AAD9-878FCE77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86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rmal-2">
            <a:extLst xmlns:a="http://schemas.openxmlformats.org/drawingml/2006/main">
              <a:ext uri="{FF2B5EF4-FFF2-40B4-BE49-F238E27FC236}">
                <a16:creationId xmlns:a16="http://schemas.microsoft.com/office/drawing/2014/main" id="{D45D4B8A-0B4B-4617-937B-FAC79685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00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rmal-3">
            <a:extLst xmlns:a="http://schemas.openxmlformats.org/drawingml/2006/main">
              <a:ext uri="{FF2B5EF4-FFF2-40B4-BE49-F238E27FC236}">
                <a16:creationId xmlns:a16="http://schemas.microsoft.com/office/drawing/2014/main" id="{27FBB37A-6F7C-4274-B7EF-13425478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rmal-4">
            <a:extLst xmlns:a="http://schemas.openxmlformats.org/drawingml/2006/main">
              <a:ext uri="{FF2B5EF4-FFF2-40B4-BE49-F238E27FC236}">
                <a16:creationId xmlns:a16="http://schemas.microsoft.com/office/drawing/2014/main" id="{BD3E73A0-36AD-40D4-858A-E7AFD3C0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24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ormal-5">
            <a:extLst xmlns:a="http://schemas.openxmlformats.org/drawingml/2006/main">
              <a:ext uri="{FF2B5EF4-FFF2-40B4-BE49-F238E27FC236}">
                <a16:creationId xmlns:a16="http://schemas.microsoft.com/office/drawing/2014/main" id="{31496B35-6B78-43F4-B756-4300735F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76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rmal-6">
            <a:extLst xmlns:a="http://schemas.openxmlformats.org/drawingml/2006/main">
              <a:ext uri="{FF2B5EF4-FFF2-40B4-BE49-F238E27FC236}">
                <a16:creationId xmlns:a16="http://schemas.microsoft.com/office/drawing/2014/main" id="{118A4837-D9B0-42F7-9B57-DDAE1776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ormal-7">
            <a:extLst xmlns:a="http://schemas.openxmlformats.org/drawingml/2006/main">
              <a:ext uri="{FF2B5EF4-FFF2-40B4-BE49-F238E27FC236}">
                <a16:creationId xmlns:a16="http://schemas.microsoft.com/office/drawing/2014/main" id="{12A28455-4186-4E42-A943-6FC12CEA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19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ormal-8">
            <a:extLst xmlns:a="http://schemas.openxmlformats.org/drawingml/2006/main">
              <a:ext uri="{FF2B5EF4-FFF2-40B4-BE49-F238E27FC236}">
                <a16:creationId xmlns:a16="http://schemas.microsoft.com/office/drawing/2014/main" id="{FB8477AA-75ED-46C9-9ACB-83DFB760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085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normal-9">
            <a:extLst xmlns:a="http://schemas.openxmlformats.org/drawingml/2006/main">
              <a:ext uri="{FF2B5EF4-FFF2-40B4-BE49-F238E27FC236}">
                <a16:creationId xmlns:a16="http://schemas.microsoft.com/office/drawing/2014/main" id="{8272C138-D2AA-4B6B-914D-C655AED3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809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urpose">
            <a:extLst xmlns:a="http://schemas.openxmlformats.org/drawingml/2006/main">
              <a:ext uri="{FF2B5EF4-FFF2-40B4-BE49-F238E27FC236}">
                <a16:creationId xmlns:a16="http://schemas.microsoft.com/office/drawing/2014/main" id="{ABF4FD49-91D9-40B2-8607-EE89A835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162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urpose-gap">
            <a:extLst xmlns:a="http://schemas.openxmlformats.org/drawingml/2006/main">
              <a:ext uri="{FF2B5EF4-FFF2-40B4-BE49-F238E27FC236}">
                <a16:creationId xmlns:a16="http://schemas.microsoft.com/office/drawing/2014/main" id="{CD46755D-FAF1-4B61-83F2-C51F3997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9525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FF38"/>
            </a:solidFill>
            <a:prstDash val="solid"/>
          </a:ln>
        </p:spPr>
      </p:sp>
      <p:sp>
        <p:nvSpPr>
          <p:cNvPr id="25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D4E25763-0D20-4DFD-B247-11644DBC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FF38"/>
                </a:solidFill>
              </a:defRPr>
            </a:pPr>
            <a:r>
              <a:rPr sz="1200" b="1">
                <a:solidFill>
                  <a:srgbClr val="B9FF38"/>
                </a:solidFill>
              </a:rPr>
              <a:t>목적 소비형</a:t>
            </a:r>
          </a:p>
        </p:txBody>
      </p:sp>
      <p:sp>
        <p:nvSpPr>
          <p:cNvPr id="26" name="pass">
            <a:extLst xmlns:a="http://schemas.openxmlformats.org/drawingml/2006/main">
              <a:ext uri="{FF2B5EF4-FFF2-40B4-BE49-F238E27FC236}">
                <a16:creationId xmlns:a16="http://schemas.microsoft.com/office/drawing/2014/main" id="{BF5092A6-82AF-4D0C-ACDE-F3E09400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371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ss-gap">
            <a:extLst xmlns:a="http://schemas.openxmlformats.org/drawingml/2006/main">
              <a:ext uri="{FF2B5EF4-FFF2-40B4-BE49-F238E27FC236}">
                <a16:creationId xmlns:a16="http://schemas.microsoft.com/office/drawing/2014/main" id="{4C821F27-AF1B-487B-9DF6-C63E49CD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86050"/>
            <a:ext cx="9525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45"/>
            </a:solidFill>
            <a:prstDash val="solid"/>
          </a:ln>
        </p:spPr>
      </p:sp>
      <p:sp>
        <p:nvSpPr>
          <p:cNvPr id="28" name="pass-label">
            <a:extLst xmlns:a="http://schemas.openxmlformats.org/drawingml/2006/main">
              <a:ext uri="{FF2B5EF4-FFF2-40B4-BE49-F238E27FC236}">
                <a16:creationId xmlns:a16="http://schemas.microsoft.com/office/drawing/2014/main" id="{D8E706E3-0992-4A2F-B6C8-D9E97C1C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482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45"/>
                </a:solidFill>
              </a:defRPr>
            </a:pPr>
            <a:r>
              <a:rPr sz="1200" b="1">
                <a:solidFill>
                  <a:srgbClr val="FF6B45"/>
                </a:solidFill>
              </a:rPr>
              <a:t>통과형</a:t>
            </a:r>
          </a:p>
        </p:txBody>
      </p:sp>
      <p:sp>
        <p:nvSpPr>
          <p:cNvPr id="29" name="gap-box">
            <a:extLst xmlns:a="http://schemas.openxmlformats.org/drawingml/2006/main">
              <a:ext uri="{FF2B5EF4-FFF2-40B4-BE49-F238E27FC236}">
                <a16:creationId xmlns:a16="http://schemas.microsoft.com/office/drawing/2014/main" id="{EC4E4B2C-6AC8-4D44-8614-17340583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46672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11714"/>
          </a:solidFill>
          <a:ln xmlns:a="http://schemas.openxmlformats.org/drawingml/2006/main" w="9525">
            <a:solidFill>
              <a:srgbClr val="29302C"/>
            </a:solidFill>
            <a:prstDash val="solid"/>
          </a:ln>
        </p:spPr>
      </p:sp>
      <p:sp>
        <p:nvSpPr>
          <p:cNvPr id="30" name="gap-eq">
            <a:extLst xmlns:a="http://schemas.openxmlformats.org/drawingml/2006/main">
              <a:ext uri="{FF2B5EF4-FFF2-40B4-BE49-F238E27FC236}">
                <a16:creationId xmlns:a16="http://schemas.microsoft.com/office/drawing/2014/main" id="{6726979C-CC75-4844-8B9C-D637825E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FF38"/>
                </a:solidFill>
              </a:defRPr>
            </a:pPr>
            <a:r>
              <a:rPr sz="1800" b="1">
                <a:solidFill>
                  <a:srgbClr val="B9FF38"/>
                </a:solidFill>
              </a:rPr>
              <a:t>Gap = 실제 매출 − 기대 매출</a:t>
            </a:r>
          </a:p>
        </p:txBody>
      </p:sp>
      <p:sp>
        <p:nvSpPr>
          <p:cNvPr id="31" name="gap-meaning">
            <a:extLst xmlns:a="http://schemas.openxmlformats.org/drawingml/2006/main">
              <a:ext uri="{FF2B5EF4-FFF2-40B4-BE49-F238E27FC236}">
                <a16:creationId xmlns:a16="http://schemas.microsoft.com/office/drawing/2014/main" id="{A4D03B59-FA8A-412A-A91A-1C10B4A9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0E8"/>
                </a:solidFill>
              </a:defRPr>
            </a:pPr>
            <a:r>
              <a:rPr sz="1275" b="0">
                <a:solidFill>
                  <a:srgbClr val="F3F0E8"/>
                </a:solidFill>
              </a:rPr>
              <a:t>양(+)의 잔차  목적소비형</a:t>
            </a:r>
          </a:p>
          <a:p xmlns:a="http://schemas.openxmlformats.org/drawingml/2006/main">
            <a:pPr algn="l">
              <a:defRPr sz="1275" b="0">
                <a:solidFill>
                  <a:srgbClr val="F3F0E8"/>
                </a:solidFill>
              </a:defRPr>
            </a:pPr>
            <a:r>
              <a:rPr sz="1275" b="0">
                <a:solidFill>
                  <a:srgbClr val="F3F0E8"/>
                </a:solidFill>
              </a:rPr>
              <a:t>음(−)의 잔차  통과형</a:t>
            </a:r>
          </a:p>
          <a:p xmlns:a="http://schemas.openxmlformats.org/drawingml/2006/main">
            <a:pPr algn="l">
              <a:defRPr sz="1275" b="0">
                <a:solidFill>
                  <a:srgbClr val="F3F0E8"/>
                </a:solidFill>
              </a:defRPr>
            </a:pPr>
            <a:r>
              <a:rPr sz="1275" b="0">
                <a:solidFill>
                  <a:srgbClr val="F3F0E8"/>
                </a:solidFill>
              </a:rPr>
              <a:t>3개 분기 지속  구조적 신호</a:t>
            </a:r>
          </a:p>
        </p:txBody>
      </p:sp>
    </p:spTree>
    <p:extLst>
      <p:ext uri="{BB962C8B-B14F-4D97-AF65-F5344CB8AC3E}">
        <p14:creationId xmlns:p14="http://schemas.microsoft.com/office/powerpoint/2010/main" val="129449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ase-3">
            <a:extLst xmlns:a="http://schemas.openxmlformats.org/drawingml/2006/main">
              <a:ext uri="{FF2B5EF4-FFF2-40B4-BE49-F238E27FC236}">
                <a16:creationId xmlns:a16="http://schemas.microsoft.com/office/drawing/2014/main" id="{A2089C21-59C4-429C-8041-0EE1348D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CASE 03</a:t>
            </a:r>
          </a:p>
        </p:txBody>
      </p:sp>
      <p:sp>
        <p:nvSpPr>
          <p:cNvPr id="2" name="label-3">
            <a:extLst xmlns:a="http://schemas.openxmlformats.org/drawingml/2006/main">
              <a:ext uri="{FF2B5EF4-FFF2-40B4-BE49-F238E27FC236}">
                <a16:creationId xmlns:a16="http://schemas.microsoft.com/office/drawing/2014/main" id="{E5962AF3-7E7D-42BF-9CF4-E0E950B6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39E"/>
                </a:solidFill>
              </a:defRPr>
            </a:pPr>
            <a:r>
              <a:rPr sz="975" b="1">
                <a:solidFill>
                  <a:srgbClr val="9BA39E"/>
                </a:solidFill>
              </a:rPr>
              <a:t>MODEL PIPELINE</a:t>
            </a:r>
          </a:p>
        </p:txBody>
      </p:sp>
      <p:sp>
        <p:nvSpPr>
          <p:cNvPr id="3" name="date-3">
            <a:extLst xmlns:a="http://schemas.openxmlformats.org/drawingml/2006/main">
              <a:ext uri="{FF2B5EF4-FFF2-40B4-BE49-F238E27FC236}">
                <a16:creationId xmlns:a16="http://schemas.microsoft.com/office/drawing/2014/main" id="{7D1A48F9-F2A9-4AA0-BC1B-DCFCDC40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39E"/>
                </a:solidFill>
              </a:defRPr>
            </a:pPr>
            <a:r>
              <a:rPr sz="900" b="1">
                <a:solidFill>
                  <a:srgbClr val="9BA39E"/>
                </a:solidFill>
              </a:rPr>
              <a:t>MAXIMUS / DAT / 2026.09.03</a:t>
            </a:r>
          </a:p>
        </p:txBody>
      </p:sp>
      <p:sp>
        <p:nvSpPr>
          <p:cNvPr id="4" name="top-rule-3">
            <a:extLst xmlns:a="http://schemas.openxmlformats.org/drawingml/2006/main">
              <a:ext uri="{FF2B5EF4-FFF2-40B4-BE49-F238E27FC236}">
                <a16:creationId xmlns:a16="http://schemas.microsoft.com/office/drawing/2014/main" id="{935C9282-478F-463E-89A8-C85BD2C5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02C"/>
            </a:solidFill>
            <a:prstDash val="solid"/>
          </a:ln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027F5411-6247-43AA-AFDD-B1D51185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722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39E"/>
                </a:solidFill>
              </a:defRPr>
            </a:pPr>
            <a:r>
              <a:rPr sz="900" b="1">
                <a:solidFill>
                  <a:srgbClr val="9BA39E"/>
                </a:solidFill>
              </a:rPr>
              <a:t>03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5B6EE56-7FDA-463D-AD79-6391681B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0E8"/>
                </a:solidFill>
              </a:defRPr>
            </a:pPr>
            <a:r>
              <a:rPr sz="3150" b="1">
                <a:solidFill>
                  <a:srgbClr val="F3F0E8"/>
                </a:solidFill>
              </a:rPr>
              <a:t>추천은 세 번의 필터를 통과한다</a:t>
            </a:r>
          </a:p>
        </p:txBody>
      </p:sp>
      <p:sp>
        <p:nvSpPr>
          <p:cNvPr id="7" name="desc">
            <a:extLst xmlns:a="http://schemas.openxmlformats.org/drawingml/2006/main">
              <a:ext uri="{FF2B5EF4-FFF2-40B4-BE49-F238E27FC236}">
                <a16:creationId xmlns:a16="http://schemas.microsoft.com/office/drawing/2014/main" id="{4991D1DB-211C-4D84-9FD0-25A7D56E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A39E"/>
                </a:solidFill>
              </a:defRPr>
            </a:pPr>
            <a:r>
              <a:rPr sz="1425" b="0">
                <a:solidFill>
                  <a:srgbClr val="9BA39E"/>
                </a:solidFill>
              </a:rPr>
              <a:t>선택 불가능한 곳을 먼저 제거하고, 의미 있는 특징을 만든 뒤, 후보 내부 순위를 학습한다.</a:t>
            </a:r>
          </a:p>
        </p:txBody>
      </p:sp>
      <p:sp>
        <p:nvSpPr>
          <p:cNvPr id="8" name="n-0">
            <a:extLst xmlns:a="http://schemas.openxmlformats.org/drawingml/2006/main">
              <a:ext uri="{FF2B5EF4-FFF2-40B4-BE49-F238E27FC236}">
                <a16:creationId xmlns:a16="http://schemas.microsoft.com/office/drawing/2014/main" id="{BCD33707-4F9A-4C40-BE18-2D49D05B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FF38"/>
                </a:solidFill>
              </a:defRPr>
            </a:pPr>
            <a:r>
              <a:rPr sz="2100" b="1">
                <a:solidFill>
                  <a:srgbClr val="B9FF38"/>
                </a:solidFill>
              </a:rPr>
              <a:t>01</a:t>
            </a:r>
          </a:p>
        </p:txBody>
      </p:sp>
      <p:sp>
        <p:nvSpPr>
          <p:cNvPr id="9" name="r-0">
            <a:extLst xmlns:a="http://schemas.openxmlformats.org/drawingml/2006/main">
              <a:ext uri="{FF2B5EF4-FFF2-40B4-BE49-F238E27FC236}">
                <a16:creationId xmlns:a16="http://schemas.microsoft.com/office/drawing/2014/main" id="{246A6055-BDB0-4424-A65B-A7CE1F14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724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C"/>
            </a:solidFill>
            <a:prstDash val="solid"/>
          </a:ln>
        </p:spPr>
      </p:sp>
      <p:sp>
        <p:nvSpPr>
          <p:cNvPr id="10" name="h-0">
            <a:extLst xmlns:a="http://schemas.openxmlformats.org/drawingml/2006/main">
              <a:ext uri="{FF2B5EF4-FFF2-40B4-BE49-F238E27FC236}">
                <a16:creationId xmlns:a16="http://schemas.microsoft.com/office/drawing/2014/main" id="{43BBD65B-D03D-4C55-A028-D8630229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0E8"/>
                </a:solidFill>
              </a:defRPr>
            </a:pPr>
            <a:r>
              <a:rPr sz="2100" b="1">
                <a:solidFill>
                  <a:srgbClr val="F3F0E8"/>
                </a:solidFill>
              </a:rPr>
              <a:t>REACH</a:t>
            </a:r>
          </a:p>
        </p:txBody>
      </p:sp>
      <p:sp>
        <p:nvSpPr>
          <p:cNvPr id="11" name="ko-0">
            <a:extLst xmlns:a="http://schemas.openxmlformats.org/drawingml/2006/main">
              <a:ext uri="{FF2B5EF4-FFF2-40B4-BE49-F238E27FC236}">
                <a16:creationId xmlns:a16="http://schemas.microsoft.com/office/drawing/2014/main" id="{FCC79F0F-37AC-4CEA-88FE-8E432F27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FF38"/>
                </a:solidFill>
              </a:defRPr>
            </a:pPr>
            <a:r>
              <a:rPr sz="1350" b="1">
                <a:solidFill>
                  <a:srgbClr val="B9FF38"/>
                </a:solidFill>
              </a:rPr>
              <a:t>50분 후보군</a:t>
            </a:r>
          </a:p>
        </p:txBody>
      </p:sp>
      <p:sp>
        <p:nvSpPr>
          <p:cNvPr id="12" name="b-0">
            <a:extLst xmlns:a="http://schemas.openxmlformats.org/drawingml/2006/main">
              <a:ext uri="{FF2B5EF4-FFF2-40B4-BE49-F238E27FC236}">
                <a16:creationId xmlns:a16="http://schemas.microsoft.com/office/drawing/2014/main" id="{B06DA1BF-1312-4C17-B76E-9A4CD211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857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A39E"/>
                </a:solidFill>
              </a:defRPr>
            </a:pPr>
            <a:r>
              <a:rPr sz="1350" b="0">
                <a:solidFill>
                  <a:srgbClr val="9BA39E"/>
                </a:solidFill>
              </a:rPr>
              <a:t>B078 이동시간 +</a:t>
            </a:r>
          </a:p>
          <a:p xmlns:a="http://schemas.openxmlformats.org/drawingml/2006/main">
            <a:pPr algn="l">
              <a:defRPr sz="1350" b="0">
                <a:solidFill>
                  <a:srgbClr val="9BA39E"/>
                </a:solidFill>
              </a:defRPr>
            </a:pPr>
            <a:r>
              <a:rPr sz="1350" b="0">
                <a:solidFill>
                  <a:srgbClr val="9BA39E"/>
                </a:solidFill>
              </a:rPr>
              <a:t>카카오 대중교통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9BA39E"/>
                </a:solidFill>
              </a:defRPr>
            </a:pPr>
            <a:r>
              <a:rPr sz="1350" b="0">
                <a:solidFill>
                  <a:srgbClr val="9BA39E"/>
                </a:solidFill>
              </a:rPr>
              <a:t>30·40·50·60분 민감도</a:t>
            </a:r>
          </a:p>
        </p:txBody>
      </p:sp>
      <p:sp>
        <p:nvSpPr>
          <p:cNvPr id="13" name="n-1">
            <a:extLst xmlns:a="http://schemas.openxmlformats.org/drawingml/2006/main">
              <a:ext uri="{FF2B5EF4-FFF2-40B4-BE49-F238E27FC236}">
                <a16:creationId xmlns:a16="http://schemas.microsoft.com/office/drawing/2014/main" id="{A9F35ED2-ABF2-4B65-8A0B-7DF0A851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00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FF38"/>
                </a:solidFill>
              </a:defRPr>
            </a:pPr>
            <a:r>
              <a:rPr sz="2100" b="1">
                <a:solidFill>
                  <a:srgbClr val="B9FF38"/>
                </a:solidFill>
              </a:rPr>
              <a:t>02</a:t>
            </a:r>
          </a:p>
        </p:txBody>
      </p:sp>
      <p:sp>
        <p:nvSpPr>
          <p:cNvPr id="14" name="r-1">
            <a:extLst xmlns:a="http://schemas.openxmlformats.org/drawingml/2006/main">
              <a:ext uri="{FF2B5EF4-FFF2-40B4-BE49-F238E27FC236}">
                <a16:creationId xmlns:a16="http://schemas.microsoft.com/office/drawing/2014/main" id="{E9D31F4B-CF09-45EB-B046-27D3D6C6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05125"/>
            <a:ext cx="2724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C"/>
            </a:solidFill>
            <a:prstDash val="solid"/>
          </a:ln>
        </p:spPr>
      </p:sp>
      <p:sp>
        <p:nvSpPr>
          <p:cNvPr id="15" name="h-1">
            <a:extLst xmlns:a="http://schemas.openxmlformats.org/drawingml/2006/main">
              <a:ext uri="{FF2B5EF4-FFF2-40B4-BE49-F238E27FC236}">
                <a16:creationId xmlns:a16="http://schemas.microsoft.com/office/drawing/2014/main" id="{6082846F-12CF-4A04-8076-A4F1D16A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242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0E8"/>
                </a:solidFill>
              </a:defRPr>
            </a:pPr>
            <a:r>
              <a:rPr sz="2100" b="1">
                <a:solidFill>
                  <a:srgbClr val="F3F0E8"/>
                </a:solidFill>
              </a:rPr>
              <a:t>SIGNAL</a:t>
            </a:r>
          </a:p>
        </p:txBody>
      </p:sp>
      <p:sp>
        <p:nvSpPr>
          <p:cNvPr id="16" name="ko-1">
            <a:extLst xmlns:a="http://schemas.openxmlformats.org/drawingml/2006/main">
              <a:ext uri="{FF2B5EF4-FFF2-40B4-BE49-F238E27FC236}">
                <a16:creationId xmlns:a16="http://schemas.microsoft.com/office/drawing/2014/main" id="{6F04A32A-CC67-4B19-8EA5-4EF6650B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433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FF38"/>
                </a:solidFill>
              </a:defRPr>
            </a:pPr>
            <a:r>
              <a:rPr sz="1350" b="1">
                <a:solidFill>
                  <a:srgbClr val="B9FF38"/>
                </a:solidFill>
              </a:rPr>
              <a:t>상권 특징량</a:t>
            </a:r>
          </a:p>
        </p:txBody>
      </p:sp>
      <p:sp>
        <p:nvSpPr>
          <p:cNvPr id="17" name="b-1">
            <a:extLst xmlns:a="http://schemas.openxmlformats.org/drawingml/2006/main">
              <a:ext uri="{FF2B5EF4-FFF2-40B4-BE49-F238E27FC236}">
                <a16:creationId xmlns:a16="http://schemas.microsoft.com/office/drawing/2014/main" id="{DF2FC148-DBDB-44C8-B111-98FB24A1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76700"/>
            <a:ext cx="2857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A39E"/>
                </a:solidFill>
              </a:defRPr>
            </a:pPr>
            <a:r>
              <a:rPr sz="1350" b="0">
                <a:solidFill>
                  <a:srgbClr val="9BA39E"/>
                </a:solidFill>
              </a:rPr>
              <a:t>접근성 · 흡인력 · 전환력</a:t>
            </a:r>
          </a:p>
          <a:p xmlns:a="http://schemas.openxmlformats.org/drawingml/2006/main">
            <a:pPr algn="l">
              <a:defRPr sz="1350" b="0">
                <a:solidFill>
                  <a:srgbClr val="9BA39E"/>
                </a:solidFill>
              </a:defRPr>
            </a:pPr>
            <a:r>
              <a:rPr sz="1350" b="0">
                <a:solidFill>
                  <a:srgbClr val="9BA39E"/>
                </a:solidFill>
              </a:rPr>
              <a:t>POI · 업종다양성 · Gap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9BA39E"/>
                </a:solidFill>
              </a:defRPr>
            </a:pPr>
            <a:r>
              <a:rPr sz="1350" b="0">
                <a:solidFill>
                  <a:srgbClr val="9BA39E"/>
                </a:solidFill>
              </a:rPr>
              <a:t>시점 이전 정보만 사용</a:t>
            </a:r>
          </a:p>
        </p:txBody>
      </p:sp>
      <p:sp>
        <p:nvSpPr>
          <p:cNvPr id="18" name="n-2">
            <a:extLst xmlns:a="http://schemas.openxmlformats.org/drawingml/2006/main">
              <a:ext uri="{FF2B5EF4-FFF2-40B4-BE49-F238E27FC236}">
                <a16:creationId xmlns:a16="http://schemas.microsoft.com/office/drawing/2014/main" id="{EBEF5AC7-AE85-4F95-9A7A-D9C38448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FF38"/>
                </a:solidFill>
              </a:defRPr>
            </a:pPr>
            <a:r>
              <a:rPr sz="2100" b="1">
                <a:solidFill>
                  <a:srgbClr val="B9FF38"/>
                </a:solidFill>
              </a:rPr>
              <a:t>03</a:t>
            </a:r>
          </a:p>
        </p:txBody>
      </p:sp>
      <p:sp>
        <p:nvSpPr>
          <p:cNvPr id="19" name="r-2">
            <a:extLst xmlns:a="http://schemas.openxmlformats.org/drawingml/2006/main">
              <a:ext uri="{FF2B5EF4-FFF2-40B4-BE49-F238E27FC236}">
                <a16:creationId xmlns:a16="http://schemas.microsoft.com/office/drawing/2014/main" id="{5E141CB3-F3A8-4EC3-8EF5-A8F94115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05125"/>
            <a:ext cx="2724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FF38"/>
            </a:solidFill>
            <a:prstDash val="solid"/>
          </a:ln>
        </p:spPr>
      </p:sp>
      <p:sp>
        <p:nvSpPr>
          <p:cNvPr id="20" name="h-2">
            <a:extLst xmlns:a="http://schemas.openxmlformats.org/drawingml/2006/main">
              <a:ext uri="{FF2B5EF4-FFF2-40B4-BE49-F238E27FC236}">
                <a16:creationId xmlns:a16="http://schemas.microsoft.com/office/drawing/2014/main" id="{837C95F9-CC11-4DB9-8231-410319ED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242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0E8"/>
                </a:solidFill>
              </a:defRPr>
            </a:pPr>
            <a:r>
              <a:rPr sz="2100" b="1">
                <a:solidFill>
                  <a:srgbClr val="F3F0E8"/>
                </a:solidFill>
              </a:rPr>
              <a:t>RANK</a:t>
            </a:r>
          </a:p>
        </p:txBody>
      </p:sp>
      <p:sp>
        <p:nvSpPr>
          <p:cNvPr id="21" name="ko-2">
            <a:extLst xmlns:a="http://schemas.openxmlformats.org/drawingml/2006/main">
              <a:ext uri="{FF2B5EF4-FFF2-40B4-BE49-F238E27FC236}">
                <a16:creationId xmlns:a16="http://schemas.microsoft.com/office/drawing/2014/main" id="{59246E79-B529-4FC6-A3EE-2FB300A5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FF38"/>
                </a:solidFill>
              </a:defRPr>
            </a:pPr>
            <a:r>
              <a:rPr sz="1350" b="1">
                <a:solidFill>
                  <a:srgbClr val="B9FF38"/>
                </a:solidFill>
              </a:rPr>
              <a:t>목적지 순위</a:t>
            </a:r>
          </a:p>
        </p:txBody>
      </p:sp>
      <p:sp>
        <p:nvSpPr>
          <p:cNvPr id="22" name="b-2">
            <a:extLst xmlns:a="http://schemas.openxmlformats.org/drawingml/2006/main">
              <a:ext uri="{FF2B5EF4-FFF2-40B4-BE49-F238E27FC236}">
                <a16:creationId xmlns:a16="http://schemas.microsoft.com/office/drawing/2014/main" id="{7582956F-37BE-4B84-8FF8-E4A57272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2857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A39E"/>
                </a:solidFill>
              </a:defRPr>
            </a:pPr>
            <a:r>
              <a:rPr sz="1350" b="0">
                <a:solidFill>
                  <a:srgbClr val="9BA39E"/>
                </a:solidFill>
              </a:rPr>
              <a:t>조건부로짓 / PPML</a:t>
            </a:r>
          </a:p>
          <a:p xmlns:a="http://schemas.openxmlformats.org/drawingml/2006/main">
            <a:pPr algn="l">
              <a:defRPr sz="1350" b="0">
                <a:solidFill>
                  <a:srgbClr val="9BA39E"/>
                </a:solidFill>
              </a:defRPr>
            </a:pPr>
            <a:r>
              <a:rPr sz="1350" b="0">
                <a:solidFill>
                  <a:srgbClr val="9BA39E"/>
                </a:solidFill>
              </a:rPr>
              <a:t>LightGBM LambdaRank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9BA39E"/>
                </a:solidFill>
              </a:defRPr>
            </a:pPr>
            <a:r>
              <a:rPr sz="1350" b="0">
                <a:solidFill>
                  <a:srgbClr val="9BA39E"/>
                </a:solidFill>
              </a:rPr>
              <a:t>group = 출발×목적×시간</a:t>
            </a:r>
          </a:p>
        </p:txBody>
      </p:sp>
      <p:sp>
        <p:nvSpPr>
          <p:cNvPr id="23" name="arr1">
            <a:extLst xmlns:a="http://schemas.openxmlformats.org/drawingml/2006/main">
              <a:ext uri="{FF2B5EF4-FFF2-40B4-BE49-F238E27FC236}">
                <a16:creationId xmlns:a16="http://schemas.microsoft.com/office/drawing/2014/main" id="{092D18CD-458C-4348-82DF-EC044AFE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BA39E"/>
                </a:solidFill>
              </a:defRPr>
            </a:pPr>
            <a:r>
              <a:rPr sz="2100" b="1">
                <a:solidFill>
                  <a:srgbClr val="9BA39E"/>
                </a:solidFill>
              </a:rPr>
              <a:t>→</a:t>
            </a:r>
          </a:p>
        </p:txBody>
      </p:sp>
      <p:sp>
        <p:nvSpPr>
          <p:cNvPr id="24" name="arr2">
            <a:extLst xmlns:a="http://schemas.openxmlformats.org/drawingml/2006/main">
              <a:ext uri="{FF2B5EF4-FFF2-40B4-BE49-F238E27FC236}">
                <a16:creationId xmlns:a16="http://schemas.microsoft.com/office/drawing/2014/main" id="{82667C6C-FD5A-4970-9770-353CF01B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289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BA39E"/>
                </a:solidFill>
              </a:defRPr>
            </a:pPr>
            <a:r>
              <a:rPr sz="2100" b="1">
                <a:solidFill>
                  <a:srgbClr val="9BA39E"/>
                </a:solidFill>
              </a:rPr>
              <a:t>→</a:t>
            </a:r>
          </a:p>
        </p:txBody>
      </p:sp>
      <p:sp>
        <p:nvSpPr>
          <p:cNvPr id="25" name="label-band">
            <a:extLst xmlns:a="http://schemas.openxmlformats.org/drawingml/2006/main">
              <a:ext uri="{FF2B5EF4-FFF2-40B4-BE49-F238E27FC236}">
                <a16:creationId xmlns:a16="http://schemas.microsoft.com/office/drawing/2014/main" id="{141632C0-F411-4450-B32B-484CC669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1155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bel">
            <a:extLst xmlns:a="http://schemas.openxmlformats.org/drawingml/2006/main">
              <a:ext uri="{FF2B5EF4-FFF2-40B4-BE49-F238E27FC236}">
                <a16:creationId xmlns:a16="http://schemas.microsoft.com/office/drawing/2014/main" id="{12499C07-1B5A-4D39-B1CF-5978A84B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0D"/>
                </a:solidFill>
              </a:defRPr>
            </a:pPr>
            <a:r>
              <a:rPr sz="1350" b="1">
                <a:solidFill>
                  <a:srgbClr val="0B0E0D"/>
                </a:solidFill>
              </a:rPr>
              <a:t>학습 라벨  목적지별 이동량(count) 또는 후보군 내 선택 점유율</a:t>
            </a:r>
          </a:p>
        </p:txBody>
      </p:sp>
    </p:spTree>
    <p:extLst>
      <p:ext uri="{BB962C8B-B14F-4D97-AF65-F5344CB8AC3E}">
        <p14:creationId xmlns:p14="http://schemas.microsoft.com/office/powerpoint/2010/main" val="1539021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ase-4">
            <a:extLst xmlns:a="http://schemas.openxmlformats.org/drawingml/2006/main">
              <a:ext uri="{FF2B5EF4-FFF2-40B4-BE49-F238E27FC236}">
                <a16:creationId xmlns:a16="http://schemas.microsoft.com/office/drawing/2014/main" id="{C124DF84-54E2-49D4-820B-1D89D7FA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CASE 04</a:t>
            </a:r>
          </a:p>
        </p:txBody>
      </p:sp>
      <p:sp>
        <p:nvSpPr>
          <p:cNvPr id="2" name="label-4">
            <a:extLst xmlns:a="http://schemas.openxmlformats.org/drawingml/2006/main">
              <a:ext uri="{FF2B5EF4-FFF2-40B4-BE49-F238E27FC236}">
                <a16:creationId xmlns:a16="http://schemas.microsoft.com/office/drawing/2014/main" id="{2DA6353B-AEFD-46E3-8373-714E94CB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39E"/>
                </a:solidFill>
              </a:defRPr>
            </a:pPr>
            <a:r>
              <a:rPr sz="975" b="1">
                <a:solidFill>
                  <a:srgbClr val="9BA39E"/>
                </a:solidFill>
              </a:rPr>
              <a:t>MODEL SELECTION</a:t>
            </a:r>
          </a:p>
        </p:txBody>
      </p:sp>
      <p:sp>
        <p:nvSpPr>
          <p:cNvPr id="3" name="date-4">
            <a:extLst xmlns:a="http://schemas.openxmlformats.org/drawingml/2006/main">
              <a:ext uri="{FF2B5EF4-FFF2-40B4-BE49-F238E27FC236}">
                <a16:creationId xmlns:a16="http://schemas.microsoft.com/office/drawing/2014/main" id="{52083C88-EE1B-46E4-A791-7FE1782F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39E"/>
                </a:solidFill>
              </a:defRPr>
            </a:pPr>
            <a:r>
              <a:rPr sz="900" b="1">
                <a:solidFill>
                  <a:srgbClr val="9BA39E"/>
                </a:solidFill>
              </a:rPr>
              <a:t>MAXIMUS / DAT / 2026.09.03</a:t>
            </a:r>
          </a:p>
        </p:txBody>
      </p:sp>
      <p:sp>
        <p:nvSpPr>
          <p:cNvPr id="4" name="top-rule-4">
            <a:extLst xmlns:a="http://schemas.openxmlformats.org/drawingml/2006/main">
              <a:ext uri="{FF2B5EF4-FFF2-40B4-BE49-F238E27FC236}">
                <a16:creationId xmlns:a16="http://schemas.microsoft.com/office/drawing/2014/main" id="{DACFA369-372D-4222-9829-D449BD77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02C"/>
            </a:solidFill>
            <a:prstDash val="solid"/>
          </a:ln>
        </p:spPr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1ACF876B-DB73-4B99-A42F-E9B382EE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722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39E"/>
                </a:solidFill>
              </a:defRPr>
            </a:pPr>
            <a:r>
              <a:rPr sz="900" b="1">
                <a:solidFill>
                  <a:srgbClr val="9BA39E"/>
                </a:solidFill>
              </a:rPr>
              <a:t>04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878F9DC-5384-4822-A2E8-BCE398AA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4953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0E8"/>
                </a:solidFill>
              </a:defRPr>
            </a:pPr>
            <a:r>
              <a:rPr sz="3225" b="1">
                <a:solidFill>
                  <a:srgbClr val="F3F0E8"/>
                </a:solidFill>
              </a:rPr>
              <a:t>복잡한 모델보다</a:t>
            </a:r>
          </a:p>
          <a:p xmlns:a="http://schemas.openxmlformats.org/drawingml/2006/main">
            <a:pPr algn="l">
              <a:defRPr sz="3225" b="1">
                <a:solidFill>
                  <a:srgbClr val="F3F0E8"/>
                </a:solidFill>
              </a:defRPr>
            </a:pPr>
            <a:r>
              <a:rPr sz="3225" b="1">
                <a:solidFill>
                  <a:srgbClr val="F3F0E8"/>
                </a:solidFill>
              </a:rPr>
              <a:t>반증 가능한 모델부터</a:t>
            </a:r>
          </a:p>
        </p:txBody>
      </p:sp>
      <p:sp>
        <p:nvSpPr>
          <p:cNvPr id="7" name="desc">
            <a:extLst xmlns:a="http://schemas.openxmlformats.org/drawingml/2006/main">
              <a:ext uri="{FF2B5EF4-FFF2-40B4-BE49-F238E27FC236}">
                <a16:creationId xmlns:a16="http://schemas.microsoft.com/office/drawing/2014/main" id="{8FF3179A-EFFA-407B-9ADE-33DA6233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A39E"/>
                </a:solidFill>
              </a:defRPr>
            </a:pPr>
            <a:r>
              <a:rPr sz="1425" b="0">
                <a:solidFill>
                  <a:srgbClr val="9BA39E"/>
                </a:solidFill>
              </a:rPr>
              <a:t>같은 시계열·지역 홀드아웃에서</a:t>
            </a:r>
          </a:p>
          <a:p xmlns:a="http://schemas.openxmlformats.org/drawingml/2006/main">
            <a:pPr algn="l">
              <a:defRPr sz="1425" b="0">
                <a:solidFill>
                  <a:srgbClr val="9BA39E"/>
                </a:solidFill>
              </a:defRPr>
            </a:pPr>
            <a:r>
              <a:rPr sz="1425" b="0">
                <a:solidFill>
                  <a:srgbClr val="9BA39E"/>
                </a:solidFill>
              </a:rPr>
              <a:t>해석력과 순위 성능을 동시에 비교한다.</a:t>
            </a:r>
          </a:p>
        </p:txBody>
      </p:sp>
      <p:sp>
        <p:nvSpPr>
          <p:cNvPr id="8" name="rowline-0">
            <a:extLst xmlns:a="http://schemas.openxmlformats.org/drawingml/2006/main">
              <a:ext uri="{FF2B5EF4-FFF2-40B4-BE49-F238E27FC236}">
                <a16:creationId xmlns:a16="http://schemas.microsoft.com/office/drawing/2014/main" id="{A16C1A3D-AABD-4CE0-B884-8A55B791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23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C"/>
            </a:solidFill>
            <a:prstDash val="solid"/>
          </a:ln>
        </p:spPr>
      </p:sp>
      <p:sp>
        <p:nvSpPr>
          <p:cNvPr id="9" name="tag-0">
            <a:extLst xmlns:a="http://schemas.openxmlformats.org/drawingml/2006/main">
              <a:ext uri="{FF2B5EF4-FFF2-40B4-BE49-F238E27FC236}">
                <a16:creationId xmlns:a16="http://schemas.microsoft.com/office/drawing/2014/main" id="{215D144B-7835-4626-A2F4-1AE1A783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43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0E8"/>
                </a:solidFill>
              </a:defRPr>
            </a:pPr>
            <a:r>
              <a:rPr sz="975" b="1">
                <a:solidFill>
                  <a:srgbClr val="F3F0E8"/>
                </a:solidFill>
              </a:rPr>
              <a:t>BASELINE</a:t>
            </a:r>
          </a:p>
        </p:txBody>
      </p:sp>
      <p:sp>
        <p:nvSpPr>
          <p:cNvPr id="10" name="model-0">
            <a:extLst xmlns:a="http://schemas.openxmlformats.org/drawingml/2006/main">
              <a:ext uri="{FF2B5EF4-FFF2-40B4-BE49-F238E27FC236}">
                <a16:creationId xmlns:a16="http://schemas.microsoft.com/office/drawing/2014/main" id="{74335F8E-B637-4AC9-9B4E-4196170B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478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3F0E8"/>
                </a:solidFill>
              </a:defRPr>
            </a:pPr>
            <a:r>
              <a:rPr sz="2175" b="1">
                <a:solidFill>
                  <a:srgbClr val="F3F0E8"/>
                </a:solidFill>
              </a:rPr>
              <a:t>Huff · PPML</a:t>
            </a:r>
          </a:p>
        </p:txBody>
      </p:sp>
      <p:sp>
        <p:nvSpPr>
          <p:cNvPr id="11" name="meaning-0">
            <a:extLst xmlns:a="http://schemas.openxmlformats.org/drawingml/2006/main">
              <a:ext uri="{FF2B5EF4-FFF2-40B4-BE49-F238E27FC236}">
                <a16:creationId xmlns:a16="http://schemas.microsoft.com/office/drawing/2014/main" id="{9F83685D-20A7-4A61-8A27-C4BCD2CC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39E"/>
                </a:solidFill>
              </a:defRPr>
            </a:pPr>
            <a:r>
              <a:rPr sz="1275" b="0">
                <a:solidFill>
                  <a:srgbClr val="9BA39E"/>
                </a:solidFill>
              </a:rPr>
              <a:t>거리저항과 계수 해석</a:t>
            </a:r>
          </a:p>
        </p:txBody>
      </p:sp>
      <p:sp>
        <p:nvSpPr>
          <p:cNvPr id="12" name="rowline-1">
            <a:extLst xmlns:a="http://schemas.openxmlformats.org/drawingml/2006/main">
              <a:ext uri="{FF2B5EF4-FFF2-40B4-BE49-F238E27FC236}">
                <a16:creationId xmlns:a16="http://schemas.microsoft.com/office/drawing/2014/main" id="{C9F68730-DFCB-444F-BA66-F7F21C43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466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C"/>
            </a:solidFill>
            <a:prstDash val="solid"/>
          </a:ln>
        </p:spPr>
      </p:sp>
      <p:sp>
        <p:nvSpPr>
          <p:cNvPr id="13" name="tag-1">
            <a:extLst xmlns:a="http://schemas.openxmlformats.org/drawingml/2006/main">
              <a:ext uri="{FF2B5EF4-FFF2-40B4-BE49-F238E27FC236}">
                <a16:creationId xmlns:a16="http://schemas.microsoft.com/office/drawing/2014/main" id="{8A0C12C2-AD65-4132-951C-3A99AEBD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2B7FF"/>
                </a:solidFill>
              </a:defRPr>
            </a:pPr>
            <a:r>
              <a:rPr sz="975" b="1">
                <a:solidFill>
                  <a:srgbClr val="82B7FF"/>
                </a:solidFill>
              </a:rPr>
              <a:t>NONLINEAR</a:t>
            </a:r>
          </a:p>
        </p:txBody>
      </p:sp>
      <p:sp>
        <p:nvSpPr>
          <p:cNvPr id="14" name="model-1">
            <a:extLst xmlns:a="http://schemas.openxmlformats.org/drawingml/2006/main">
              <a:ext uri="{FF2B5EF4-FFF2-40B4-BE49-F238E27FC236}">
                <a16:creationId xmlns:a16="http://schemas.microsoft.com/office/drawing/2014/main" id="{D014837C-6C6B-4289-BE55-1A262AFE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2B7FF"/>
                </a:solidFill>
              </a:defRPr>
            </a:pPr>
            <a:r>
              <a:rPr sz="2175" b="1">
                <a:solidFill>
                  <a:srgbClr val="82B7FF"/>
                </a:solidFill>
              </a:rPr>
              <a:t>GAM · CatBoost</a:t>
            </a:r>
          </a:p>
        </p:txBody>
      </p:sp>
      <p:sp>
        <p:nvSpPr>
          <p:cNvPr id="15" name="meaning-1">
            <a:extLst xmlns:a="http://schemas.openxmlformats.org/drawingml/2006/main">
              <a:ext uri="{FF2B5EF4-FFF2-40B4-BE49-F238E27FC236}">
                <a16:creationId xmlns:a16="http://schemas.microsoft.com/office/drawing/2014/main" id="{905F8769-232E-4B26-A118-065FC0F0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39E"/>
                </a:solidFill>
              </a:defRPr>
            </a:pPr>
            <a:r>
              <a:rPr sz="1275" b="0">
                <a:solidFill>
                  <a:srgbClr val="9BA39E"/>
                </a:solidFill>
              </a:rPr>
              <a:t>포화·곡률·상호작용 탐색</a:t>
            </a:r>
          </a:p>
        </p:txBody>
      </p:sp>
      <p:sp>
        <p:nvSpPr>
          <p:cNvPr id="16" name="rowline-2">
            <a:extLst xmlns:a="http://schemas.openxmlformats.org/drawingml/2006/main">
              <a:ext uri="{FF2B5EF4-FFF2-40B4-BE49-F238E27FC236}">
                <a16:creationId xmlns:a16="http://schemas.microsoft.com/office/drawing/2014/main" id="{150A4009-92BE-4556-97AC-45E00F91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29200"/>
            <a:ext cx="4095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C"/>
            </a:solidFill>
            <a:prstDash val="solid"/>
          </a:ln>
        </p:spPr>
      </p:sp>
      <p:sp>
        <p:nvSpPr>
          <p:cNvPr id="17" name="tag-2">
            <a:extLst xmlns:a="http://schemas.openxmlformats.org/drawingml/2006/main">
              <a:ext uri="{FF2B5EF4-FFF2-40B4-BE49-F238E27FC236}">
                <a16:creationId xmlns:a16="http://schemas.microsoft.com/office/drawing/2014/main" id="{6665B080-D3A8-409F-A608-6E718AFE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RANKING</a:t>
            </a:r>
          </a:p>
        </p:txBody>
      </p:sp>
      <p:sp>
        <p:nvSpPr>
          <p:cNvPr id="18" name="model-2">
            <a:extLst xmlns:a="http://schemas.openxmlformats.org/drawingml/2006/main">
              <a:ext uri="{FF2B5EF4-FFF2-40B4-BE49-F238E27FC236}">
                <a16:creationId xmlns:a16="http://schemas.microsoft.com/office/drawing/2014/main" id="{D0E2D310-59F9-483B-B1D6-BF22B29E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FF38"/>
                </a:solidFill>
              </a:defRPr>
            </a:pPr>
            <a:r>
              <a:rPr sz="2175" b="1">
                <a:solidFill>
                  <a:srgbClr val="B9FF38"/>
                </a:solidFill>
              </a:rPr>
              <a:t>LightGBM Ranker</a:t>
            </a:r>
          </a:p>
        </p:txBody>
      </p:sp>
      <p:sp>
        <p:nvSpPr>
          <p:cNvPr id="19" name="meaning-2">
            <a:extLst xmlns:a="http://schemas.openxmlformats.org/drawingml/2006/main">
              <a:ext uri="{FF2B5EF4-FFF2-40B4-BE49-F238E27FC236}">
                <a16:creationId xmlns:a16="http://schemas.microsoft.com/office/drawing/2014/main" id="{5551C148-9185-4D72-9496-7AF0BA33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81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39E"/>
                </a:solidFill>
              </a:defRPr>
            </a:pPr>
            <a:r>
              <a:rPr sz="1275" b="0">
                <a:solidFill>
                  <a:srgbClr val="9BA39E"/>
                </a:solidFill>
              </a:rPr>
              <a:t>NDCG@5 직접 최적화</a:t>
            </a:r>
          </a:p>
        </p:txBody>
      </p:sp>
      <p:sp>
        <p:nvSpPr>
          <p:cNvPr id="20" name="validation">
            <a:extLst xmlns:a="http://schemas.openxmlformats.org/drawingml/2006/main">
              <a:ext uri="{FF2B5EF4-FFF2-40B4-BE49-F238E27FC236}">
                <a16:creationId xmlns:a16="http://schemas.microsoft.com/office/drawing/2014/main" id="{BCE76A52-7992-43AF-ACC6-35DF4D46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4762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714"/>
          </a:solidFill>
          <a:ln xmlns:a="http://schemas.openxmlformats.org/drawingml/2006/main" w="9525">
            <a:solidFill>
              <a:srgbClr val="29302C"/>
            </a:solidFill>
            <a:prstDash val="solid"/>
          </a:ln>
        </p:spPr>
      </p:sp>
      <p:sp>
        <p:nvSpPr>
          <p:cNvPr id="21" name="v-tag">
            <a:extLst xmlns:a="http://schemas.openxmlformats.org/drawingml/2006/main">
              <a:ext uri="{FF2B5EF4-FFF2-40B4-BE49-F238E27FC236}">
                <a16:creationId xmlns:a16="http://schemas.microsoft.com/office/drawing/2014/main" id="{6C7626EC-1F5A-4D35-8907-924378E4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FF38"/>
                </a:solidFill>
              </a:defRPr>
            </a:pPr>
            <a:r>
              <a:rPr sz="1425" b="1">
                <a:solidFill>
                  <a:srgbClr val="B9FF38"/>
                </a:solidFill>
              </a:rPr>
              <a:t>검증 규칙</a:t>
            </a:r>
          </a:p>
        </p:txBody>
      </p:sp>
      <p:sp>
        <p:nvSpPr>
          <p:cNvPr id="22" name="v-list">
            <a:extLst xmlns:a="http://schemas.openxmlformats.org/drawingml/2006/main">
              <a:ext uri="{FF2B5EF4-FFF2-40B4-BE49-F238E27FC236}">
                <a16:creationId xmlns:a16="http://schemas.microsoft.com/office/drawing/2014/main" id="{C630D954-E831-452D-9BE8-B79D58A4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0E8"/>
                </a:solidFill>
              </a:defRPr>
            </a:pPr>
            <a:r>
              <a:rPr sz="1275" b="0">
                <a:solidFill>
                  <a:srgbClr val="F3F0E8"/>
                </a:solidFill>
              </a:rPr>
              <a:t>Random split 금지</a:t>
            </a:r>
          </a:p>
          <a:p xmlns:a="http://schemas.openxmlformats.org/drawingml/2006/main">
            <a:pPr algn="l">
              <a:defRPr sz="1275" b="0">
                <a:solidFill>
                  <a:srgbClr val="F3F0E8"/>
                </a:solidFill>
              </a:defRPr>
            </a:pPr>
            <a:r>
              <a:rPr sz="1275" b="0">
                <a:solidFill>
                  <a:srgbClr val="F3F0E8"/>
                </a:solidFill>
              </a:rPr>
              <a:t>과거 분기 → 미래 분기</a:t>
            </a:r>
          </a:p>
          <a:p xmlns:a="http://schemas.openxmlformats.org/drawingml/2006/main">
            <a:pPr algn="l">
              <a:defRPr sz="1275" b="0">
                <a:solidFill>
                  <a:srgbClr val="F3F0E8"/>
                </a:solidFill>
              </a:defRPr>
            </a:pPr>
            <a:r>
              <a:rPr sz="1275" b="0">
                <a:solidFill>
                  <a:srgbClr val="F3F0E8"/>
                </a:solidFill>
              </a:rPr>
              <a:t>서울 일부 지역 → 미관측 지역</a:t>
            </a:r>
          </a:p>
          <a:p xmlns:a="http://schemas.openxmlformats.org/drawingml/2006/main">
            <a:pPr algn="l">
              <a:defRPr sz="1275" b="0">
                <a:solidFill>
                  <a:srgbClr val="F3F0E8"/>
                </a:solidFill>
              </a:defRPr>
            </a:pPr>
            <a:r>
              <a:rPr sz="1275" b="0">
                <a:solidFill>
                  <a:srgbClr val="F3F0E8"/>
                </a:solidFill>
              </a:rPr>
              <a:t>NDCG@5 · Poisson deviance · SHAP 안정성</a:t>
            </a:r>
          </a:p>
        </p:txBody>
      </p:sp>
      <p:sp>
        <p:nvSpPr>
          <p:cNvPr id="23" name="verdict">
            <a:extLst xmlns:a="http://schemas.openxmlformats.org/drawingml/2006/main">
              <a:ext uri="{FF2B5EF4-FFF2-40B4-BE49-F238E27FC236}">
                <a16:creationId xmlns:a16="http://schemas.microsoft.com/office/drawing/2014/main" id="{3E2FAE8D-FD3E-49BA-883F-171F1842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8102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B9FF38"/>
                </a:solidFill>
              </a:defRPr>
            </a:pPr>
            <a:r>
              <a:rPr sz="1500" b="1">
                <a:solidFill>
                  <a:srgbClr val="B9FF38"/>
                </a:solidFill>
              </a:rPr>
              <a:t>가장 복잡한 모델이 아니라,</a:t>
            </a:r>
          </a:p>
          <a:p xmlns:a="http://schemas.openxmlformats.org/drawingml/2006/main">
            <a:pPr algn="r">
              <a:defRPr sz="1500" b="1">
                <a:solidFill>
                  <a:srgbClr val="B9FF38"/>
                </a:solidFill>
              </a:defRPr>
            </a:pPr>
            <a:r>
              <a:rPr sz="1500" b="1">
                <a:solidFill>
                  <a:srgbClr val="B9FF38"/>
                </a:solidFill>
              </a:rPr>
              <a:t>새 시점·새 지역에서도 유지되는 모델을 채택한다.</a:t>
            </a:r>
          </a:p>
        </p:txBody>
      </p:sp>
    </p:spTree>
    <p:extLst>
      <p:ext uri="{BB962C8B-B14F-4D97-AF65-F5344CB8AC3E}">
        <p14:creationId xmlns:p14="http://schemas.microsoft.com/office/powerpoint/2010/main" val="970611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ase-5">
            <a:extLst xmlns:a="http://schemas.openxmlformats.org/drawingml/2006/main">
              <a:ext uri="{FF2B5EF4-FFF2-40B4-BE49-F238E27FC236}">
                <a16:creationId xmlns:a16="http://schemas.microsoft.com/office/drawing/2014/main" id="{C7DAD267-179F-4472-9C09-46681B11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CASE 05</a:t>
            </a:r>
          </a:p>
        </p:txBody>
      </p:sp>
      <p:sp>
        <p:nvSpPr>
          <p:cNvPr id="2" name="label-5">
            <a:extLst xmlns:a="http://schemas.openxmlformats.org/drawingml/2006/main">
              <a:ext uri="{FF2B5EF4-FFF2-40B4-BE49-F238E27FC236}">
                <a16:creationId xmlns:a16="http://schemas.microsoft.com/office/drawing/2014/main" id="{5A27C251-7176-4456-927F-A9B1A2F9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39E"/>
                </a:solidFill>
              </a:defRPr>
            </a:pPr>
            <a:r>
              <a:rPr sz="975" b="1">
                <a:solidFill>
                  <a:srgbClr val="9BA39E"/>
                </a:solidFill>
              </a:rPr>
              <a:t>FINE-TUNING DECISION</a:t>
            </a:r>
          </a:p>
        </p:txBody>
      </p:sp>
      <p:sp>
        <p:nvSpPr>
          <p:cNvPr id="3" name="date-5">
            <a:extLst xmlns:a="http://schemas.openxmlformats.org/drawingml/2006/main">
              <a:ext uri="{FF2B5EF4-FFF2-40B4-BE49-F238E27FC236}">
                <a16:creationId xmlns:a16="http://schemas.microsoft.com/office/drawing/2014/main" id="{986F067E-7EE8-44E6-9564-E748C1B9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39E"/>
                </a:solidFill>
              </a:defRPr>
            </a:pPr>
            <a:r>
              <a:rPr sz="900" b="1">
                <a:solidFill>
                  <a:srgbClr val="9BA39E"/>
                </a:solidFill>
              </a:rPr>
              <a:t>MAXIMUS / DAT / 2026.09.03</a:t>
            </a:r>
          </a:p>
        </p:txBody>
      </p:sp>
      <p:sp>
        <p:nvSpPr>
          <p:cNvPr id="4" name="top-rule-5">
            <a:extLst xmlns:a="http://schemas.openxmlformats.org/drawingml/2006/main">
              <a:ext uri="{FF2B5EF4-FFF2-40B4-BE49-F238E27FC236}">
                <a16:creationId xmlns:a16="http://schemas.microsoft.com/office/drawing/2014/main" id="{E1AC71F6-5FC3-4E3B-8116-701D8A2E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02C"/>
            </a:solidFill>
            <a:prstDash val="solid"/>
          </a:ln>
        </p:spPr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05605950-0921-4663-9902-6CEFB2AF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722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39E"/>
                </a:solidFill>
              </a:defRPr>
            </a:pPr>
            <a:r>
              <a:rPr sz="900" b="1">
                <a:solidFill>
                  <a:srgbClr val="9BA39E"/>
                </a:solidFill>
              </a:rPr>
              <a:t>05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6ABDF77-27B2-46E7-824E-2EF6B40A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5250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3F0E8"/>
                </a:solidFill>
              </a:defRPr>
            </a:pPr>
            <a:r>
              <a:rPr sz="3675" b="1">
                <a:solidFill>
                  <a:srgbClr val="F3F0E8"/>
                </a:solidFill>
              </a:rPr>
              <a:t>파인튜닝?</a:t>
            </a:r>
          </a:p>
          <a:p xmlns:a="http://schemas.openxmlformats.org/drawingml/2006/main">
            <a:pPr algn="l">
              <a:defRPr sz="3675" b="1">
                <a:solidFill>
                  <a:srgbClr val="F3F0E8"/>
                </a:solidFill>
              </a:defRPr>
            </a:pPr>
            <a:r>
              <a:rPr sz="3675" b="1">
                <a:solidFill>
                  <a:srgbClr val="F3F0E8"/>
                </a:solidFill>
              </a:rPr>
              <a:t>지금은 아니다.</a:t>
            </a:r>
          </a:p>
        </p:txBody>
      </p:sp>
      <p:sp>
        <p:nvSpPr>
          <p:cNvPr id="7" name="desc">
            <a:extLst xmlns:a="http://schemas.openxmlformats.org/drawingml/2006/main">
              <a:ext uri="{FF2B5EF4-FFF2-40B4-BE49-F238E27FC236}">
                <a16:creationId xmlns:a16="http://schemas.microsoft.com/office/drawing/2014/main" id="{297FBEC1-20B2-46F4-BABD-225186DC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BA39E"/>
                </a:solidFill>
              </a:defRPr>
            </a:pPr>
            <a:r>
              <a:rPr sz="1500" b="0">
                <a:solidFill>
                  <a:srgbClr val="9BA39E"/>
                </a:solidFill>
              </a:rPr>
              <a:t>데이터가 적은 초기에는 텍스트 모델보다</a:t>
            </a:r>
          </a:p>
          <a:p xmlns:a="http://schemas.openxmlformats.org/drawingml/2006/main">
            <a:pPr algn="l">
              <a:defRPr sz="1500" b="0">
                <a:solidFill>
                  <a:srgbClr val="9BA39E"/>
                </a:solidFill>
              </a:defRPr>
            </a:pPr>
            <a:r>
              <a:rPr sz="1500" b="0">
                <a:solidFill>
                  <a:srgbClr val="9BA39E"/>
                </a:solidFill>
              </a:rPr>
              <a:t>후보군·라벨·랭킹 피처의 품질이 성능을 좌우한다.</a:t>
            </a:r>
          </a:p>
        </p:txBody>
      </p:sp>
      <p:sp>
        <p:nvSpPr>
          <p:cNvPr id="8" name="st-0">
            <a:extLst xmlns:a="http://schemas.openxmlformats.org/drawingml/2006/main">
              <a:ext uri="{FF2B5EF4-FFF2-40B4-BE49-F238E27FC236}">
                <a16:creationId xmlns:a16="http://schemas.microsoft.com/office/drawing/2014/main" id="{AAC31249-5F30-4350-B43B-BDABBC99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23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FF38"/>
                </a:solidFill>
              </a:defRPr>
            </a:pPr>
            <a:r>
              <a:rPr sz="1050" b="1">
                <a:solidFill>
                  <a:srgbClr val="B9FF38"/>
                </a:solidFill>
              </a:rPr>
              <a:t>NOW</a:t>
            </a:r>
          </a:p>
        </p:txBody>
      </p:sp>
      <p:sp>
        <p:nvSpPr>
          <p:cNvPr id="9" name="sh-0">
            <a:extLst xmlns:a="http://schemas.openxmlformats.org/drawingml/2006/main">
              <a:ext uri="{FF2B5EF4-FFF2-40B4-BE49-F238E27FC236}">
                <a16:creationId xmlns:a16="http://schemas.microsoft.com/office/drawing/2014/main" id="{CCAF16FB-4518-4A7E-8C27-1691F785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0668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FF38"/>
                </a:solidFill>
              </a:defRPr>
            </a:pPr>
            <a:r>
              <a:rPr sz="2100" b="1">
                <a:solidFill>
                  <a:srgbClr val="B9FF38"/>
                </a:solidFill>
              </a:rPr>
              <a:t>Frozen SBERT</a:t>
            </a:r>
          </a:p>
        </p:txBody>
      </p:sp>
      <p:sp>
        <p:nvSpPr>
          <p:cNvPr id="10" name="sb-0">
            <a:extLst xmlns:a="http://schemas.openxmlformats.org/drawingml/2006/main">
              <a:ext uri="{FF2B5EF4-FFF2-40B4-BE49-F238E27FC236}">
                <a16:creationId xmlns:a16="http://schemas.microsoft.com/office/drawing/2014/main" id="{B67793CE-88A3-4458-887C-22657AE1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430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39E"/>
                </a:solidFill>
              </a:defRPr>
            </a:pPr>
            <a:r>
              <a:rPr sz="1200" b="0">
                <a:solidFill>
                  <a:srgbClr val="9BA39E"/>
                </a:solidFill>
              </a:rPr>
              <a:t>사용자 목적 문장 ↔ 점포 텍스트</a:t>
            </a:r>
          </a:p>
          <a:p xmlns:a="http://schemas.openxmlformats.org/drawingml/2006/main">
            <a:pPr algn="l">
              <a:defRPr sz="1200" b="0">
                <a:solidFill>
                  <a:srgbClr val="9BA39E"/>
                </a:solidFill>
              </a:defRPr>
            </a:pPr>
            <a:r>
              <a:rPr sz="1200" b="0">
                <a:solidFill>
                  <a:srgbClr val="9BA39E"/>
                </a:solidFill>
              </a:rPr>
              <a:t>임베딩 유사도를 하나의 피처로 사용</a:t>
            </a:r>
          </a:p>
        </p:txBody>
      </p:sp>
      <p:sp>
        <p:nvSpPr>
          <p:cNvPr id="11" name="sep-0">
            <a:extLst xmlns:a="http://schemas.openxmlformats.org/drawingml/2006/main">
              <a:ext uri="{FF2B5EF4-FFF2-40B4-BE49-F238E27FC236}">
                <a16:creationId xmlns:a16="http://schemas.microsoft.com/office/drawing/2014/main" id="{D4BB941A-832C-4F55-BF56-4DE920FC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4800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C"/>
            </a:solidFill>
            <a:prstDash val="solid"/>
          </a:ln>
        </p:spPr>
      </p:sp>
      <p:sp>
        <p:nvSpPr>
          <p:cNvPr id="12" name="st-1">
            <a:extLst xmlns:a="http://schemas.openxmlformats.org/drawingml/2006/main">
              <a:ext uri="{FF2B5EF4-FFF2-40B4-BE49-F238E27FC236}">
                <a16:creationId xmlns:a16="http://schemas.microsoft.com/office/drawing/2014/main" id="{6398FF9D-9C11-4580-958A-44F1A890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86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A39E"/>
                </a:solidFill>
              </a:defRPr>
            </a:pPr>
            <a:r>
              <a:rPr sz="1050" b="1">
                <a:solidFill>
                  <a:srgbClr val="9BA39E"/>
                </a:solidFill>
              </a:rPr>
              <a:t>NEXT</a:t>
            </a:r>
          </a:p>
        </p:txBody>
      </p:sp>
      <p:sp>
        <p:nvSpPr>
          <p:cNvPr id="13" name="sh-1">
            <a:extLst xmlns:a="http://schemas.openxmlformats.org/drawingml/2006/main">
              <a:ext uri="{FF2B5EF4-FFF2-40B4-BE49-F238E27FC236}">
                <a16:creationId xmlns:a16="http://schemas.microsoft.com/office/drawing/2014/main" id="{9BE2EA6F-16E3-4813-B9DC-C0D3F464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28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0E8"/>
                </a:solidFill>
              </a:defRPr>
            </a:pPr>
            <a:r>
              <a:rPr sz="2100" b="1">
                <a:solidFill>
                  <a:srgbClr val="F3F0E8"/>
                </a:solidFill>
              </a:rPr>
              <a:t>Weak labels</a:t>
            </a:r>
          </a:p>
        </p:txBody>
      </p:sp>
      <p:sp>
        <p:nvSpPr>
          <p:cNvPr id="14" name="sb-1">
            <a:extLst xmlns:a="http://schemas.openxmlformats.org/drawingml/2006/main">
              <a:ext uri="{FF2B5EF4-FFF2-40B4-BE49-F238E27FC236}">
                <a16:creationId xmlns:a16="http://schemas.microsoft.com/office/drawing/2014/main" id="{0125CCFD-7E4D-4BE4-99B0-CC6F429E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051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39E"/>
                </a:solidFill>
              </a:defRPr>
            </a:pPr>
            <a:r>
              <a:rPr sz="1200" b="0">
                <a:solidFill>
                  <a:srgbClr val="9BA39E"/>
                </a:solidFill>
              </a:rPr>
              <a:t>목적–업종 규칙으로 positive와</a:t>
            </a:r>
          </a:p>
          <a:p xmlns:a="http://schemas.openxmlformats.org/drawingml/2006/main">
            <a:pPr algn="l">
              <a:defRPr sz="1200" b="0">
                <a:solidFill>
                  <a:srgbClr val="9BA39E"/>
                </a:solidFill>
              </a:defRPr>
            </a:pPr>
            <a:r>
              <a:rPr sz="1200" b="0">
                <a:solidFill>
                  <a:srgbClr val="9BA39E"/>
                </a:solidFill>
              </a:rPr>
              <a:t>hard negative 쌍을 만들고 검증</a:t>
            </a:r>
          </a:p>
        </p:txBody>
      </p:sp>
      <p:sp>
        <p:nvSpPr>
          <p:cNvPr id="15" name="sep-1">
            <a:extLst xmlns:a="http://schemas.openxmlformats.org/drawingml/2006/main">
              <a:ext uri="{FF2B5EF4-FFF2-40B4-BE49-F238E27FC236}">
                <a16:creationId xmlns:a16="http://schemas.microsoft.com/office/drawing/2014/main" id="{FA4BA39D-C0DE-40F7-9201-AF68A416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4800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C"/>
            </a:solidFill>
            <a:prstDash val="solid"/>
          </a:ln>
        </p:spPr>
      </p:sp>
      <p:sp>
        <p:nvSpPr>
          <p:cNvPr id="16" name="st-2">
            <a:extLst xmlns:a="http://schemas.openxmlformats.org/drawingml/2006/main">
              <a:ext uri="{FF2B5EF4-FFF2-40B4-BE49-F238E27FC236}">
                <a16:creationId xmlns:a16="http://schemas.microsoft.com/office/drawing/2014/main" id="{1257DD7D-DC34-4BD4-A0F1-0823059F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A39E"/>
                </a:solidFill>
              </a:defRPr>
            </a:pPr>
            <a:r>
              <a:rPr sz="1050" b="1">
                <a:solidFill>
                  <a:srgbClr val="9BA39E"/>
                </a:solidFill>
              </a:rPr>
              <a:t>LATER</a:t>
            </a:r>
          </a:p>
        </p:txBody>
      </p:sp>
      <p:sp>
        <p:nvSpPr>
          <p:cNvPr id="17" name="sh-2">
            <a:extLst xmlns:a="http://schemas.openxmlformats.org/drawingml/2006/main">
              <a:ext uri="{FF2B5EF4-FFF2-40B4-BE49-F238E27FC236}">
                <a16:creationId xmlns:a16="http://schemas.microsoft.com/office/drawing/2014/main" id="{BC343766-1C41-4CA9-BEE7-8BE07FC5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91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0E8"/>
                </a:solidFill>
              </a:defRPr>
            </a:pPr>
            <a:r>
              <a:rPr sz="2100" b="1">
                <a:solidFill>
                  <a:srgbClr val="F3F0E8"/>
                </a:solidFill>
              </a:rPr>
              <a:t>Contrastive FT</a:t>
            </a:r>
          </a:p>
        </p:txBody>
      </p:sp>
      <p:sp>
        <p:nvSpPr>
          <p:cNvPr id="18" name="sb-2">
            <a:extLst xmlns:a="http://schemas.openxmlformats.org/drawingml/2006/main">
              <a:ext uri="{FF2B5EF4-FFF2-40B4-BE49-F238E27FC236}">
                <a16:creationId xmlns:a16="http://schemas.microsoft.com/office/drawing/2014/main" id="{1147A2FA-2851-4EC5-8658-2ACDADFB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672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39E"/>
                </a:solidFill>
              </a:defRPr>
            </a:pPr>
            <a:r>
              <a:rPr sz="1200" b="0">
                <a:solidFill>
                  <a:srgbClr val="9BA39E"/>
                </a:solidFill>
              </a:rPr>
              <a:t>충분한 선택 로그가 쌓이면</a:t>
            </a:r>
          </a:p>
          <a:p xmlns:a="http://schemas.openxmlformats.org/drawingml/2006/main">
            <a:pPr algn="l">
              <a:defRPr sz="1200" b="0">
                <a:solidFill>
                  <a:srgbClr val="9BA39E"/>
                </a:solidFill>
              </a:defRPr>
            </a:pPr>
            <a:r>
              <a:rPr sz="1200" b="0">
                <a:solidFill>
                  <a:srgbClr val="9BA39E"/>
                </a:solidFill>
              </a:rPr>
              <a:t>InfoNCE / triplet loss 실험</a:t>
            </a:r>
          </a:p>
        </p:txBody>
      </p:sp>
      <p:sp>
        <p:nvSpPr>
          <p:cNvPr id="19" name="rule-box">
            <a:extLst xmlns:a="http://schemas.openxmlformats.org/drawingml/2006/main">
              <a:ext uri="{FF2B5EF4-FFF2-40B4-BE49-F238E27FC236}">
                <a16:creationId xmlns:a16="http://schemas.microsoft.com/office/drawing/2014/main" id="{EC929C5A-ACE7-43B8-A6A5-CE863045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ule-tag">
            <a:extLst xmlns:a="http://schemas.openxmlformats.org/drawingml/2006/main">
              <a:ext uri="{FF2B5EF4-FFF2-40B4-BE49-F238E27FC236}">
                <a16:creationId xmlns:a16="http://schemas.microsoft.com/office/drawing/2014/main" id="{D44B6EEA-8DE8-4510-9D5A-07E192E5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E0D"/>
                </a:solidFill>
              </a:defRPr>
            </a:pPr>
            <a:r>
              <a:rPr sz="1200" b="1">
                <a:solidFill>
                  <a:srgbClr val="0B0E0D"/>
                </a:solidFill>
              </a:rPr>
              <a:t>채택 조건</a:t>
            </a:r>
          </a:p>
        </p:txBody>
      </p:sp>
      <p:sp>
        <p:nvSpPr>
          <p:cNvPr id="21" name="rule-text">
            <a:extLst xmlns:a="http://schemas.openxmlformats.org/drawingml/2006/main">
              <a:ext uri="{FF2B5EF4-FFF2-40B4-BE49-F238E27FC236}">
                <a16:creationId xmlns:a16="http://schemas.microsoft.com/office/drawing/2014/main" id="{5F6E7B05-443A-4054-A1BD-87F17A3B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E0D"/>
                </a:solidFill>
              </a:defRPr>
            </a:pPr>
            <a:r>
              <a:rPr sz="1425" b="1">
                <a:solidFill>
                  <a:srgbClr val="0B0E0D"/>
                </a:solidFill>
              </a:rPr>
              <a:t>Frozen 대비 Recall@K·NDCG 상승</a:t>
            </a:r>
          </a:p>
          <a:p xmlns:a="http://schemas.openxmlformats.org/drawingml/2006/main">
            <a:pPr algn="l">
              <a:defRPr sz="1425" b="1">
                <a:solidFill>
                  <a:srgbClr val="0B0E0D"/>
                </a:solidFill>
              </a:defRPr>
            </a:pPr>
            <a:r>
              <a:rPr sz="1425" b="1">
                <a:solidFill>
                  <a:srgbClr val="0B0E0D"/>
                </a:solidFill>
              </a:rPr>
              <a:t>+ 지역 홀드아웃에서도 성능 유지</a:t>
            </a:r>
          </a:p>
        </p:txBody>
      </p:sp>
    </p:spTree>
    <p:extLst>
      <p:ext uri="{BB962C8B-B14F-4D97-AF65-F5344CB8AC3E}">
        <p14:creationId xmlns:p14="http://schemas.microsoft.com/office/powerpoint/2010/main" val="1227211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E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ase-6">
            <a:extLst xmlns:a="http://schemas.openxmlformats.org/drawingml/2006/main">
              <a:ext uri="{FF2B5EF4-FFF2-40B4-BE49-F238E27FC236}">
                <a16:creationId xmlns:a16="http://schemas.microsoft.com/office/drawing/2014/main" id="{9D3E834D-EF8C-422D-845A-54EA13BD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CASE 06</a:t>
            </a:r>
          </a:p>
        </p:txBody>
      </p:sp>
      <p:sp>
        <p:nvSpPr>
          <p:cNvPr id="2" name="label-6">
            <a:extLst xmlns:a="http://schemas.openxmlformats.org/drawingml/2006/main">
              <a:ext uri="{FF2B5EF4-FFF2-40B4-BE49-F238E27FC236}">
                <a16:creationId xmlns:a16="http://schemas.microsoft.com/office/drawing/2014/main" id="{E555C561-D547-4951-8155-9D63F0A8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A39E"/>
                </a:solidFill>
              </a:defRPr>
            </a:pPr>
            <a:r>
              <a:rPr sz="975" b="1">
                <a:solidFill>
                  <a:srgbClr val="9BA39E"/>
                </a:solidFill>
              </a:rPr>
              <a:t>SEMESTER OUTCOME</a:t>
            </a:r>
          </a:p>
        </p:txBody>
      </p:sp>
      <p:sp>
        <p:nvSpPr>
          <p:cNvPr id="3" name="date-6">
            <a:extLst xmlns:a="http://schemas.openxmlformats.org/drawingml/2006/main">
              <a:ext uri="{FF2B5EF4-FFF2-40B4-BE49-F238E27FC236}">
                <a16:creationId xmlns:a16="http://schemas.microsoft.com/office/drawing/2014/main" id="{9F17835D-9C34-41BB-86BF-C62F4752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39E"/>
                </a:solidFill>
              </a:defRPr>
            </a:pPr>
            <a:r>
              <a:rPr sz="900" b="1">
                <a:solidFill>
                  <a:srgbClr val="9BA39E"/>
                </a:solidFill>
              </a:rPr>
              <a:t>MAXIMUS / DAT / 2026.09.03</a:t>
            </a:r>
          </a:p>
        </p:txBody>
      </p:sp>
      <p:sp>
        <p:nvSpPr>
          <p:cNvPr id="4" name="top-rule-6">
            <a:extLst xmlns:a="http://schemas.openxmlformats.org/drawingml/2006/main">
              <a:ext uri="{FF2B5EF4-FFF2-40B4-BE49-F238E27FC236}">
                <a16:creationId xmlns:a16="http://schemas.microsoft.com/office/drawing/2014/main" id="{15D5B653-FA9E-4703-B599-5ED3B490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302C"/>
            </a:solidFill>
            <a:prstDash val="solid"/>
          </a:ln>
        </p:spPr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C3CDC1EA-5EAB-444D-98EC-2E1B1531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722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A39E"/>
                </a:solidFill>
              </a:defRPr>
            </a:pPr>
            <a:r>
              <a:rPr sz="900" b="1">
                <a:solidFill>
                  <a:srgbClr val="9BA39E"/>
                </a:solidFill>
              </a:rPr>
              <a:t>06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4B33057-8656-44E8-90E9-D7ABB1A7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657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0E8"/>
                </a:solidFill>
              </a:defRPr>
            </a:pPr>
            <a:r>
              <a:rPr sz="3225" b="1">
                <a:solidFill>
                  <a:srgbClr val="F3F0E8"/>
                </a:solidFill>
              </a:rPr>
              <a:t>한 학기 뒤, 우리는</a:t>
            </a:r>
          </a:p>
          <a:p xmlns:a="http://schemas.openxmlformats.org/drawingml/2006/main">
            <a:pPr algn="l">
              <a:defRPr sz="3225" b="1">
                <a:solidFill>
                  <a:srgbClr val="F3F0E8"/>
                </a:solidFill>
              </a:defRPr>
            </a:pPr>
            <a:r>
              <a:rPr sz="3225" b="1">
                <a:solidFill>
                  <a:srgbClr val="F3F0E8"/>
                </a:solidFill>
              </a:rPr>
              <a:t>‘추천 이유’까지 검증한다</a:t>
            </a:r>
          </a:p>
        </p:txBody>
      </p:sp>
      <p:sp>
        <p:nvSpPr>
          <p:cNvPr id="7" name="num-0">
            <a:extLst xmlns:a="http://schemas.openxmlformats.org/drawingml/2006/main">
              <a:ext uri="{FF2B5EF4-FFF2-40B4-BE49-F238E27FC236}">
                <a16:creationId xmlns:a16="http://schemas.microsoft.com/office/drawing/2014/main" id="{037FE654-11DC-45F5-8D5D-D140038A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FF38"/>
                </a:solidFill>
              </a:defRPr>
            </a:pPr>
            <a:r>
              <a:rPr sz="2100" b="1">
                <a:solidFill>
                  <a:srgbClr val="B9FF38"/>
                </a:solidFill>
              </a:rPr>
              <a:t>01</a:t>
            </a:r>
          </a:p>
        </p:txBody>
      </p:sp>
      <p:sp>
        <p:nvSpPr>
          <p:cNvPr id="8" name="step-line-0">
            <a:extLst xmlns:a="http://schemas.openxmlformats.org/drawingml/2006/main">
              <a:ext uri="{FF2B5EF4-FFF2-40B4-BE49-F238E27FC236}">
                <a16:creationId xmlns:a16="http://schemas.microsoft.com/office/drawing/2014/main" id="{308C9A1C-5997-4106-8875-1DFA3F56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C"/>
            </a:solidFill>
            <a:prstDash val="solid"/>
          </a:ln>
        </p:spPr>
      </p:sp>
      <p:sp>
        <p:nvSpPr>
          <p:cNvPr id="9" name="head-0">
            <a:extLst xmlns:a="http://schemas.openxmlformats.org/drawingml/2006/main">
              <a:ext uri="{FF2B5EF4-FFF2-40B4-BE49-F238E27FC236}">
                <a16:creationId xmlns:a16="http://schemas.microsoft.com/office/drawing/2014/main" id="{12F59E0E-9496-42A6-A8B3-2CF7B47C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0E8"/>
                </a:solidFill>
              </a:defRPr>
            </a:pPr>
            <a:r>
              <a:rPr sz="1875" b="1">
                <a:solidFill>
                  <a:srgbClr val="F3F0E8"/>
                </a:solidFill>
              </a:rPr>
              <a:t>DATA</a:t>
            </a:r>
          </a:p>
        </p:txBody>
      </p:sp>
      <p:sp>
        <p:nvSpPr>
          <p:cNvPr id="10" name="body-0">
            <a:extLst xmlns:a="http://schemas.openxmlformats.org/drawingml/2006/main">
              <a:ext uri="{FF2B5EF4-FFF2-40B4-BE49-F238E27FC236}">
                <a16:creationId xmlns:a16="http://schemas.microsoft.com/office/drawing/2014/main" id="{0D6F8484-3C4F-4DD3-88CD-CF20BC37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39E"/>
                </a:solidFill>
              </a:defRPr>
            </a:pPr>
            <a:r>
              <a:rPr sz="1275" b="0">
                <a:solidFill>
                  <a:srgbClr val="9BA39E"/>
                </a:solidFill>
              </a:rPr>
              <a:t>B078·B079 정합성</a:t>
            </a:r>
          </a:p>
          <a:p xmlns:a="http://schemas.openxmlformats.org/drawingml/2006/main">
            <a:pPr algn="l">
              <a:defRPr sz="1275" b="0">
                <a:solidFill>
                  <a:srgbClr val="9BA39E"/>
                </a:solidFill>
              </a:defRPr>
            </a:pPr>
            <a:r>
              <a:rPr sz="1275" b="0">
                <a:solidFill>
                  <a:srgbClr val="9BA39E"/>
                </a:solidFill>
              </a:rPr>
              <a:t>50분 후보군</a:t>
            </a:r>
          </a:p>
        </p:txBody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3C7E658E-ACED-4B06-B96D-6878C757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89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FF38"/>
                </a:solidFill>
              </a:defRPr>
            </a:pPr>
            <a:r>
              <a:rPr sz="2100" b="1">
                <a:solidFill>
                  <a:srgbClr val="B9FF38"/>
                </a:solidFill>
              </a:rPr>
              <a:t>02</a:t>
            </a:r>
          </a:p>
        </p:txBody>
      </p:sp>
      <p:sp>
        <p:nvSpPr>
          <p:cNvPr id="12" name="step-line-1">
            <a:extLst xmlns:a="http://schemas.openxmlformats.org/drawingml/2006/main">
              <a:ext uri="{FF2B5EF4-FFF2-40B4-BE49-F238E27FC236}">
                <a16:creationId xmlns:a16="http://schemas.microsoft.com/office/drawing/2014/main" id="{D4ADDC0A-335B-4FDF-B353-29B65911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C"/>
            </a:solidFill>
            <a:prstDash val="solid"/>
          </a:ln>
        </p:spPr>
      </p:sp>
      <p:sp>
        <p:nvSpPr>
          <p:cNvPr id="13" name="head-1">
            <a:extLst xmlns:a="http://schemas.openxmlformats.org/drawingml/2006/main">
              <a:ext uri="{FF2B5EF4-FFF2-40B4-BE49-F238E27FC236}">
                <a16:creationId xmlns:a16="http://schemas.microsoft.com/office/drawing/2014/main" id="{ED9FD0AD-20A1-4CCB-8113-7400DCEA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147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0E8"/>
                </a:solidFill>
              </a:defRPr>
            </a:pPr>
            <a:r>
              <a:rPr sz="1875" b="1">
                <a:solidFill>
                  <a:srgbClr val="F3F0E8"/>
                </a:solidFill>
              </a:rPr>
              <a:t>GAP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35EB4BC0-53DA-44D2-8229-596157E0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39E"/>
                </a:solidFill>
              </a:defRPr>
            </a:pPr>
            <a:r>
              <a:rPr sz="1275" b="0">
                <a:solidFill>
                  <a:srgbClr val="9BA39E"/>
                </a:solidFill>
              </a:rPr>
              <a:t>미래 시점 잔차</a:t>
            </a:r>
          </a:p>
          <a:p xmlns:a="http://schemas.openxmlformats.org/drawingml/2006/main">
            <a:pPr algn="l">
              <a:defRPr sz="1275" b="0">
                <a:solidFill>
                  <a:srgbClr val="9BA39E"/>
                </a:solidFill>
              </a:defRPr>
            </a:pPr>
            <a:r>
              <a:rPr sz="1275" b="0">
                <a:solidFill>
                  <a:srgbClr val="9BA39E"/>
                </a:solidFill>
              </a:rPr>
              <a:t>통과형·목적소비형</a:t>
            </a:r>
          </a:p>
        </p:txBody>
      </p:sp>
      <p:sp>
        <p:nvSpPr>
          <p:cNvPr id="15" name="num-2">
            <a:extLst xmlns:a="http://schemas.openxmlformats.org/drawingml/2006/main">
              <a:ext uri="{FF2B5EF4-FFF2-40B4-BE49-F238E27FC236}">
                <a16:creationId xmlns:a16="http://schemas.microsoft.com/office/drawing/2014/main" id="{6CAC2D6A-2407-44E9-AD5A-FED547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FF38"/>
                </a:solidFill>
              </a:defRPr>
            </a:pPr>
            <a:r>
              <a:rPr sz="2100" b="1">
                <a:solidFill>
                  <a:srgbClr val="B9FF38"/>
                </a:solidFill>
              </a:rPr>
              <a:t>03</a:t>
            </a:r>
          </a:p>
        </p:txBody>
      </p:sp>
      <p:sp>
        <p:nvSpPr>
          <p:cNvPr id="16" name="step-line-2">
            <a:extLst xmlns:a="http://schemas.openxmlformats.org/drawingml/2006/main">
              <a:ext uri="{FF2B5EF4-FFF2-40B4-BE49-F238E27FC236}">
                <a16:creationId xmlns:a16="http://schemas.microsoft.com/office/drawing/2014/main" id="{A0E51713-86B8-4E25-AD90-C46EEBB5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302C"/>
            </a:solidFill>
            <a:prstDash val="solid"/>
          </a:ln>
        </p:spPr>
      </p:sp>
      <p:sp>
        <p:nvSpPr>
          <p:cNvPr id="17" name="head-2">
            <a:extLst xmlns:a="http://schemas.openxmlformats.org/drawingml/2006/main">
              <a:ext uri="{FF2B5EF4-FFF2-40B4-BE49-F238E27FC236}">
                <a16:creationId xmlns:a16="http://schemas.microsoft.com/office/drawing/2014/main" id="{46E639DC-F7B3-4C3A-8472-4AE8AC9A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0E8"/>
                </a:solidFill>
              </a:defRPr>
            </a:pPr>
            <a:r>
              <a:rPr sz="1875" b="1">
                <a:solidFill>
                  <a:srgbClr val="F3F0E8"/>
                </a:solidFill>
              </a:rPr>
              <a:t>RANK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DAF7FD9C-8DA1-4BBB-BC82-3D726301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39E"/>
                </a:solidFill>
              </a:defRPr>
            </a:pPr>
            <a:r>
              <a:rPr sz="1275" b="0">
                <a:solidFill>
                  <a:srgbClr val="9BA39E"/>
                </a:solidFill>
              </a:rPr>
              <a:t>목적별 Top-K</a:t>
            </a:r>
          </a:p>
          <a:p xmlns:a="http://schemas.openxmlformats.org/drawingml/2006/main">
            <a:pPr algn="l">
              <a:defRPr sz="1275" b="0">
                <a:solidFill>
                  <a:srgbClr val="9BA39E"/>
                </a:solidFill>
              </a:defRPr>
            </a:pPr>
            <a:r>
              <a:rPr sz="1275" b="0">
                <a:solidFill>
                  <a:srgbClr val="9BA39E"/>
                </a:solidFill>
              </a:rPr>
              <a:t>NDCG@5·Recall@K</a:t>
            </a:r>
          </a:p>
        </p:txBody>
      </p:sp>
      <p:sp>
        <p:nvSpPr>
          <p:cNvPr id="19" name="num-3">
            <a:extLst xmlns:a="http://schemas.openxmlformats.org/drawingml/2006/main">
              <a:ext uri="{FF2B5EF4-FFF2-40B4-BE49-F238E27FC236}">
                <a16:creationId xmlns:a16="http://schemas.microsoft.com/office/drawing/2014/main" id="{E2A448FE-176A-4323-BEBF-5061A4FE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FF38"/>
                </a:solidFill>
              </a:defRPr>
            </a:pPr>
            <a:r>
              <a:rPr sz="2100" b="1">
                <a:solidFill>
                  <a:srgbClr val="B9FF38"/>
                </a:solidFill>
              </a:rPr>
              <a:t>04</a:t>
            </a:r>
          </a:p>
        </p:txBody>
      </p:sp>
      <p:sp>
        <p:nvSpPr>
          <p:cNvPr id="20" name="step-line-3">
            <a:extLst xmlns:a="http://schemas.openxmlformats.org/drawingml/2006/main">
              <a:ext uri="{FF2B5EF4-FFF2-40B4-BE49-F238E27FC236}">
                <a16:creationId xmlns:a16="http://schemas.microsoft.com/office/drawing/2014/main" id="{75287AB7-0D7F-4F45-89F7-550FF69D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FF38"/>
            </a:solidFill>
            <a:prstDash val="solid"/>
          </a:ln>
        </p:spPr>
      </p:sp>
      <p:sp>
        <p:nvSpPr>
          <p:cNvPr id="21" name="head-3">
            <a:extLst xmlns:a="http://schemas.openxmlformats.org/drawingml/2006/main">
              <a:ext uri="{FF2B5EF4-FFF2-40B4-BE49-F238E27FC236}">
                <a16:creationId xmlns:a16="http://schemas.microsoft.com/office/drawing/2014/main" id="{2B28ADE1-A976-455F-B765-5BF4F515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147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0E8"/>
                </a:solidFill>
              </a:defRPr>
            </a:pPr>
            <a:r>
              <a:rPr sz="1875" b="1">
                <a:solidFill>
                  <a:srgbClr val="F3F0E8"/>
                </a:solidFill>
              </a:rPr>
              <a:t>EXPLAIN</a:t>
            </a:r>
          </a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D2C8A7DC-7418-4C36-9BA2-9771F410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39E"/>
                </a:solidFill>
              </a:defRPr>
            </a:pPr>
            <a:r>
              <a:rPr sz="1275" b="0">
                <a:solidFill>
                  <a:srgbClr val="9BA39E"/>
                </a:solidFill>
              </a:rPr>
              <a:t>SHAP·계수·반례</a:t>
            </a:r>
          </a:p>
          <a:p xmlns:a="http://schemas.openxmlformats.org/drawingml/2006/main">
            <a:pPr algn="l">
              <a:defRPr sz="1275" b="0">
                <a:solidFill>
                  <a:srgbClr val="9BA39E"/>
                </a:solidFill>
              </a:defRPr>
            </a:pPr>
            <a:r>
              <a:rPr sz="1275" b="0">
                <a:solidFill>
                  <a:srgbClr val="9BA39E"/>
                </a:solidFill>
              </a:rPr>
              <a:t>추천 근거 점검</a:t>
            </a:r>
          </a:p>
        </p:txBody>
      </p:sp>
      <p:sp>
        <p:nvSpPr>
          <p:cNvPr id="23" name="final">
            <a:extLst xmlns:a="http://schemas.openxmlformats.org/drawingml/2006/main">
              <a:ext uri="{FF2B5EF4-FFF2-40B4-BE49-F238E27FC236}">
                <a16:creationId xmlns:a16="http://schemas.microsoft.com/office/drawing/2014/main" id="{04FAC616-F7CA-4E97-8FCC-5E5C1A84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104900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nal-text">
            <a:extLst xmlns:a="http://schemas.openxmlformats.org/drawingml/2006/main">
              <a:ext uri="{FF2B5EF4-FFF2-40B4-BE49-F238E27FC236}">
                <a16:creationId xmlns:a16="http://schemas.microsoft.com/office/drawing/2014/main" id="{0E4FB8CA-C454-4C03-A8B1-B14932B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E0D"/>
                </a:solidFill>
              </a:defRPr>
            </a:pPr>
            <a:r>
              <a:rPr sz="1800" b="1">
                <a:solidFill>
                  <a:srgbClr val="0B0E0D"/>
                </a:solidFill>
              </a:rPr>
              <a:t>최종 산출물  목적별 후보 생성기 + 유동–매출 괴리모형 + 설명 가능한 목적지 랭커</a:t>
            </a:r>
          </a:p>
        </p:txBody>
      </p:sp>
      <p:sp>
        <p:nvSpPr>
          <p:cNvPr id="25" name="close">
            <a:extLst xmlns:a="http://schemas.openxmlformats.org/drawingml/2006/main">
              <a:ext uri="{FF2B5EF4-FFF2-40B4-BE49-F238E27FC236}">
                <a16:creationId xmlns:a16="http://schemas.microsoft.com/office/drawing/2014/main" id="{7E306BC3-D157-4BA1-BC76-CA573C17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293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F0E8"/>
                </a:solidFill>
              </a:defRPr>
            </a:pPr>
            <a:r>
              <a:rPr sz="1275" b="1">
                <a:solidFill>
                  <a:srgbClr val="F3F0E8"/>
                </a:solidFill>
              </a:rPr>
              <a:t>좋은 추천은 답을 말하는 모델이 아니라, 선택 근거가 데이터로 반증되는 모델이다.</a:t>
            </a:r>
          </a:p>
        </p:txBody>
      </p:sp>
    </p:spTree>
    <p:extLst>
      <p:ext uri="{BB962C8B-B14F-4D97-AF65-F5344CB8AC3E}">
        <p14:creationId xmlns:p14="http://schemas.microsoft.com/office/powerpoint/2010/main" val="1376757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2026-08-30T02:32:20.7910000Z</dcterms:created>
  <dcterms:modified xsi:type="dcterms:W3CDTF">2026-08-30T02:32:20.7910000Z</dcterms:modified>
</coreProperties>
</file>