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af6680b0ba403b" /><Relationship Type="http://schemas.openxmlformats.org/officeDocument/2006/relationships/extended-properties" Target="/docProps/app.xml" Id="Rc5fe011b3ace46ea" /><Relationship Type="http://schemas.openxmlformats.org/officeDocument/2006/relationships/officeDocument" Target="/ppt/presentation.xml" Id="R1a393276b4e84a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b78d67a3674418"/>
  </p:sldMasterIdLst>
  <p:notesMasterIdLst>
    <p:notesMasterId xmlns:r="http://schemas.openxmlformats.org/officeDocument/2006/relationships" r:id="R761d46da5cfa4a8a"/>
  </p:notesMasterIdLst>
  <p:sldIdLst>
    <p:sldId xmlns:r="http://schemas.openxmlformats.org/officeDocument/2006/relationships" id="256" r:id="R103d3fe704b648ea"/>
    <p:sldId xmlns:r="http://schemas.openxmlformats.org/officeDocument/2006/relationships" id="257" r:id="Ra287861f70c84d02"/>
    <p:sldId xmlns:r="http://schemas.openxmlformats.org/officeDocument/2006/relationships" id="258" r:id="R08f665f249954f10"/>
    <p:sldId xmlns:r="http://schemas.openxmlformats.org/officeDocument/2006/relationships" id="259" r:id="R7cee088d105f4992"/>
    <p:sldId xmlns:r="http://schemas.openxmlformats.org/officeDocument/2006/relationships" id="260" r:id="R6daf7059e2034011"/>
    <p:sldId xmlns:r="http://schemas.openxmlformats.org/officeDocument/2006/relationships" id="261" r:id="R2a7f176e5e4d438a"/>
    <p:sldId xmlns:r="http://schemas.openxmlformats.org/officeDocument/2006/relationships" id="262" r:id="R0cc58ed4bd0f42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69679d4f94a30" /><Relationship Type="http://schemas.openxmlformats.org/officeDocument/2006/relationships/slideMaster" Target="/ppt/slideMasters/slideMaster1.xml" Id="R9fb78d67a3674418" /><Relationship Type="http://schemas.openxmlformats.org/officeDocument/2006/relationships/notesMaster" Target="/ppt/notesMasters/notesMaster1.xml" Id="R761d46da5cfa4a8a" /><Relationship Type="http://schemas.openxmlformats.org/officeDocument/2006/relationships/presProps" Target="/ppt/presProps.xml" Id="Rfbc6f52f26f3466e" /><Relationship Type="http://schemas.openxmlformats.org/officeDocument/2006/relationships/tableStyles" Target="/ppt/tableStyles.xml" Id="Rbcf8d0eb07ec4768" /><Relationship Type="http://schemas.openxmlformats.org/officeDocument/2006/relationships/slide" Target="/ppt/slides/slide1.xml" Id="R103d3fe704b648ea" /><Relationship Type="http://schemas.openxmlformats.org/officeDocument/2006/relationships/slide" Target="/ppt/slides/slide2.xml" Id="Ra287861f70c84d02" /><Relationship Type="http://schemas.openxmlformats.org/officeDocument/2006/relationships/slide" Target="/ppt/slides/slide3.xml" Id="R08f665f249954f10" /><Relationship Type="http://schemas.openxmlformats.org/officeDocument/2006/relationships/slide" Target="/ppt/slides/slide4.xml" Id="R7cee088d105f4992" /><Relationship Type="http://schemas.openxmlformats.org/officeDocument/2006/relationships/slide" Target="/ppt/slides/slide5.xml" Id="R6daf7059e2034011" /><Relationship Type="http://schemas.openxmlformats.org/officeDocument/2006/relationships/slide" Target="/ppt/slides/slide6.xml" Id="R2a7f176e5e4d438a" /><Relationship Type="http://schemas.openxmlformats.org/officeDocument/2006/relationships/slide" Target="/ppt/slides/slide7.xml" Id="R0cc58ed4bd0f42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4d8fd7dc0749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221426f9d0473e" /><Relationship Type="http://schemas.openxmlformats.org/officeDocument/2006/relationships/notesMaster" Target="/ppt/notesMasters/notesMaster1.xml" Id="Rc803a14acbb84c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06d4deeb494d15" /><Relationship Type="http://schemas.openxmlformats.org/officeDocument/2006/relationships/notesMaster" Target="/ppt/notesMasters/notesMaster1.xml" Id="R75e9b8c5182f4d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a57826adf9400d" /><Relationship Type="http://schemas.openxmlformats.org/officeDocument/2006/relationships/notesMaster" Target="/ppt/notesMasters/notesMaster1.xml" Id="R8ae826d9ba7c4a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a19f5cde494dff" /><Relationship Type="http://schemas.openxmlformats.org/officeDocument/2006/relationships/notesMaster" Target="/ppt/notesMasters/notesMaster1.xml" Id="R4ced5984f3da43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268390d9f844d5" /><Relationship Type="http://schemas.openxmlformats.org/officeDocument/2006/relationships/notesMaster" Target="/ppt/notesMasters/notesMaster1.xml" Id="R85d1b670669240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950bb34f004fc4" /><Relationship Type="http://schemas.openxmlformats.org/officeDocument/2006/relationships/notesMaster" Target="/ppt/notesMasters/notesMaster1.xml" Id="Rdfac74c3aa2244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782feb46424d5e" /><Relationship Type="http://schemas.openxmlformats.org/officeDocument/2006/relationships/notesMaster" Target="/ppt/notesMasters/notesMaster1.xml" Id="R703a1153948b4a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저희가 만들려는 것은 앱 자체가 아니라 목적지 선택 확률을 추정하고 순위를 만드는 추천모델입니다. 출발지, 목적, 가용시간이 주어졌을 때 어떤 행정동이 선택될지를 모델링합니다.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Maximus Week 3 final report,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추천모델에서 가장 먼저 해야 할 일은 후보군을 정확히 정의하는 것입니다. 동대문구의 출발 격자별로 실제 50분 안에 갈 수 있는 행정동만 남기고, 출발지와 후보 목적지, 목적과 시간대를 한 행으로 만드는 Long Table을 구성합니다.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B078 sample schema</a:t>
            </a:r>
          </a:p>
          <a:p xmlns:a="http://schemas.openxmlformats.org/drawingml/2006/main">
            <a:r>
              <a:t>- Week 3 final report sections 2.2 and 3.2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변수는 세 축으로 정리합니다. 접근성은 이동비용, 흡인력은 목적 관련 시설과 업종구조, 전환력은 유입이 소비로 이어지는 정도입니다. 종속변수는 목적지별 이동량 또는 후보군 안에서의 선택 점유율로 두고 회귀와 랭킹 문제를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B078/B079 sample schemas</a:t>
            </a:r>
          </a:p>
          <a:p xmlns:a="http://schemas.openxmlformats.org/drawingml/2006/main">
            <a:r>
              <a:t>- Huff 1963</a:t>
            </a:r>
          </a:p>
          <a:p xmlns:a="http://schemas.openxmlformats.org/drawingml/2006/main">
            <a:r>
              <a:t>- Arentze et al. 2005</a:t>
            </a:r>
          </a:p>
          <a:p xmlns:a="http://schemas.openxmlformats.org/drawingml/2006/main">
            <a:r>
              <a:t>- Week 3 final report section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비선형 지역을 먼저 제거하지 않습니다. 전체 지역으로 기대매출을 학습한 뒤 미래 분기에서 잔차를 계산합니다. OLS나 PPML을 기준선으로 두고, GAM의 스플라인과 트리 모델을 비교해 포화와 상호작용을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Team-provided Spearman EDA</a:t>
            </a:r>
          </a:p>
          <a:p xmlns:a="http://schemas.openxmlformats.org/drawingml/2006/main">
            <a:r>
              <a:t>- Week 3 final report section 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목적은 이동량의 정확한 숫자보다 후보 안의 순위입니다. 조건부로짓이나 PPML로 선택요인을 해석하고, LightGBM Ranker의 LambdaRank로 출발지·목적·시간대별 그룹 안의 NDCG를 직접 최적화합니다.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Huff 1963</a:t>
            </a:r>
          </a:p>
          <a:p xmlns:a="http://schemas.openxmlformats.org/drawingml/2006/main">
            <a:r>
              <a:t>- Alam et al. 2025</a:t>
            </a:r>
          </a:p>
          <a:p xmlns:a="http://schemas.openxmlformats.org/drawingml/2006/main">
            <a:r>
              <a:t>- Week 3 final report sections 2.2 and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파인튜닝은 현재 꼭 필요한 단계가 아닙니다. 우선 사전학습 SBERT 임베딩을 고정해 유사도를 계산합니다. 목적과 업종 규칙으로 약한 라벨을 만들 수 있지만, 실제 선택 로그와 hard negative가 충분히 쌓였을 때만 대조학습을 실험하고 frozen baseline보다 좋아질 때 채택합니다.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 3 final report section 2.3</a:t>
            </a:r>
          </a:p>
          <a:p xmlns:a="http://schemas.openxmlformats.org/drawingml/2006/main">
            <a:r>
              <a:t>- Team modeling decision: frozen-encoder baseline before fine-tuning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학기 목표는 모델을 한 번에 복잡하게 만드는 것이 아니라 단계별로 반증하는 것입니다. 데이터 정합성, 통계 기준선, 랭커, 텍스트 모델 순으로 진행하고, 시간순 검증과 지역 홀드아웃을 통과한 모델만 다음 단계로 올립니다.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 3 final report section 4</a:t>
            </a:r>
          </a:p>
          <a:p xmlns:a="http://schemas.openxmlformats.org/drawingml/2006/main">
            <a:r>
              <a:t>- Local semester roadmap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bf0f76a5e44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9e7f2e977f4070" /><Relationship Type="http://schemas.openxmlformats.org/officeDocument/2006/relationships/slideLayout" Target="/ppt/slideLayouts/slideLayout1.xml" Id="R039c7e52692d46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c7e52692d46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f0bc845ed4d25" /><Relationship Type="http://schemas.openxmlformats.org/officeDocument/2006/relationships/notesSlide" Target="/ppt/notesSlides/notesSlide1.xml" Id="R009a500f215b4f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a78ceb75a45d5" /><Relationship Type="http://schemas.openxmlformats.org/officeDocument/2006/relationships/notesSlide" Target="/ppt/notesSlides/notesSlide2.xml" Id="R3a628f7828d643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4237c35444d55" /><Relationship Type="http://schemas.openxmlformats.org/officeDocument/2006/relationships/notesSlide" Target="/ppt/notesSlides/notesSlide3.xml" Id="Rdb2c3a60927d4d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7098a714442a6" /><Relationship Type="http://schemas.openxmlformats.org/officeDocument/2006/relationships/notesSlide" Target="/ppt/notesSlides/notesSlide4.xml" Id="R56da1d44086f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e93439d85472b" /><Relationship Type="http://schemas.openxmlformats.org/officeDocument/2006/relationships/notesSlide" Target="/ppt/notesSlides/notesSlide5.xml" Id="R9d59394a778949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82c4719694004" /><Relationship Type="http://schemas.openxmlformats.org/officeDocument/2006/relationships/notesSlide" Target="/ppt/notesSlides/notesSlide6.xml" Id="Ra433be8fa25a4c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5bd5c3806404f" /><Relationship Type="http://schemas.openxmlformats.org/officeDocument/2006/relationships/notesSlide" Target="/ppt/notesSlides/notesSlide7.xml" Id="R0f193d17565a41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E5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am">
            <a:extLst xmlns:a="http://schemas.openxmlformats.org/drawingml/2006/main">
              <a:ext uri="{FF2B5EF4-FFF2-40B4-BE49-F238E27FC236}">
                <a16:creationId xmlns:a16="http://schemas.microsoft.com/office/drawing/2014/main" id="{3259A8A3-040C-4909-9582-2899AD12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</a:defRPr>
            </a:pPr>
            <a:r>
              <a:rPr sz="1200" b="1">
                <a:solidFill>
                  <a:srgbClr val="191919"/>
                </a:solidFill>
              </a:rPr>
              <a:t>TEAM MAXIMUS</a:t>
            </a:r>
          </a:p>
        </p:txBody>
      </p:sp>
      <p:sp>
        <p:nvSpPr>
          <p:cNvPr id="2" name="hero">
            <a:extLst xmlns:a="http://schemas.openxmlformats.org/drawingml/2006/main">
              <a:ext uri="{FF2B5EF4-FFF2-40B4-BE49-F238E27FC236}">
                <a16:creationId xmlns:a16="http://schemas.microsoft.com/office/drawing/2014/main" id="{72DA9CB1-5595-48B4-AD20-8D2AF745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91919"/>
                </a:solidFill>
              </a:defRPr>
            </a:pPr>
            <a:r>
              <a:rPr sz="3975" b="1">
                <a:solidFill>
                  <a:srgbClr val="191919"/>
                </a:solidFill>
              </a:rPr>
              <a:t>목적지 선택을</a:t>
            </a:r>
          </a:p>
          <a:p xmlns:a="http://schemas.openxmlformats.org/drawingml/2006/main">
            <a:pPr algn="l">
              <a:defRPr sz="3975" b="1">
                <a:solidFill>
                  <a:srgbClr val="191919"/>
                </a:solidFill>
              </a:defRPr>
            </a:pPr>
            <a:r>
              <a:rPr sz="3975" b="1">
                <a:solidFill>
                  <a:srgbClr val="191919"/>
                </a:solidFill>
              </a:rPr>
              <a:t>어떻게 모델링할 것인가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5A85F4CD-D947-40FF-9D27-4E766D48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1919"/>
                </a:solidFill>
              </a:defRPr>
            </a:pPr>
            <a:r>
              <a:rPr sz="1875" b="0">
                <a:solidFill>
                  <a:srgbClr val="191919"/>
                </a:solidFill>
              </a:rPr>
              <a:t>동대문구 출발 50분 생활권 · 목적별 상권 추천</a:t>
            </a:r>
          </a:p>
        </p:txBody>
      </p:sp>
      <p:sp>
        <p:nvSpPr>
          <p:cNvPr id="4" name="target">
            <a:extLst xmlns:a="http://schemas.openxmlformats.org/drawingml/2006/main">
              <a:ext uri="{FF2B5EF4-FFF2-40B4-BE49-F238E27FC236}">
                <a16:creationId xmlns:a16="http://schemas.microsoft.com/office/drawing/2014/main" id="{3A9A4B8D-81C5-40F5-A284-EE5DD0FB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52550"/>
            <a:ext cx="22479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">
            <a:extLst xmlns:a="http://schemas.openxmlformats.org/drawingml/2006/main">
              <a:ext uri="{FF2B5EF4-FFF2-40B4-BE49-F238E27FC236}">
                <a16:creationId xmlns:a16="http://schemas.microsoft.com/office/drawing/2014/main" id="{F286B926-F6AD-41DD-9F9E-0AE6A51D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90700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EE500"/>
                </a:solidFill>
              </a:defRPr>
            </a:pPr>
            <a:r>
              <a:rPr sz="2925" b="1">
                <a:solidFill>
                  <a:srgbClr val="FEE500"/>
                </a:solidFill>
              </a:rPr>
              <a:t>P(j | o,p,t)</a:t>
            </a:r>
          </a:p>
        </p:txBody>
      </p:sp>
      <p:sp>
        <p:nvSpPr>
          <p:cNvPr id="6" name="prob-label">
            <a:extLst xmlns:a="http://schemas.openxmlformats.org/drawingml/2006/main">
              <a:ext uri="{FF2B5EF4-FFF2-40B4-BE49-F238E27FC236}">
                <a16:creationId xmlns:a16="http://schemas.microsoft.com/office/drawing/2014/main" id="{CEEC9A19-B551-4C54-AD9E-64F182CE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목적지 j의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선택확률</a:t>
            </a:r>
          </a:p>
        </p:txBody>
      </p:sp>
      <p:sp>
        <p:nvSpPr>
          <p:cNvPr id="7" name="members">
            <a:extLst xmlns:a="http://schemas.openxmlformats.org/drawingml/2006/main">
              <a:ext uri="{FF2B5EF4-FFF2-40B4-BE49-F238E27FC236}">
                <a16:creationId xmlns:a16="http://schemas.microsoft.com/office/drawing/2014/main" id="{A49545EB-5B24-4FC2-8804-C849EE34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</a:defRPr>
            </a:pPr>
            <a:r>
              <a:rPr sz="1350" b="1">
                <a:solidFill>
                  <a:srgbClr val="191919"/>
                </a:solidFill>
              </a:rPr>
              <a:t>장한별 · 지우진 · 최시현</a:t>
            </a:r>
          </a:p>
        </p:txBody>
      </p:sp>
    </p:spTree>
    <p:extLst>
      <p:ext uri="{BB962C8B-B14F-4D97-AF65-F5344CB8AC3E}">
        <p14:creationId xmlns:p14="http://schemas.microsoft.com/office/powerpoint/2010/main" val="744802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ge-2">
            <a:extLst xmlns:a="http://schemas.openxmlformats.org/drawingml/2006/main">
              <a:ext uri="{FF2B5EF4-FFF2-40B4-BE49-F238E27FC236}">
                <a16:creationId xmlns:a16="http://schemas.microsoft.com/office/drawing/2014/main" id="{2927E0C1-EF4D-4329-8F16-1F75282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5E5D2BA-C5EE-44D9-B88B-FFB9DAA5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</a:defRPr>
            </a:pPr>
            <a:r>
              <a:rPr sz="2700" b="1">
                <a:solidFill>
                  <a:srgbClr val="191919"/>
                </a:solidFill>
              </a:rPr>
              <a:t>먼저 ‘선택 가능한 목적지’부터 정확히 정의한다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A1B6E9BF-5CED-4A72-891E-A809AB9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864"/>
                </a:solidFill>
              </a:defRPr>
            </a:pPr>
            <a:r>
              <a:rPr sz="1350" b="0">
                <a:solidFill>
                  <a:srgbClr val="6C6864"/>
                </a:solidFill>
              </a:rPr>
              <a:t>학습단위: 출발지 o × 후보 목적지 j × 목적 p × 시간대 t</a:t>
            </a:r>
          </a:p>
        </p:txBody>
      </p:sp>
      <p:sp>
        <p:nvSpPr>
          <p:cNvPr id="4" name="accent-2">
            <a:extLst xmlns:a="http://schemas.openxmlformats.org/drawingml/2006/main">
              <a:ext uri="{FF2B5EF4-FFF2-40B4-BE49-F238E27FC236}">
                <a16:creationId xmlns:a16="http://schemas.microsoft.com/office/drawing/2014/main" id="{D84F316B-DA71-4BC5-8C67-F2122DED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1BA25192-00FC-4558-866E-6F1B0E8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864"/>
                </a:solidFill>
              </a:defRPr>
            </a:pPr>
            <a:r>
              <a:rPr sz="825" b="1">
                <a:solidFill>
                  <a:srgbClr val="6C6864"/>
                </a:solidFill>
              </a:rPr>
              <a:t>TEAM MAXIMUS · DAT</a:t>
            </a:r>
          </a:p>
        </p:txBody>
      </p:sp>
      <p:sp>
        <p:nvSpPr>
          <p:cNvPr id="6" name="a1">
            <a:extLst xmlns:a="http://schemas.openxmlformats.org/drawingml/2006/main">
              <a:ext uri="{FF2B5EF4-FFF2-40B4-BE49-F238E27FC236}">
                <a16:creationId xmlns:a16="http://schemas.microsoft.com/office/drawing/2014/main" id="{70611403-4E94-464E-AC40-5464B59A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2C7"/>
            </a:solidFill>
            <a:prstDash val="solid"/>
          </a:ln>
        </p:spPr>
      </p:sp>
      <p:sp>
        <p:nvSpPr>
          <p:cNvPr id="7" name="a2">
            <a:extLst xmlns:a="http://schemas.openxmlformats.org/drawingml/2006/main">
              <a:ext uri="{FF2B5EF4-FFF2-40B4-BE49-F238E27FC236}">
                <a16:creationId xmlns:a16="http://schemas.microsoft.com/office/drawing/2014/main" id="{F0C7FD3A-E335-423D-A49D-8B89CDCF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528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2C7"/>
            </a:solidFill>
            <a:prstDash val="solid"/>
          </a:ln>
        </p:spPr>
      </p:sp>
      <p:sp>
        <p:nvSpPr>
          <p:cNvPr id="8" name="candidate-01">
            <a:extLst xmlns:a="http://schemas.openxmlformats.org/drawingml/2006/main">
              <a:ext uri="{FF2B5EF4-FFF2-40B4-BE49-F238E27FC236}">
                <a16:creationId xmlns:a16="http://schemas.microsoft.com/office/drawing/2014/main" id="{07541C5D-AE1A-4D42-BBC9-25FAAE2E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9" name="num-01">
            <a:extLst xmlns:a="http://schemas.openxmlformats.org/drawingml/2006/main">
              <a:ext uri="{FF2B5EF4-FFF2-40B4-BE49-F238E27FC236}">
                <a16:creationId xmlns:a16="http://schemas.microsoft.com/office/drawing/2014/main" id="{E289EC4B-E883-407C-9CA9-1A319726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864"/>
                </a:solidFill>
              </a:defRPr>
            </a:pPr>
            <a:r>
              <a:rPr sz="1200" b="1">
                <a:solidFill>
                  <a:srgbClr val="6C6864"/>
                </a:solidFill>
              </a:rPr>
              <a:t>01</a:t>
            </a:r>
          </a:p>
        </p:txBody>
      </p:sp>
      <p:sp>
        <p:nvSpPr>
          <p:cNvPr id="10" name="head-01">
            <a:extLst xmlns:a="http://schemas.openxmlformats.org/drawingml/2006/main">
              <a:ext uri="{FF2B5EF4-FFF2-40B4-BE49-F238E27FC236}">
                <a16:creationId xmlns:a16="http://schemas.microsoft.com/office/drawing/2014/main" id="{32F624AE-3E93-4C75-9651-E0F9DA86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91919"/>
                </a:solidFill>
              </a:defRPr>
            </a:pPr>
            <a:r>
              <a:rPr sz="2100" b="1">
                <a:solidFill>
                  <a:srgbClr val="191919"/>
                </a:solidFill>
              </a:rPr>
              <a:t>출발지 집합</a:t>
            </a:r>
          </a:p>
        </p:txBody>
      </p:sp>
      <p:sp>
        <p:nvSpPr>
          <p:cNvPr id="11" name="body-01">
            <a:extLst xmlns:a="http://schemas.openxmlformats.org/drawingml/2006/main">
              <a:ext uri="{FF2B5EF4-FFF2-40B4-BE49-F238E27FC236}">
                <a16:creationId xmlns:a16="http://schemas.microsoft.com/office/drawing/2014/main" id="{2ABD46E3-4705-4CAD-979D-6D08CB20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C6864"/>
                </a:solidFill>
              </a:defRPr>
            </a:pPr>
            <a:r>
              <a:rPr sz="1500" b="0">
                <a:solidFill>
                  <a:srgbClr val="6C6864"/>
                </a:solidFill>
              </a:rPr>
              <a:t>동대문구 B078 격자</a:t>
            </a:r>
          </a:p>
          <a:p xmlns:a="http://schemas.openxmlformats.org/drawingml/2006/main">
            <a:pPr algn="ctr">
              <a:defRPr sz="1500" b="0">
                <a:solidFill>
                  <a:srgbClr val="6C6864"/>
                </a:solidFill>
              </a:defRPr>
            </a:pPr>
            <a:r>
              <a:rPr sz="1500" b="0">
                <a:solidFill>
                  <a:srgbClr val="6C6864"/>
                </a:solidFill>
              </a:rPr>
              <a:t>또는 행정동 중심점</a:t>
            </a:r>
          </a:p>
        </p:txBody>
      </p:sp>
      <p:sp>
        <p:nvSpPr>
          <p:cNvPr id="12" name="candidate-02">
            <a:extLst xmlns:a="http://schemas.openxmlformats.org/drawingml/2006/main">
              <a:ext uri="{FF2B5EF4-FFF2-40B4-BE49-F238E27FC236}">
                <a16:creationId xmlns:a16="http://schemas.microsoft.com/office/drawing/2014/main" id="{27E9A197-AE4B-4A3A-B91A-8D61B596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285750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3" name="num-02">
            <a:extLst xmlns:a="http://schemas.openxmlformats.org/drawingml/2006/main">
              <a:ext uri="{FF2B5EF4-FFF2-40B4-BE49-F238E27FC236}">
                <a16:creationId xmlns:a16="http://schemas.microsoft.com/office/drawing/2014/main" id="{8ED4C594-7919-4DEE-AE92-DF704204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864"/>
                </a:solidFill>
              </a:defRPr>
            </a:pPr>
            <a:r>
              <a:rPr sz="1200" b="1">
                <a:solidFill>
                  <a:srgbClr val="6C6864"/>
                </a:solidFill>
              </a:rPr>
              <a:t>02</a:t>
            </a:r>
          </a:p>
        </p:txBody>
      </p:sp>
      <p:sp>
        <p:nvSpPr>
          <p:cNvPr id="14" name="head-02">
            <a:extLst xmlns:a="http://schemas.openxmlformats.org/drawingml/2006/main">
              <a:ext uri="{FF2B5EF4-FFF2-40B4-BE49-F238E27FC236}">
                <a16:creationId xmlns:a16="http://schemas.microsoft.com/office/drawing/2014/main" id="{32DD0DA0-0C7D-436E-B1BF-D8246479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91919"/>
                </a:solidFill>
              </a:defRPr>
            </a:pPr>
            <a:r>
              <a:rPr sz="2100" b="1">
                <a:solidFill>
                  <a:srgbClr val="191919"/>
                </a:solidFill>
              </a:rPr>
              <a:t>50분 후보군</a:t>
            </a:r>
          </a:p>
        </p:txBody>
      </p:sp>
      <p:sp>
        <p:nvSpPr>
          <p:cNvPr id="15" name="body-02">
            <a:extLst xmlns:a="http://schemas.openxmlformats.org/drawingml/2006/main">
              <a:ext uri="{FF2B5EF4-FFF2-40B4-BE49-F238E27FC236}">
                <a16:creationId xmlns:a16="http://schemas.microsoft.com/office/drawing/2014/main" id="{3413A18B-3B95-499B-9ED7-CA503063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C6864"/>
                </a:solidFill>
              </a:defRPr>
            </a:pPr>
            <a:r>
              <a:rPr sz="1500" b="0">
                <a:solidFill>
                  <a:srgbClr val="6C6864"/>
                </a:solidFill>
              </a:rPr>
              <a:t>카카오 대중교통 시간</a:t>
            </a:r>
          </a:p>
          <a:p xmlns:a="http://schemas.openxmlformats.org/drawingml/2006/main">
            <a:pPr algn="ctr">
              <a:defRPr sz="1500" b="0">
                <a:solidFill>
                  <a:srgbClr val="6C6864"/>
                </a:solidFill>
              </a:defRPr>
            </a:pPr>
            <a:r>
              <a:rPr sz="1500" b="0">
                <a:solidFill>
                  <a:srgbClr val="6C6864"/>
                </a:solidFill>
              </a:rPr>
              <a:t>MOVE_TIME 교차검증</a:t>
            </a:r>
          </a:p>
        </p:txBody>
      </p:sp>
      <p:sp>
        <p:nvSpPr>
          <p:cNvPr id="16" name="candidate-03">
            <a:extLst xmlns:a="http://schemas.openxmlformats.org/drawingml/2006/main">
              <a:ext uri="{FF2B5EF4-FFF2-40B4-BE49-F238E27FC236}">
                <a16:creationId xmlns:a16="http://schemas.microsoft.com/office/drawing/2014/main" id="{7659720C-FD0D-4312-AB48-CE238398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85750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-03">
            <a:extLst xmlns:a="http://schemas.openxmlformats.org/drawingml/2006/main">
              <a:ext uri="{FF2B5EF4-FFF2-40B4-BE49-F238E27FC236}">
                <a16:creationId xmlns:a16="http://schemas.microsoft.com/office/drawing/2014/main" id="{4E4493E8-1C53-4D66-8A77-0C2D83D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EE500"/>
                </a:solidFill>
              </a:defRPr>
            </a:pPr>
            <a:r>
              <a:rPr sz="1200" b="1">
                <a:solidFill>
                  <a:srgbClr val="FEE500"/>
                </a:solidFill>
              </a:rPr>
              <a:t>03</a:t>
            </a:r>
          </a:p>
        </p:txBody>
      </p:sp>
      <p:sp>
        <p:nvSpPr>
          <p:cNvPr id="18" name="head-03">
            <a:extLst xmlns:a="http://schemas.openxmlformats.org/drawingml/2006/main">
              <a:ext uri="{FF2B5EF4-FFF2-40B4-BE49-F238E27FC236}">
                <a16:creationId xmlns:a16="http://schemas.microsoft.com/office/drawing/2014/main" id="{CCBE6EF4-F2A5-42DA-9412-187949A0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Long Table</a:t>
            </a:r>
          </a:p>
        </p:txBody>
      </p:sp>
      <p:sp>
        <p:nvSpPr>
          <p:cNvPr id="19" name="body-03">
            <a:extLst xmlns:a="http://schemas.openxmlformats.org/drawingml/2006/main">
              <a:ext uri="{FF2B5EF4-FFF2-40B4-BE49-F238E27FC236}">
                <a16:creationId xmlns:a16="http://schemas.microsoft.com/office/drawing/2014/main" id="{BD2B55E6-5ED0-4584-8535-B497BD1D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EE500"/>
                </a:solidFill>
              </a:defRPr>
            </a:pPr>
            <a:r>
              <a:rPr sz="1500" b="0">
                <a:solidFill>
                  <a:srgbClr val="FEE500"/>
                </a:solidFill>
              </a:rPr>
              <a:t>o-j-p-t별 1행</a:t>
            </a:r>
          </a:p>
          <a:p xmlns:a="http://schemas.openxmlformats.org/drawingml/2006/main">
            <a:pPr algn="ctr">
              <a:defRPr sz="1500" b="0">
                <a:solidFill>
                  <a:srgbClr val="FEE500"/>
                </a:solidFill>
              </a:defRPr>
            </a:pPr>
            <a:r>
              <a:rPr sz="1500" b="0">
                <a:solidFill>
                  <a:srgbClr val="FEE500"/>
                </a:solidFill>
              </a:rPr>
              <a:t>선택/이동량을 label로</a:t>
            </a:r>
          </a:p>
        </p:txBody>
      </p:sp>
      <p:sp>
        <p:nvSpPr>
          <p:cNvPr id="20" name="candidate-note">
            <a:extLst xmlns:a="http://schemas.openxmlformats.org/drawingml/2006/main">
              <a:ext uri="{FF2B5EF4-FFF2-40B4-BE49-F238E27FC236}">
                <a16:creationId xmlns:a16="http://schemas.microsoft.com/office/drawing/2014/main" id="{4192FEFD-D3BE-4CE9-9D12-8D7E60CE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387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1919"/>
                </a:solidFill>
              </a:defRPr>
            </a:pPr>
            <a:r>
              <a:rPr sz="1650" b="1">
                <a:solidFill>
                  <a:srgbClr val="191919"/>
                </a:solidFill>
              </a:rPr>
              <a:t>후보군 밖의 지역은 음성 샘플이 아니라 ‘선택 불가능’으로 제외</a:t>
            </a:r>
          </a:p>
        </p:txBody>
      </p:sp>
      <p:sp>
        <p:nvSpPr>
          <p:cNvPr id="21" name="sensitivity">
            <a:extLst xmlns:a="http://schemas.openxmlformats.org/drawingml/2006/main">
              <a:ext uri="{FF2B5EF4-FFF2-40B4-BE49-F238E27FC236}">
                <a16:creationId xmlns:a16="http://schemas.microsoft.com/office/drawing/2014/main" id="{26454EFB-8748-4D07-B313-E6C433B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민감도: 30·40·50·60분에서 후보군과 순위 안정성 비교</a:t>
            </a:r>
          </a:p>
        </p:txBody>
      </p:sp>
    </p:spTree>
    <p:extLst>
      <p:ext uri="{BB962C8B-B14F-4D97-AF65-F5344CB8AC3E}">
        <p14:creationId xmlns:p14="http://schemas.microsoft.com/office/powerpoint/2010/main" val="218331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02B45140-27E0-43E0-AA1D-8FD6AEB7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86ECC9A-32A4-44C1-AE45-556C288D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</a:defRPr>
            </a:pPr>
            <a:r>
              <a:rPr sz="2700" b="1">
                <a:solidFill>
                  <a:srgbClr val="191919"/>
                </a:solidFill>
              </a:rPr>
              <a:t>모델 입력은 ‘접근성·흡인력·전환력’ 세 축으로 만든다</a:t>
            </a: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A70DF403-5091-450D-96F4-EE7D3D15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76792400-C918-4E0C-B54F-781BE50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864"/>
                </a:solidFill>
              </a:defRPr>
            </a:pPr>
            <a:r>
              <a:rPr sz="825" b="1">
                <a:solidFill>
                  <a:srgbClr val="6C6864"/>
                </a:solidFill>
              </a:rPr>
              <a:t>TEAM MAXIMUS · DAT</a:t>
            </a:r>
          </a:p>
        </p:txBody>
      </p:sp>
      <p:sp>
        <p:nvSpPr>
          <p:cNvPr id="5" name="feature-ACCESS">
            <a:extLst xmlns:a="http://schemas.openxmlformats.org/drawingml/2006/main">
              <a:ext uri="{FF2B5EF4-FFF2-40B4-BE49-F238E27FC236}">
                <a16:creationId xmlns:a16="http://schemas.microsoft.com/office/drawing/2014/main" id="{BAF02935-E0E7-4CFA-BDD6-AEDB8FB4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tag-ACCESS">
            <a:extLst xmlns:a="http://schemas.openxmlformats.org/drawingml/2006/main">
              <a:ext uri="{FF2B5EF4-FFF2-40B4-BE49-F238E27FC236}">
                <a16:creationId xmlns:a16="http://schemas.microsoft.com/office/drawing/2014/main" id="{952E37D1-F886-4240-90D3-2D5F9B3E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ACCESS</a:t>
            </a:r>
          </a:p>
        </p:txBody>
      </p:sp>
      <p:sp>
        <p:nvSpPr>
          <p:cNvPr id="7" name="fh-ACCESS">
            <a:extLst xmlns:a="http://schemas.openxmlformats.org/drawingml/2006/main">
              <a:ext uri="{FF2B5EF4-FFF2-40B4-BE49-F238E27FC236}">
                <a16:creationId xmlns:a16="http://schemas.microsoft.com/office/drawing/2014/main" id="{B623A4B2-AC44-4F0E-9735-74F4135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1919"/>
                </a:solidFill>
              </a:defRPr>
            </a:pPr>
            <a:r>
              <a:rPr sz="2175" b="1">
                <a:solidFill>
                  <a:srgbClr val="191919"/>
                </a:solidFill>
              </a:rPr>
              <a:t>접근성</a:t>
            </a:r>
          </a:p>
        </p:txBody>
      </p:sp>
      <p:sp>
        <p:nvSpPr>
          <p:cNvPr id="8" name="fb-ACCESS">
            <a:extLst xmlns:a="http://schemas.openxmlformats.org/drawingml/2006/main">
              <a:ext uri="{FF2B5EF4-FFF2-40B4-BE49-F238E27FC236}">
                <a16:creationId xmlns:a16="http://schemas.microsoft.com/office/drawing/2014/main" id="{7FCF582C-249E-4EEF-BA1E-C8C3EA9B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C6864"/>
                </a:solidFill>
              </a:defRPr>
            </a:pPr>
            <a:r>
              <a:rPr sz="1425" b="0">
                <a:solidFill>
                  <a:srgbClr val="6C6864"/>
                </a:solidFill>
              </a:rPr>
              <a:t>이동시간 · 환승</a:t>
            </a:r>
          </a:p>
          <a:p xmlns:a="http://schemas.openxmlformats.org/drawingml/2006/main">
            <a:pPr algn="ctr">
              <a:defRPr sz="1425" b="0">
                <a:solidFill>
                  <a:srgbClr val="6C6864"/>
                </a:solidFill>
              </a:defRPr>
            </a:pPr>
            <a:r>
              <a:rPr sz="1425" b="0">
                <a:solidFill>
                  <a:srgbClr val="6C6864"/>
                </a:solidFill>
              </a:rPr>
              <a:t>거리감쇠 · 50분 여유</a:t>
            </a:r>
          </a:p>
        </p:txBody>
      </p:sp>
      <p:sp>
        <p:nvSpPr>
          <p:cNvPr id="9" name="feature-ATTRACTION">
            <a:extLst xmlns:a="http://schemas.openxmlformats.org/drawingml/2006/main">
              <a:ext uri="{FF2B5EF4-FFF2-40B4-BE49-F238E27FC236}">
                <a16:creationId xmlns:a16="http://schemas.microsoft.com/office/drawing/2014/main" id="{A2342341-2BA2-4887-B3FE-32E30BEF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6B2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0" name="tag-ATTRACTION">
            <a:extLst xmlns:a="http://schemas.openxmlformats.org/drawingml/2006/main">
              <a:ext uri="{FF2B5EF4-FFF2-40B4-BE49-F238E27FC236}">
                <a16:creationId xmlns:a16="http://schemas.microsoft.com/office/drawing/2014/main" id="{8F2C5A57-A12E-4A51-AED6-DDD9796C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ATTRACTION</a:t>
            </a:r>
          </a:p>
        </p:txBody>
      </p:sp>
      <p:sp>
        <p:nvSpPr>
          <p:cNvPr id="11" name="fh-ATTRACTION">
            <a:extLst xmlns:a="http://schemas.openxmlformats.org/drawingml/2006/main">
              <a:ext uri="{FF2B5EF4-FFF2-40B4-BE49-F238E27FC236}">
                <a16:creationId xmlns:a16="http://schemas.microsoft.com/office/drawing/2014/main" id="{22D889FF-D403-490B-9BDD-0EF1979C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1919"/>
                </a:solidFill>
              </a:defRPr>
            </a:pPr>
            <a:r>
              <a:rPr sz="2175" b="1">
                <a:solidFill>
                  <a:srgbClr val="191919"/>
                </a:solidFill>
              </a:rPr>
              <a:t>상권 흡인력</a:t>
            </a:r>
          </a:p>
        </p:txBody>
      </p:sp>
      <p:sp>
        <p:nvSpPr>
          <p:cNvPr id="12" name="fb-ATTRACTION">
            <a:extLst xmlns:a="http://schemas.openxmlformats.org/drawingml/2006/main">
              <a:ext uri="{FF2B5EF4-FFF2-40B4-BE49-F238E27FC236}">
                <a16:creationId xmlns:a16="http://schemas.microsoft.com/office/drawing/2014/main" id="{CB1CC8AB-D071-48FE-92C8-C8412B10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C6864"/>
                </a:solidFill>
              </a:defRPr>
            </a:pPr>
            <a:r>
              <a:rPr sz="1425" b="0">
                <a:solidFill>
                  <a:srgbClr val="6C6864"/>
                </a:solidFill>
              </a:rPr>
              <a:t>목적 POI · 점포 수</a:t>
            </a:r>
          </a:p>
          <a:p xmlns:a="http://schemas.openxmlformats.org/drawingml/2006/main">
            <a:pPr algn="ctr">
              <a:defRPr sz="1425" b="0">
                <a:solidFill>
                  <a:srgbClr val="6C6864"/>
                </a:solidFill>
              </a:defRPr>
            </a:pPr>
            <a:r>
              <a:rPr sz="1425" b="0">
                <a:solidFill>
                  <a:srgbClr val="6C6864"/>
                </a:solidFill>
              </a:rPr>
              <a:t>Shannon Entropy · HHI · LQ</a:t>
            </a:r>
          </a:p>
        </p:txBody>
      </p:sp>
      <p:sp>
        <p:nvSpPr>
          <p:cNvPr id="13" name="feature-CONVERSION">
            <a:extLst xmlns:a="http://schemas.openxmlformats.org/drawingml/2006/main">
              <a:ext uri="{FF2B5EF4-FFF2-40B4-BE49-F238E27FC236}">
                <a16:creationId xmlns:a16="http://schemas.microsoft.com/office/drawing/2014/main" id="{A159A849-06B4-4B79-8237-4525D4A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g-CONVERSION">
            <a:extLst xmlns:a="http://schemas.openxmlformats.org/drawingml/2006/main">
              <a:ext uri="{FF2B5EF4-FFF2-40B4-BE49-F238E27FC236}">
                <a16:creationId xmlns:a16="http://schemas.microsoft.com/office/drawing/2014/main" id="{92200841-92EB-49E5-BA4F-4D0B6CC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E500"/>
                </a:solidFill>
              </a:defRPr>
            </a:pPr>
            <a:r>
              <a:rPr sz="1125" b="1">
                <a:solidFill>
                  <a:srgbClr val="FEE500"/>
                </a:solidFill>
              </a:rPr>
              <a:t>CONVERSION</a:t>
            </a:r>
          </a:p>
        </p:txBody>
      </p:sp>
      <p:sp>
        <p:nvSpPr>
          <p:cNvPr id="15" name="fh-CONVERSION">
            <a:extLst xmlns:a="http://schemas.openxmlformats.org/drawingml/2006/main">
              <a:ext uri="{FF2B5EF4-FFF2-40B4-BE49-F238E27FC236}">
                <a16:creationId xmlns:a16="http://schemas.microsoft.com/office/drawing/2014/main" id="{0DA62FA2-D185-4055-A5BB-BCAA0C6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소비 전환력</a:t>
            </a:r>
          </a:p>
        </p:txBody>
      </p:sp>
      <p:sp>
        <p:nvSpPr>
          <p:cNvPr id="16" name="fb-CONVERSION">
            <a:extLst xmlns:a="http://schemas.openxmlformats.org/drawingml/2006/main">
              <a:ext uri="{FF2B5EF4-FFF2-40B4-BE49-F238E27FC236}">
                <a16:creationId xmlns:a16="http://schemas.microsoft.com/office/drawing/2014/main" id="{DF9FA70E-E4AB-4A2D-9A88-FF6CC683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EE500"/>
                </a:solidFill>
              </a:defRPr>
            </a:pPr>
            <a:r>
              <a:rPr sz="1425" b="0">
                <a:solidFill>
                  <a:srgbClr val="FEE500"/>
                </a:solidFill>
              </a:rPr>
              <a:t>유입량 · 카드건수·금액</a:t>
            </a:r>
          </a:p>
          <a:p xmlns:a="http://schemas.openxmlformats.org/drawingml/2006/main">
            <a:pPr algn="ctr">
              <a:defRPr sz="1425" b="0">
                <a:solidFill>
                  <a:srgbClr val="FEE500"/>
                </a:solidFill>
              </a:defRPr>
            </a:pPr>
            <a:r>
              <a:rPr sz="1425" b="0">
                <a:solidFill>
                  <a:srgbClr val="FEE500"/>
                </a:solidFill>
              </a:rPr>
              <a:t>건당금액 · 잔차 안정성</a:t>
            </a:r>
          </a:p>
        </p:txBody>
      </p:sp>
      <p:sp>
        <p:nvSpPr>
          <p:cNvPr id="17" name="label-band">
            <a:extLst xmlns:a="http://schemas.openxmlformats.org/drawingml/2006/main">
              <a:ext uri="{FF2B5EF4-FFF2-40B4-BE49-F238E27FC236}">
                <a16:creationId xmlns:a16="http://schemas.microsoft.com/office/drawing/2014/main" id="{8263DC3A-AF2F-4FFB-AE0A-949B0C8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bel-text">
            <a:extLst xmlns:a="http://schemas.openxmlformats.org/drawingml/2006/main">
              <a:ext uri="{FF2B5EF4-FFF2-40B4-BE49-F238E27FC236}">
                <a16:creationId xmlns:a16="http://schemas.microsoft.com/office/drawing/2014/main" id="{B1FD8260-766D-4F89-8935-F0E55635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1919"/>
                </a:solidFill>
              </a:defRPr>
            </a:pPr>
            <a:r>
              <a:rPr sz="1650" b="1">
                <a:solidFill>
                  <a:srgbClr val="191919"/>
                </a:solidFill>
              </a:rPr>
              <a:t>Label: 목적지별 이동량(count) 또는 선택 점유율 → 회귀와 랭킹을 함께 비교</a:t>
            </a:r>
          </a:p>
        </p:txBody>
      </p:sp>
    </p:spTree>
    <p:extLst>
      <p:ext uri="{BB962C8B-B14F-4D97-AF65-F5344CB8AC3E}">
        <p14:creationId xmlns:p14="http://schemas.microsoft.com/office/powerpoint/2010/main" val="2039774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ge-4">
            <a:extLst xmlns:a="http://schemas.openxmlformats.org/drawingml/2006/main">
              <a:ext uri="{FF2B5EF4-FFF2-40B4-BE49-F238E27FC236}">
                <a16:creationId xmlns:a16="http://schemas.microsoft.com/office/drawing/2014/main" id="{C12C3F84-271C-4886-95E7-194963FA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4A8DDDD-66EF-4749-B4A8-B1EEFC1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</a:defRPr>
            </a:pPr>
            <a:r>
              <a:rPr sz="2700" b="1">
                <a:solidFill>
                  <a:srgbClr val="191919"/>
                </a:solidFill>
              </a:rPr>
              <a:t>유동–매출 괴리는 ‘미래 시점 잔차’로 정의한다</a:t>
            </a:r>
          </a:p>
        </p:txBody>
      </p:sp>
      <p:sp>
        <p:nvSpPr>
          <p:cNvPr id="3" name="accent-4">
            <a:extLst xmlns:a="http://schemas.openxmlformats.org/drawingml/2006/main">
              <a:ext uri="{FF2B5EF4-FFF2-40B4-BE49-F238E27FC236}">
                <a16:creationId xmlns:a16="http://schemas.microsoft.com/office/drawing/2014/main" id="{F6C4AAD5-39AA-4EB3-8475-530FDDE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DCD35728-4C8E-467B-B4DB-67D1E50B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864"/>
                </a:solidFill>
              </a:defRPr>
            </a:pPr>
            <a:r>
              <a:rPr sz="825" b="1">
                <a:solidFill>
                  <a:srgbClr val="6C6864"/>
                </a:solidFill>
              </a:rPr>
              <a:t>TEAM MAXIMUS · DAT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BAB7AB68-00DF-4D8C-9023-7DE77B08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061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q1">
            <a:extLst xmlns:a="http://schemas.openxmlformats.org/drawingml/2006/main">
              <a:ext uri="{FF2B5EF4-FFF2-40B4-BE49-F238E27FC236}">
                <a16:creationId xmlns:a16="http://schemas.microsoft.com/office/drawing/2014/main" id="{943BB59D-432E-4B4D-BA2D-A3FFED76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1919"/>
                </a:solidFill>
              </a:defRPr>
            </a:pPr>
            <a:r>
              <a:rPr sz="1875" b="1">
                <a:solidFill>
                  <a:srgbClr val="191919"/>
                </a:solidFill>
              </a:rPr>
              <a:t>ŷ = f[log(1+유동), log(1+점포), 면적, 상권유형, 업종구성]</a:t>
            </a:r>
          </a:p>
        </p:txBody>
      </p:sp>
      <p:sp>
        <p:nvSpPr>
          <p:cNvPr id="7" name="eq2">
            <a:extLst xmlns:a="http://schemas.openxmlformats.org/drawingml/2006/main">
              <a:ext uri="{FF2B5EF4-FFF2-40B4-BE49-F238E27FC236}">
                <a16:creationId xmlns:a16="http://schemas.microsoft.com/office/drawing/2014/main" id="{9EFDEC7C-044B-4C36-97A7-AD9F62E0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017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91919"/>
                </a:solidFill>
              </a:defRPr>
            </a:pPr>
            <a:r>
              <a:rPr sz="1500" b="0">
                <a:solidFill>
                  <a:srgbClr val="191919"/>
                </a:solidFill>
              </a:rPr>
              <a:t>Gap = log(1+실제매출) − log(1+ŷ)</a:t>
            </a:r>
          </a:p>
        </p:txBody>
      </p:sp>
      <p:sp>
        <p:nvSpPr>
          <p:cNvPr id="8" name="g1">
            <a:extLst xmlns:a="http://schemas.openxmlformats.org/drawingml/2006/main">
              <a:ext uri="{FF2B5EF4-FFF2-40B4-BE49-F238E27FC236}">
                <a16:creationId xmlns:a16="http://schemas.microsoft.com/office/drawing/2014/main" id="{67FBB3C8-F83E-429D-B6EC-2C1CB50C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95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2C7"/>
            </a:solidFill>
            <a:prstDash val="solid"/>
          </a:ln>
        </p:spPr>
      </p:sp>
      <p:sp>
        <p:nvSpPr>
          <p:cNvPr id="9" name="g2">
            <a:extLst xmlns:a="http://schemas.openxmlformats.org/drawingml/2006/main">
              <a:ext uri="{FF2B5EF4-FFF2-40B4-BE49-F238E27FC236}">
                <a16:creationId xmlns:a16="http://schemas.microsoft.com/office/drawing/2014/main" id="{F96AC6FB-B885-4879-BF3A-7985A5D1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2C7"/>
            </a:solidFill>
            <a:prstDash val="solid"/>
          </a:ln>
        </p:spPr>
      </p:sp>
      <p:sp>
        <p:nvSpPr>
          <p:cNvPr id="10" name="gap-72">
            <a:extLst xmlns:a="http://schemas.openxmlformats.org/drawingml/2006/main">
              <a:ext uri="{FF2B5EF4-FFF2-40B4-BE49-F238E27FC236}">
                <a16:creationId xmlns:a16="http://schemas.microsoft.com/office/drawing/2014/main" id="{CFBAE1AF-8CA3-44C7-A5CE-3BBD92C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6670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1" name="gh-72">
            <a:extLst xmlns:a="http://schemas.openxmlformats.org/drawingml/2006/main">
              <a:ext uri="{FF2B5EF4-FFF2-40B4-BE49-F238E27FC236}">
                <a16:creationId xmlns:a16="http://schemas.microsoft.com/office/drawing/2014/main" id="{641D0D4D-D3EA-4A05-BFA8-D2462CA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1919"/>
                </a:solidFill>
              </a:defRPr>
            </a:pPr>
            <a:r>
              <a:rPr sz="1875" b="1">
                <a:solidFill>
                  <a:srgbClr val="191919"/>
                </a:solidFill>
              </a:rPr>
              <a:t>OLS / PPML</a:t>
            </a:r>
          </a:p>
        </p:txBody>
      </p:sp>
      <p:sp>
        <p:nvSpPr>
          <p:cNvPr id="12" name="gb-72">
            <a:extLst xmlns:a="http://schemas.openxmlformats.org/drawingml/2006/main">
              <a:ext uri="{FF2B5EF4-FFF2-40B4-BE49-F238E27FC236}">
                <a16:creationId xmlns:a16="http://schemas.microsoft.com/office/drawing/2014/main" id="{C7D5D337-844E-4D9E-9DE2-F8572943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선형 기준선</a:t>
            </a:r>
          </a:p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계수 해석</a:t>
            </a:r>
          </a:p>
        </p:txBody>
      </p:sp>
      <p:sp>
        <p:nvSpPr>
          <p:cNvPr id="13" name="gap-464">
            <a:extLst xmlns:a="http://schemas.openxmlformats.org/drawingml/2006/main">
              <a:ext uri="{FF2B5EF4-FFF2-40B4-BE49-F238E27FC236}">
                <a16:creationId xmlns:a16="http://schemas.microsoft.com/office/drawing/2014/main" id="{48815893-812E-4C2A-9434-EE94E569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6670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4" name="gh-464">
            <a:extLst xmlns:a="http://schemas.openxmlformats.org/drawingml/2006/main">
              <a:ext uri="{FF2B5EF4-FFF2-40B4-BE49-F238E27FC236}">
                <a16:creationId xmlns:a16="http://schemas.microsoft.com/office/drawing/2014/main" id="{038C0867-D691-4E8D-8FAF-6A6C58FF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1919"/>
                </a:solidFill>
              </a:defRPr>
            </a:pPr>
            <a:r>
              <a:rPr sz="1875" b="1">
                <a:solidFill>
                  <a:srgbClr val="191919"/>
                </a:solidFill>
              </a:rPr>
              <a:t>GAM</a:t>
            </a:r>
          </a:p>
        </p:txBody>
      </p:sp>
      <p:sp>
        <p:nvSpPr>
          <p:cNvPr id="15" name="gb-464">
            <a:extLst xmlns:a="http://schemas.openxmlformats.org/drawingml/2006/main">
              <a:ext uri="{FF2B5EF4-FFF2-40B4-BE49-F238E27FC236}">
                <a16:creationId xmlns:a16="http://schemas.microsoft.com/office/drawing/2014/main" id="{075957B1-63AD-4EBB-94D1-11BAA863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148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Spline으로 포화·곡률</a:t>
            </a:r>
          </a:p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비선형성 검정</a:t>
            </a:r>
          </a:p>
        </p:txBody>
      </p:sp>
      <p:sp>
        <p:nvSpPr>
          <p:cNvPr id="16" name="gap-928">
            <a:extLst xmlns:a="http://schemas.openxmlformats.org/drawingml/2006/main">
              <a:ext uri="{FF2B5EF4-FFF2-40B4-BE49-F238E27FC236}">
                <a16:creationId xmlns:a16="http://schemas.microsoft.com/office/drawing/2014/main" id="{97133C0B-7E92-4A15-940B-F3299B4B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6670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h-928">
            <a:extLst xmlns:a="http://schemas.openxmlformats.org/drawingml/2006/main">
              <a:ext uri="{FF2B5EF4-FFF2-40B4-BE49-F238E27FC236}">
                <a16:creationId xmlns:a16="http://schemas.microsoft.com/office/drawing/2014/main" id="{2A46D19F-FE7E-44F4-9050-23FB585D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Tree Ensemble</a:t>
            </a:r>
          </a:p>
        </p:txBody>
      </p:sp>
      <p:sp>
        <p:nvSpPr>
          <p:cNvPr id="18" name="gb-928">
            <a:extLst xmlns:a="http://schemas.openxmlformats.org/drawingml/2006/main">
              <a:ext uri="{FF2B5EF4-FFF2-40B4-BE49-F238E27FC236}">
                <a16:creationId xmlns:a16="http://schemas.microsoft.com/office/drawing/2014/main" id="{7BDA6382-A037-487C-8087-E8F9F9F8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148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EE500"/>
                </a:solidFill>
              </a:defRPr>
            </a:pPr>
            <a:r>
              <a:rPr sz="1275" b="0">
                <a:solidFill>
                  <a:srgbClr val="FEE500"/>
                </a:solidFill>
              </a:rPr>
              <a:t>LightGBM·CatBoost</a:t>
            </a:r>
          </a:p>
          <a:p xmlns:a="http://schemas.openxmlformats.org/drawingml/2006/main">
            <a:pPr algn="ctr">
              <a:defRPr sz="1275" b="0">
                <a:solidFill>
                  <a:srgbClr val="FEE500"/>
                </a:solidFill>
              </a:defRPr>
            </a:pPr>
            <a:r>
              <a:rPr sz="1275" b="0">
                <a:solidFill>
                  <a:srgbClr val="FEE500"/>
                </a:solidFill>
              </a:rPr>
              <a:t>상호작용 탐색</a:t>
            </a:r>
          </a:p>
        </p:txBody>
      </p:sp>
      <p:sp>
        <p:nvSpPr>
          <p:cNvPr id="19" name="gap-class">
            <a:extLst xmlns:a="http://schemas.openxmlformats.org/drawingml/2006/main">
              <a:ext uri="{FF2B5EF4-FFF2-40B4-BE49-F238E27FC236}">
                <a16:creationId xmlns:a16="http://schemas.microsoft.com/office/drawing/2014/main" id="{ED45F49C-E8EB-4B28-937A-2027D772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1919"/>
                </a:solidFill>
              </a:defRPr>
            </a:pPr>
            <a:r>
              <a:rPr sz="1650" b="1">
                <a:solidFill>
                  <a:srgbClr val="191919"/>
                </a:solidFill>
              </a:rPr>
              <a:t>분류: Gap≈0 일반형 · Gap&gt;0 목적소비형 · Gap&lt;0 통과형</a:t>
            </a:r>
          </a:p>
        </p:txBody>
      </p:sp>
      <p:sp>
        <p:nvSpPr>
          <p:cNvPr id="20" name="leak-warning">
            <a:extLst xmlns:a="http://schemas.openxmlformats.org/drawingml/2006/main">
              <a:ext uri="{FF2B5EF4-FFF2-40B4-BE49-F238E27FC236}">
                <a16:creationId xmlns:a16="http://schemas.microsoft.com/office/drawing/2014/main" id="{DAADF0E4-1A90-44F7-BBE0-A177962B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4B35"/>
                </a:solidFill>
              </a:defRPr>
            </a:pPr>
            <a:r>
              <a:rPr sz="1275" b="1">
                <a:solidFill>
                  <a:srgbClr val="D94B35"/>
                </a:solidFill>
              </a:rPr>
              <a:t>Random split 금지 → 과거 분기 학습, 미래 분기 예측, 3개 분기 이상 잔차 지속성 확인</a:t>
            </a:r>
          </a:p>
        </p:txBody>
      </p:sp>
    </p:spTree>
    <p:extLst>
      <p:ext uri="{BB962C8B-B14F-4D97-AF65-F5344CB8AC3E}">
        <p14:creationId xmlns:p14="http://schemas.microsoft.com/office/powerpoint/2010/main" val="1123310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age-5">
            <a:extLst xmlns:a="http://schemas.openxmlformats.org/drawingml/2006/main">
              <a:ext uri="{FF2B5EF4-FFF2-40B4-BE49-F238E27FC236}">
                <a16:creationId xmlns:a16="http://schemas.microsoft.com/office/drawing/2014/main" id="{8606F84C-36CF-459C-BD60-42521C52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B413618-C973-42E7-A9CE-73560F33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</a:defRPr>
            </a:pPr>
            <a:r>
              <a:rPr sz="2700" b="1">
                <a:solidFill>
                  <a:srgbClr val="191919"/>
                </a:solidFill>
              </a:rPr>
              <a:t>최종 추천은 예측값이 아니라 ‘후보 내부 순위’를 학습한다</a:t>
            </a:r>
          </a:p>
        </p:txBody>
      </p:sp>
      <p:sp>
        <p:nvSpPr>
          <p:cNvPr id="3" name="accent-5">
            <a:extLst xmlns:a="http://schemas.openxmlformats.org/drawingml/2006/main">
              <a:ext uri="{FF2B5EF4-FFF2-40B4-BE49-F238E27FC236}">
                <a16:creationId xmlns:a16="http://schemas.microsoft.com/office/drawing/2014/main" id="{CAC07871-C113-4DC4-8BE0-AAA1B2F4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CA768777-3E65-4826-8059-0A90D201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864"/>
                </a:solidFill>
              </a:defRPr>
            </a:pPr>
            <a:r>
              <a:rPr sz="825" b="1">
                <a:solidFill>
                  <a:srgbClr val="6C6864"/>
                </a:solidFill>
              </a:rPr>
              <a:t>TEAM MAXIMUS · DAT</a:t>
            </a:r>
          </a:p>
        </p:txBody>
      </p:sp>
      <p:sp>
        <p:nvSpPr>
          <p:cNvPr id="5" name="utility">
            <a:extLst xmlns:a="http://schemas.openxmlformats.org/drawingml/2006/main">
              <a:ext uri="{FF2B5EF4-FFF2-40B4-BE49-F238E27FC236}">
                <a16:creationId xmlns:a16="http://schemas.microsoft.com/office/drawing/2014/main" id="{F00D3D1A-9DBD-43B6-ADE1-A6A18434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6672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tility-tag">
            <a:extLst xmlns:a="http://schemas.openxmlformats.org/drawingml/2006/main">
              <a:ext uri="{FF2B5EF4-FFF2-40B4-BE49-F238E27FC236}">
                <a16:creationId xmlns:a16="http://schemas.microsoft.com/office/drawing/2014/main" id="{30C3901C-1B78-4155-9FB1-BBF30FFE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EE500"/>
                </a:solidFill>
              </a:defRPr>
            </a:pPr>
            <a:r>
              <a:rPr sz="1425" b="1">
                <a:solidFill>
                  <a:srgbClr val="FEE500"/>
                </a:solidFill>
              </a:rPr>
              <a:t>선택모형</a:t>
            </a:r>
          </a:p>
        </p:txBody>
      </p:sp>
      <p:sp>
        <p:nvSpPr>
          <p:cNvPr id="7" name="utility-eq">
            <a:extLst xmlns:a="http://schemas.openxmlformats.org/drawingml/2006/main">
              <a:ext uri="{FF2B5EF4-FFF2-40B4-BE49-F238E27FC236}">
                <a16:creationId xmlns:a16="http://schemas.microsoft.com/office/drawing/2014/main" id="{78F4F9B6-628B-404F-9A70-2FF0441B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Uᵢⱼ = β₁Timeᵢⱼ + β₂POIⱼ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+ β₃Diversityⱼ + β₄Gapⱼ</a:t>
            </a:r>
          </a:p>
        </p:txBody>
      </p:sp>
      <p:sp>
        <p:nvSpPr>
          <p:cNvPr id="8" name="utility-models">
            <a:extLst xmlns:a="http://schemas.openxmlformats.org/drawingml/2006/main">
              <a:ext uri="{FF2B5EF4-FFF2-40B4-BE49-F238E27FC236}">
                <a16:creationId xmlns:a16="http://schemas.microsoft.com/office/drawing/2014/main" id="{FE953505-3A62-4C78-896C-4C104CC2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43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EE500"/>
                </a:solidFill>
              </a:defRPr>
            </a:pPr>
            <a:r>
              <a:rPr sz="1650" b="0">
                <a:solidFill>
                  <a:srgbClr val="FEE500"/>
                </a:solidFill>
              </a:rPr>
              <a:t>Huff → 조건부로짓 / PPML</a:t>
            </a:r>
          </a:p>
        </p:txBody>
      </p:sp>
      <p:sp>
        <p:nvSpPr>
          <p:cNvPr id="9" name="utility-explain">
            <a:extLst xmlns:a="http://schemas.openxmlformats.org/drawingml/2006/main">
              <a:ext uri="{FF2B5EF4-FFF2-40B4-BE49-F238E27FC236}">
                <a16:creationId xmlns:a16="http://schemas.microsoft.com/office/drawing/2014/main" id="{1E938825-E2BD-40BE-B7CF-E51B628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76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계수와 거리저항을 해석</a:t>
            </a:r>
          </a:p>
        </p:txBody>
      </p:sp>
      <p:sp>
        <p:nvSpPr>
          <p:cNvPr id="10" name="vs">
            <a:extLst xmlns:a="http://schemas.openxmlformats.org/drawingml/2006/main">
              <a:ext uri="{FF2B5EF4-FFF2-40B4-BE49-F238E27FC236}">
                <a16:creationId xmlns:a16="http://schemas.microsoft.com/office/drawing/2014/main" id="{DCFD1148-452E-4E91-9CCE-5152E0D2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1919"/>
                </a:solidFill>
              </a:defRPr>
            </a:pPr>
            <a:r>
              <a:rPr sz="2250" b="1">
                <a:solidFill>
                  <a:srgbClr val="191919"/>
                </a:solidFill>
              </a:rPr>
              <a:t>VS</a:t>
            </a:r>
          </a:p>
        </p:txBody>
      </p:sp>
      <p:sp>
        <p:nvSpPr>
          <p:cNvPr id="11" name="ranker">
            <a:extLst xmlns:a="http://schemas.openxmlformats.org/drawingml/2006/main">
              <a:ext uri="{FF2B5EF4-FFF2-40B4-BE49-F238E27FC236}">
                <a16:creationId xmlns:a16="http://schemas.microsoft.com/office/drawing/2014/main" id="{2BCF783E-9D69-4325-8E4E-9A1008F8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8387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nk-tag">
            <a:extLst xmlns:a="http://schemas.openxmlformats.org/drawingml/2006/main">
              <a:ext uri="{FF2B5EF4-FFF2-40B4-BE49-F238E27FC236}">
                <a16:creationId xmlns:a16="http://schemas.microsoft.com/office/drawing/2014/main" id="{17961D79-1337-4E30-B69B-FCD039AE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C6864"/>
                </a:solidFill>
              </a:defRPr>
            </a:pPr>
            <a:r>
              <a:rPr sz="1425" b="1">
                <a:solidFill>
                  <a:srgbClr val="6C6864"/>
                </a:solidFill>
              </a:rPr>
              <a:t>Learning to Rank</a:t>
            </a:r>
          </a:p>
        </p:txBody>
      </p:sp>
      <p:sp>
        <p:nvSpPr>
          <p:cNvPr id="13" name="rank-model">
            <a:extLst xmlns:a="http://schemas.openxmlformats.org/drawingml/2006/main">
              <a:ext uri="{FF2B5EF4-FFF2-40B4-BE49-F238E27FC236}">
                <a16:creationId xmlns:a16="http://schemas.microsoft.com/office/drawing/2014/main" id="{534FCC3B-0DFE-4838-9650-B26E7B6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9850"/>
            <a:ext cx="4267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1919"/>
                </a:solidFill>
              </a:defRPr>
            </a:pPr>
            <a:r>
              <a:rPr sz="2175" b="1">
                <a:solidFill>
                  <a:srgbClr val="191919"/>
                </a:solidFill>
              </a:rPr>
              <a:t>LightGBM Ranker</a:t>
            </a:r>
          </a:p>
          <a:p xmlns:a="http://schemas.openxmlformats.org/drawingml/2006/main">
            <a:pPr algn="ctr">
              <a:defRPr sz="2175" b="1">
                <a:solidFill>
                  <a:srgbClr val="191919"/>
                </a:solidFill>
              </a:defRPr>
            </a:pPr>
            <a:r>
              <a:rPr sz="2175" b="1">
                <a:solidFill>
                  <a:srgbClr val="191919"/>
                </a:solidFill>
              </a:rPr>
              <a:t>objective = lambdarank</a:t>
            </a:r>
          </a:p>
        </p:txBody>
      </p:sp>
      <p:sp>
        <p:nvSpPr>
          <p:cNvPr id="14" name="rank-group">
            <a:extLst xmlns:a="http://schemas.openxmlformats.org/drawingml/2006/main">
              <a:ext uri="{FF2B5EF4-FFF2-40B4-BE49-F238E27FC236}">
                <a16:creationId xmlns:a16="http://schemas.microsoft.com/office/drawing/2014/main" id="{8A3F60BC-6366-4419-8251-C1940BD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91919"/>
                </a:solidFill>
              </a:defRPr>
            </a:pPr>
            <a:r>
              <a:rPr sz="1575" b="0">
                <a:solidFill>
                  <a:srgbClr val="191919"/>
                </a:solidFill>
              </a:rPr>
              <a:t>group = 출발지×목적×시간대</a:t>
            </a:r>
          </a:p>
        </p:txBody>
      </p:sp>
      <p:sp>
        <p:nvSpPr>
          <p:cNvPr id="15" name="rank-loss">
            <a:extLst xmlns:a="http://schemas.openxmlformats.org/drawingml/2006/main">
              <a:ext uri="{FF2B5EF4-FFF2-40B4-BE49-F238E27FC236}">
                <a16:creationId xmlns:a16="http://schemas.microsoft.com/office/drawing/2014/main" id="{0AA6B70D-C487-4222-8E0B-B9C68A6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624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loss와 NDCG@5를 직접 최적화</a:t>
            </a:r>
          </a:p>
        </p:txBody>
      </p:sp>
      <p:sp>
        <p:nvSpPr>
          <p:cNvPr id="16" name="compare-band">
            <a:extLst xmlns:a="http://schemas.openxmlformats.org/drawingml/2006/main">
              <a:ext uri="{FF2B5EF4-FFF2-40B4-BE49-F238E27FC236}">
                <a16:creationId xmlns:a16="http://schemas.microsoft.com/office/drawing/2014/main" id="{151615B8-B8FE-467B-B070-B6238D02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67350"/>
            <a:ext cx="90297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e-text">
            <a:extLst xmlns:a="http://schemas.openxmlformats.org/drawingml/2006/main">
              <a:ext uri="{FF2B5EF4-FFF2-40B4-BE49-F238E27FC236}">
                <a16:creationId xmlns:a16="http://schemas.microsoft.com/office/drawing/2014/main" id="{84E2D6F4-255E-41A4-93C7-64F6114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1919"/>
                </a:solidFill>
              </a:defRPr>
            </a:pPr>
            <a:r>
              <a:rPr sz="1575" b="1">
                <a:solidFill>
                  <a:srgbClr val="191919"/>
                </a:solidFill>
              </a:rPr>
              <a:t>해석 가능한 선택모형과 예측력이 높은 랭커를 Out-of-time NDCG@5로 비교</a:t>
            </a:r>
          </a:p>
        </p:txBody>
      </p:sp>
    </p:spTree>
    <p:extLst>
      <p:ext uri="{BB962C8B-B14F-4D97-AF65-F5344CB8AC3E}">
        <p14:creationId xmlns:p14="http://schemas.microsoft.com/office/powerpoint/2010/main" val="13414786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ge-6">
            <a:extLst xmlns:a="http://schemas.openxmlformats.org/drawingml/2006/main">
              <a:ext uri="{FF2B5EF4-FFF2-40B4-BE49-F238E27FC236}">
                <a16:creationId xmlns:a16="http://schemas.microsoft.com/office/drawing/2014/main" id="{6639ECC7-5C20-4D60-A966-025CEEFC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993396C-1351-4710-9DB4-0FEBFFE9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</a:defRPr>
            </a:pPr>
            <a:r>
              <a:rPr sz="2700" b="1">
                <a:solidFill>
                  <a:srgbClr val="191919"/>
                </a:solidFill>
              </a:rPr>
              <a:t>파인튜닝은 1단계가 아니라 ‘라벨이 쌓인 뒤’의 실험이다</a:t>
            </a:r>
          </a:p>
        </p:txBody>
      </p:sp>
      <p:sp>
        <p:nvSpPr>
          <p:cNvPr id="3" name="accent-6">
            <a:extLst xmlns:a="http://schemas.openxmlformats.org/drawingml/2006/main">
              <a:ext uri="{FF2B5EF4-FFF2-40B4-BE49-F238E27FC236}">
                <a16:creationId xmlns:a16="http://schemas.microsoft.com/office/drawing/2014/main" id="{96CA363F-2889-49DA-A445-922F1C87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35AB4D68-9DE0-470E-924E-D385A745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864"/>
                </a:solidFill>
              </a:defRPr>
            </a:pPr>
            <a:r>
              <a:rPr sz="825" b="1">
                <a:solidFill>
                  <a:srgbClr val="6C6864"/>
                </a:solidFill>
              </a:rPr>
              <a:t>TEAM MAXIMUS · DAT</a:t>
            </a:r>
          </a:p>
        </p:txBody>
      </p:sp>
      <p:sp>
        <p:nvSpPr>
          <p:cNvPr id="5" name="f1">
            <a:extLst xmlns:a="http://schemas.openxmlformats.org/drawingml/2006/main">
              <a:ext uri="{FF2B5EF4-FFF2-40B4-BE49-F238E27FC236}">
                <a16:creationId xmlns:a16="http://schemas.microsoft.com/office/drawing/2014/main" id="{E77761E0-2E10-45A3-B396-47C831C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2C7"/>
            </a:solidFill>
            <a:prstDash val="solid"/>
          </a:ln>
        </p:spPr>
      </p:sp>
      <p:sp>
        <p:nvSpPr>
          <p:cNvPr id="6" name="f2">
            <a:extLst xmlns:a="http://schemas.openxmlformats.org/drawingml/2006/main">
              <a:ext uri="{FF2B5EF4-FFF2-40B4-BE49-F238E27FC236}">
                <a16:creationId xmlns:a16="http://schemas.microsoft.com/office/drawing/2014/main" id="{40149489-4738-4C17-90BC-2294826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2C7"/>
            </a:solidFill>
            <a:prstDash val="solid"/>
          </a:ln>
        </p:spPr>
      </p:sp>
      <p:sp>
        <p:nvSpPr>
          <p:cNvPr id="7" name="ft-STAGE 1">
            <a:extLst xmlns:a="http://schemas.openxmlformats.org/drawingml/2006/main">
              <a:ext uri="{FF2B5EF4-FFF2-40B4-BE49-F238E27FC236}">
                <a16:creationId xmlns:a16="http://schemas.microsoft.com/office/drawing/2014/main" id="{93AE7EA6-1FA5-423B-8AC2-58836425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857500" cy="31242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8" name="ft-tag-STAGE 1">
            <a:extLst xmlns:a="http://schemas.openxmlformats.org/drawingml/2006/main">
              <a:ext uri="{FF2B5EF4-FFF2-40B4-BE49-F238E27FC236}">
                <a16:creationId xmlns:a16="http://schemas.microsoft.com/office/drawing/2014/main" id="{EF7FEBBC-3709-4B65-BC02-D7FB0A58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STAGE 1</a:t>
            </a:r>
          </a:p>
        </p:txBody>
      </p:sp>
      <p:sp>
        <p:nvSpPr>
          <p:cNvPr id="9" name="ft-head-STAGE 1">
            <a:extLst xmlns:a="http://schemas.openxmlformats.org/drawingml/2006/main">
              <a:ext uri="{FF2B5EF4-FFF2-40B4-BE49-F238E27FC236}">
                <a16:creationId xmlns:a16="http://schemas.microsoft.com/office/drawing/2014/main" id="{3C764763-F129-4A7A-89C5-46BC4B37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91919"/>
                </a:solidFill>
              </a:defRPr>
            </a:pPr>
            <a:r>
              <a:rPr sz="2025" b="1">
                <a:solidFill>
                  <a:srgbClr val="191919"/>
                </a:solidFill>
              </a:rPr>
              <a:t>Frozen Encoder</a:t>
            </a:r>
          </a:p>
        </p:txBody>
      </p:sp>
      <p:sp>
        <p:nvSpPr>
          <p:cNvPr id="10" name="ft-body-STAGE 1">
            <a:extLst xmlns:a="http://schemas.openxmlformats.org/drawingml/2006/main">
              <a:ext uri="{FF2B5EF4-FFF2-40B4-BE49-F238E27FC236}">
                <a16:creationId xmlns:a16="http://schemas.microsoft.com/office/drawing/2014/main" id="{2D0EC6AC-D161-421C-B02B-EAB207B8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C6864"/>
                </a:solidFill>
              </a:defRPr>
            </a:pPr>
            <a:r>
              <a:rPr sz="1350" b="0">
                <a:solidFill>
                  <a:srgbClr val="6C6864"/>
                </a:solidFill>
              </a:rPr>
              <a:t>사전학습 SBERT</a:t>
            </a:r>
          </a:p>
          <a:p xmlns:a="http://schemas.openxmlformats.org/drawingml/2006/main">
            <a:pPr algn="ctr">
              <a:defRPr sz="1350" b="0">
                <a:solidFill>
                  <a:srgbClr val="6C6864"/>
                </a:solidFill>
              </a:defRPr>
            </a:pPr>
            <a:r>
              <a:rPr sz="1350" b="0">
                <a:solidFill>
                  <a:srgbClr val="6C6864"/>
                </a:solidFill>
              </a:rPr>
              <a:t>사용자 문장–점포 텍스트</a:t>
            </a:r>
          </a:p>
          <a:p xmlns:a="http://schemas.openxmlformats.org/drawingml/2006/main">
            <a:pPr algn="ctr">
              <a:defRPr sz="1350" b="0">
                <a:solidFill>
                  <a:srgbClr val="6C6864"/>
                </a:solidFill>
              </a:defRPr>
            </a:pPr>
            <a:r>
              <a:rPr sz="1350" b="0">
                <a:solidFill>
                  <a:srgbClr val="6C6864"/>
                </a:solidFill>
              </a:rPr>
              <a:t>cosine similarity</a:t>
            </a:r>
          </a:p>
        </p:txBody>
      </p:sp>
      <p:sp>
        <p:nvSpPr>
          <p:cNvPr id="11" name="ft-STAGE 2">
            <a:extLst xmlns:a="http://schemas.openxmlformats.org/drawingml/2006/main">
              <a:ext uri="{FF2B5EF4-FFF2-40B4-BE49-F238E27FC236}">
                <a16:creationId xmlns:a16="http://schemas.microsoft.com/office/drawing/2014/main" id="{1EC4EC61-E071-4052-B03B-0903AEE7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2857500" cy="31242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6B2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ft-tag-STAGE 2">
            <a:extLst xmlns:a="http://schemas.openxmlformats.org/drawingml/2006/main">
              <a:ext uri="{FF2B5EF4-FFF2-40B4-BE49-F238E27FC236}">
                <a16:creationId xmlns:a16="http://schemas.microsoft.com/office/drawing/2014/main" id="{0669E996-3E68-449D-B7D2-8F32E5C4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STAGE 2</a:t>
            </a:r>
          </a:p>
        </p:txBody>
      </p:sp>
      <p:sp>
        <p:nvSpPr>
          <p:cNvPr id="13" name="ft-head-STAGE 2">
            <a:extLst xmlns:a="http://schemas.openxmlformats.org/drawingml/2006/main">
              <a:ext uri="{FF2B5EF4-FFF2-40B4-BE49-F238E27FC236}">
                <a16:creationId xmlns:a16="http://schemas.microsoft.com/office/drawing/2014/main" id="{0B36DC1A-3922-4406-B7A6-5865C65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91919"/>
                </a:solidFill>
              </a:defRPr>
            </a:pPr>
            <a:r>
              <a:rPr sz="2025" b="1">
                <a:solidFill>
                  <a:srgbClr val="191919"/>
                </a:solidFill>
              </a:rPr>
              <a:t>Weak Supervision</a:t>
            </a:r>
          </a:p>
        </p:txBody>
      </p:sp>
      <p:sp>
        <p:nvSpPr>
          <p:cNvPr id="14" name="ft-body-STAGE 2">
            <a:extLst xmlns:a="http://schemas.openxmlformats.org/drawingml/2006/main">
              <a:ext uri="{FF2B5EF4-FFF2-40B4-BE49-F238E27FC236}">
                <a16:creationId xmlns:a16="http://schemas.microsoft.com/office/drawing/2014/main" id="{C74BDB85-BCE8-47BE-9D27-4A18EC82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C6864"/>
                </a:solidFill>
              </a:defRPr>
            </a:pPr>
            <a:r>
              <a:rPr sz="1350" b="0">
                <a:solidFill>
                  <a:srgbClr val="6C6864"/>
                </a:solidFill>
              </a:rPr>
              <a:t>목적·업종·POI 규칙으로</a:t>
            </a:r>
          </a:p>
          <a:p xmlns:a="http://schemas.openxmlformats.org/drawingml/2006/main">
            <a:pPr algn="ctr">
              <a:defRPr sz="1350" b="0">
                <a:solidFill>
                  <a:srgbClr val="6C6864"/>
                </a:solidFill>
              </a:defRPr>
            </a:pPr>
            <a:r>
              <a:rPr sz="1350" b="0">
                <a:solidFill>
                  <a:srgbClr val="6C6864"/>
                </a:solidFill>
              </a:rPr>
              <a:t>positive / hard negative</a:t>
            </a:r>
          </a:p>
          <a:p xmlns:a="http://schemas.openxmlformats.org/drawingml/2006/main">
            <a:pPr algn="ctr">
              <a:defRPr sz="1350" b="0">
                <a:solidFill>
                  <a:srgbClr val="6C6864"/>
                </a:solidFill>
              </a:defRPr>
            </a:pPr>
            <a:r>
              <a:rPr sz="1350" b="0">
                <a:solidFill>
                  <a:srgbClr val="6C6864"/>
                </a:solidFill>
              </a:rPr>
              <a:t>쌍 생성</a:t>
            </a:r>
          </a:p>
        </p:txBody>
      </p:sp>
      <p:sp>
        <p:nvSpPr>
          <p:cNvPr id="15" name="ft-STAGE 3">
            <a:extLst xmlns:a="http://schemas.openxmlformats.org/drawingml/2006/main">
              <a:ext uri="{FF2B5EF4-FFF2-40B4-BE49-F238E27FC236}">
                <a16:creationId xmlns:a16="http://schemas.microsoft.com/office/drawing/2014/main" id="{4EA2A992-E50D-4582-B9C8-81ED7B06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81200"/>
            <a:ext cx="2857500" cy="31242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t-tag-STAGE 3">
            <a:extLst xmlns:a="http://schemas.openxmlformats.org/drawingml/2006/main">
              <a:ext uri="{FF2B5EF4-FFF2-40B4-BE49-F238E27FC236}">
                <a16:creationId xmlns:a16="http://schemas.microsoft.com/office/drawing/2014/main" id="{871FF4D4-234D-4B2F-809B-2BAF61B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E500"/>
                </a:solidFill>
              </a:defRPr>
            </a:pPr>
            <a:r>
              <a:rPr sz="1125" b="1">
                <a:solidFill>
                  <a:srgbClr val="FEE500"/>
                </a:solidFill>
              </a:rPr>
              <a:t>STAGE 3</a:t>
            </a:r>
          </a:p>
        </p:txBody>
      </p:sp>
      <p:sp>
        <p:nvSpPr>
          <p:cNvPr id="17" name="ft-head-STAGE 3">
            <a:extLst xmlns:a="http://schemas.openxmlformats.org/drawingml/2006/main">
              <a:ext uri="{FF2B5EF4-FFF2-40B4-BE49-F238E27FC236}">
                <a16:creationId xmlns:a16="http://schemas.microsoft.com/office/drawing/2014/main" id="{F885AFF9-74A9-4702-B82D-3C17D506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051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Contrastive FT</a:t>
            </a:r>
          </a:p>
        </p:txBody>
      </p:sp>
      <p:sp>
        <p:nvSpPr>
          <p:cNvPr id="18" name="ft-body-STAGE 3">
            <a:extLst xmlns:a="http://schemas.openxmlformats.org/drawingml/2006/main">
              <a:ext uri="{FF2B5EF4-FFF2-40B4-BE49-F238E27FC236}">
                <a16:creationId xmlns:a16="http://schemas.microsoft.com/office/drawing/2014/main" id="{8F76645A-9425-44C0-A9FD-2752DB7B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EE500"/>
                </a:solidFill>
              </a:defRPr>
            </a:pPr>
            <a:r>
              <a:rPr sz="1350" b="0">
                <a:solidFill>
                  <a:srgbClr val="FEE500"/>
                </a:solidFill>
              </a:rPr>
              <a:t>충분한 선택 로그 이후</a:t>
            </a:r>
          </a:p>
          <a:p xmlns:a="http://schemas.openxmlformats.org/drawingml/2006/main">
            <a:pPr algn="ctr">
              <a:defRPr sz="1350" b="0">
                <a:solidFill>
                  <a:srgbClr val="FEE500"/>
                </a:solidFill>
              </a:defRPr>
            </a:pPr>
            <a:r>
              <a:rPr sz="1350" b="0">
                <a:solidFill>
                  <a:srgbClr val="FEE500"/>
                </a:solidFill>
              </a:rPr>
              <a:t>triplet / InfoNCE loss</a:t>
            </a:r>
          </a:p>
          <a:p xmlns:a="http://schemas.openxmlformats.org/drawingml/2006/main">
            <a:pPr algn="ctr">
              <a:defRPr sz="1350" b="0">
                <a:solidFill>
                  <a:srgbClr val="FEE500"/>
                </a:solidFill>
              </a:defRPr>
            </a:pPr>
            <a:r>
              <a:rPr sz="1350" b="0">
                <a:solidFill>
                  <a:srgbClr val="FEE500"/>
                </a:solidFill>
              </a:rPr>
              <a:t>검증 후 채택</a:t>
            </a:r>
          </a:p>
        </p:txBody>
      </p:sp>
      <p:sp>
        <p:nvSpPr>
          <p:cNvPr id="19" name="ft-criteria">
            <a:extLst xmlns:a="http://schemas.openxmlformats.org/drawingml/2006/main">
              <a:ext uri="{FF2B5EF4-FFF2-40B4-BE49-F238E27FC236}">
                <a16:creationId xmlns:a16="http://schemas.microsoft.com/office/drawing/2014/main" id="{9E32D747-7D78-4221-B233-51201EA8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1919"/>
                </a:solidFill>
              </a:defRPr>
            </a:pPr>
            <a:r>
              <a:rPr sz="1575" b="1">
                <a:solidFill>
                  <a:srgbClr val="191919"/>
                </a:solidFill>
              </a:rPr>
              <a:t>채택 기준: Frozen 대비 Recall@K·NDCG 상승 + 지역 홀드아웃에서도 성능 유지</a:t>
            </a:r>
          </a:p>
        </p:txBody>
      </p:sp>
      <p:sp>
        <p:nvSpPr>
          <p:cNvPr id="20" name="ft-verdict">
            <a:extLst xmlns:a="http://schemas.openxmlformats.org/drawingml/2006/main">
              <a:ext uri="{FF2B5EF4-FFF2-40B4-BE49-F238E27FC236}">
                <a16:creationId xmlns:a16="http://schemas.microsoft.com/office/drawing/2014/main" id="{6A0E4CAF-F5AA-4D2B-83B1-869CB6B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43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4B35"/>
                </a:solidFill>
              </a:defRPr>
            </a:pPr>
            <a:r>
              <a:rPr sz="1275" b="1">
                <a:solidFill>
                  <a:srgbClr val="D94B35"/>
                </a:solidFill>
              </a:rPr>
              <a:t>초기 데이터가 적으면 파인튜닝보다 랭킹 피처와 라벨 품질이 우선</a:t>
            </a:r>
          </a:p>
        </p:txBody>
      </p:sp>
    </p:spTree>
    <p:extLst>
      <p:ext uri="{BB962C8B-B14F-4D97-AF65-F5344CB8AC3E}">
        <p14:creationId xmlns:p14="http://schemas.microsoft.com/office/powerpoint/2010/main" val="1112083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7">
            <a:extLst xmlns:a="http://schemas.openxmlformats.org/drawingml/2006/main">
              <a:ext uri="{FF2B5EF4-FFF2-40B4-BE49-F238E27FC236}">
                <a16:creationId xmlns:a16="http://schemas.microsoft.com/office/drawing/2014/main" id="{507EF121-B422-451A-B557-13288FEB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6864"/>
                </a:solidFill>
              </a:defRPr>
            </a:pPr>
            <a:r>
              <a:rPr sz="1125" b="1">
                <a:solidFill>
                  <a:srgbClr val="6C6864"/>
                </a:solidFill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0EB0DBE-617D-4051-8845-B09F8F7F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</a:defRPr>
            </a:pPr>
            <a:r>
              <a:rPr sz="2700" b="1">
                <a:solidFill>
                  <a:srgbClr val="191919"/>
                </a:solidFill>
              </a:rPr>
              <a:t>한 학기 동안 모델을 단계별로 반증한다</a:t>
            </a:r>
          </a:p>
        </p:txBody>
      </p:sp>
      <p:sp>
        <p:nvSpPr>
          <p:cNvPr id="3" name="accent-7">
            <a:extLst xmlns:a="http://schemas.openxmlformats.org/drawingml/2006/main">
              <a:ext uri="{FF2B5EF4-FFF2-40B4-BE49-F238E27FC236}">
                <a16:creationId xmlns:a16="http://schemas.microsoft.com/office/drawing/2014/main" id="{C64823D7-CB90-4D14-B8D9-03FF2798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F85BE5FB-F670-44D0-B1C0-AA42F3CC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6864"/>
                </a:solidFill>
              </a:defRPr>
            </a:pPr>
            <a:r>
              <a:rPr sz="825" b="1">
                <a:solidFill>
                  <a:srgbClr val="6C6864"/>
                </a:solidFill>
              </a:rPr>
              <a:t>TEAM MAXIMUS · DAT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E89BE86E-42BC-4CBC-95E1-4F8733DC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8D2C7"/>
            </a:solidFill>
            <a:prstDash val="solid"/>
          </a:ln>
        </p:spPr>
      </p:sp>
      <p:sp>
        <p:nvSpPr>
          <p:cNvPr id="6" name="mile-01">
            <a:extLst xmlns:a="http://schemas.openxmlformats.org/drawingml/2006/main">
              <a:ext uri="{FF2B5EF4-FFF2-40B4-BE49-F238E27FC236}">
                <a16:creationId xmlns:a16="http://schemas.microsoft.com/office/drawing/2014/main" id="{B47DB39B-4912-48DF-838E-ECB7A744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860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ile-num-01">
            <a:extLst xmlns:a="http://schemas.openxmlformats.org/drawingml/2006/main">
              <a:ext uri="{FF2B5EF4-FFF2-40B4-BE49-F238E27FC236}">
                <a16:creationId xmlns:a16="http://schemas.microsoft.com/office/drawing/2014/main" id="{28D553F6-F511-409E-AF96-2737BC56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62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919"/>
                </a:solidFill>
              </a:defRPr>
            </a:pPr>
            <a:r>
              <a:rPr sz="1200" b="1">
                <a:solidFill>
                  <a:srgbClr val="191919"/>
                </a:solidFill>
              </a:rPr>
              <a:t>01</a:t>
            </a:r>
          </a:p>
        </p:txBody>
      </p:sp>
      <p:sp>
        <p:nvSpPr>
          <p:cNvPr id="8" name="mile-h-01">
            <a:extLst xmlns:a="http://schemas.openxmlformats.org/drawingml/2006/main">
              <a:ext uri="{FF2B5EF4-FFF2-40B4-BE49-F238E27FC236}">
                <a16:creationId xmlns:a16="http://schemas.microsoft.com/office/drawing/2014/main" id="{2E164908-F24B-4D99-B9F0-0EC0E19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1919"/>
                </a:solidFill>
              </a:defRPr>
            </a:pPr>
            <a:r>
              <a:rPr sz="1650" b="1">
                <a:solidFill>
                  <a:srgbClr val="191919"/>
                </a:solidFill>
              </a:rPr>
              <a:t>DATA</a:t>
            </a:r>
          </a:p>
        </p:txBody>
      </p:sp>
      <p:sp>
        <p:nvSpPr>
          <p:cNvPr id="9" name="mile-b-01">
            <a:extLst xmlns:a="http://schemas.openxmlformats.org/drawingml/2006/main">
              <a:ext uri="{FF2B5EF4-FFF2-40B4-BE49-F238E27FC236}">
                <a16:creationId xmlns:a16="http://schemas.microsoft.com/office/drawing/2014/main" id="{E92347F9-74CE-4008-8F7C-4E4C5D0F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정식 원본·코드북</a:t>
            </a:r>
          </a:p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공간·시간 단위 통일</a:t>
            </a:r>
          </a:p>
        </p:txBody>
      </p:sp>
      <p:sp>
        <p:nvSpPr>
          <p:cNvPr id="10" name="mile-02">
            <a:extLst xmlns:a="http://schemas.openxmlformats.org/drawingml/2006/main">
              <a:ext uri="{FF2B5EF4-FFF2-40B4-BE49-F238E27FC236}">
                <a16:creationId xmlns:a16="http://schemas.microsoft.com/office/drawing/2014/main" id="{A7BCD374-24A9-43DA-9635-9BAD2B7C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860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le-num-02">
            <a:extLst xmlns:a="http://schemas.openxmlformats.org/drawingml/2006/main">
              <a:ext uri="{FF2B5EF4-FFF2-40B4-BE49-F238E27FC236}">
                <a16:creationId xmlns:a16="http://schemas.microsoft.com/office/drawing/2014/main" id="{40239922-0AC7-4935-80AB-491B6254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62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919"/>
                </a:solidFill>
              </a:defRPr>
            </a:pPr>
            <a:r>
              <a:rPr sz="1200" b="1">
                <a:solidFill>
                  <a:srgbClr val="191919"/>
                </a:solidFill>
              </a:rPr>
              <a:t>02</a:t>
            </a:r>
          </a:p>
        </p:txBody>
      </p:sp>
      <p:sp>
        <p:nvSpPr>
          <p:cNvPr id="12" name="mile-h-02">
            <a:extLst xmlns:a="http://schemas.openxmlformats.org/drawingml/2006/main">
              <a:ext uri="{FF2B5EF4-FFF2-40B4-BE49-F238E27FC236}">
                <a16:creationId xmlns:a16="http://schemas.microsoft.com/office/drawing/2014/main" id="{3400929A-5508-4164-BFB1-8F51E617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1919"/>
                </a:solidFill>
              </a:defRPr>
            </a:pPr>
            <a:r>
              <a:rPr sz="1650" b="1">
                <a:solidFill>
                  <a:srgbClr val="191919"/>
                </a:solidFill>
              </a:rPr>
              <a:t>BASELINE</a:t>
            </a:r>
          </a:p>
        </p:txBody>
      </p:sp>
      <p:sp>
        <p:nvSpPr>
          <p:cNvPr id="13" name="mile-b-02">
            <a:extLst xmlns:a="http://schemas.openxmlformats.org/drawingml/2006/main">
              <a:ext uri="{FF2B5EF4-FFF2-40B4-BE49-F238E27FC236}">
                <a16:creationId xmlns:a16="http://schemas.microsoft.com/office/drawing/2014/main" id="{11A7D45F-8338-4C23-9BEC-0DB5200D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Huff·PPML·GAM</a:t>
            </a:r>
          </a:p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미래 분기 잔차</a:t>
            </a:r>
          </a:p>
        </p:txBody>
      </p:sp>
      <p:sp>
        <p:nvSpPr>
          <p:cNvPr id="14" name="mile-03">
            <a:extLst xmlns:a="http://schemas.openxmlformats.org/drawingml/2006/main">
              <a:ext uri="{FF2B5EF4-FFF2-40B4-BE49-F238E27FC236}">
                <a16:creationId xmlns:a16="http://schemas.microsoft.com/office/drawing/2014/main" id="{19A46C96-5B30-4F04-A314-CED612E5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ile-num-03">
            <a:extLst xmlns:a="http://schemas.openxmlformats.org/drawingml/2006/main">
              <a:ext uri="{FF2B5EF4-FFF2-40B4-BE49-F238E27FC236}">
                <a16:creationId xmlns:a16="http://schemas.microsoft.com/office/drawing/2014/main" id="{CE3B1D5D-6C2E-4FA0-B671-46739A96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919"/>
                </a:solidFill>
              </a:defRPr>
            </a:pPr>
            <a:r>
              <a:rPr sz="1200" b="1">
                <a:solidFill>
                  <a:srgbClr val="191919"/>
                </a:solidFill>
              </a:rPr>
              <a:t>03</a:t>
            </a:r>
          </a:p>
        </p:txBody>
      </p:sp>
      <p:sp>
        <p:nvSpPr>
          <p:cNvPr id="16" name="mile-h-03">
            <a:extLst xmlns:a="http://schemas.openxmlformats.org/drawingml/2006/main">
              <a:ext uri="{FF2B5EF4-FFF2-40B4-BE49-F238E27FC236}">
                <a16:creationId xmlns:a16="http://schemas.microsoft.com/office/drawing/2014/main" id="{A5CC6A46-8A9B-47A1-9B37-E03CD66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1919"/>
                </a:solidFill>
              </a:defRPr>
            </a:pPr>
            <a:r>
              <a:rPr sz="1650" b="1">
                <a:solidFill>
                  <a:srgbClr val="191919"/>
                </a:solidFill>
              </a:rPr>
              <a:t>RANK</a:t>
            </a:r>
          </a:p>
        </p:txBody>
      </p:sp>
      <p:sp>
        <p:nvSpPr>
          <p:cNvPr id="17" name="mile-b-03">
            <a:extLst xmlns:a="http://schemas.openxmlformats.org/drawingml/2006/main">
              <a:ext uri="{FF2B5EF4-FFF2-40B4-BE49-F238E27FC236}">
                <a16:creationId xmlns:a16="http://schemas.microsoft.com/office/drawing/2014/main" id="{DF4A2E14-AC01-4A0D-873B-1FBB8B7D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62375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LambdaRank</a:t>
            </a:r>
          </a:p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NDCG@5·SHAP</a:t>
            </a:r>
          </a:p>
        </p:txBody>
      </p:sp>
      <p:sp>
        <p:nvSpPr>
          <p:cNvPr id="18" name="mile-04">
            <a:extLst xmlns:a="http://schemas.openxmlformats.org/drawingml/2006/main">
              <a:ext uri="{FF2B5EF4-FFF2-40B4-BE49-F238E27FC236}">
                <a16:creationId xmlns:a16="http://schemas.microsoft.com/office/drawing/2014/main" id="{1972DBB4-029C-4F9B-A4C2-E7CD0AA6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860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ile-num-04">
            <a:extLst xmlns:a="http://schemas.openxmlformats.org/drawingml/2006/main">
              <a:ext uri="{FF2B5EF4-FFF2-40B4-BE49-F238E27FC236}">
                <a16:creationId xmlns:a16="http://schemas.microsoft.com/office/drawing/2014/main" id="{898F5A59-B5A8-46CB-AAE0-886F898F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62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919"/>
                </a:solidFill>
              </a:defRPr>
            </a:pPr>
            <a:r>
              <a:rPr sz="1200" b="1">
                <a:solidFill>
                  <a:srgbClr val="191919"/>
                </a:solidFill>
              </a:rPr>
              <a:t>04</a:t>
            </a:r>
          </a:p>
        </p:txBody>
      </p:sp>
      <p:sp>
        <p:nvSpPr>
          <p:cNvPr id="20" name="mile-h-04">
            <a:extLst xmlns:a="http://schemas.openxmlformats.org/drawingml/2006/main">
              <a:ext uri="{FF2B5EF4-FFF2-40B4-BE49-F238E27FC236}">
                <a16:creationId xmlns:a16="http://schemas.microsoft.com/office/drawing/2014/main" id="{6522D3C1-4402-4AE9-A8F4-3919C6D7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1919"/>
                </a:solidFill>
              </a:defRPr>
            </a:pPr>
            <a:r>
              <a:rPr sz="1650" b="1">
                <a:solidFill>
                  <a:srgbClr val="191919"/>
                </a:solidFill>
              </a:rPr>
              <a:t>TEXT</a:t>
            </a:r>
          </a:p>
        </p:txBody>
      </p:sp>
      <p:sp>
        <p:nvSpPr>
          <p:cNvPr id="21" name="mile-b-04">
            <a:extLst xmlns:a="http://schemas.openxmlformats.org/drawingml/2006/main">
              <a:ext uri="{FF2B5EF4-FFF2-40B4-BE49-F238E27FC236}">
                <a16:creationId xmlns:a16="http://schemas.microsoft.com/office/drawing/2014/main" id="{FB5FA174-9D21-4438-8853-F8D19131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62375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Frozen SBERT</a:t>
            </a:r>
          </a:p>
          <a:p xmlns:a="http://schemas.openxmlformats.org/drawingml/2006/main">
            <a:pPr algn="ctr">
              <a:defRPr sz="1275" b="0">
                <a:solidFill>
                  <a:srgbClr val="6C6864"/>
                </a:solidFill>
              </a:defRPr>
            </a:pPr>
            <a:r>
              <a:rPr sz="1275" b="0">
                <a:solidFill>
                  <a:srgbClr val="6C6864"/>
                </a:solidFill>
              </a:rPr>
              <a:t>파인튜닝 비교</a:t>
            </a:r>
          </a:p>
        </p:txBody>
      </p:sp>
      <p:sp>
        <p:nvSpPr>
          <p:cNvPr id="22" name="metrics">
            <a:extLst xmlns:a="http://schemas.openxmlformats.org/drawingml/2006/main">
              <a:ext uri="{FF2B5EF4-FFF2-40B4-BE49-F238E27FC236}">
                <a16:creationId xmlns:a16="http://schemas.microsoft.com/office/drawing/2014/main" id="{35D31DBA-1608-46C1-80C2-CA57213A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tric-tag">
            <a:extLst xmlns:a="http://schemas.openxmlformats.org/drawingml/2006/main">
              <a:ext uri="{FF2B5EF4-FFF2-40B4-BE49-F238E27FC236}">
                <a16:creationId xmlns:a16="http://schemas.microsoft.com/office/drawing/2014/main" id="{3E86041D-4C78-45AD-98DA-F3E96B90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EE500"/>
                </a:solidFill>
              </a:defRPr>
            </a:pPr>
            <a:r>
              <a:rPr sz="1575" b="1">
                <a:solidFill>
                  <a:srgbClr val="FEE500"/>
                </a:solidFill>
              </a:rPr>
              <a:t>검증</a:t>
            </a:r>
          </a:p>
        </p:txBody>
      </p:sp>
      <p:sp>
        <p:nvSpPr>
          <p:cNvPr id="24" name="metric-list">
            <a:extLst xmlns:a="http://schemas.openxmlformats.org/drawingml/2006/main">
              <a:ext uri="{FF2B5EF4-FFF2-40B4-BE49-F238E27FC236}">
                <a16:creationId xmlns:a16="http://schemas.microsoft.com/office/drawing/2014/main" id="{9C449EF2-9C9F-410A-B6B6-EFD080CB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4350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시간순 CV · 지역 홀드아웃 · Poisson deviance · NDCG@5 · Recall@K · SHAP 안정성</a:t>
            </a:r>
          </a:p>
        </p:txBody>
      </p:sp>
      <p:sp>
        <p:nvSpPr>
          <p:cNvPr id="25" name="final-output">
            <a:extLst xmlns:a="http://schemas.openxmlformats.org/drawingml/2006/main">
              <a:ext uri="{FF2B5EF4-FFF2-40B4-BE49-F238E27FC236}">
                <a16:creationId xmlns:a16="http://schemas.microsoft.com/office/drawing/2014/main" id="{97D1092D-2A42-4DA3-9E40-63EE15B4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960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1919"/>
                </a:solidFill>
              </a:defRPr>
            </a:pPr>
            <a:r>
              <a:rPr sz="1650" b="1">
                <a:solidFill>
                  <a:srgbClr val="191919"/>
                </a:solidFill>
              </a:rPr>
              <a:t>최종 산출물: 목적별 후보 생성기 + 괴리모형 + 설명 가능한 상권 랭커</a:t>
            </a:r>
          </a:p>
        </p:txBody>
      </p:sp>
    </p:spTree>
    <p:extLst>
      <p:ext uri="{BB962C8B-B14F-4D97-AF65-F5344CB8AC3E}">
        <p14:creationId xmlns:p14="http://schemas.microsoft.com/office/powerpoint/2010/main" val="1446549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2026-08-30T00:49:36.1970000Z</dcterms:created>
  <dcterms:modified xsi:type="dcterms:W3CDTF">2026-08-30T00:49:36.1970000Z</dcterms:modified>
</coreProperties>
</file>