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ab3fe68c6482e" /><Relationship Type="http://schemas.openxmlformats.org/officeDocument/2006/relationships/extended-properties" Target="/docProps/app.xml" Id="Ra657244720a54da3" /><Relationship Type="http://schemas.openxmlformats.org/officeDocument/2006/relationships/officeDocument" Target="/ppt/presentation.xml" Id="Rb60ccaefc49149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3b8cb4fba474b"/>
  </p:sldMasterIdLst>
  <p:notesMasterIdLst>
    <p:notesMasterId xmlns:r="http://schemas.openxmlformats.org/officeDocument/2006/relationships" r:id="R62402ae59cbd4d27"/>
  </p:notesMasterIdLst>
  <p:sldIdLst>
    <p:sldId xmlns:r="http://schemas.openxmlformats.org/officeDocument/2006/relationships" id="256" r:id="R1a5aee354e4742ce"/>
    <p:sldId xmlns:r="http://schemas.openxmlformats.org/officeDocument/2006/relationships" id="257" r:id="R0f411e065c2840fa"/>
    <p:sldId xmlns:r="http://schemas.openxmlformats.org/officeDocument/2006/relationships" id="258" r:id="Rf5d9861809fa4908"/>
    <p:sldId xmlns:r="http://schemas.openxmlformats.org/officeDocument/2006/relationships" id="259" r:id="R97b7c4fe1639472e"/>
    <p:sldId xmlns:r="http://schemas.openxmlformats.org/officeDocument/2006/relationships" id="260" r:id="Rf54a4f615d7e48b9"/>
    <p:sldId xmlns:r="http://schemas.openxmlformats.org/officeDocument/2006/relationships" id="261" r:id="R5c1efabb65ca4e15"/>
    <p:sldId xmlns:r="http://schemas.openxmlformats.org/officeDocument/2006/relationships" id="262" r:id="R9a05cb31967045e4"/>
    <p:sldId xmlns:r="http://schemas.openxmlformats.org/officeDocument/2006/relationships" id="263" r:id="R4e45565d3bc84f7e"/>
    <p:sldId xmlns:r="http://schemas.openxmlformats.org/officeDocument/2006/relationships" id="264" r:id="Re54be7112aaf4824"/>
    <p:sldId xmlns:r="http://schemas.openxmlformats.org/officeDocument/2006/relationships" id="265" r:id="R5d9f9f01855a4da1"/>
    <p:sldId xmlns:r="http://schemas.openxmlformats.org/officeDocument/2006/relationships" id="266" r:id="Rf14124971c0b4229"/>
    <p:sldId xmlns:r="http://schemas.openxmlformats.org/officeDocument/2006/relationships" id="267" r:id="R53fbc9d7c79c4af6"/>
    <p:sldId xmlns:r="http://schemas.openxmlformats.org/officeDocument/2006/relationships" id="268" r:id="R796498daab514b65"/>
    <p:sldId xmlns:r="http://schemas.openxmlformats.org/officeDocument/2006/relationships" id="269" r:id="Reac65f4f38204aec"/>
    <p:sldId xmlns:r="http://schemas.openxmlformats.org/officeDocument/2006/relationships" id="270" r:id="Rf0693232e9594463"/>
    <p:sldId xmlns:r="http://schemas.openxmlformats.org/officeDocument/2006/relationships" id="271" r:id="Rfe5d432d26c74b60"/>
    <p:sldId xmlns:r="http://schemas.openxmlformats.org/officeDocument/2006/relationships" id="272" r:id="R2dcfd7d15a28414a"/>
    <p:sldId xmlns:r="http://schemas.openxmlformats.org/officeDocument/2006/relationships" id="273" r:id="Rda81871ad59d4992"/>
    <p:sldId xmlns:r="http://schemas.openxmlformats.org/officeDocument/2006/relationships" id="274" r:id="R61f50aa1405a4199"/>
    <p:sldId xmlns:r="http://schemas.openxmlformats.org/officeDocument/2006/relationships" id="275" r:id="R93ab4dd4b59448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22c568c9844fa" /><Relationship Type="http://schemas.openxmlformats.org/officeDocument/2006/relationships/slideMaster" Target="/ppt/slideMasters/slideMaster1.xml" Id="Raa03b8cb4fba474b" /><Relationship Type="http://schemas.openxmlformats.org/officeDocument/2006/relationships/notesMaster" Target="/ppt/notesMasters/notesMaster1.xml" Id="R62402ae59cbd4d27" /><Relationship Type="http://schemas.openxmlformats.org/officeDocument/2006/relationships/presProps" Target="/ppt/presProps.xml" Id="R15376fc7e05f4cc7" /><Relationship Type="http://schemas.openxmlformats.org/officeDocument/2006/relationships/tableStyles" Target="/ppt/tableStyles.xml" Id="R3501bca2a1b940f3" /><Relationship Type="http://schemas.openxmlformats.org/officeDocument/2006/relationships/slide" Target="/ppt/slides/slide1.xml" Id="R1a5aee354e4742ce" /><Relationship Type="http://schemas.openxmlformats.org/officeDocument/2006/relationships/slide" Target="/ppt/slides/slide2.xml" Id="R0f411e065c2840fa" /><Relationship Type="http://schemas.openxmlformats.org/officeDocument/2006/relationships/slide" Target="/ppt/slides/slide3.xml" Id="Rf5d9861809fa4908" /><Relationship Type="http://schemas.openxmlformats.org/officeDocument/2006/relationships/slide" Target="/ppt/slides/slide4.xml" Id="R97b7c4fe1639472e" /><Relationship Type="http://schemas.openxmlformats.org/officeDocument/2006/relationships/slide" Target="/ppt/slides/slide5.xml" Id="Rf54a4f615d7e48b9" /><Relationship Type="http://schemas.openxmlformats.org/officeDocument/2006/relationships/slide" Target="/ppt/slides/slide6.xml" Id="R5c1efabb65ca4e15" /><Relationship Type="http://schemas.openxmlformats.org/officeDocument/2006/relationships/slide" Target="/ppt/slides/slide7.xml" Id="R9a05cb31967045e4" /><Relationship Type="http://schemas.openxmlformats.org/officeDocument/2006/relationships/slide" Target="/ppt/slides/slide8.xml" Id="R4e45565d3bc84f7e" /><Relationship Type="http://schemas.openxmlformats.org/officeDocument/2006/relationships/slide" Target="/ppt/slides/slide9.xml" Id="Re54be7112aaf4824" /><Relationship Type="http://schemas.openxmlformats.org/officeDocument/2006/relationships/slide" Target="/ppt/slides/slide10.xml" Id="R5d9f9f01855a4da1" /><Relationship Type="http://schemas.openxmlformats.org/officeDocument/2006/relationships/slide" Target="/ppt/slides/slide11.xml" Id="Rf14124971c0b4229" /><Relationship Type="http://schemas.openxmlformats.org/officeDocument/2006/relationships/slide" Target="/ppt/slides/slide12.xml" Id="R53fbc9d7c79c4af6" /><Relationship Type="http://schemas.openxmlformats.org/officeDocument/2006/relationships/slide" Target="/ppt/slides/slide13.xml" Id="R796498daab514b65" /><Relationship Type="http://schemas.openxmlformats.org/officeDocument/2006/relationships/slide" Target="/ppt/slides/slide14.xml" Id="Reac65f4f38204aec" /><Relationship Type="http://schemas.openxmlformats.org/officeDocument/2006/relationships/slide" Target="/ppt/slides/slide15.xml" Id="Rf0693232e9594463" /><Relationship Type="http://schemas.openxmlformats.org/officeDocument/2006/relationships/slide" Target="/ppt/slides/slide16.xml" Id="Rfe5d432d26c74b60" /><Relationship Type="http://schemas.openxmlformats.org/officeDocument/2006/relationships/slide" Target="/ppt/slides/slide17.xml" Id="R2dcfd7d15a28414a" /><Relationship Type="http://schemas.openxmlformats.org/officeDocument/2006/relationships/slide" Target="/ppt/slides/slide18.xml" Id="Rda81871ad59d4992" /><Relationship Type="http://schemas.openxmlformats.org/officeDocument/2006/relationships/slide" Target="/ppt/slides/slide19.xml" Id="R61f50aa1405a4199" /><Relationship Type="http://schemas.openxmlformats.org/officeDocument/2006/relationships/slide" Target="/ppt/slides/slide20.xml" Id="R93ab4dd4b59448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6ec8577eb847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d5573c5064a83" /><Relationship Type="http://schemas.openxmlformats.org/officeDocument/2006/relationships/notesMaster" Target="/ppt/notesMasters/notesMaster1.xml" Id="Rbaf1d79b152b4a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929ce5c5e4ebd" /><Relationship Type="http://schemas.openxmlformats.org/officeDocument/2006/relationships/notesMaster" Target="/ppt/notesMasters/notesMaster1.xml" Id="Rf2b8732852b54c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7c9e2bd584a31" /><Relationship Type="http://schemas.openxmlformats.org/officeDocument/2006/relationships/notesMaster" Target="/ppt/notesMasters/notesMaster1.xml" Id="R4525a91ee6cb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46d753cef3454b" /><Relationship Type="http://schemas.openxmlformats.org/officeDocument/2006/relationships/notesMaster" Target="/ppt/notesMasters/notesMaster1.xml" Id="Re74a71e2861a48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55ee2faf864314" /><Relationship Type="http://schemas.openxmlformats.org/officeDocument/2006/relationships/notesMaster" Target="/ppt/notesMasters/notesMaster1.xml" Id="R6514b454f3cc40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fdd6ae6ed34417" /><Relationship Type="http://schemas.openxmlformats.org/officeDocument/2006/relationships/notesMaster" Target="/ppt/notesMasters/notesMaster1.xml" Id="R79eb12090cc7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c0707fac7349c0" /><Relationship Type="http://schemas.openxmlformats.org/officeDocument/2006/relationships/notesMaster" Target="/ppt/notesMasters/notesMaster1.xml" Id="Rfac4bbb769f748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06de02c8684e13" /><Relationship Type="http://schemas.openxmlformats.org/officeDocument/2006/relationships/notesMaster" Target="/ppt/notesMasters/notesMaster1.xml" Id="Re7d82501937f48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91c32165a04e95" /><Relationship Type="http://schemas.openxmlformats.org/officeDocument/2006/relationships/notesMaster" Target="/ppt/notesMasters/notesMaster1.xml" Id="R08098426868840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7c09d0c7594b7c" /><Relationship Type="http://schemas.openxmlformats.org/officeDocument/2006/relationships/notesMaster" Target="/ppt/notesMasters/notesMaster1.xml" Id="R32d58003575c40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20e64dd2e449b7" /><Relationship Type="http://schemas.openxmlformats.org/officeDocument/2006/relationships/notesMaster" Target="/ppt/notesMasters/notesMaster1.xml" Id="R5c357ac24d8846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03b274a050465b" /><Relationship Type="http://schemas.openxmlformats.org/officeDocument/2006/relationships/notesMaster" Target="/ppt/notesMasters/notesMaster1.xml" Id="Ra6ee1a47949f4d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d52825208f4682" /><Relationship Type="http://schemas.openxmlformats.org/officeDocument/2006/relationships/notesMaster" Target="/ppt/notesMasters/notesMaster1.xml" Id="R2c34f2b9ce814b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5eeec4a89548ff" /><Relationship Type="http://schemas.openxmlformats.org/officeDocument/2006/relationships/notesMaster" Target="/ppt/notesMasters/notesMaster1.xml" Id="R6c52cc43673740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96c1780e444478" /><Relationship Type="http://schemas.openxmlformats.org/officeDocument/2006/relationships/notesMaster" Target="/ppt/notesMasters/notesMaster1.xml" Id="R0fd6fa0c883442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dd8fb0fdef485a" /><Relationship Type="http://schemas.openxmlformats.org/officeDocument/2006/relationships/notesMaster" Target="/ppt/notesMasters/notesMaster1.xml" Id="R6e289294c86c4a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9b2f34ac6f4aa1" /><Relationship Type="http://schemas.openxmlformats.org/officeDocument/2006/relationships/notesMaster" Target="/ppt/notesMasters/notesMaster1.xml" Id="R473944876e7346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7511d826cb473e" /><Relationship Type="http://schemas.openxmlformats.org/officeDocument/2006/relationships/notesMaster" Target="/ppt/notesMasters/notesMaster1.xml" Id="Rb0a1b6c349ba41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26ab58f9ab44bc" /><Relationship Type="http://schemas.openxmlformats.org/officeDocument/2006/relationships/notesMaster" Target="/ppt/notesMasters/notesMaster1.xml" Id="R6fb89ae76c3c46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6220ab00db451d" /><Relationship Type="http://schemas.openxmlformats.org/officeDocument/2006/relationships/notesMaster" Target="/ppt/notesMasters/notesMaster1.xml" Id="R2a2f8fab6eff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교통 접근성은 334개 출발지에서 정류장·역·환승·도보를 연결한 정적 교통 그래프에서 계산했다. 오전 8시, 오후 2시, 오후 7시의 반복 접근성을 함께 보며 후보를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행정동은 넓고 상권 성격이 섞여 있어 탐색 범위로만 사용했다. 786개의 공식 상권 폴리곤은 도달 정류장 400m 기준과 세 시간대 25% 접근률을 통과한 비교·추천 단위다.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PATH-v0의 일반 목적 점수는 목적 공급 신호 70%와 직전 분기 소비 신호 30%다. 공부는 독서실만 체류형 학습 업종으로 정의하고, 매출 원천에 독서실 소비가 없어 독서실 공급 신호 90%와 접근성 10%로 계산한다.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생활이동 데이터는 source_period가 26개 기간으로 혼재하고 동대문구 출발 OD가 아니다. 따라서 학교 이동 비중은 목적 맥락 대리변수로만 해석하며, 실제 추천 성능 지표로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B078 원본으로 실제 선택 라벨을 얻어 목적지 선택 데이터셋을 만드는 것이다. 현재의 후보군·시설·접근성·목적 맥락 변수는 학습과 검증을 위한 설명 피처 기반이다.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official_area_purpose_quarter_features.csv의 2025년 4분기 공부 목적 상위 5행을 읽기 쉽게 축약한 것이다. 전체 피처 테이블은 15,720행, 최신 분기 순위 테이블은 3,930행이다.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official_area_week2_integration.csv에서 동대문구의 대표 상권 5개를 추린 실제 결합 행이다. 이동 비중은 source_period가 혼재한 목적 맥락 대리변수이며 개별 목적지 선택 라벨이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목적별 상위 이름과 점수는 official_area_purpose_latest_rankings.csv의 2025 Q4 PATH-v0 순위에서 가져온다. 목적별 상세 Top 10은 다음 지도에서 공식 상권 폴리곤으로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commercial_area_candidates_25pct.geojson의 786개 공식 상권 폴리곤과 official_area_purpose_latest_rankings.csv의 2025 Q4 목적별 Top 10을 area_code로 결합해 제작했다. 밝은 폴리곤의 숫자는 각 목적 안의 순위다.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공부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카페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식사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쇼핑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여가문화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c763124c8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3f817bded434f" /><Relationship Type="http://schemas.openxmlformats.org/officeDocument/2006/relationships/slideLayout" Target="/ppt/slideLayouts/slideLayout1.xml" Id="Rf5ccd3fd6fd4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cd3fd6fd4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367b9e17745c3" /><Relationship Type="http://schemas.openxmlformats.org/officeDocument/2006/relationships/notesSlide" Target="/ppt/notesSlides/notesSlide1.xml" Id="Rcae95c278f19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056c07ae3445f" /><Relationship Type="http://schemas.openxmlformats.org/officeDocument/2006/relationships/notesSlide" Target="/ppt/notesSlides/notesSlide2.xml" Id="R38a6d707eaa74a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50309cbfc46ff" /><Relationship Type="http://schemas.openxmlformats.org/officeDocument/2006/relationships/notesSlide" Target="/ppt/notesSlides/notesSlide3.xml" Id="R93b864c1fd5d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9d8e2699a43e1" /><Relationship Type="http://schemas.openxmlformats.org/officeDocument/2006/relationships/notesSlide" Target="/ppt/notesSlides/notesSlide4.xml" Id="Re39ee37886a945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846a5300b42c6" /><Relationship Type="http://schemas.openxmlformats.org/officeDocument/2006/relationships/notesSlide" Target="/ppt/notesSlides/notesSlide5.xml" Id="R984a2d4d95f742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13bb77dfd43b5" /><Relationship Type="http://schemas.openxmlformats.org/officeDocument/2006/relationships/notesSlide" Target="/ppt/notesSlides/notesSlide6.xml" Id="Rbd3568f7f8994e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55b7b94624b93" /><Relationship Type="http://schemas.openxmlformats.org/officeDocument/2006/relationships/notesSlide" Target="/ppt/notesSlides/notesSlide7.xml" Id="R5d710389da5c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16319aac241ef" /><Relationship Type="http://schemas.openxmlformats.org/officeDocument/2006/relationships/notesSlide" Target="/ppt/notesSlides/notesSlide8.xml" Id="R076fbc40743e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a57271c3b467c" /><Relationship Type="http://schemas.openxmlformats.org/officeDocument/2006/relationships/notesSlide" Target="/ppt/notesSlides/notesSlide9.xml" Id="Rac42d487337949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c63128d24025" /><Relationship Type="http://schemas.openxmlformats.org/officeDocument/2006/relationships/notesSlide" Target="/ppt/notesSlides/notesSlide10.xml" Id="R3f61766b262d4b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65de40704442" /><Relationship Type="http://schemas.openxmlformats.org/officeDocument/2006/relationships/notesSlide" Target="/ppt/notesSlides/notesSlide11.xml" Id="R7e653898ade94a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3e363b8eb42b7" /><Relationship Type="http://schemas.openxmlformats.org/officeDocument/2006/relationships/notesSlide" Target="/ppt/notesSlides/notesSlide12.xml" Id="R809892da1c4d44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2e44f52e04c72" /><Relationship Type="http://schemas.openxmlformats.org/officeDocument/2006/relationships/notesSlide" Target="/ppt/notesSlides/notesSlide13.xml" Id="R28010a2ec33946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917635a3e4fc6" /><Relationship Type="http://schemas.openxmlformats.org/officeDocument/2006/relationships/notesSlide" Target="/ppt/notesSlides/notesSlide14.xml" Id="R0e4510402cbf4e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66f2244cb43eb" /><Relationship Type="http://schemas.openxmlformats.org/officeDocument/2006/relationships/image" Target="/ppt/media/image.png" Id="R8aebf0b3dfdc4505" /><Relationship Type="http://schemas.openxmlformats.org/officeDocument/2006/relationships/notesSlide" Target="/ppt/notesSlides/notesSlide15.xml" Id="R394630d1cfcf44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01ec9ca4a4b25" /><Relationship Type="http://schemas.openxmlformats.org/officeDocument/2006/relationships/image" Target="/ppt/media/image2.png" Id="R36610c7b91e04c19" /><Relationship Type="http://schemas.openxmlformats.org/officeDocument/2006/relationships/notesSlide" Target="/ppt/notesSlides/notesSlide16.xml" Id="Rbe2920265e3f4a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2bb398544117" /><Relationship Type="http://schemas.openxmlformats.org/officeDocument/2006/relationships/image" Target="/ppt/media/image3.png" Id="R6d0cdf14f12d4f52" /><Relationship Type="http://schemas.openxmlformats.org/officeDocument/2006/relationships/notesSlide" Target="/ppt/notesSlides/notesSlide17.xml" Id="Re3c7f569292d47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6289ebe5f4461" /><Relationship Type="http://schemas.openxmlformats.org/officeDocument/2006/relationships/image" Target="/ppt/media/image4.png" Id="R6fa964b1a84c4f0b" /><Relationship Type="http://schemas.openxmlformats.org/officeDocument/2006/relationships/notesSlide" Target="/ppt/notesSlides/notesSlide18.xml" Id="Rcb802ed0203847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1c8df317248c1" /><Relationship Type="http://schemas.openxmlformats.org/officeDocument/2006/relationships/image" Target="/ppt/media/image5.png" Id="Rbadf37dfac4a4f1c" /><Relationship Type="http://schemas.openxmlformats.org/officeDocument/2006/relationships/notesSlide" Target="/ppt/notesSlides/notesSlide19.xml" Id="R74a4e2f8acf14f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cd687ea184d2d" /><Relationship Type="http://schemas.openxmlformats.org/officeDocument/2006/relationships/image" Target="/ppt/media/image6.png" Id="R92e890c7a7714e39" /><Relationship Type="http://schemas.openxmlformats.org/officeDocument/2006/relationships/notesSlide" Target="/ppt/notesSlides/notesSlide20.xml" Id="Rf0b9a18cd62f45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520D8-36E3-4D62-B772-1562F55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17088-301D-437B-9A51-D531E030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080BC-4A85-4DBD-BBA7-39AE5A6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2CC33-CD39-4A29-8076-FF2844B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7F4F5-4AD5-4B5F-9E48-1894AC6E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6CCBA-5DA0-45C5-A32C-4B25E18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A1D58-16F7-468F-8910-869589BA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4AFD8-268F-4951-872B-6309DD39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3AC8C-E743-4122-93C3-5EBC78D4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EF5C4-519A-4CF1-A469-119D6397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F58D7-9110-42A7-A0DD-BB8242E1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5799F-5099-42AA-B283-B040CD7B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D4F69-B8E9-4355-A19A-6645DABB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58D92-0375-4F4E-85EF-8C2F0E38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289103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CCF98-9359-4893-85C6-48B5B31D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6675E-D25C-4496-BB57-AAE5012E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08694-943B-4D59-85D4-5576D1EC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9E988-D33B-469D-9936-909527CE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B9DBC-FF06-4875-BA0F-ED2E822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70D4C-32EC-4E3F-B4D0-1DEA9E6D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F3776-0BC7-492D-B91E-4F77351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E8360-2D4C-40D6-A5AC-22DE2744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9538B-4D5B-4EA3-9D96-22AB11E9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09CF4-22B9-4DEC-9BCC-B312C33F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4306D-F218-4586-98D1-B7B009B7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11791-1531-4F7B-9797-E9C6036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7F304-FEA9-4172-B9C9-F7DD923A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D7550-6B11-4B44-AAFD-0FA8F71B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A2CF0-A510-4834-9DDA-3E0DF9AE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126292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38168-2C0F-4BE0-B727-DACA1C4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EF5A2-ADCC-4E77-9739-4E8B8E4A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DFC5C-4CD1-40E3-A6F0-7E16F2EE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E35CB-3A75-4A88-8E53-33A543C4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3CB0E-4597-4D81-BC82-20F76499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D82F8-F88C-4CB7-AFFB-8E262D6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6BC70-25C4-418C-B425-0ABFFD0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0959F-1427-49A2-B897-1FAE5812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09723-F2D8-4679-BD74-7AECD78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4E4E2-572E-4FFF-AA1F-E4AB83CD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CF0D1-8C6C-4157-9A60-71EC4AB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54BE5-C0DC-4A86-9034-679C0D7B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E8520-7480-45A6-A120-F1698671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2019-8E87-4F70-9D69-E029D37C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74FCF-D3F2-4856-8F53-62D27000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5908B-938B-4BF8-A7E8-902DA893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660AD-4A64-431B-A0B8-E2C94558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1959965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094A3-3730-496A-BB24-AA43130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23C3C-BFEE-4F48-AACF-A8F3C63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4669E-F32A-424C-9EF8-10BDC38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516F8-444E-474A-A87F-4D9869C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33EDE-A595-4B00-AABA-EF87D31F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FC36F-3D65-48AF-AABD-0F33095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0F4AA-A44C-448E-B902-A2D3C8C5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56A95-F626-47B9-9935-9EEA0C7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F3BFA-D7A8-4200-8168-6A567D5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7B2AB-E016-4A43-80D6-54312E7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2FF1A-3D03-4DEA-A5F4-EC84DC58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E7D6B-18C3-4028-A3EB-F4CE8BD3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081D8-06BD-4B00-83A1-0F8F699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840E1-26BF-4DB8-8E8F-28BEC62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8B4A8-5BC7-494D-9E8B-E6014E7B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B3D13-FBA2-4B74-A8D0-D3299E38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2116333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07A69-B903-4F53-8414-81BB8F0C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E1F45-7004-42AD-83FC-9E517370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A9007-B24D-4620-B182-C9E0FE47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AEE20-4CD3-438C-BA8F-EA46BBEC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30034-895C-4A11-B013-21E1511B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4AB38-7797-4545-BB02-4BD9E3B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382AF-3E1F-4A00-9B03-4C5A436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FD525-B5EC-49F3-8A25-14B6F630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C4AB7-181A-4955-A266-3147F53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EA1B8-3F16-4EC2-BAA1-C633C31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7EF52-1FA8-4C0A-AEE8-DF67D89C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E89FF-0CD6-415C-B8C9-2B4B121A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62D37-69B5-48F9-95C1-CCF5F0C8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CBF0B-991F-40C9-B2F6-A01D01D1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109508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77C3B-636A-42AC-9B04-ED405124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27222-95BA-402B-9860-B02ED990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99E2-CBE8-41A7-AA77-504697D2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40D1D-0BC7-4C45-B7AD-8D3D82BE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AF992-49F1-4605-A4CA-337E33B7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21E43-1460-4D7B-BDD6-09A46C55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10ECB-53D6-4693-AF90-7240CD9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01165-7A75-4E65-8ADB-B331F426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C7725-665B-4ADB-80DE-1BCABEC0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12B8E-8D39-4DCA-BE45-67A1C819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4DB65-9465-4D47-AD05-BAE0774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025A7-6D61-4B7A-9FC6-A0CB6E9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09682-9A7B-4A7F-A116-B7EEEE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719700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93231-6CA9-4DE8-BD42-61C04D94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B45AA-3CB7-4BCA-8F4B-72980DC3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ACCESSIBILITY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05FCD-8952-44C9-BB7D-54EC0C27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0CC69-CF2B-48C6-B2DB-40E262C8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5B79E-EA77-453F-816A-A7E6F196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 생활권은 교통망에서 먼저 계산했습니다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629BD-4BD1-4EAB-9D6C-2803ADC8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334개 출발지에서 버스·지하철 운행 정보를 그래프로 만들고, 대기·환승·도보를 포함한 최소 이동시간을 계산했습니다.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9915C-25CA-44A4-80D3-440B32A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출발지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2D99E-DD17-4536-BD92-1E17B5B0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4B5CB-31A6-4498-A3FA-DA42443B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교통 그래프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BE119-EB39-43FD-8D3C-D70A8303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5E0E3-CE51-4C57-90D9-B063512C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도달 정류장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C3586-E28E-43E4-A674-00D287F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상권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E269A-092E-4474-B035-4568B07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A3584-C4F6-4EF7-A06C-9BA69998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AE0E3-90B9-47EB-B2A0-F93F1A8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접근률을 사용해 특정 시간대에만 열리는 후보를 줄였습니다</a:t>
            </a:r>
          </a:p>
        </p:txBody>
      </p:sp>
    </p:spTree>
    <p:extLst>
      <p:ext uri="{BB962C8B-B14F-4D97-AF65-F5344CB8AC3E}">
        <p14:creationId xmlns:p14="http://schemas.microsoft.com/office/powerpoint/2010/main" val="1714639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46514-ED0B-4613-B9AF-99D754F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00DB8-2A40-498D-9BF3-14363DC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7C045-B370-493A-8DB4-FBFBEAD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75BFC-1F9B-4F9A-9244-8546F88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61181-8E94-4ACC-B61F-4BCC97E6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후보군은 행정동이 아니라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8F6E1-2AD5-45C1-900E-DF383CE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행정동은 탐색 범위로 쓰고, 실제 비교·추천 단위는 서울시 공식 상권 경계로 세분화했습니다.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27AAE-35E8-4BCC-9B56-9E9E9CE2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870E7-0B7C-4553-B85A-01D8739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 가능 행정동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탐색 생활권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4BEA8-5E8E-43D0-9184-8944F868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400m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9281E-6944-4415-9B01-0ADF718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도달 정류장과 상권 경계의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공간 결합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2E65C-C679-4F51-85D4-4B5F3E8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B4D21-5030-4CB7-9680-4AFAE2DB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세 시간대 25% 기준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B1EB0-25BE-4E3D-B2C8-127D97B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270B4-9B24-4612-B7B8-01AD536E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EFE0A-C19B-4DD2-A4DE-8A2D2966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25%는 소수 출발지에서만 접근 가능한 상권을 걸러내되, 동대문구 내부의 생활권 다양성을 보존하기 위한 탐색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495983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CE3A3-7BB3-44CA-B092-1D186E5D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6D617-AD31-426B-8CA7-58F26D88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PATH-V0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D16B2-9330-4696-AB21-813CF205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24BDD-81CD-48B2-AF21-8C11CE75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B8213-A4C5-4988-9D43-085842C1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Top 10은 PATH-v0 점수로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BEBE-37DC-4153-9AB6-8A3F3EE7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PATH는 Purpose-Aware Transit-constrained Heuristic입니다. 2025 Q4의 접근 가능한 공식 상권 안에서 목적별 순위를 만드는 규칙기반 기준선입니다.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468F-8C24-457E-9F7A-D880556F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일반 목적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3F964-7E2F-4C90-9FC9-17508B26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0.70 × 공급 신호  +  0.30 × 직전 분기 소비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CBCD-60B0-4662-8869-DC939AA4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공급 신호 = 점포 수 백분위 65% + 상권 내 목적 업종 비중 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A20F6-6D50-4368-BBC0-F72E438C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소비 신호 = 매출 규모 50% + 목적 매출 비중 25% + 적합 시간대 비중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C00E1-A9AB-411F-9140-AD7C621D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EB7B6-E5A9-41F1-AC04-9D64C5EB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 목적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22B7C-E812-4DF2-9C56-E5DEF2E9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0.90 × 독서실 공급 신호  +  0.10 × 접근성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DAC51-5825-4E3B-8299-FEB7F82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매출 원천에 독서실 소비가 없어 임의의 매출 신호를 넣지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1181410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10A18-6565-4CDB-AE1A-5501B572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D3D78-E9AE-4BE9-9B77-613B8D77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MOBILITY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63678-3C0C-4640-9535-9DB72DF7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CFB06-362B-4819-B8F6-7D07BF4E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592B9-7296-4FFC-A079-F0E23E8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생활이동 데이터는 ‘선택 라벨’이 아닌 맥락 신호입니다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0F9F9-7688-4BA0-8684-7A2F8EC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지우진의 생활이동 집계는 지역별 학교·업무·여가 목적 비중을 보여주지만, 동대문구에서 출발한 개인의 실제 목적지 선택 기록은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12A15-52E5-4B46-9B21-C52BCF47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79A03-1A4B-4072-B1C8-D072BF03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source_period가 섞인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453FE-0D05-41E6-9DE3-A5A3413D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0.198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601C0-7934-4A0F-B8ED-E0599FD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80A28-902B-479E-B315-6E433C28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0.089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51521-0643-4496-B286-E28D7B9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최소 접근률의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1C480-13A7-4A62-812B-75D41650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따라서 생활이동 비중은 상권의 목적 맥락을 보완하는 변수로만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1645469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BD33E-6383-4543-8EB2-C77C1CB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6FB98-AB96-4908-8F9B-09B41D4C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66F8C-DCCD-40B5-A1E6-45B5EAD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7138F-CE6F-4BDE-A977-1C2F09DA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3F5A0-5E3E-4173-B45F-CE4A626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다음 단계는 실제 선택 데이터로 기준선을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CFCFB-0F8D-4FB2-AC2A-FD94AC01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지금의 786개 상권은 후보군과 설명 피처를 갖춘 상태입니다. B078 원본 접근이 가능해지면 목적지 선택모형으로 넘어갑니다.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8B1DA-4653-4E5F-B4FC-5B25C6FF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386A9-5DEF-46D9-BAAD-06182E7E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B078 원본에서 출발지·도착지·시간대·목적 관련 변수를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BC690-9348-4763-8402-317FF9B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F552B-D9DE-4D1D-BD08-F59BF9D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선택 상권과 미선택 후보를 비교하는 목적지 선택 데이터셋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4DBC9-7A62-46B6-B99E-D3AE044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E17E1-F9C6-4942-84DC-C88E9317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다항 로짓·트리 기반 모델로 추천 성능과 설명력을 함께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9027A-BAB1-40D8-A59A-0EEC4FD6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산출물은 추천 서비스의 답이 아니라, 학습·검증 가능한 후보 공간과 피처의 기반입니다</a:t>
            </a:r>
          </a:p>
        </p:txBody>
      </p:sp>
    </p:spTree>
    <p:extLst>
      <p:ext uri="{BB962C8B-B14F-4D97-AF65-F5344CB8AC3E}">
        <p14:creationId xmlns:p14="http://schemas.microsoft.com/office/powerpoint/2010/main" val="1971283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B8EB0-DACE-4D4C-A003-2FAE044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852DE-D58C-4F7E-9764-9BD6CFC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RAW FEATURE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E74BE-A19F-436F-8BC6-BB5724B6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37267-9949-4BB4-9397-57426293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FD17F-D795-4F87-9D0E-31A973B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목적별 피처 테이블은 이렇게 생겼습니다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F378C-3632-4DB8-918F-8D68CC7C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Q4 ‘공부’ 목적의 PATH-v0 상위 행 5개입니다. 각 행은 상권 1개와 목적 1개의 결합 단위입니다.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933450"/>
                <a:gridCol w="2000250"/>
                <a:gridCol w="1047750"/>
                <a:gridCol w="1104900"/>
                <a:gridCol w="742950"/>
                <a:gridCol w="1066800"/>
                <a:gridCol w="1066800"/>
                <a:gridCol w="97155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rank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area_code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상권명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유형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최소접근률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PATH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3120059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구삼강변맛길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0.904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98.2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3110241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먹골역 5번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3110220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85.3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70.8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장안동사거리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11D22-2A35-4545-862E-53C4EE0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총 15,720행 = 4개 분기 × 786개 상권 × 5개 목적. 최신 분기 순위는 3,930행입니다.</a:t>
            </a:r>
          </a:p>
        </p:txBody>
      </p:sp>
    </p:spTree>
    <p:extLst>
      <p:ext uri="{BB962C8B-B14F-4D97-AF65-F5344CB8AC3E}">
        <p14:creationId xmlns:p14="http://schemas.microsoft.com/office/powerpoint/2010/main" val="13294230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7D72F-FA9C-4FE7-A2DE-23198278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789BA-43ED-425C-8BEC-5CD6ABE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21ABE-9089-4D25-B7D5-B1C0B50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5F5FE-678D-48A7-A8AB-D6741345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1DE4F-D05D-4A80-BEB5-1A325FBE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상권 피처는 area_code 하나로 결합됩니다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B0834-0467-4BFC-A934-9A40A522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접근성, 공공 학습시설, 카카오 스터디카페, 생활이동 맥락을 같은 786개 공식 상권 키에 붙였습니다.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43000"/>
                <a:gridCol w="1095375"/>
                <a:gridCol w="1143000"/>
                <a:gridCol w="1285875"/>
                <a:gridCol w="1428750"/>
                <a:gridCol w="228600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내부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400m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스터디카페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학교 이동비중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분류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회기시장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경희대후문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0.955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demand signal feature gap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청량초등학교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D6260-7B82-40B8-A718-40CB5D1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이동 비중은 실제 개인 선택 라벨이 아니라 지역의 목적 맥락 대리변수입니다.</a:t>
            </a:r>
          </a:p>
        </p:txBody>
      </p:sp>
    </p:spTree>
    <p:extLst>
      <p:ext uri="{BB962C8B-B14F-4D97-AF65-F5344CB8AC3E}">
        <p14:creationId xmlns:p14="http://schemas.microsoft.com/office/powerpoint/2010/main" val="784565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381F6-A004-4F8F-BD7A-AFD4C5F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E45ED-2D78-4573-84AE-95C2509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F6DB-9618-44CC-8D8E-0A2D5D3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998E2-E944-43ED-8765-043E36D2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142D5-206C-4F38-91ED-60DD0DA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점수는 실제로 목적에 따라 다르게 나옵니다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7E4B7-E8C7-4997-8CE7-6E7EABF3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786개 후보를 놓고도 목적별 공급 구조와 소비 신호가 달라 상위 상권이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BBBB0-2362-47D5-B412-18910DC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D88F2-FA44-46B2-A4FC-62259BD1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구삼강변맛길  94.3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CD53C-C1FF-4CDC-AD38-A6F9AF0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외대앞역 1번  92.4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8F07B-87D3-43F4-A3CD-35468725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카페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97884-2BFC-473E-BE76-ECE22176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북촌(안국역)  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2BF9F-8B31-4EAD-812A-D27AB0E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서촌(경복궁역)  96.1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1E9B3-1ADC-4420-84B0-BD904B9F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9CA79-7A80-4365-ABBC-62F756ED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광화문역  94.3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9D8B6-1D5E-42DB-84A9-AB8E59D4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종각역  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1727C-771A-4FF9-A7E5-1C3414A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쇼핑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129E1-6AC7-42CD-ACF2-B782365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롯데백화점 시청광장  95.8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0EB23-D660-4153-ADF9-6DAAB65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여가문화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35D32-B210-40E0-8275-38546561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수유역  97.6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F2D94-7AD2-40C4-BA1B-E89A875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점수는 PATH-v0 기준이며, 아래 지도에는 각 목적별 상위 10개 공식 상권 폴리곤을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725676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7A40B-BBF0-4955-98CC-7FE0BB04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0ABA1-B6F7-4ADF-8E0A-4131B2E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PURPOSE TOP 10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01511-F886-48D9-B32F-351AC5D7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F0C38-739E-41AE-AE2B-DA4FCA42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EF3E0-5697-4459-9B61-E5A7086C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상위 10개는 서로 다른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DE0C0-D96F-4B27-9951-2409401D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어두운 면은 786개 전체 후보, 밝은 면과 숫자는 2025 Q4 목적별 PATH-v0 상위 10개입니다.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bf0b3dfdc4505"/>
          <a:stretch xmlns:a="http://schemas.openxmlformats.org/drawingml/2006/main"/>
        </p:blipFill>
        <p:spPr>
          <a:xfrm xmlns:a="http://schemas.openxmlformats.org/drawingml/2006/main">
            <a:off x="2935150" y="1952625"/>
            <a:ext cx="61121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D4460-91C7-42DB-AB59-BDDC617C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각 목적은 독립적으로 순위를 계산합니다. 따라서 같은 30분 생활권이라도 목적에 따라 상위 상권의 위치와 구성은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0237323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A6A3A-C623-4B84-A022-79757D1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19A6A-43C8-49E4-B1BC-6E3EB0C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B2AA7-5587-4A6B-968D-77A8B843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EE5D5-4E8F-4F85-9D54-BBEA6EBA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0B9D5-6959-4651-809B-D3F60FA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공부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BDE6B-17C8-44B8-9551-33CBBFD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10c7b91e04c19"/>
          <a:stretch xmlns:a="http://schemas.openxmlformats.org/drawingml/2006/main"/>
        </p:blipFill>
        <p:spPr>
          <a:xfrm xmlns:a="http://schemas.openxmlformats.org/drawingml/2006/main">
            <a:off x="1460941" y="1847850"/>
            <a:ext cx="408851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5D93F-150A-400E-9D39-2C98BAC9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E8127-BB25-4D72-B835-9876888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721F1-DD9A-4FC1-B5B8-2815DFF4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구삼강변맛길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120F5-7E77-4956-9044-6792CEC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4D5F5-7C0D-4129-88A1-09AE0A6E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먹골역 5번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9049C-4106-46E3-A950-5E695DD9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2F2A5-45C2-4B2A-A49B-3B0156BF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외대앞역 1번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505E1-621A-4E87-AE3B-A2F23C24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911B5-0DE5-45AB-A488-05C3AD5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경희대학교(경희대)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AB01A-30B8-4605-87AD-A8AAFA0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8A537-14D4-4815-9AAB-CDBF7C8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장안동사거리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45C24-C508-4B3D-9C9B-16B0EC5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FBF3B-86A2-430D-BD27-528DC11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대원고등학교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A884D-ED4E-4301-8D37-AD5A2056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EEC44-3904-49BC-BE5B-BB3336DD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전농로터리시장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0C6B2-5B92-4BF3-9EA5-5807D03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08109-4AC6-4D76-A661-B94378E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국립정신건강센터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5E28B-F515-4890-83BD-2252A38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9CC89-9C03-4C55-9C3D-8149355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신내1동주민센터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7DCF1-671A-4F4E-AC58-AEDBE19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C49EA-F99C-4871-994D-072FC01C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한성대입구역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B0E607-C287-42E6-84A1-30F0469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FCC07-ECB2-4BC0-A263-B8A2E086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4368194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C6B8F0-074F-4DB3-9DFD-4BDA455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AE659-D55A-4B9A-8FDD-3437E75D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99327-1627-43C7-B981-986D5971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523DC-F956-40B8-BA55-85AA3285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65A5B-DDF8-4BDB-B387-89E9D107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카페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76AB6-AE18-4162-ADB7-B8A4D56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cdf14f12d4f52"/>
          <a:stretch xmlns:a="http://schemas.openxmlformats.org/drawingml/2006/main"/>
        </p:blipFill>
        <p:spPr>
          <a:xfrm xmlns:a="http://schemas.openxmlformats.org/drawingml/2006/main">
            <a:off x="1460941" y="1847850"/>
            <a:ext cx="408851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CF36F-D290-4304-AADB-F3FBC35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D428E-9A71-4170-AFAB-73E5E45E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BC79C-5345-4909-BB66-CDF68975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북촌(안국역)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4713B-8A3E-4948-A4ED-BAA3A80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A3BF0-F7A7-45AF-8D30-AABF9B09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서촌(경복궁역)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88192-7E62-431C-A1E8-E8E7EBD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B6713-3A6F-43E4-8B75-1F04B453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배화여자대학교(박노수미술관)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F5220-E82C-4423-94F0-F46EB8AF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1F020-D9CD-41C6-A041-281F0AE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삼청동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71F14-B369-4E70-B7B7-2B265F2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0B17D-29DE-4BC1-8A3C-2778AF5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광화문역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1E5F8-69AE-4BE6-8FA1-3A58A88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A833F-27B7-4561-8EE3-C5C5940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서교동(홍대)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D57F2-842E-4E4E-87F2-1A8CC96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FA5E7-CAA7-40E9-A410-FF85F57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경의선책거리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846D5-4966-439A-AC0A-54C6ECF7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05A4C-C57D-4152-97D4-C646E277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을지로입구역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C45D5-D386-42C8-ACE7-21E2F0C6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05467-795F-49D3-881C-309474B9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시청역_8번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EA288-E717-4408-B827-95CD7906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43EA1-4CF2-498C-887F-05D244E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대학로(혜화역)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9C547-A45E-416D-B6AC-A02056A5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3C02BF-7296-41A7-8564-B376EBD0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7764881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E88315-4F6C-4572-B274-B9C20821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468F-466C-402D-A0C7-DA41CB99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C001B-F2EF-42E5-A691-ACFEE8E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C19C-BB3C-4BC8-8D03-94B58D88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1AC1-280B-45FC-9C43-68EAB00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식사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52B5E-8D86-41F6-80A0-380D941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964b1a84c4f0b"/>
          <a:stretch xmlns:a="http://schemas.openxmlformats.org/drawingml/2006/main"/>
        </p:blipFill>
        <p:spPr>
          <a:xfrm xmlns:a="http://schemas.openxmlformats.org/drawingml/2006/main">
            <a:off x="1459523" y="1847850"/>
            <a:ext cx="4091354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023C-D053-4EBD-9FEB-F501769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3B200-F5F8-4341-B1AB-8CB8E922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D1091-9DA1-4DAB-98CA-0681F583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광화문역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7C036-1742-4644-B2C5-4C076FA0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3A54C-F358-4C1A-B1DA-FFF1A287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종각역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0F3DE-54B0-47C1-A169-C2EF15EB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CC875-C584-43B2-B0FB-8C925006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도화동 상점가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81807-1E88-4F80-95D8-4644BAF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9F45C-E64E-4F89-8DC4-AA98871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대학로(혜화역)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9DA14-D281-4C5B-8D12-43D47B8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080E0-6717-4D29-85EC-EC1D852F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을지로입구역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CF09E-14F9-44B8-9603-3D3F009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8CAA8-2D46-4653-8F03-2684A7D0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북창동(시청역_6번)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816DD-4521-4173-82DC-23C3EF40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C913B-8469-486E-BFEA-454F18A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남영동 먹자골목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3FB67-7628-40F6-AE46-02502620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89.8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FDA1E-A5F3-48C6-91D6-2A71DAE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방이동먹자골목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EBE8E-F6A5-43D9-8AA0-2590047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6DF65-8D79-4DEC-A765-9A859BD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서대문역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FC6FE-B4C8-42AD-AF61-A85C300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1F86E-191D-4931-9C8A-1971AD6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이태원(이태원역)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545BDF-2561-4436-A745-99C33078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CFE893-2598-4CE7-AC1B-7DC58F40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8796523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B6B3F-B29B-495D-9B7B-7AFCC47E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9F4A-7E87-4CF2-8DDC-123F2A41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D5E42-3E87-4748-8787-A791E06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82BC2-532D-4ACC-B10E-4ECE0C1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D86B8-9801-4CC5-B10F-53221344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쇼핑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1E5E0-1DBB-4BF3-93FB-869FF233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f37dfac4a4f1c"/>
          <a:stretch xmlns:a="http://schemas.openxmlformats.org/drawingml/2006/main"/>
        </p:blipFill>
        <p:spPr>
          <a:xfrm xmlns:a="http://schemas.openxmlformats.org/drawingml/2006/main">
            <a:off x="1460941" y="1847850"/>
            <a:ext cx="408851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9FF15-FD5B-4A31-B81E-D48F24B3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F7D8D-82C6-4C1D-AE3E-04AAE36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DA8D0-CD58-4194-8CE9-886EF52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롯데백화점(시청광장 지하쇼핑센터)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21CA5-F24F-4050-9F76-B093DAB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6A949-9AC6-4899-A0A2-BEBE803C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동대문패션타운 관광특구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0DC71-446E-4F2A-815A-09B1500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32D3D-CA9A-4DF8-9C4F-3B9D8278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동대문역사문화공원역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94FA2-7684-4BF8-A914-6316926D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A1DC0-93B5-42D6-9CC1-D6AAE9EA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강변역(테크노마트)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FA735-B593-45B0-887E-5409FD67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7ECD2-8069-4FF2-9646-D75B26F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종로3가역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3B54B-8511-4099-A1FC-B9BD8536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60F7A-3F9A-4988-A316-B248C2C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잠실역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2AC0F-FB06-4E1A-90F6-6C0F32CB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C90A1-3DA4-43E3-A16D-238F651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강남 마이스 관광특구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CEE17-4C55-4035-A30F-F357311B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D08C9-B223-4517-BA27-DC352B7E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용산전자상가(용산역)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5CBBA-1DC1-478B-905B-8F95C18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7698D-C3E0-4A12-BDF5-D95BFC5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남대문시장(자유상가)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266D8-1627-4C89-8F87-881F4A4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65932-C63F-4747-A801-18CE9A36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천호역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4C1A1A-FBEB-4364-BB3A-F166F660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FE1EC-93F9-43CE-B021-FA3B66D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8096625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2DB72D-E734-48DC-B838-E0EE7473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59241-6EDD-48DA-BB71-54E5009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81755-5B9C-4900-98E5-5EBDBC15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DE621-4236-4C3E-9E68-1651000C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49FCB-1979-4CC2-9C0B-37ECAC5B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여가문화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BD39F-9539-4F9C-AF81-B6D265CC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890c7a7714e39"/>
          <a:stretch xmlns:a="http://schemas.openxmlformats.org/drawingml/2006/main"/>
        </p:blipFill>
        <p:spPr>
          <a:xfrm xmlns:a="http://schemas.openxmlformats.org/drawingml/2006/main">
            <a:off x="1460941" y="1847850"/>
            <a:ext cx="408851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15A8F-672B-4128-9AC1-5E741B55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44B65-6240-4933-90AD-A2A7D4F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6EB5D-2942-46E9-94F0-AA76092E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수유역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37FB5-A7A8-4EAE-A2CE-961E2F2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97.6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DB0F9-9BD6-4B92-98B5-3BE86BD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방이동먹자골목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88F40-09A8-4F7B-B8CB-BBCAE9BC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96.0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85CE7-A290-466A-B715-AC9EA2D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잠실새내역(신천)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B7EAF-D85B-40EA-8932-63094D1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95.7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5D9D8-370A-4561-97FE-8B4A0419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군자역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BDC1B-0472-4D42-A9A3-F8736B0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B61EA-C482-4734-9E70-B8F80CE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길동역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01A12-FF01-43E0-B2A3-30C857F3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AE05B-9DFD-4D7D-9E4A-DB6610D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성신여대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0B3AF-EE31-453C-A535-8249C98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A28E4-2A34-46DB-9946-385C195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상봉역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8514E-C212-48E1-9C93-2CAF809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EA829-3370-4C83-B0A1-AA1975E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구의역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50920-FEAB-43C9-85E6-A8F7F88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C0085-F7BB-4E10-BBFE-7EB51C0D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건대입구역(건대)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80BEF-4B32-49A7-92A2-390507E3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C6091-FC76-4CE2-B13A-961BAB75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상계역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F3E85-3B10-4588-BB6D-3C3C6B23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1E0A2-DCB5-40A2-834A-4CEEBA8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458729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2026-09-22T02:09:07.3380000Z</dcterms:created>
  <dcterms:modified xsi:type="dcterms:W3CDTF">2026-09-22T02:09:07.3380000Z</dcterms:modified>
</coreProperties>
</file>