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f2b13423674675" /><Relationship Type="http://schemas.openxmlformats.org/officeDocument/2006/relationships/extended-properties" Target="/docProps/app.xml" Id="Rf194e638bb94464c" /><Relationship Type="http://schemas.openxmlformats.org/officeDocument/2006/relationships/officeDocument" Target="/ppt/presentation.xml" Id="Rda090bfb5f6948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c7200813ab45e6"/>
  </p:sldMasterIdLst>
  <p:notesMasterIdLst>
    <p:notesMasterId xmlns:r="http://schemas.openxmlformats.org/officeDocument/2006/relationships" r:id="R4462df87ef2c4f36"/>
  </p:notesMasterIdLst>
  <p:sldIdLst>
    <p:sldId xmlns:r="http://schemas.openxmlformats.org/officeDocument/2006/relationships" id="256" r:id="Rfbac6954fae84609"/>
    <p:sldId xmlns:r="http://schemas.openxmlformats.org/officeDocument/2006/relationships" id="257" r:id="R4e2e75f39b224ba4"/>
    <p:sldId xmlns:r="http://schemas.openxmlformats.org/officeDocument/2006/relationships" id="258" r:id="R0a74bd3852c84c59"/>
    <p:sldId xmlns:r="http://schemas.openxmlformats.org/officeDocument/2006/relationships" id="259" r:id="Rcb8bad968f344fdf"/>
    <p:sldId xmlns:r="http://schemas.openxmlformats.org/officeDocument/2006/relationships" id="260" r:id="R40be59cafcf945da"/>
    <p:sldId xmlns:r="http://schemas.openxmlformats.org/officeDocument/2006/relationships" id="261" r:id="R9b16ae9263c44fd0"/>
    <p:sldId xmlns:r="http://schemas.openxmlformats.org/officeDocument/2006/relationships" id="262" r:id="R2d3206758b78465c"/>
    <p:sldId xmlns:r="http://schemas.openxmlformats.org/officeDocument/2006/relationships" id="263" r:id="Ra0c958e9501c4c28"/>
    <p:sldId xmlns:r="http://schemas.openxmlformats.org/officeDocument/2006/relationships" id="264" r:id="Rd850822e11654f9f"/>
    <p:sldId xmlns:r="http://schemas.openxmlformats.org/officeDocument/2006/relationships" id="265" r:id="Rd61700ebd1ac4e92"/>
    <p:sldId xmlns:r="http://schemas.openxmlformats.org/officeDocument/2006/relationships" id="266" r:id="R06c7dc24816c4a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cdaf0c2d84933" /><Relationship Type="http://schemas.openxmlformats.org/officeDocument/2006/relationships/slideMaster" Target="/ppt/slideMasters/slideMaster1.xml" Id="R3dc7200813ab45e6" /><Relationship Type="http://schemas.openxmlformats.org/officeDocument/2006/relationships/notesMaster" Target="/ppt/notesMasters/notesMaster1.xml" Id="R4462df87ef2c4f36" /><Relationship Type="http://schemas.openxmlformats.org/officeDocument/2006/relationships/presProps" Target="/ppt/presProps.xml" Id="R41f1db1225f44a80" /><Relationship Type="http://schemas.openxmlformats.org/officeDocument/2006/relationships/tableStyles" Target="/ppt/tableStyles.xml" Id="Rf0e211f2c03c4493" /><Relationship Type="http://schemas.openxmlformats.org/officeDocument/2006/relationships/slide" Target="/ppt/slides/slide1.xml" Id="Rfbac6954fae84609" /><Relationship Type="http://schemas.openxmlformats.org/officeDocument/2006/relationships/slide" Target="/ppt/slides/slide2.xml" Id="R4e2e75f39b224ba4" /><Relationship Type="http://schemas.openxmlformats.org/officeDocument/2006/relationships/slide" Target="/ppt/slides/slide3.xml" Id="R0a74bd3852c84c59" /><Relationship Type="http://schemas.openxmlformats.org/officeDocument/2006/relationships/slide" Target="/ppt/slides/slide4.xml" Id="Rcb8bad968f344fdf" /><Relationship Type="http://schemas.openxmlformats.org/officeDocument/2006/relationships/slide" Target="/ppt/slides/slide5.xml" Id="R40be59cafcf945da" /><Relationship Type="http://schemas.openxmlformats.org/officeDocument/2006/relationships/slide" Target="/ppt/slides/slide6.xml" Id="R9b16ae9263c44fd0" /><Relationship Type="http://schemas.openxmlformats.org/officeDocument/2006/relationships/slide" Target="/ppt/slides/slide7.xml" Id="R2d3206758b78465c" /><Relationship Type="http://schemas.openxmlformats.org/officeDocument/2006/relationships/slide" Target="/ppt/slides/slide8.xml" Id="Ra0c958e9501c4c28" /><Relationship Type="http://schemas.openxmlformats.org/officeDocument/2006/relationships/slide" Target="/ppt/slides/slide9.xml" Id="Rd850822e11654f9f" /><Relationship Type="http://schemas.openxmlformats.org/officeDocument/2006/relationships/slide" Target="/ppt/slides/slide10.xml" Id="Rd61700ebd1ac4e92" /><Relationship Type="http://schemas.openxmlformats.org/officeDocument/2006/relationships/slide" Target="/ppt/slides/slide11.xml" Id="R06c7dc24816c4a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1f45da50645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cfc6032e64297" /><Relationship Type="http://schemas.openxmlformats.org/officeDocument/2006/relationships/notesMaster" Target="/ppt/notesMasters/notesMaster1.xml" Id="R9914045e38be44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4ce047878d425f" /><Relationship Type="http://schemas.openxmlformats.org/officeDocument/2006/relationships/notesMaster" Target="/ppt/notesMasters/notesMaster1.xml" Id="R30db169c89d745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1a7a1a29254d1e" /><Relationship Type="http://schemas.openxmlformats.org/officeDocument/2006/relationships/notesMaster" Target="/ppt/notesMasters/notesMaster1.xml" Id="R0a953da53a0549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0eb39f50342a3" /><Relationship Type="http://schemas.openxmlformats.org/officeDocument/2006/relationships/notesMaster" Target="/ppt/notesMasters/notesMaster1.xml" Id="R6346f4f192a843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1b0948e0444927" /><Relationship Type="http://schemas.openxmlformats.org/officeDocument/2006/relationships/notesMaster" Target="/ppt/notesMasters/notesMaster1.xml" Id="R165654f2a7cd42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5bf6c62524b46" /><Relationship Type="http://schemas.openxmlformats.org/officeDocument/2006/relationships/notesMaster" Target="/ppt/notesMasters/notesMaster1.xml" Id="R73751349ff3141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c505da5b3a473f" /><Relationship Type="http://schemas.openxmlformats.org/officeDocument/2006/relationships/notesMaster" Target="/ppt/notesMasters/notesMaster1.xml" Id="Rc5e9151c02314b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8f92a092e346a4" /><Relationship Type="http://schemas.openxmlformats.org/officeDocument/2006/relationships/notesMaster" Target="/ppt/notesMasters/notesMaster1.xml" Id="Rd7bba9fa6cc144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533dc82f4249e8" /><Relationship Type="http://schemas.openxmlformats.org/officeDocument/2006/relationships/notesMaster" Target="/ppt/notesMasters/notesMaster1.xml" Id="R6a3675ecc3b740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42efab1da34148" /><Relationship Type="http://schemas.openxmlformats.org/officeDocument/2006/relationships/notesMaster" Target="/ppt/notesMasters/notesMaster1.xml" Id="R7e92a1b7aaf142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fde404793d4468" /><Relationship Type="http://schemas.openxmlformats.org/officeDocument/2006/relationships/notesMaster" Target="/ppt/notesMasters/notesMaster1.xml" Id="R61cbb2281e3f42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업데이트. 공식 상권 후보 786개와 공공 학습시설 원천 POI 268개를 결합해 목적별 추천 근거를 보강했다.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지난주에는 동대문구 버스정류장과 지하철역 334개를 출발지로 두고, 세 시간대에서 반복 접근 가능한 행정동 204개를 탐색 생활권으로 정했다. 이후 공식 상권 폴리곤과 400m 기준으로 결합해 786개를 후보로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 학습시설 원천은 268행·41열이며, 상권 피처는 area_code 기준 786행으로 집계했다. 2026 POI는 현재 추천용 보조 피처로만 쓰고 2025년 매출 예측 검증에는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접근이 확인된 공공도서관 205곳, 열람실 14곳, 청년공간 17곳으로 총 236개를 점수에 반영한다. 대학시설 후보 9개는 전체 검토 245개에는 보존하지만 순위에는 반영하지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원천 POI 268개의 place_id는 고유하다. 상위 20개 상권의 117개 상권-시설 연결을 수동 확인했다. 2026년 POI는 2025년 성능 검증에 넣지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담당 산출물을 area_code 786개 기준으로 결합했다. 공부 체류 점수와 학교 목적 이동 비중의 Spearman 상관은 0.198, 최소 접근률과의 상관은 0.089다. 이동 자료는 동대문구 출발 OD 선택 라벨이 아니므로 목적 맥락 대리변수로만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교통 접근성은 334개 출발지에서 정류장·역·환승·도보를 연결한 정적 교통 그래프에서 계산했다. 오전 8시, 오후 2시, 오후 7시의 반복 접근성을 함께 보며 후보를 고른다.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행정동은 넓고 상권 성격이 섞여 있어 탐색 범위로만 사용했다. 786개의 공식 상권 폴리곤은 도달 정류장 400m 기준과 세 시간대 25% 접근률을 통과한 비교·추천 단위다.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공부 체류 보조순위는 스터디카페 30%, 카페·대형카페 25%, 공공 학습시설 20%, 업종 밀도 15%, 접근성 10%를 적용한 현재 기준선이다. 이는 실제 선택 결과로 학습한 최종 모형이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생활이동 데이터는 source_period가 26개 기간으로 혼재하고 동대문구 출발 OD가 아니다. 따라서 학교 이동 비중은 목적 맥락 대리변수로만 해석하며, 실제 추천 성능 지표로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B078 원본으로 실제 선택 라벨을 얻어 목적지 선택 데이터셋을 만드는 것이다. 현재의 후보군·시설·접근성·목적 맥락 변수는 학습과 검증을 위한 설명 피처 기반이다.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6362e3d0447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cff53ee02a445d" /><Relationship Type="http://schemas.openxmlformats.org/officeDocument/2006/relationships/slideLayout" Target="/ppt/slideLayouts/slideLayout1.xml" Id="R6b32fa7523d54f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2fa7523d54f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a81f6557b4248" /><Relationship Type="http://schemas.openxmlformats.org/officeDocument/2006/relationships/notesSlide" Target="/ppt/notesSlides/notesSlide1.xml" Id="Rd8ebf2cbecd549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acb06b5c5480b" /><Relationship Type="http://schemas.openxmlformats.org/officeDocument/2006/relationships/notesSlide" Target="/ppt/notesSlides/notesSlide2.xml" Id="Ra660b4c1dae749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bd175d5de45ff" /><Relationship Type="http://schemas.openxmlformats.org/officeDocument/2006/relationships/notesSlide" Target="/ppt/notesSlides/notesSlide3.xml" Id="R0fa58784f12544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93cf0b8f144b8" /><Relationship Type="http://schemas.openxmlformats.org/officeDocument/2006/relationships/notesSlide" Target="/ppt/notesSlides/notesSlide4.xml" Id="R386716daca43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d1d1ac18449c4" /><Relationship Type="http://schemas.openxmlformats.org/officeDocument/2006/relationships/notesSlide" Target="/ppt/notesSlides/notesSlide5.xml" Id="R5222bc364c23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fc9ba6a434527" /><Relationship Type="http://schemas.openxmlformats.org/officeDocument/2006/relationships/notesSlide" Target="/ppt/notesSlides/notesSlide6.xml" Id="R88c86ee5c7a448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e9aec150b4141" /><Relationship Type="http://schemas.openxmlformats.org/officeDocument/2006/relationships/notesSlide" Target="/ppt/notesSlides/notesSlide7.xml" Id="R2f15422f41db4d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a84b3fa6544fd" /><Relationship Type="http://schemas.openxmlformats.org/officeDocument/2006/relationships/notesSlide" Target="/ppt/notesSlides/notesSlide8.xml" Id="R7af8c3a5927644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85386dc12430a" /><Relationship Type="http://schemas.openxmlformats.org/officeDocument/2006/relationships/notesSlide" Target="/ppt/notesSlides/notesSlide9.xml" Id="Re9f78b0ed8914e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531cb03f148a3" /><Relationship Type="http://schemas.openxmlformats.org/officeDocument/2006/relationships/notesSlide" Target="/ppt/notesSlides/notesSlide10.xml" Id="Rbdf5c52ed7bb42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6c1382e8b4417" /><Relationship Type="http://schemas.openxmlformats.org/officeDocument/2006/relationships/notesSlide" Target="/ppt/notesSlides/notesSlide11.xml" Id="R67d5511b785c47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2FB33-2F06-47E2-8AF7-04D5A14F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64A53-74DB-49C5-86B7-B7C448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5887A-FC58-4227-A7FC-17549C1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TEAM MAXIMUS  /  DAT 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F63B2-4DFF-4EA9-B151-24AB8162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572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공식 상권을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 데이터로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읽는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E39C9-A81F-40CF-AAFE-7BB2AD9E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 생활권 안에서</a:t>
            </a:r>
          </a:p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추천 가능한 상권의 근거를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420B0-0330-483A-84FE-39241B2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71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81C98-614C-4A5C-BCFD-73A49FB3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15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E788C-89B5-41F7-93AB-0467C579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66"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F50D8-1C1C-4380-AB51-74E627EC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01ED-93E4-441C-BB3A-C390EEB2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85CB6-C82A-4B78-9A53-E295EB56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67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공공 학습시설 원천 POI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89A77-5466-4AC0-B25B-79435CC6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D6BEC-B198-438C-A0CA-D364732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14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0D2C2-91FA-48FC-AD69-EB4CD642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1262247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FED89-F7F3-4E08-8362-381B6D4B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8BB37-7078-4E0C-9FA8-628C434D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1 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6071B-C31A-4A11-AFB8-7F5BC07F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A16F4-472A-4F12-960D-1C04FF4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E96F1-09C7-419F-9B3B-1B418B05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지난주에는 추천의 공간 단위를 확정했습니다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84360-5E08-4633-A654-4EE7DE56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동대문구의 모든 출발지에서 반복 접근 가능한 범위를 먼저 정하고, 행정동보다 세밀한 공식 상권 폴리곤으로 옮겼습니다.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DDE9B-3269-41AC-BDFD-7EBFC03A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E004A-D208-4C6B-9BCA-5C0D1E02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버스·지하철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A129C-BDE1-476B-AC7A-89986264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E0BDF-021C-48C1-9B0D-CB3EBAC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25% 이상 접근 가능한 행정동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D3A42-7550-43B5-9A25-9D44B83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FA2A-6B4F-4AB2-B694-71F38DB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400m 결합 후 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96A55-B403-4A10-80D5-235D1AD9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865EF-B2EC-454C-A413-DBAADCD6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3A023-1237-4970-8C47-B84EBBCE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기준  /  오전 8시 · 오후 2시 · 오후 7시</a:t>
            </a:r>
          </a:p>
        </p:txBody>
      </p:sp>
    </p:spTree>
    <p:extLst>
      <p:ext uri="{BB962C8B-B14F-4D97-AF65-F5344CB8AC3E}">
        <p14:creationId xmlns:p14="http://schemas.microsoft.com/office/powerpoint/2010/main" val="1729271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5E4E1-4F8E-49B2-9F84-A717551A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0F96E-5CF7-439D-8EEC-C93EDA8B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2 DATA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0E433-9D5D-4C8F-805D-C5B1E09F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33239-C633-4460-87A7-DCFD12DB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C8D86-9D68-4623-B6A9-8D9C5FA1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2주차에는 목적별 피처 테이블을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3A030-62BD-459A-99CF-56A527A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area_code를 유지해 공공시설, 상권 피처, 추천 보조순위를 하나의 분석 단위로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385C9-E8B4-4990-B24A-DDFE8BB9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CDE85-DEFD-4C17-8F4F-575B1717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FD356-8008-4D3A-BA14-FDA78921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5FDDE-0859-4123-8300-C7EEDE0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시설명·좌표·접근조건·출처를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41개 필드로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6CF47-7F3D-42B3-81FD-4674DEF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B97AB-2BCF-4A20-B526-2110270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EE022-7D16-47D6-9244-481DFEC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폴리곤 내부와 400m 이내를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시설 수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51B33-4B79-4F4D-BAB7-B37D49C3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996B6-7798-4194-9E71-4B71E0A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현재 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91A40-523A-4FEC-A13C-F3B151BA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업종 신호와 2026 POI를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보조순위 산출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C785A-0DC4-46FF-8623-E85789BB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분석 키  area_code  /  추천 단위  공식 상권 786개</a:t>
            </a:r>
          </a:p>
        </p:txBody>
      </p:sp>
    </p:spTree>
    <p:extLst>
      <p:ext uri="{BB962C8B-B14F-4D97-AF65-F5344CB8AC3E}">
        <p14:creationId xmlns:p14="http://schemas.microsoft.com/office/powerpoint/2010/main" val="199309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DD8BC-3CDB-45B9-897B-8A8F411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2CCCF-CD20-4F8D-99D7-C92000B8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9702B-8D0F-4CA3-ADB3-80A652B0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9A3B2-FE3C-456F-8202-216DCCE6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62C8F-65FD-4151-B8FD-B6CC8725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 반영과 검토 대상을 구분했습니다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5238B-3348-41C7-A7FA-2708EAA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여부가 불확실한 대학시설을 곧바로 추천 점수에 넣지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0EFCA-E88F-4AA4-BCDB-A4A1A092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45CD5-4009-4212-834C-B9731C85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POI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6EF4C-00DF-46C7-8F90-597C4785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776A8-C01D-4268-A886-6191855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A15D7-120C-4C12-BAF9-2835DCD3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확인 후 점수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9BF27-F701-4731-A824-087760AF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5DBF5-46F9-4F46-A2BD-287B4329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0CCA1-3239-43AB-9556-0099BE19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대학시설 후보 포함 검토용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16C31-912C-40D1-B16A-F02F23C5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공부 체류 보조순위  /  상권 내부 80% + 400m 이내 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A3021-C89D-49A1-854E-921AED1D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 학습시설 9개는 공개 접근 확인 전까지 점수에서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1757040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9918A-4A16-493F-9B95-B8C40C07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7F098-09A0-4C1B-8B67-8274D84B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QA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F2DC7-8AD9-452B-9CBA-E16CAEA2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562FE-C612-436F-8DC5-2E05F72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3F30F-B323-442E-8380-FA3D3EC0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재현 가능한 산출물로 정리했습니다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6B210-CC3C-4E25-8DDF-868E8625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식별자, 공간 결합 기준, 점수 반영 범위를 분리해 다음 분석 단계에서 다시 확인할 수 있게 남겼습니다.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B4554-7D13-452A-B77C-8E4C4894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EF12C-86AB-4B0E-826C-13162814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9AE65-307F-4A3E-B36E-15F6F4E4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고유 place_id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E05E1-6B44-40DD-94C3-005185F4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 ×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821DC-B38C-4EBB-A5CE-6B8CAD6D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 피처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점수용·검토용 필드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7DBB0-ED00-4237-B191-5DA35A90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63FD3-8BCB-489D-BA3C-E4FC6D4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57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상권–시설 연결 수동 점검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Top 20 상권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A6928-C57A-44B8-A92B-38795A8C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2026 POI는 2025년 성능 검증에 사용하지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271079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6EE95-E428-41A0-9E86-86AB4A7B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10057-9D6C-4A66-B3EF-F075918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CROSS-WORK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4AD38-EFCF-49E6-ABF6-1C2BAAB1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C45C2-D2A4-45D8-8C6A-572F728E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E6923-316A-447C-8A7C-8248B893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세 데이터는 서로 다른 신호를 보여줍니다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CECEC-A6CB-4646-AC44-642258AD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 상관은 0.198, 공부 점수와 접근성의 상관은 0.089입니다.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FA49E-F97E-4F36-A83B-AF5F8D2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6E56C-A07E-4B3C-8081-5A2EAAB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시설·접근성·학교 신호가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함께 높은 우선 검증군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2197D-0BC7-4403-BE33-12D9134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11021-27B4-483B-A935-222C06A8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 점수는 높지만 학교 신호가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실제 선택 검증이 필요한 상권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D85ED-F34C-45FF-9409-FDC423EB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3EB52-B4AD-4289-9EE3-9AB84CFF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학교 신호는 높지만 현재 시설 피처가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추가 조사할 상권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AAFD3-1183-41BB-9534-1C2376EB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다음 단계  /  B078 선택 라벨로 세 그룹의 실제 목적지 선택확률을 비교</a:t>
            </a:r>
          </a:p>
        </p:txBody>
      </p:sp>
    </p:spTree>
    <p:extLst>
      <p:ext uri="{BB962C8B-B14F-4D97-AF65-F5344CB8AC3E}">
        <p14:creationId xmlns:p14="http://schemas.microsoft.com/office/powerpoint/2010/main" val="14885503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5B3E5-A81B-466F-9949-BA285BFC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77892-C572-403A-949E-BBC435A2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ACCESSIBILITY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39945-F2E8-4001-9321-A709EF08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1C495-882D-4F3E-B769-8CC7829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8291D-D7BD-4786-9D18-FF05D4B0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 생활권은 교통망에서 먼저 계산했습니다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DDC25-E4E3-4ACA-9936-089DB7D6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334개 출발지에서 버스·지하철 운행 정보를 그래프로 만들고, 대기·환승·도보를 포함한 최소 이동시간을 계산했습니다.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A84E9-E4D7-49C2-8A61-37B5F0EC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출발지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C0610-A7A3-4E2A-9FEE-D8742E17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3E63F-755F-41F2-9A3F-6EA333BF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교통 그래프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669D6-206A-4DCD-98A8-FA874387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58905-1D0B-4236-87B8-93590981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도달 정류장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49E23-E803-4D07-802E-DA7B96BA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상권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7D905-F9B9-4452-8639-4B5BED61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05B24-E8BA-434A-A3AC-F53CC80A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972BC-D419-4CEA-B83D-F6440FBC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접근률을 사용해 특정 시간대에만 열리는 후보를 줄였습니다</a:t>
            </a:r>
          </a:p>
        </p:txBody>
      </p:sp>
    </p:spTree>
    <p:extLst>
      <p:ext uri="{BB962C8B-B14F-4D97-AF65-F5344CB8AC3E}">
        <p14:creationId xmlns:p14="http://schemas.microsoft.com/office/powerpoint/2010/main" val="1827978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0E455-48C4-4372-A1B0-D9991E3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B2AE5-F8A9-49AB-8958-CB0F7751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A67CB-222D-47D8-A0C8-985712E9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1E00D-F65C-471F-B99E-F19D674B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2E4B3-56A4-4ACC-BF16-33AB4EA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후보군은 행정동이 아니라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5AA5A-2DF2-4900-8A22-FBE04B35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행정동은 탐색 범위로 쓰고, 실제 비교·추천 단위는 서울시 공식 상권 경계로 세분화했습니다.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BEB50-D734-4D48-BA6D-B1C6C3E2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76272-E512-4908-A120-9646C22B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 가능 행정동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탐색 생활권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6C3F6-B638-4D1D-990E-7F77184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400m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5435C-E7B4-4BB0-8823-F2D6BBD6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도달 정류장과 상권 경계의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공간 결합 거리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81F00-FC11-4E01-A989-A1E34CD9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EF546-99AB-4EBE-8A26-ECEE0473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세 시간대 25% 기준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E781B-4565-40CF-B9DB-ACAD8309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76A20-5C51-4A46-8145-2F4EB8C3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129AE-0814-4A93-A05E-6F5ABAD9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25%는 소수 출발지에서만 접근 가능한 상권을 걸러내되, 동대문구 내부의 생활권 다양성을 보존하기 위한 탐색 기준입니다</a:t>
            </a:r>
          </a:p>
        </p:txBody>
      </p:sp>
    </p:spTree>
    <p:extLst>
      <p:ext uri="{BB962C8B-B14F-4D97-AF65-F5344CB8AC3E}">
        <p14:creationId xmlns:p14="http://schemas.microsoft.com/office/powerpoint/2010/main" val="831794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5066D-F44A-4C6B-9251-CB33226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F927B-51A1-4240-9253-FC9EA96E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STUDY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98A24-0732-435B-8D84-7E407763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26E33-6FA6-4DFF-87E5-8C4D1547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36C8A-47D5-4A3A-8A04-85BEF446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공부 목적은 ‘시설 하나’가 아니라 조합으로 점수화합니다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10F16-A88B-4C06-B5A3-32156D0A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현재 순위는 체류 가능한 장소와 접근성을 함께 반영하는 보조 기준선입니다. 실제 선택 라벨이 확보되면 가중치를 학습으로 대체합니다.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7A482-0741-4D80-BBEF-829E77A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D3C22-6FCF-4842-ABBB-882505E5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스터디카페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76378-0A8A-420C-9D64-5F0F2BCE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5D25D-DD83-4A1A-A76B-ABA0970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카페·대형카페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118E4-AC16-432A-863E-6FFD346E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AAD6D-5004-4B6E-986E-41BC6EA3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공공 학습시설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D0B3B-7D9E-4735-9752-1800393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670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5C7BE-95D6-4835-A54D-58C4A0F9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업종 밀도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51F13-4C3F-45F6-8D39-D607A1AB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670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10%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F1F06-ECC9-444B-87EC-4A4E944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385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EA821-5257-4A20-AAB9-502D4A7C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78922-5732-4924-A48A-E27ABD6F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공공시설 신호는 상권 내부 80%, 400m 인접 20%로 계산합니다</a:t>
            </a:r>
          </a:p>
        </p:txBody>
      </p:sp>
    </p:spTree>
    <p:extLst>
      <p:ext uri="{BB962C8B-B14F-4D97-AF65-F5344CB8AC3E}">
        <p14:creationId xmlns:p14="http://schemas.microsoft.com/office/powerpoint/2010/main" val="2097706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5058D-7C8F-46E4-852C-ECBDE4E2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A9E0E-E2E1-4F6B-9F3A-A777F4B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MOBILITY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C0E71-AE09-4169-A8C1-B3185980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BC796-BFAB-4D77-AF54-03D6EDEE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53BAE-F4EF-4216-A69E-482DAD82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생활이동 데이터는 ‘선택 라벨’이 아닌 맥락 신호입니다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72740-CFD3-4668-831A-BCB13AA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지우진의 생활이동 집계는 지역별 학교·업무·여가 목적 비중을 보여주지만, 동대문구에서 출발한 개인의 실제 목적지 선택 기록은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371A2-0BC1-4679-A2FC-3386F578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90DA7-0201-424B-A1FD-075A09F0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source_period가 섞인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관측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DD5F4-8F26-4133-9024-208E05FB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0.198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C37AE-C2EE-480E-8386-B35D6339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70DE7-707B-4062-89C5-B3B250B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0.089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4B30D-B54C-4C66-A960-5735606C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최소 접근률의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69355-641E-4B11-9838-B5EE3861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따라서 생활이동 비중은 상권의 목적 맥락을 보완하는 변수로만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1831734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392F2-79BC-4FA9-9147-23EC2563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6D81-92D5-4A48-997D-42B92BAF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A0FBA-3FCC-495A-86F1-6FEB192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6C611-C3C1-40B5-A248-F3F446BC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74BC9-5A32-42DD-AC11-4E5B053F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다음 단계는 실제 선택 데이터로 기준선을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94607-995D-4648-BCCA-5DE103D1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지금의 786개 상권은 후보군과 설명 피처를 갖춘 상태입니다. B078 원본 접근이 가능해지면 목적지 선택모형으로 넘어갑니다.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49DF1-489B-4B1B-8FAB-9B9E747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948C3-9375-45A0-8327-2F6E8F2F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B078 원본에서 출발지·도착지·시간대·목적 관련 변수를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36D41-9403-4B37-A9B3-57BA4ECA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F7C13-7886-4018-875C-EB4C534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선택 상권과 미선택 후보를 비교하는 목적지 선택 데이터셋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8E879-97FF-4479-A393-78F5EE67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8A9EF-7EB5-433F-A1A0-E37478C9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다항 로짓·트리 기반 모델로 추천 성능과 설명력을 함께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223AC-2398-461B-8463-4AAF4999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현재 산출물은 추천 서비스의 답이 아니라, 학습·검증 가능한 후보 공간과 피처의 기반입니다</a:t>
            </a:r>
          </a:p>
        </p:txBody>
      </p:sp>
    </p:spTree>
    <p:extLst>
      <p:ext uri="{BB962C8B-B14F-4D97-AF65-F5344CB8AC3E}">
        <p14:creationId xmlns:p14="http://schemas.microsoft.com/office/powerpoint/2010/main" val="25331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2026-09-22T01:25:35.0940000Z</dcterms:created>
  <dcterms:modified xsi:type="dcterms:W3CDTF">2026-09-22T01:25:35.0940000Z</dcterms:modified>
</coreProperties>
</file>