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b48ee5bcc24ef5" /><Relationship Type="http://schemas.openxmlformats.org/officeDocument/2006/relationships/extended-properties" Target="/docProps/app.xml" Id="Re5dd71140de240e0" /><Relationship Type="http://schemas.openxmlformats.org/officeDocument/2006/relationships/officeDocument" Target="/ppt/presentation.xml" Id="Rb24bc1cdb501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85c9e10a184e08"/>
  </p:sldMasterIdLst>
  <p:notesMasterIdLst>
    <p:notesMasterId xmlns:r="http://schemas.openxmlformats.org/officeDocument/2006/relationships" r:id="Rd259eeb96f6e4795"/>
  </p:notesMasterIdLst>
  <p:sldIdLst>
    <p:sldId xmlns:r="http://schemas.openxmlformats.org/officeDocument/2006/relationships" id="256" r:id="Rfbfdd85529074af9"/>
    <p:sldId xmlns:r="http://schemas.openxmlformats.org/officeDocument/2006/relationships" id="257" r:id="Ra87ac2a7af074585"/>
    <p:sldId xmlns:r="http://schemas.openxmlformats.org/officeDocument/2006/relationships" id="258" r:id="R206a2401e0f74bf6"/>
    <p:sldId xmlns:r="http://schemas.openxmlformats.org/officeDocument/2006/relationships" id="259" r:id="R5ad1a75bb84d4d66"/>
    <p:sldId xmlns:r="http://schemas.openxmlformats.org/officeDocument/2006/relationships" id="260" r:id="R2a8e17b153e74214"/>
    <p:sldId xmlns:r="http://schemas.openxmlformats.org/officeDocument/2006/relationships" id="261" r:id="Raec9981425084e4e"/>
    <p:sldId xmlns:r="http://schemas.openxmlformats.org/officeDocument/2006/relationships" id="262" r:id="R1c37ca876bc14d22"/>
    <p:sldId xmlns:r="http://schemas.openxmlformats.org/officeDocument/2006/relationships" id="263" r:id="Rdfff08870f3944f7"/>
    <p:sldId xmlns:r="http://schemas.openxmlformats.org/officeDocument/2006/relationships" id="264" r:id="R38a98a775fbe46b5"/>
    <p:sldId xmlns:r="http://schemas.openxmlformats.org/officeDocument/2006/relationships" id="265" r:id="R74801172fb3d4a76"/>
    <p:sldId xmlns:r="http://schemas.openxmlformats.org/officeDocument/2006/relationships" id="266" r:id="R12b283e286de4166"/>
    <p:sldId xmlns:r="http://schemas.openxmlformats.org/officeDocument/2006/relationships" id="267" r:id="Rb3f17eadd20c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1bea1fae6b4f8f" /><Relationship Type="http://schemas.openxmlformats.org/officeDocument/2006/relationships/slideMaster" Target="/ppt/slideMasters/slideMaster1.xml" Id="Rf085c9e10a184e08" /><Relationship Type="http://schemas.openxmlformats.org/officeDocument/2006/relationships/notesMaster" Target="/ppt/notesMasters/notesMaster1.xml" Id="Rd259eeb96f6e4795" /><Relationship Type="http://schemas.openxmlformats.org/officeDocument/2006/relationships/presProps" Target="/ppt/presProps.xml" Id="Rf2ebf9247cae4997" /><Relationship Type="http://schemas.openxmlformats.org/officeDocument/2006/relationships/tableStyles" Target="/ppt/tableStyles.xml" Id="Rba56899a0ff24287" /><Relationship Type="http://schemas.openxmlformats.org/officeDocument/2006/relationships/slide" Target="/ppt/slides/slide1.xml" Id="Rfbfdd85529074af9" /><Relationship Type="http://schemas.openxmlformats.org/officeDocument/2006/relationships/slide" Target="/ppt/slides/slide2.xml" Id="Ra87ac2a7af074585" /><Relationship Type="http://schemas.openxmlformats.org/officeDocument/2006/relationships/slide" Target="/ppt/slides/slide3.xml" Id="R206a2401e0f74bf6" /><Relationship Type="http://schemas.openxmlformats.org/officeDocument/2006/relationships/slide" Target="/ppt/slides/slide4.xml" Id="R5ad1a75bb84d4d66" /><Relationship Type="http://schemas.openxmlformats.org/officeDocument/2006/relationships/slide" Target="/ppt/slides/slide5.xml" Id="R2a8e17b153e74214" /><Relationship Type="http://schemas.openxmlformats.org/officeDocument/2006/relationships/slide" Target="/ppt/slides/slide6.xml" Id="Raec9981425084e4e" /><Relationship Type="http://schemas.openxmlformats.org/officeDocument/2006/relationships/slide" Target="/ppt/slides/slide7.xml" Id="R1c37ca876bc14d22" /><Relationship Type="http://schemas.openxmlformats.org/officeDocument/2006/relationships/slide" Target="/ppt/slides/slide8.xml" Id="Rdfff08870f3944f7" /><Relationship Type="http://schemas.openxmlformats.org/officeDocument/2006/relationships/slide" Target="/ppt/slides/slide9.xml" Id="R38a98a775fbe46b5" /><Relationship Type="http://schemas.openxmlformats.org/officeDocument/2006/relationships/slide" Target="/ppt/slides/slide10.xml" Id="R74801172fb3d4a76" /><Relationship Type="http://schemas.openxmlformats.org/officeDocument/2006/relationships/slide" Target="/ppt/slides/slide11.xml" Id="R12b283e286de4166" /><Relationship Type="http://schemas.openxmlformats.org/officeDocument/2006/relationships/slide" Target="/ppt/slides/slide12.xml" Id="Rb3f17eadd20c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16e51e0bf641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35c41ea1cb482c" /><Relationship Type="http://schemas.openxmlformats.org/officeDocument/2006/relationships/notesMaster" Target="/ppt/notesMasters/notesMaster1.xml" Id="Rdfc98dc7487a46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d18ee875fb4a90" /><Relationship Type="http://schemas.openxmlformats.org/officeDocument/2006/relationships/notesMaster" Target="/ppt/notesMasters/notesMaster1.xml" Id="R2baf1d78c67b4b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5639d8de324426" /><Relationship Type="http://schemas.openxmlformats.org/officeDocument/2006/relationships/notesMaster" Target="/ppt/notesMasters/notesMaster1.xml" Id="R5f127ecdb31640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ec4507dfb14fe4" /><Relationship Type="http://schemas.openxmlformats.org/officeDocument/2006/relationships/notesMaster" Target="/ppt/notesMasters/notesMaster1.xml" Id="R900cf03bd718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a660c08f4d43fd" /><Relationship Type="http://schemas.openxmlformats.org/officeDocument/2006/relationships/notesMaster" Target="/ppt/notesMasters/notesMaster1.xml" Id="R5af25295128347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2f72990a4b4187" /><Relationship Type="http://schemas.openxmlformats.org/officeDocument/2006/relationships/notesMaster" Target="/ppt/notesMasters/notesMaster1.xml" Id="Ra44c1dd0179243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4b46a393044410" /><Relationship Type="http://schemas.openxmlformats.org/officeDocument/2006/relationships/notesMaster" Target="/ppt/notesMasters/notesMaster1.xml" Id="Rd3b053197b8f4b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e4976d0d0f40b0" /><Relationship Type="http://schemas.openxmlformats.org/officeDocument/2006/relationships/notesMaster" Target="/ppt/notesMasters/notesMaster1.xml" Id="R32487f146c9745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1bdf493cc44906" /><Relationship Type="http://schemas.openxmlformats.org/officeDocument/2006/relationships/notesMaster" Target="/ppt/notesMasters/notesMaster1.xml" Id="R48702bed840847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f081a9392243ce" /><Relationship Type="http://schemas.openxmlformats.org/officeDocument/2006/relationships/notesMaster" Target="/ppt/notesMasters/notesMaster1.xml" Id="Rf852fbf379ae45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8da4c035d04fd1" /><Relationship Type="http://schemas.openxmlformats.org/officeDocument/2006/relationships/notesMaster" Target="/ppt/notesMasters/notesMaster1.xml" Id="R6bb9d0d488264a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be212963614b57" /><Relationship Type="http://schemas.openxmlformats.org/officeDocument/2006/relationships/notesMaster" Target="/ppt/notesMasters/notesMaster1.xml" Id="R1b1b6c37f72a4c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Maximus Week 1–3 internal outputs</a:t>
            </a:r>
          </a:p>
          <a:p xmlns:a="http://schemas.openxmlformats.org/drawingml/2006/main">
            <a:r>
              <a:t>- Cover visual: team-generated transit hero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data/processed/commercial_area_accessibility/COMMERCIAL_AREA_ACCESSIBILITY_REPORT.md</a:t>
            </a:r>
          </a:p>
          <a:p xmlns:a="http://schemas.openxmlformats.org/drawingml/2006/main">
            <a:r>
              <a:t>- Week 2/3 member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 1 transit pipeline</a:t>
            </a:r>
          </a:p>
          <a:p xmlns:a="http://schemas.openxmlformats.org/drawingml/2006/main">
            <a:r>
              <a:t>- Week 2/3 purpose scoring methods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data/processed/commercial_area_accessibility/commercial_area_candidates_25pct.csv</a:t>
            </a:r>
          </a:p>
          <a:p xmlns:a="http://schemas.openxmlformats.org/drawingml/2006/main">
            <a:r>
              <a:t>- Output counts: 334 origins, 786 official polygons, 6 tourism special zones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official_area_poi_features(최종).csv</a:t>
            </a:r>
          </a:p>
          <a:p xmlns:a="http://schemas.openxmlformats.org/drawingml/2006/main">
            <a:r>
              <a:t>- Week 2 public facility and Kakao POI enrichment work</a:t>
            </a:r>
          </a:p>
          <a:p xmlns:a="http://schemas.openxmlformats.org/drawingml/2006/main">
            <a:r>
              <a:t>- Workplan rule: public facilities and café POIs are not double counted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/private/tmp/maximus-jiujin-leisure/data/processed/leisure_culture_v1/leisure_culture_v1_audit.json</a:t>
            </a:r>
          </a:p>
          <a:p xmlns:a="http://schemas.openxmlformats.org/drawingml/2006/main">
            <a:r>
              <a:t>- 1,229 collected; 739 inside; 167 candidates; 148 verified walk400; 465 night-food; 422 adult tags excluded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/private/tmp/maximus-geonwoo-meal-shopping/docs/meal_shopping_v1_method.md</a:t>
            </a:r>
          </a:p>
          <a:p xmlns:a="http://schemas.openxmlformats.org/drawingml/2006/main">
            <a:r>
              <a:t>- Meal: 6; shopping: 5; tourism 6 excluded; wholesale/special 7 excluded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/private/tmp/maximus-geonwoo-meal-shopping/data/processed/meal_shopping_v1/meal_shopping_v1_audit.json</a:t>
            </a:r>
          </a:p>
          <a:p xmlns:a="http://schemas.openxmlformats.org/drawingml/2006/main">
            <a:r>
              <a:t>- Raw→adjusted Pearson r: meal area .134→.013, shopping area .135→.017; meal total stores .194→-.015, shopping total stores .334→.120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meal_shopping_v1 method and outputs</a:t>
            </a:r>
          </a:p>
          <a:p xmlns:a="http://schemas.openxmlformats.org/drawingml/2006/main">
            <a:r>
              <a:t>- leisure_culture_v1 method and outputs</a:t>
            </a:r>
          </a:p>
          <a:p xmlns:a="http://schemas.openxmlformats.org/drawingml/2006/main">
            <a:r>
              <a:t>- Weights are transparent baseline weights, not learned final model parameters.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/private/tmp/maximus-geonwoo-meal-shopping/data/processed/meal_shopping_v1/meal_plus_shopping_v1_top10.csv</a:t>
            </a:r>
          </a:p>
          <a:p xmlns:a="http://schemas.openxmlformats.org/drawingml/2006/main">
            <a:r>
              <a:t>- Example reason data from official_area_meal_shopping_v1_786x2.csv, area 3130104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data-access status</a:t>
            </a:r>
          </a:p>
          <a:p xmlns:a="http://schemas.openxmlformats.org/drawingml/2006/main">
            <a:r>
              <a:t>- B078/B079 full raw data requires Seoul Big Data Campus offline access; not used as training labels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roadmap and current data-access constraints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7043f4bf141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f55c77ffb4b30" /><Relationship Type="http://schemas.openxmlformats.org/officeDocument/2006/relationships/slideLayout" Target="/ppt/slideLayouts/slideLayout1.xml" Id="R5896168b623a48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6168b623a48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0a4b3e06643ce" /><Relationship Type="http://schemas.openxmlformats.org/officeDocument/2006/relationships/image" Target="/ppt/media/image.png" Id="Rb0f92e289c95496d" /><Relationship Type="http://schemas.openxmlformats.org/officeDocument/2006/relationships/notesSlide" Target="/ppt/notesSlides/notesSlide1.xml" Id="R1175cb4936dc43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40f765c0e4960" /><Relationship Type="http://schemas.openxmlformats.org/officeDocument/2006/relationships/notesSlide" Target="/ppt/notesSlides/notesSlide2.xml" Id="Rfa89100378f140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aac9ccf2b4d54" /><Relationship Type="http://schemas.openxmlformats.org/officeDocument/2006/relationships/notesSlide" Target="/ppt/notesSlides/notesSlide3.xml" Id="R15a2699489884c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d8539b34b4cdb" /><Relationship Type="http://schemas.openxmlformats.org/officeDocument/2006/relationships/image" Target="/ppt/media/image2.png" Id="R953cea7a4a6149e4" /><Relationship Type="http://schemas.openxmlformats.org/officeDocument/2006/relationships/notesSlide" Target="/ppt/notesSlides/notesSlide4.xml" Id="Re9b865c3040344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9a0ab05c34ea5" /><Relationship Type="http://schemas.openxmlformats.org/officeDocument/2006/relationships/notesSlide" Target="/ppt/notesSlides/notesSlide5.xml" Id="R4c0bb086ab5b4e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2934b05a14b3f" /><Relationship Type="http://schemas.openxmlformats.org/officeDocument/2006/relationships/notesSlide" Target="/ppt/notesSlides/notesSlide6.xml" Id="R0908886adb274e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8e3bd624f4a59" /><Relationship Type="http://schemas.openxmlformats.org/officeDocument/2006/relationships/notesSlide" Target="/ppt/notesSlides/notesSlide7.xml" Id="R4155188f29084d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8892379bc4743" /><Relationship Type="http://schemas.openxmlformats.org/officeDocument/2006/relationships/chart" Target="/ppt/slides/charts/chart1.xml" Id="R91bd0ed71a964433" /><Relationship Type="http://schemas.openxmlformats.org/officeDocument/2006/relationships/notesSlide" Target="/ppt/notesSlides/notesSlide8.xml" Id="R0ecad94393fe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6efa03701430b" /><Relationship Type="http://schemas.openxmlformats.org/officeDocument/2006/relationships/notesSlide" Target="/ppt/notesSlides/notesSlide9.xml" Id="R202601d4570c4c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6fe363fc746b7" /><Relationship Type="http://schemas.openxmlformats.org/officeDocument/2006/relationships/notesSlide" Target="/ppt/notesSlides/notesSlide10.xml" Id="R53d51a83bec241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0835f86614789" /><Relationship Type="http://schemas.openxmlformats.org/officeDocument/2006/relationships/notesSlide" Target="/ppt/notesSlides/notesSlide11.xml" Id="R567c1eb4ab0143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7e4f92d0d4f32" /><Relationship Type="http://schemas.openxmlformats.org/officeDocument/2006/relationships/notesSlide" Target="/ppt/notesSlides/notesSlide12.xml" Id="R474c5788550346c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원점수</c:v>
          </c:tx>
          <c:spPr>
            <a:solidFill xmlns:a="http://schemas.openxmlformats.org/drawingml/2006/main">
              <a:srgbClr val="F5C444"/>
            </a:solidFill>
          </c:spPr>
          <c:cat>
            <c:strRef>
              <c:f>'Chart Data'!$A$2:$A$5</c:f>
              <c:strCache>
                <c:ptCount val="4"/>
                <c:pt idx="0">
                  <c:v>식사·면적</c:v>
                </c:pt>
                <c:pt idx="1">
                  <c:v>쇼핑·면적</c:v>
                </c:pt>
                <c:pt idx="2">
                  <c:v>식사·총점포</c:v>
                </c:pt>
                <c:pt idx="3">
                  <c:v>쇼핑·총점포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0.134</c:v>
                </c:pt>
                <c:pt idx="1">
                  <c:v>0.135</c:v>
                </c:pt>
                <c:pt idx="2">
                  <c:v>0.194</c:v>
                </c:pt>
                <c:pt idx="3">
                  <c:v>0.334</c:v>
                </c:pt>
              </c:numCache>
            </c:numRef>
          </c:val>
        </c:ser>
        <c:ser>
          <c:idx val="1"/>
          <c:order val="1"/>
          <c:tx>
            <c:v>보정 후</c:v>
          </c:tx>
          <c:spPr>
            <a:solidFill xmlns:a="http://schemas.openxmlformats.org/drawingml/2006/main">
              <a:srgbClr val="071A3D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식사·면적</c:v>
                </c:pt>
                <c:pt idx="1">
                  <c:v>쇼핑·면적</c:v>
                </c:pt>
                <c:pt idx="2">
                  <c:v>식사·총점포</c:v>
                </c:pt>
                <c:pt idx="3">
                  <c:v>쇼핑·총점포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0.013</c:v>
                </c:pt>
                <c:pt idx="1">
                  <c:v>0.017</c:v>
                </c:pt>
                <c:pt idx="2">
                  <c:v>-0.015</c:v>
                </c:pt>
                <c:pt idx="3">
                  <c:v>0.12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1DF8D-04A8-46DD-A11F-6D535CC3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5FC1F-A9B5-4883-9756-9F174F2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TEAM MAXIMUS · DAT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D9B02-344F-4336-9D55-3499B63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42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후보군은 만들었고,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이제 목적별 근거를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정교화합니다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F1604-1AE6-4253-BBA5-CC933D2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2·3주차 프로젝트 진행상황 보고</a:t>
            </a:r>
          </a:p>
          <a:p xmlns:a="http://schemas.openxmlformats.org/drawingml/2006/main">
            <a:pPr>
              <a:def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786개 공식 상권의 목적별 추천 기준선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705E1-EF29-428E-8C50-AC7317D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542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F62"/>
          </a:solidFill>
          <a:ln xmlns:a="http://schemas.openxmlformats.org/drawingml/2006/main" w="0">
            <a:solidFill>
              <a:srgbClr val="102F6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E2C2B-37CA-4BBF-AB1A-CE6C341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REACH × PURPOSE ×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71DAD-AD7F-45B1-8C61-DBA115A6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장한별  ·  지우진  ·  김건우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92e289c95496d"/>
          <a:srcRect xmlns:a="http://schemas.openxmlformats.org/drawingml/2006/main" l="2792" t="0" r="2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028700"/>
            <a:ext cx="4857750" cy="2895600"/>
          </a:xfrm>
          <a:prstGeom xmlns:a="http://schemas.openxmlformats.org/drawingml/2006/main" prst="roundRect">
            <a:avLst>
              <a:gd name="adj" fmla="val 5921"/>
            </a:avLst>
          </a:prstGeom>
        </p:spPr>
      </p:pic>
    </p:spTree>
    <p:extLst>
      <p:ext uri="{BB962C8B-B14F-4D97-AF65-F5344CB8AC3E}">
        <p14:creationId xmlns:p14="http://schemas.microsoft.com/office/powerpoint/2010/main" val="161954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8E8EF-EDD8-4D8A-A69C-235C8DA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0FFBD-3E55-40F0-BF0A-575F5CD5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1 →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ACCC4-0CAA-4C0A-A7CD-89712C73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AD217-1963-4CCB-9FFD-50A1E88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CE169-982A-4A6E-AA42-832B4A5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3주간, “갈 수 있는 상권”을 “설명 가능한 후보”로 바꿨습니다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95749-F00A-437D-A3AF-714F3E5E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접근성으로 후보군을 정의하고, 목적별 공급·소비·공간 신호를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2F72E-B8AF-48E9-A46F-858CDBD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5C01C-0F5E-4DC0-BF2D-208DCF12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64389-E589-4A84-9885-A58A7B27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6A5B5-BE9B-4745-BDA3-DEF55136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동대문구 출발 정류장·역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E818D-9753-48C9-AE4C-C18A1AA6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C9DEB-0B78-4025-A421-DFADE39B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E25F-6270-4519-96EC-DAE17B4A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E534B-2B1B-4E45-8F20-AF49E255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대중교통 생활권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454EC-6F69-494B-B8BA-7D1888AB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D4FB2-122E-4BB5-ABF2-2B7FEF71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F7C45-D41C-492B-9EF8-7B15D9EE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786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A5B2B-A865-4F29-A68C-E71DA038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공식 상권 폴리곤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B6793-DD21-4579-8B4F-376D95B3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3314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C6CD8-E00F-4A82-A21F-D21B65A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544EE-2FEF-499A-B3F7-6B2C8CCF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D4A0D-DA73-4D4A-A0AB-D97B5EEC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식사·쇼핑·카페·여가문화 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D3006-7B4E-4A09-BF77-F5C28476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W1  접근성 기반 후보군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4D97B-5DDE-47E8-BB7C-8C3408B5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334개 출발지에서 시간대별 도달 정류장을 계산하고, 공식 상권 폴리곤으로 후보를 고정했습니다.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4DF74-C03B-4C69-A278-E0C656EA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W2  목적별 증거·시설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8A173-2749-4A38-8D3E-651E69C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공부·카페·공공시설과 여가문화 POI를 상권 내부·보행 400m 범위로 분리해 피처화했습니다.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B9F73-0EEE-4D50-BB96-AE7ABC6D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W3  보정된 추천 기준선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B9F80-7103-4F1A-A00E-AE94148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 하위분류와 규모 쏠림 보정을 적용해 목적별 순위의 해석 가능성을 높였습니다.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422B4-F801-48A2-A199-6F68E85E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5DEFF-F7BD-4652-81A4-75896C74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695265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E00CBE-7E73-4985-AE5C-91995575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BA79C-194B-48A2-A225-B0A90EF3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SYSTEM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739CA-F0FB-475C-8C9E-AB83576C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11E04-BA4A-4310-A7B4-A965EFB7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F2E11-01C1-4604-B944-AFCE5EEB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추천은 네 개의 판단을 순서대로 통과합니다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0E05F-B91B-4EFB-8867-9A356843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장소를 바로 나열하지 않고, 이동 제약·공식 경계·목적 신호·제외 규칙을 순차 적용합니다.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8AF7F-CED6-4F1A-B8B6-1550A15D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F24BC-817A-4A85-B16F-73EFEA48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1D4FB-88EC-40C5-9157-9A51B8DB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00987-D7B8-4CC6-9734-34A1B62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01  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C6F55-8640-458D-ADC5-706D6AF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334개 출발지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30분 도달 가능성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620CE-8D4E-45F1-986A-84E77D89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A9975-8F2F-40C1-9EB4-B4F2DDA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45F20-3D7B-4708-B9FC-FAF9556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C0665-97DE-4508-AB8A-95152DE9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535F5-F61C-4943-AEF0-45799832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02 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71734-D3A5-4F74-BA29-E498FA7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786개 서울시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공식 상권 폴리곤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CD3DE-DEB7-41A1-B260-3ED4331C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D4905-A71A-4780-B9BD-20DE8217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F5EE0-CE82-43A1-87F1-E3B5B0A6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CC049-9E36-4B23-8960-A289EDA9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67B0D-100F-4F91-A00B-B28030EE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03 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923B7-CC68-4504-AD0F-353C1E05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점포·매출·POI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시간대·보행권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65E37-7555-4D4A-AAAC-58C4F7D5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665F9-62A4-4FE1-8296-4A383F5D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7A83A-F772-4A1F-86FE-6C0EA424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5927E-C132-405F-B3C6-E9B71EA0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076DA-BF12-4D76-9A65-A50F688F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04  RANK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15E1F3-7401-4BB1-AD9C-9280098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규모 보정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제외·신뢰도 표기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8DBDF-C262-445D-AA15-61CACC7C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C1A1E-145B-473C-8160-2816F128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핵심 원칙   |   “도달 가능”은 후보 조건이고, “추천할 만함”은 목적별 증거와 규모 보정 후에만 판단합니다.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773EF0-BBA3-4D52-BD8A-106CB9EC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FD52AA-15A3-4826-AA25-3CF8CA0A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217096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FECE8-2FF8-436A-A65A-6D4519C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E887B-535D-4DCA-B248-0317956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42895-70F2-4391-95DF-93FE928F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3256A-DA76-4EAC-B21A-EFBBFEF9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6A4B1-1FC9-4D7E-85FC-98F14BAE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동대문구에서 출발해도, 추천 단위는 “행정동”이 아니라 “공식 상권”입니다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7C875-EE0E-4A65-BA71-D7B81BC0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행정동은 넓고 성격이 섞여 있어, 서울시 공식 상권 경계(폴리곤)를 최종 비교 단위로 사용합니다.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cea7a4a6149e4"/>
          <a:srcRect xmlns:a="http://schemas.openxmlformats.org/drawingml/2006/main" l="0" t="34822" r="0" b="3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238375"/>
            <a:ext cx="4762500" cy="31432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C8AE6-FE49-49FB-A20B-39448A5F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334개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1F23A-BB0C-49FB-BC3F-A73AB9ED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동대문구 내 버스정류장·지하철역을 출발지로 두고, 오전 8시·오후 2시·오후 7시의 접근성을 함께 확인했습니다.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6C674-42FE-4512-8734-055B51AD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2375"/>
            <a:ext cx="5029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solidFill>
              <a:srgbClr val="FFF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448A1-17E8-4126-B4E7-B819FF51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147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25% 이상 출발지가 도달 가능 → 후보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419EC-C7B0-4860-A0B2-F79F5096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결과: 786개 공식 상권 폴리곤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0267A-35F8-4C99-A2AF-C192C305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관광특구 6개는 권역이 과도하게 넓어 목적지 추천에서 제외하며, 나머지는 목적별 점수로 다시 정렬합니다.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33903-B34D-4980-A815-29AC1B2E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6EE7E-37A1-4BBC-9986-49C3ED5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396592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59DB8F-2D9E-46E5-B3FF-D6CA22D1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0D077-BE30-433A-9058-725FAD7C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2 ·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A40DE-27D9-4C6C-A15C-8636CA6B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D85B6-3A1E-4C14-A970-7C20B33A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72369-5459-46C5-B00C-E2B16C4B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점포 수만 세지 않고, “어떤 경험을 할 수 있는가”를 피처로 만들었습니다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39423-6AA1-417A-92B6-FCF50412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상권 내부와 도보권 시설을 분리해 목적별 체류·학습·문화 신호를 구조화했습니다.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9F1A8-178E-4B12-8321-1D410081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8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87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19018-D740-4DBB-90B8-65A5E58C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공부·카페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320A3-E951-4197-9105-389DC51D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도서관·열람실·청년공간·대학 학습시설을 공공 피처로 사용하고, 스터디카페·대형카페는 별도 참고 신호로 관리합니다.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C4730-1E6B-4E9D-8B80-40CA6B03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746A7-A210-442A-A6A8-60E93D04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C2FC5-84BB-4CAE-A003-FDF1EC5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여가문화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1891C-5247-49E1-8012-5DA0DFAC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박물관·미술관·공연장·영화관·문화센터·전시공간·공원·스포츠시설을 상권 내부/보행권으로 나눠 집계합니다.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06871-E37E-4E43-B687-0C4D6CC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9E306-2764-4702-8218-BF1BFDF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B6A81-311F-4188-B26A-5FFB55A9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공간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1D317-3894-49F7-BE0E-559DB0D0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14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폴리곤 내부 수와 “도보 400m 이내” 수를 분리합니다. 단순 직선거리의 과대평가를 피하기 위해 보행 경로 확인으로 전환했습니다.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B8684-5D43-4663-848D-BD4E1784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B6704-088E-46D3-8E14-E1515DDD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686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5E5FB-B453-46D7-9597-2C9AD111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시설 피처의 역할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AD1B7-031B-4134-9F08-53D9982A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공급 신호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A7501-C1D6-4287-B72B-CCA006FC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무엇을 할 수 있는가</a:t>
            </a:r>
          </a:p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시설 수·다양성·특화도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1216B-3D64-4C3A-A9CB-0270B44B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6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C9467-AA0A-4D10-95FE-37A9D2AA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소비 신호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62C70-A456-49C2-BE53-5052870F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실제 소비가 있는가</a:t>
            </a:r>
          </a:p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매출·거래건수·시간대 적합도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22492-D5DA-4235-A931-23CB5CC0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DDC1D-BAE6-4846-8762-53BBA77E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217982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EC56CB-1B67-4F4A-B96D-E6F6A61F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C1F21-9601-4AE0-AD4D-2AB490CD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2 · WALK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5CA9C-EFE5-4182-B4F7-F8B17959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42928-931D-4665-BCB8-A1D4B805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D3435-BFFF-415D-8866-7757455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여가문화는 “검색 결과”가 아니라, 실제 도보권 검증을 거친 POI만 점수에 반영했습니다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D47F9-1F94-4BBD-AC2B-E2AAB32B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실시간 성격의 POI는 2026년 스냅샷으로 분리하고, 2025년 매출과 혼용하지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7968-CF7D-4008-AAC0-B901EF20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66800" cy="1809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15AD2-7C0E-4F91-A006-23E93D03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86EF4-4035-4929-9CB3-09D45FBF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수집 POI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9372F-6C91-46F2-A662-AC4BF4BE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71900"/>
            <a:ext cx="1066800" cy="10858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FACE7-E626-492F-976A-5F55C0DA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909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739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D48CB-285E-485F-83DA-149E7D34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폴리곤 내부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8CF3A-B005-4556-AE64-3E81C789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0100"/>
            <a:ext cx="1066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A3AA6-FC3A-4D40-B9DD-74949987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1442D-1DDE-45FD-9A4C-AC91F305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경계 외 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2DC84-0775-434D-A29A-721DC4E8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38675"/>
            <a:ext cx="10668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5662E-485A-4D47-A41A-1467C66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577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C2062-5F69-40A8-9DFE-B23AE850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도보 400m 통과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6F1FE-7C6C-4A93-9169-6D510286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106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C3ECE-34CF-4EB9-A3E1-76B846BB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2BC1A-FD34-4C5C-B27A-AF0950AC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요리주점</a:t>
            </a:r>
          </a:p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반영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FDFE8-F143-4FBD-8750-8FD15644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38625"/>
            <a:ext cx="1066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A9B6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D7BC3-F4A1-4599-B354-3D7CDD14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576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3273F-6129-424D-B99D-12E935F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성인 유흥</a:t>
            </a:r>
          </a:p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점수 제외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C2EB7-29EE-4266-9D12-D0FD4F26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B0295-83E3-4032-AE77-FB16DD7E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066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AE2039-F3CA-4B4B-A537-46C291CA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1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“요리주점·유흥주점”은 2025년 공식 100대 업종에서 분리 코드가 불충분합니다. 요리주점은 현재 POI를 도보 검증해 보조 신호로 쓰고, 성인 유흥은 추천 점수에서 제외했습니다.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F81A0-1A56-44AD-AB95-1CBEAB81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A326D-4A14-447B-9C60-5FAD879B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434967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62D27-DA03-460F-A60F-BE4433C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8842E-2DA6-4825-96A4-A9CEC95C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3 · TAXONOMY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42F5B-3D83-41EA-8E19-BB1D5BE9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FC306-E4B7-460C-BDB8-49285175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DF113-3DB6-47BA-A4B0-CB7A2D13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식사와 쇼핑은 대분류 하나가 아니라, 하위 목적의 조합으로 다룹니다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8FB53-E737-48C5-9E51-DFB0C9DB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같은 “식사”라도 메뉴와 가격대가 다르고, 같은 “쇼핑”이라도 찾는 품목이 다르기 때문입니다.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A038C-4174-4CD0-9B31-E088D15B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5095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EDC9D-7318-4E62-B4AF-BDD8CB6E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13536-5EBF-4CB6-B336-C1656F90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MEAL · 6 SUBCATEGORIES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75C0D-7A9D-4E6C-991B-744A0C01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한식  ·  중식  ·  일식</a:t>
            </a:r>
          </a:p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양식  ·  간편식  ·  치킨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56CEE-AA25-4B3F-81D5-1F070D26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가격대는 메뉴 가격을 임의로 추정하지 않고,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동일 음식 세부업종의 점심 시간대 객단가 Q25 / Q75로 구분합니다.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F6C3C-6FF0-48CD-BAEC-1E3C4F4B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5095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1E7B0-BDB6-431D-9FF5-B2D1DB35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1FD34-4C0F-41FF-8C9F-7CE3492A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105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SHOPPING · 5 SUBCATEGORIES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C1EFD-A9CA-4A8C-B0C5-C20C5D54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패션·뷰티  ·  식품·생활</a:t>
            </a:r>
          </a:p>
          <a:p xmlns:a="http://schemas.openxmlformats.org/drawingml/2006/main">
            <a:pPr>
              <a:def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취미·문화  ·  디지털·홈  ·  건강·반려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D1D71-2A27-4EB3-9D7D-2D40E087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도매·특수시장 7개는 소비자 소매 추천에서 제외합니다.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관광특구 6개도 지나치게 넓어 순위 대상에서 제외합니다.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7E50B-691C-4023-8A44-98B65380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베이커리·디저트는 카페, 호프·요리주점은 여가문화로 귀속해 중복 반영을 줄였습니다.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0EB8D-7301-40BA-94E0-8D836536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43EAA-B6E7-4E96-989D-A8D7751D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596539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12E77-DB49-4B17-ABBB-00163DBC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DB5DA-3E92-437E-A4B3-BCE5E02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3 · DE-BIASING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E77B2-4125-48EE-8659-D2CE190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E0C59-2EFD-4A40-B624-FD6746CB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2A014-BF65-470E-A74B-8B47F04F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“큰 상권이라 높은 점수”가 되지 않도록, 규모 효과를 분리했습니다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FAD56-8D58-43BE-B4C1-CEA64D94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원점수는 면적·총점포 수와 연동되기 쉬워, 목적 신호의 잔차를 최종 순위 점수로 사용합니다.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7700" y="2333625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bd0ed71a96443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AAE58-8A37-43EB-94D7-D2D5102D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3714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C5184-3D3E-44DA-87AA-0E852A98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보정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09903-5248-4271-8C9A-53E61EE3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 점포 밀도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 업종 다양성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 서울 평균 대비 특화도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4. 매출·거래 밀도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5. 접근성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9113E-F5C1-4054-8F33-95C5EF9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보정 후 순위는 “상권의 크기”보다 “목적에 맞는 밀도·특화도”를 더 많이 반영합니다.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7BF5F-9154-4EC2-823C-E8C313FB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8544D-4ABE-4E6A-9136-6246AB2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613095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40155-F0ED-4694-B334-42BB9BF4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04EF8-4D51-4CB2-8B6D-42B3B022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RECOMMENDATION BASELINE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C0CBC-B700-4CA7-8152-E696A189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A2C54-6AC4-4358-9EF8-5B422892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782BE-93F8-4603-B0E2-3AFF52B7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현재의 추천은 “학습 완료 모델”이 아니라, 검증 가능한 목적별 기준선입니다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E9D77-B306-4D78-ACFE-F475BD33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각 목적별로 같은 구조의 피처를 쓰되, 하위분류와 제외 규칙만 다르게 적용합니다.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D560B-FFA1-409F-BFBF-CAD592DE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0668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31B14-55F8-4B71-BC87-0CC6597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Purpose Score = 0.20 × 접근성 + 0.35 × 공급 신호 + 0.35 × 활동·소비 신호 + 0.10 × 시간 적합도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F340E-6848-42D0-9965-9F87F329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BCBAC-187B-4CB5-BB70-BF3ACFFB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접근성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560FD-BEFC-4A2E-88BE-9F22D8EB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08·14·19시 도달 비율, 최소 도달 비율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20A0F-9EDA-4867-B14C-BB1D4698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36F43-7C73-4184-9365-5CC0F44B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공급 신호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233FB-373E-434A-A5F8-1045E281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점포·시설 밀도, 업종 다양성, 특화도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B82A0-18DE-452C-8E4F-AFBB0FFF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0F7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5C105-88D1-47E4-B3EF-5036490A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활동·소비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31249-72EC-453E-8383-6B78EE9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81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매출·거래 밀도, 관측 여부, 보행권 POI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49B52-D0DD-4506-82C5-15B829F7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DEB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6D12C-4DB2-4A46-A512-2C961698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시간 적합도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883CD-82C7-40E4-9F26-BE101CB6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054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목적별 시간대 매출 비중 / 저녁·심야 신호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2E9B1-28CD-47FC-AE31-F4A38B95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단, 매출이 비공개인 행은 추정 여부를 표시하고 “고신뢰 Top10”과 일반 탐색 후보를 분리합니다.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A2CF4-F9EC-4551-809B-6FB8080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5FD4D-C172-42B8-9A03-AA82910B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6637135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624AE-7F50-4181-9952-16DB8E49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A5423-7F83-4AB6-803B-CDF7F5A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CURRENT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5D0D5-40E7-49EE-B19D-410E0831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4C1C1-5B4D-4178-A91D-9CCDA314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15D3E-6946-4635-833F-D463DB15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목적별 Top10은 이미 생성되지만, “정답 추천”으로 주장하지는 않습니다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103F3-EF3E-4C67-B6BF-6967A912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후보별 점수와 추천 이유를 함께 저장해, 사용자가 순위의 근거를 확인할 수 있도록 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A497A-02A6-45E3-AC37-A9B8626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5F8F5-DBFA-4FC5-B8E6-E5B9F0C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3619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1A3DC-9B1D-420C-B215-CCB876B8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MEAL + SHOPPING · HIGH-CONFIDENCE 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7CD8-6889-4B10-95D9-E721615F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01  동부시장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D7507-7B0D-4849-8954-1AF676CA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02  마포시장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425B1-1D74-425A-B330-CBC98051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03  면곡골목시장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51B36-AF97-4996-8F69-D1021482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04  화양제일골목시장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73F8C-9A6A-4C71-A031-E8A1E400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05  답십리현대시장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A54D5-1D51-47F6-9BDC-4401CC8A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조합 목적은 각 목적 점수를 합산하기 전에</a:t>
            </a:r>
          </a:p>
          <a:p xmlns:a="http://schemas.openxmlformats.org/drawingml/2006/main">
            <a:pPr>
              <a:def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관광·도매 제외와 고신뢰 규칙을 동일하게 적용합니다.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02D53-03C8-4327-9BEE-A3C79B9B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38375"/>
            <a:ext cx="49911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A208A-1D9D-4C3C-A1DC-1BDDFAF0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47925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9739E-1065-47FF-8A26-B22B90C0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669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RECOMMENDATION REASON CARD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85CEE-C436-4F3F-94EA-4AFC484E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전곡시장 · 쇼핑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39A24-C3FB-46F9-9E98-48259ABB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주요 유형  식품·생활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관련 점포  38개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업종 매출 공개율  24%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세 시간대 접근률  0.99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310EB-49AE-4CB4-8C7D-66A57270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434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“점포·매출이 모두 관측된 상권”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52246-EE4A-4B71-BA8F-B83FD25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75A7E-CAFC-4942-A2A1-AA32FDA5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5983357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AE895-C179-4035-9E8C-FFC25F49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B89A0-2694-4D42-87BF-2643C6AC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WHAT WE CAN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3C411-8E5E-405D-9FD4-628B4F19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F6574-A076-43AC-B87B-93CC4E18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18C7A-8322-4957-841E-9EEF0810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이번 주차의 성과는 “추천 성능”이 아니라, 추천을 학습·검증할 데이터 구조를 만든 것입니다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67955-38E1-4E0D-85D7-917314D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후보군·피처·제외 규칙은 재현 가능하지만, 개인의 실제 선택을 예측했다는 주장은 아직 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0768E-1AF3-41AB-824C-9B98625E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00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0F7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8BB2E-02AB-4A37-8A16-7DEFA53B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현재 말할 수 있는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06867-A120-4B3F-9047-6C4F445E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786개 후보의 목적별 피처와 점수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면적·점포 수 쏠림을 줄인 순위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상권 내부와 보행권 시설의 분리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제외 사유·매출 추정 여부·추천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3B9DF-019F-4337-A508-A50A9C7B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000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DEB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DC4F0-A67E-4F90-A59D-2585A641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아직 말하지 않는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8CF28-27F0-4D61-A745-D0C5D18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908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개인별 “선택 확률”의 정확도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실제 사용자 만족도·클릭 성과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B078/B079 원본 기반 이동–소비 전환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2026년 POI로 2025년 과거 성과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D9E7A-F977-4A31-ADCE-A3E85159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핵심: 지금은 “그럴듯한 답”이 아니라, 어떤 근거로 순위가 나왔는지 추적 가능한 추천 기준선을 만드는 단계입니다.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9DB51-9B9F-412F-B395-6E563591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579DE-1712-4A7C-9144-03C9A281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439999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D2DCC-9CDA-4371-B647-203E78E2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AAF6-960A-4B15-8F34-8DA095FC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C86A7-D308-4EB1-B2EE-6BD42859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6DAC8-02A0-4E90-8E61-53F1558D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2E8BE-C6C9-44C9-9DA6-4E671E52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다음 단계는 더 많은 장소를 넣는 것이 아니라, 기준선이 실제 선택과 맞는지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43C5B-E127-4B76-8D38-6C198313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10월 중간발표 전에는 목적별 하위분류·보행경로·공개 이동데이터 기반의 검증 단위를 고정합니다.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9002E-3F3F-429C-A845-3E340E78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2559D-89B1-43EF-B95E-4B83133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6F153-FC5E-4B87-AC00-877F788E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하위분류 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8F1C2-06C2-4D7C-A579-2A3C6F21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식사·쇼핑·카페·공부·여가문화별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포함/제외 업종과 근거를 확정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50925-359E-499B-9B00-60A08D47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3DC21-C39D-492C-8CF1-11459CD0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EB008-0D17-4F20-843F-32C3E68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보행경로 적용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3210F-643E-4D86-9EF4-D690B762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직선거리 대신 카카오 도보 경로로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400m 도보권 규칙을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2EC0B-A9D1-42A5-9BDB-6D58FBF1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2DEA7-DD5D-4E84-BFCB-9C417E0F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FCF48-39B6-4497-A1D2-3D7D9A73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공개 이동데이터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1AD8E-F36C-4324-BB2A-8D8C9C6F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행정동·시간대 생활이동 공개본으로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 접근성과 목적 신호를 교차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41AEA-4704-4F47-BA26-512D6F20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2740F-C59D-4A7F-8BFE-63B331E5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FDDED-E164-42FC-982C-281F92E1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설명 카드·평가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5CAD8-20F9-4ECE-A6FF-409DC5A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추천 이유 카드와 고신뢰 표기를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확정하고 사용자 평가 설계를 시작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92C4B-19F2-4B9E-A429-85B32EFB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0744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1AAC0-A347-4F9B-9C08-344B9B2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1023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목표  |  접근 가능한 786개 상권에 대해, 목적별 순위와 그 이유를 같은 기준으로 설명하는 추천 기준선 v1 완성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94D46-C78A-46D8-9060-D06EAE7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4C01D-8A95-44A8-B9FD-45F879C3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THANK YOU</a:t>
            </a:r>
          </a:p>
        </p:txBody>
      </p:sp>
    </p:spTree>
    <p:extLst>
      <p:ext uri="{BB962C8B-B14F-4D97-AF65-F5344CB8AC3E}">
        <p14:creationId xmlns:p14="http://schemas.microsoft.com/office/powerpoint/2010/main" val="1071669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2026-09-30T00:31:24.3420000Z</dcterms:created>
  <dcterms:modified xsi:type="dcterms:W3CDTF">2026-09-30T00:31:24.3420000Z</dcterms:modified>
</coreProperties>
</file>