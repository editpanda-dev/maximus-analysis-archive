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65691a88d4683" /><Relationship Type="http://schemas.openxmlformats.org/officeDocument/2006/relationships/extended-properties" Target="/docProps/app.xml" Id="Re1504782dfb249b0" /><Relationship Type="http://schemas.openxmlformats.org/officeDocument/2006/relationships/officeDocument" Target="/ppt/presentation.xml" Id="Rd6a73ec194774d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80417fc34e4ef6"/>
  </p:sldMasterIdLst>
  <p:notesMasterIdLst>
    <p:notesMasterId xmlns:r="http://schemas.openxmlformats.org/officeDocument/2006/relationships" r:id="Ra641d1d200b8420f"/>
  </p:notesMasterIdLst>
  <p:sldIdLst>
    <p:sldId xmlns:r="http://schemas.openxmlformats.org/officeDocument/2006/relationships" id="256" r:id="Rbe26a6eee36c4fb7"/>
    <p:sldId xmlns:r="http://schemas.openxmlformats.org/officeDocument/2006/relationships" id="257" r:id="R37f2c7f0da544304"/>
    <p:sldId xmlns:r="http://schemas.openxmlformats.org/officeDocument/2006/relationships" id="258" r:id="Rdd8d6e4955d447f2"/>
    <p:sldId xmlns:r="http://schemas.openxmlformats.org/officeDocument/2006/relationships" id="259" r:id="R4e3a78637c30414e"/>
    <p:sldId xmlns:r="http://schemas.openxmlformats.org/officeDocument/2006/relationships" id="260" r:id="Raaddc6a290ff4c05"/>
    <p:sldId xmlns:r="http://schemas.openxmlformats.org/officeDocument/2006/relationships" id="261" r:id="Rdffbde4c32cc46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af4b99091343aa" /><Relationship Type="http://schemas.openxmlformats.org/officeDocument/2006/relationships/slideMaster" Target="/ppt/slideMasters/slideMaster1.xml" Id="R1080417fc34e4ef6" /><Relationship Type="http://schemas.openxmlformats.org/officeDocument/2006/relationships/notesMaster" Target="/ppt/notesMasters/notesMaster1.xml" Id="Ra641d1d200b8420f" /><Relationship Type="http://schemas.openxmlformats.org/officeDocument/2006/relationships/presProps" Target="/ppt/presProps.xml" Id="R335d79137b8d4424" /><Relationship Type="http://schemas.openxmlformats.org/officeDocument/2006/relationships/tableStyles" Target="/ppt/tableStyles.xml" Id="R381ab38d9b5f4bf1" /><Relationship Type="http://schemas.openxmlformats.org/officeDocument/2006/relationships/slide" Target="/ppt/slides/slide1.xml" Id="Rbe26a6eee36c4fb7" /><Relationship Type="http://schemas.openxmlformats.org/officeDocument/2006/relationships/slide" Target="/ppt/slides/slide2.xml" Id="R37f2c7f0da544304" /><Relationship Type="http://schemas.openxmlformats.org/officeDocument/2006/relationships/slide" Target="/ppt/slides/slide3.xml" Id="Rdd8d6e4955d447f2" /><Relationship Type="http://schemas.openxmlformats.org/officeDocument/2006/relationships/slide" Target="/ppt/slides/slide4.xml" Id="R4e3a78637c30414e" /><Relationship Type="http://schemas.openxmlformats.org/officeDocument/2006/relationships/slide" Target="/ppt/slides/slide5.xml" Id="Raaddc6a290ff4c05" /><Relationship Type="http://schemas.openxmlformats.org/officeDocument/2006/relationships/slide" Target="/ppt/slides/slide6.xml" Id="Rdffbde4c32cc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a7cf3baef6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81aaaa39774357" /><Relationship Type="http://schemas.openxmlformats.org/officeDocument/2006/relationships/notesMaster" Target="/ppt/notesMasters/notesMaster1.xml" Id="R4f66edeb061b42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ad061373f4990" /><Relationship Type="http://schemas.openxmlformats.org/officeDocument/2006/relationships/notesMaster" Target="/ppt/notesMasters/notesMaster1.xml" Id="Rdec237a136124d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c8874df5934244" /><Relationship Type="http://schemas.openxmlformats.org/officeDocument/2006/relationships/notesMaster" Target="/ppt/notesMasters/notesMaster1.xml" Id="R3e0eb30b40c941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51db2d66d94ad5" /><Relationship Type="http://schemas.openxmlformats.org/officeDocument/2006/relationships/notesMaster" Target="/ppt/notesMasters/notesMaster1.xml" Id="Rb8b6df86223e4b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674b8220b4b56" /><Relationship Type="http://schemas.openxmlformats.org/officeDocument/2006/relationships/notesMaster" Target="/ppt/notesMasters/notesMaster1.xml" Id="R3ab3fb728a7d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63d621c6714111" /><Relationship Type="http://schemas.openxmlformats.org/officeDocument/2006/relationships/notesMaster" Target="/ppt/notesMasters/notesMaster1.xml" Id="Rd5a8c1a3003443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 발표. 출처: data/processed/commercial_area_accessibility 및 data/external/study_public_facility_poi.csv. 공식 상권 후보 786개, 공공 학습시설 원천 268개.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 요약. 동대문구 버스정류장·지하철역 334개를 출발지로 두고, 오전 8시·오후 2시·오후 7시에 25% 이상 출발지가 접근 가능한 행정동을 탐색 생활권으로 정했다. 이후 공식 상권 폴리곤과 400m 기준으로 결합해 786개 공식 상권을 후보 단위로 사용한다. 출처: docs/accessibility_threshold_validation.md.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데이터 업데이트. data/external/study_public_facility_poi.csv는 268행·41열이다. data/processed/study_public_facility_features.csv는 786행·24열이며 area_code를 키로 한다. 2026 POI는 현재 추천용 보조 피처로만 사용하고, 2025년 매출 예측 검증에는 사용하지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점수 거버넌스. study_public_*는 공개 접근이 확인된 236개 시설만 집계하는 생산 점수용 필드다. study_public_all_*는 대학시설 후보 9개를 포함한 245개 검토용 필드이며 순위 계산에 사용하지 않는다. 출처: docs/study_poi_source_and_taxonomy.md, docs/poi_feature_integration.md.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재현성 기록. 원천 POI 268개는 place_id가 모두 고유하다. 수동 점검은 상위 20개 상권의 117개 상권-시설 연결을 확인했고, 18개는 폴리곤 내부, 99개는 400m 이내다. 전체 테스트 14건이 통과했다. 출처: docs/study_poi_license_and_deduplication.md, docs/study_public_facility_top20_manual_check.md.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42개는 study-ready signal, 125개는 feature-rich validation-needed, 47개는 demand-signal feature-gap으로 분류했다. 생활이동 자료는 동대문구 출발 OD 선택 라벨이 아니고 source_period가 26개로 혼재하므로, 목적 맥락 대리변수로만 쓴다. 출처: docs/week2_crosswork_insights.md.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82f8e3a6946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6743e20bf0407b" /><Relationship Type="http://schemas.openxmlformats.org/officeDocument/2006/relationships/slideLayout" Target="/ppt/slideLayouts/slideLayout1.xml" Id="Rb74e2e38d00c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4e2e38d00c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5cf01e1fd495a" /><Relationship Type="http://schemas.openxmlformats.org/officeDocument/2006/relationships/image" Target="/ppt/media/image.png" Id="Re7340a56d3cc4b33" /><Relationship Type="http://schemas.openxmlformats.org/officeDocument/2006/relationships/notesSlide" Target="/ppt/notesSlides/notesSlide1.xml" Id="R913e7602fb1744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8306d0ca04939" /><Relationship Type="http://schemas.openxmlformats.org/officeDocument/2006/relationships/image" Target="/ppt/media/image2.png" Id="Ra6a42c7666d14c90" /><Relationship Type="http://schemas.openxmlformats.org/officeDocument/2006/relationships/notesSlide" Target="/ppt/notesSlides/notesSlide2.xml" Id="R4e124b402f0e46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0755012304679" /><Relationship Type="http://schemas.openxmlformats.org/officeDocument/2006/relationships/image" Target="/ppt/media/image3.png" Id="R883b5f50a4624fe2" /><Relationship Type="http://schemas.openxmlformats.org/officeDocument/2006/relationships/image" Target="/ppt/media/image4.png" Id="R4fe9482af4e34374" /><Relationship Type="http://schemas.openxmlformats.org/officeDocument/2006/relationships/image" Target="/ppt/media/image5.png" Id="R8b2bebf34cbb4c05" /><Relationship Type="http://schemas.openxmlformats.org/officeDocument/2006/relationships/notesSlide" Target="/ppt/notesSlides/notesSlide3.xml" Id="R8e9c16aa98db40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452f5a29746d4" /><Relationship Type="http://schemas.openxmlformats.org/officeDocument/2006/relationships/image" Target="/ppt/media/image6.png" Id="Rb38867abf98743e2" /><Relationship Type="http://schemas.openxmlformats.org/officeDocument/2006/relationships/notesSlide" Target="/ppt/notesSlides/notesSlide4.xml" Id="Ra91a9fa52e2d45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e680c6d3b4d9d" /><Relationship Type="http://schemas.openxmlformats.org/officeDocument/2006/relationships/image" Target="/ppt/media/image7.png" Id="Rbc37a92c3c694c4f" /><Relationship Type="http://schemas.openxmlformats.org/officeDocument/2006/relationships/notesSlide" Target="/ppt/notesSlides/notesSlide5.xml" Id="Rc31d25ae6a7e48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517b4ca034b2d" /><Relationship Type="http://schemas.openxmlformats.org/officeDocument/2006/relationships/image" Target="/ppt/media/image8.png" Id="Raf1e99dc44d34b6d" /><Relationship Type="http://schemas.openxmlformats.org/officeDocument/2006/relationships/notesSlide" Target="/ppt/notesSlides/notesSlide6.xml" Id="R782762ff4bd745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B6CB3786-4844-4E35-A19B-4040C34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F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7C4A1D-7321-4A5B-8D7B-21C76FA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567F2"/>
                </a:solidFill>
              </a:defRPr>
            </a:pPr>
            <a:r>
              <a:rPr sz="1050" b="1">
                <a:solidFill>
                  <a:srgbClr val="4567F2"/>
                </a:solidFill>
              </a:rPr>
              <a:t>TEAM MAXIMUS · DAT WEEK 2</a:t>
            </a:r>
          </a:p>
        </p:txBody>
      </p:sp>
      <p:sp>
        <p:nvSpPr>
          <p:cNvPr id="3" name="hero">
            <a:extLst xmlns:a="http://schemas.openxmlformats.org/drawingml/2006/main">
              <a:ext uri="{FF2B5EF4-FFF2-40B4-BE49-F238E27FC236}">
                <a16:creationId xmlns:a16="http://schemas.microsoft.com/office/drawing/2014/main" id="{7F669609-E1C9-45DD-BE30-17EAD0BA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334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61A18"/>
                </a:solidFill>
              </a:defRPr>
            </a:pPr>
            <a:r>
              <a:rPr sz="4125" b="1">
                <a:solidFill>
                  <a:srgbClr val="161A18"/>
                </a:solidFill>
              </a:rPr>
              <a:t>후보 상권을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161A18"/>
                </a:solidFill>
              </a:defRPr>
            </a:pPr>
            <a:r>
              <a:rPr sz="4125" b="1">
                <a:solidFill>
                  <a:srgbClr val="161A18"/>
                </a:solidFill>
              </a:rPr>
              <a:t>데이터로 정리하고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161A18"/>
                </a:solidFill>
              </a:defRPr>
            </a:pPr>
            <a:r>
              <a:rPr sz="4125" b="1">
                <a:solidFill>
                  <a:srgbClr val="161A18"/>
                </a:solidFill>
              </a:rPr>
              <a:t>추천 근거를 쌓다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64E391FC-E864-4F64-A07D-9DCC2990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E746F"/>
                </a:solidFill>
              </a:defRPr>
            </a:pPr>
            <a:r>
              <a:rPr sz="1650" b="0">
                <a:solidFill>
                  <a:srgbClr val="6E746F"/>
                </a:solidFill>
              </a:rPr>
              <a:t>동대문구 출발 30분 생활권을 공식 상권으로 세분화하고,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E746F"/>
                </a:solidFill>
              </a:defRPr>
            </a:pPr>
            <a:r>
              <a:rPr sz="1650" b="0">
                <a:solidFill>
                  <a:srgbClr val="6E746F"/>
                </a:solidFill>
              </a:rPr>
              <a:t>학습 체류 목적의 시설 피처를 보강했습니다.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40a56d3cc4b33"/>
          <a:stretch xmlns:a="http://schemas.openxmlformats.org/drawingml/2006/main"/>
        </p:blipFill>
        <p:spPr>
          <a:xfrm xmlns:a="http://schemas.openxmlformats.org/drawingml/2006/main">
            <a:off x="5905500" y="1070610"/>
            <a:ext cx="5429250" cy="3040380"/>
          </a:xfrm>
          <a:prstGeom xmlns:a="http://schemas.openxmlformats.org/drawingml/2006/main" prst="rect">
            <a:avLst/>
          </a:prstGeom>
        </p:spPr>
      </p:pic>
      <p:sp>
        <p:nvSpPr>
          <p:cNvPr id="6" name="formula-band">
            <a:extLst xmlns:a="http://schemas.openxmlformats.org/drawingml/2006/main">
              <a:ext uri="{FF2B5EF4-FFF2-40B4-BE49-F238E27FC236}">
                <a16:creationId xmlns:a16="http://schemas.microsoft.com/office/drawing/2014/main" id="{133B031D-82D8-42F5-B9DE-7A96AE07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E9DB878E-DD27-48AE-BF62-1DE57DD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786 areas × 268 POIs × 3 time periods</a:t>
            </a:r>
          </a:p>
        </p:txBody>
      </p:sp>
      <p:sp>
        <p:nvSpPr>
          <p:cNvPr id="8" name="members">
            <a:extLst xmlns:a="http://schemas.openxmlformats.org/drawingml/2006/main">
              <a:ext uri="{FF2B5EF4-FFF2-40B4-BE49-F238E27FC236}">
                <a16:creationId xmlns:a16="http://schemas.microsoft.com/office/drawing/2014/main" id="{16AE0A94-CC06-4350-8A12-BEF2F742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1A18"/>
                </a:solidFill>
              </a:defRPr>
            </a:pPr>
            <a:r>
              <a:rPr sz="1275" b="1">
                <a:solidFill>
                  <a:srgbClr val="161A18"/>
                </a:solidFill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1635502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n-2">
            <a:extLst xmlns:a="http://schemas.openxmlformats.org/drawingml/2006/main">
              <a:ext uri="{FF2B5EF4-FFF2-40B4-BE49-F238E27FC236}">
                <a16:creationId xmlns:a16="http://schemas.microsoft.com/office/drawing/2014/main" id="{F7EC0B58-131B-47B5-92BC-612B5CF8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02</a:t>
            </a:r>
          </a:p>
        </p:txBody>
      </p:sp>
      <p:sp>
        <p:nvSpPr>
          <p:cNvPr id="2" name="k-2">
            <a:extLst xmlns:a="http://schemas.openxmlformats.org/drawingml/2006/main">
              <a:ext uri="{FF2B5EF4-FFF2-40B4-BE49-F238E27FC236}">
                <a16:creationId xmlns:a16="http://schemas.microsoft.com/office/drawing/2014/main" id="{8E33457C-A14D-48AA-A1D4-BA783A72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WEEK 1 RECAP</a:t>
            </a:r>
          </a:p>
        </p:txBody>
      </p:sp>
      <p:sp>
        <p:nvSpPr>
          <p:cNvPr id="3" name="brand-2">
            <a:extLst xmlns:a="http://schemas.openxmlformats.org/drawingml/2006/main">
              <a:ext uri="{FF2B5EF4-FFF2-40B4-BE49-F238E27FC236}">
                <a16:creationId xmlns:a16="http://schemas.microsoft.com/office/drawing/2014/main" id="{BF4F1958-2923-4DD3-8C4A-BFFFD0FD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71357597-5A8B-4993-9CA3-C53FA10A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09EF0A-E9C9-43A4-A788-5013BEB4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지난주에는 분석의 공간 단위를 확정했습니다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A4B00860-203C-4587-BCF4-5A355A8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동대문구 내 334개 출발지를 기준으로 시간대별 교통 접근성을 계산했습니다.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42c7666d14c90"/>
          <a:stretch xmlns:a="http://schemas.openxmlformats.org/drawingml/2006/main"/>
        </p:blipFill>
        <p:spPr>
          <a:xfrm xmlns:a="http://schemas.openxmlformats.org/drawingml/2006/main">
            <a:off x="1005568" y="2476500"/>
            <a:ext cx="3741964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F50D19F9-6B9F-46D7-89A5-BE76748B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567F2"/>
                </a:solidFill>
              </a:defRPr>
            </a:pPr>
            <a:r>
              <a:rPr sz="3450" b="1">
                <a:solidFill>
                  <a:srgbClr val="4567F2"/>
                </a:solidFill>
              </a:rPr>
              <a:t>334 → 204 → 786</a:t>
            </a:r>
          </a:p>
        </p:txBody>
      </p:sp>
      <p:sp>
        <p:nvSpPr>
          <p:cNvPr id="9" name="eq">
            <a:extLst xmlns:a="http://schemas.openxmlformats.org/drawingml/2006/main">
              <a:ext uri="{FF2B5EF4-FFF2-40B4-BE49-F238E27FC236}">
                <a16:creationId xmlns:a16="http://schemas.microsoft.com/office/drawing/2014/main" id="{8CFCF1C7-A76C-471F-9C1B-B1477E4E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1A18"/>
                </a:solidFill>
              </a:defRPr>
            </a:pPr>
            <a:r>
              <a:rPr sz="2325" b="1">
                <a:solidFill>
                  <a:srgbClr val="161A18"/>
                </a:solidFill>
              </a:rPr>
              <a:t>출발지 → 탐색 행정동 → 공식 상권</a:t>
            </a:r>
          </a:p>
        </p:txBody>
      </p:sp>
      <p:sp>
        <p:nvSpPr>
          <p:cNvPr id="10" name="sep">
            <a:extLst xmlns:a="http://schemas.openxmlformats.org/drawingml/2006/main">
              <a:ext uri="{FF2B5EF4-FFF2-40B4-BE49-F238E27FC236}">
                <a16:creationId xmlns:a16="http://schemas.microsoft.com/office/drawing/2014/main" id="{216EA4C9-AFC5-43C7-9571-570B3DC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lus">
            <a:extLst xmlns:a="http://schemas.openxmlformats.org/drawingml/2006/main">
              <a:ext uri="{FF2B5EF4-FFF2-40B4-BE49-F238E27FC236}">
                <a16:creationId xmlns:a16="http://schemas.microsoft.com/office/drawing/2014/main" id="{EC9469B6-A3E6-4275-8423-D7A3872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567F2"/>
                </a:solidFill>
              </a:defRPr>
            </a:pPr>
            <a:r>
              <a:rPr sz="1650" b="1">
                <a:solidFill>
                  <a:srgbClr val="4567F2"/>
                </a:solidFill>
              </a:rPr>
              <a:t>25% 기준</a:t>
            </a:r>
          </a:p>
        </p:txBody>
      </p:sp>
      <p:sp>
        <p:nvSpPr>
          <p:cNvPr id="12" name="plus-desc">
            <a:extLst xmlns:a="http://schemas.openxmlformats.org/drawingml/2006/main">
              <a:ext uri="{FF2B5EF4-FFF2-40B4-BE49-F238E27FC236}">
                <a16:creationId xmlns:a16="http://schemas.microsoft.com/office/drawing/2014/main" id="{1B2B7C84-DA3F-46F4-9D14-43A7D46B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A18"/>
                </a:solidFill>
              </a:defRPr>
            </a:pPr>
            <a:r>
              <a:rPr sz="1425" b="0">
                <a:solidFill>
                  <a:srgbClr val="161A18"/>
                </a:solidFill>
              </a:rPr>
              <a:t>세 시간대 모두에서 반복 접근 가능한 범위</a:t>
            </a:r>
          </a:p>
        </p:txBody>
      </p:sp>
      <p:sp>
        <p:nvSpPr>
          <p:cNvPr id="13" name="minus">
            <a:extLst xmlns:a="http://schemas.openxmlformats.org/drawingml/2006/main">
              <a:ext uri="{FF2B5EF4-FFF2-40B4-BE49-F238E27FC236}">
                <a16:creationId xmlns:a16="http://schemas.microsoft.com/office/drawing/2014/main" id="{114DD5F5-8802-4D13-81F9-EBC8D399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E746F"/>
                </a:solidFill>
              </a:defRPr>
            </a:pPr>
            <a:r>
              <a:rPr sz="1650" b="1">
                <a:solidFill>
                  <a:srgbClr val="6E746F"/>
                </a:solidFill>
              </a:rPr>
              <a:t>400m 결합</a:t>
            </a:r>
          </a:p>
        </p:txBody>
      </p:sp>
      <p:sp>
        <p:nvSpPr>
          <p:cNvPr id="14" name="minus-desc">
            <a:extLst xmlns:a="http://schemas.openxmlformats.org/drawingml/2006/main">
              <a:ext uri="{FF2B5EF4-FFF2-40B4-BE49-F238E27FC236}">
                <a16:creationId xmlns:a16="http://schemas.microsoft.com/office/drawing/2014/main" id="{D0165EE4-6F03-4AA2-8E87-F99B320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61A18"/>
                </a:solidFill>
              </a:defRPr>
            </a:pPr>
            <a:r>
              <a:rPr sz="1425" b="0">
                <a:solidFill>
                  <a:srgbClr val="161A18"/>
                </a:solidFill>
              </a:rPr>
              <a:t>도달 정류장과 공식 상권 경계를 연결</a:t>
            </a:r>
          </a:p>
        </p:txBody>
      </p:sp>
      <p:sp>
        <p:nvSpPr>
          <p:cNvPr id="15" name="condition">
            <a:extLst xmlns:a="http://schemas.openxmlformats.org/drawingml/2006/main">
              <a:ext uri="{FF2B5EF4-FFF2-40B4-BE49-F238E27FC236}">
                <a16:creationId xmlns:a16="http://schemas.microsoft.com/office/drawing/2014/main" id="{5FDA6545-7DAB-477E-9FED-BA694A1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F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dition-text">
            <a:extLst xmlns:a="http://schemas.openxmlformats.org/drawingml/2006/main">
              <a:ext uri="{FF2B5EF4-FFF2-40B4-BE49-F238E27FC236}">
                <a16:creationId xmlns:a16="http://schemas.microsoft.com/office/drawing/2014/main" id="{11FAD02A-1CB7-4BAC-B4AE-FEE91A7B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972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1A18"/>
                </a:solidFill>
              </a:defRPr>
            </a:pPr>
            <a:r>
              <a:rPr sz="1350" b="1">
                <a:solidFill>
                  <a:srgbClr val="161A18"/>
                </a:solidFill>
              </a:rPr>
              <a:t>행정동은 탐색 범위, 공식 상권은 추천 후보 단위</a:t>
            </a:r>
          </a:p>
        </p:txBody>
      </p:sp>
    </p:spTree>
    <p:extLst>
      <p:ext uri="{BB962C8B-B14F-4D97-AF65-F5344CB8AC3E}">
        <p14:creationId xmlns:p14="http://schemas.microsoft.com/office/powerpoint/2010/main" val="1235735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n-3">
            <a:extLst xmlns:a="http://schemas.openxmlformats.org/drawingml/2006/main">
              <a:ext uri="{FF2B5EF4-FFF2-40B4-BE49-F238E27FC236}">
                <a16:creationId xmlns:a16="http://schemas.microsoft.com/office/drawing/2014/main" id="{0C94A30E-8D00-44E3-A1CB-E92BC41A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2" name="k-3">
            <a:extLst xmlns:a="http://schemas.openxmlformats.org/drawingml/2006/main">
              <a:ext uri="{FF2B5EF4-FFF2-40B4-BE49-F238E27FC236}">
                <a16:creationId xmlns:a16="http://schemas.microsoft.com/office/drawing/2014/main" id="{EC1FEF0B-52CA-459E-9921-472B5686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WEEK 2 DATA UPDATE</a:t>
            </a:r>
          </a:p>
        </p:txBody>
      </p:sp>
      <p:sp>
        <p:nvSpPr>
          <p:cNvPr id="3" name="brand-3">
            <a:extLst xmlns:a="http://schemas.openxmlformats.org/drawingml/2006/main">
              <a:ext uri="{FF2B5EF4-FFF2-40B4-BE49-F238E27FC236}">
                <a16:creationId xmlns:a16="http://schemas.microsoft.com/office/drawing/2014/main" id="{FB4A58B3-980F-469B-B07C-B65624A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4794A3B5-1B1F-4BDF-A187-B8C7818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11CA80-0F45-4878-9A91-0F10DBFB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2주차에는 목적별 피처 테이블을 보강했습니다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F82E6DF2-9404-4A8E-81FC-D5219AFD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공식 상권 786개를 같은 키로 유지하면서 공공 학습시설 원천을 결합했습니다.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b5f50a4624fe2"/>
          <a:stretch xmlns:a="http://schemas.openxmlformats.org/drawingml/2006/main"/>
        </p:blipFill>
        <p:spPr>
          <a:xfrm xmlns:a="http://schemas.openxmlformats.org/drawingml/2006/main">
            <a:off x="848179" y="2209800"/>
            <a:ext cx="2494643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EF618C21-DEEB-4EDB-9BDF-59EF879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567F2"/>
                </a:solidFill>
              </a:defRPr>
            </a:pPr>
            <a:r>
              <a:rPr sz="1425" b="1">
                <a:solidFill>
                  <a:srgbClr val="4567F2"/>
                </a:solidFill>
              </a:rPr>
              <a:t>01</a:t>
            </a:r>
          </a:p>
        </p:txBody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BE316CC7-B6D3-4DA7-A7FF-30772AB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1A18"/>
                </a:solidFill>
              </a:defRPr>
            </a:pPr>
            <a:r>
              <a:rPr sz="2025" b="1">
                <a:solidFill>
                  <a:srgbClr val="161A18"/>
                </a:solidFill>
              </a:rPr>
              <a:t>SOURCE</a:t>
            </a:r>
          </a:p>
        </p:txBody>
      </p:sp>
      <p:sp>
        <p:nvSpPr>
          <p:cNvPr id="10" name="ko-0">
            <a:extLst xmlns:a="http://schemas.openxmlformats.org/drawingml/2006/main">
              <a:ext uri="{FF2B5EF4-FFF2-40B4-BE49-F238E27FC236}">
                <a16:creationId xmlns:a16="http://schemas.microsoft.com/office/drawing/2014/main" id="{9E80410A-991D-45CE-BA70-23CB18A0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567F2"/>
                </a:solidFill>
              </a:defRPr>
            </a:pPr>
            <a:r>
              <a:rPr sz="1350" b="1">
                <a:solidFill>
                  <a:srgbClr val="4567F2"/>
                </a:solidFill>
              </a:rPr>
              <a:t>원천 POI 268개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B91DE700-03EF-4C11-8FAD-7A5B6A3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시설명·좌표·접근조건·출처를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41개 필드로 보존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9482af4e34374"/>
          <a:stretch xmlns:a="http://schemas.openxmlformats.org/drawingml/2006/main"/>
        </p:blipFill>
        <p:spPr>
          <a:xfrm xmlns:a="http://schemas.openxmlformats.org/drawingml/2006/main">
            <a:off x="4562929" y="2209800"/>
            <a:ext cx="2494643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9BC57D06-A00F-47A1-BDBD-40A11B8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567F2"/>
                </a:solidFill>
              </a:defRPr>
            </a:pPr>
            <a:r>
              <a:rPr sz="1425" b="1">
                <a:solidFill>
                  <a:srgbClr val="4567F2"/>
                </a:solidFill>
              </a:rPr>
              <a:t>02</a:t>
            </a:r>
          </a:p>
        </p:txBody>
      </p:sp>
      <p:sp>
        <p:nvSpPr>
          <p:cNvPr id="14" name="head-1">
            <a:extLst xmlns:a="http://schemas.openxmlformats.org/drawingml/2006/main">
              <a:ext uri="{FF2B5EF4-FFF2-40B4-BE49-F238E27FC236}">
                <a16:creationId xmlns:a16="http://schemas.microsoft.com/office/drawing/2014/main" id="{E965E6EA-9CF5-4126-BF87-3CD5292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1A18"/>
                </a:solidFill>
              </a:defRPr>
            </a:pPr>
            <a:r>
              <a:rPr sz="2025" b="1">
                <a:solidFill>
                  <a:srgbClr val="161A18"/>
                </a:solidFill>
              </a:rPr>
              <a:t>MAP</a:t>
            </a:r>
          </a:p>
        </p:txBody>
      </p:sp>
      <p:sp>
        <p:nvSpPr>
          <p:cNvPr id="15" name="ko-1">
            <a:extLst xmlns:a="http://schemas.openxmlformats.org/drawingml/2006/main">
              <a:ext uri="{FF2B5EF4-FFF2-40B4-BE49-F238E27FC236}">
                <a16:creationId xmlns:a16="http://schemas.microsoft.com/office/drawing/2014/main" id="{5D3CFD98-7304-4E1D-AFE6-AF246B0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567F2"/>
                </a:solidFill>
              </a:defRPr>
            </a:pPr>
            <a:r>
              <a:rPr sz="1350" b="1">
                <a:solidFill>
                  <a:srgbClr val="4567F2"/>
                </a:solidFill>
              </a:rPr>
              <a:t>상권 피처 786개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0AA3F543-BDBE-404B-B440-DA988CA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19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폴리곤 내부와 400m 범위를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분리해 시설 수 집계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bebf34cbb4c05"/>
          <a:stretch xmlns:a="http://schemas.openxmlformats.org/drawingml/2006/main"/>
        </p:blipFill>
        <p:spPr>
          <a:xfrm xmlns:a="http://schemas.openxmlformats.org/drawingml/2006/main">
            <a:off x="7905750" y="2211265"/>
            <a:ext cx="3238500" cy="2092569"/>
          </a:xfrm>
          <a:prstGeom xmlns:a="http://schemas.openxmlformats.org/drawingml/2006/main" prst="rect">
            <a:avLst/>
          </a:prstGeom>
        </p:spPr>
      </p:pic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6DA6044F-99E8-4607-A8C1-7A3AFC1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567F2"/>
                </a:solidFill>
              </a:defRPr>
            </a:pPr>
            <a:r>
              <a:rPr sz="142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19" name="head-2">
            <a:extLst xmlns:a="http://schemas.openxmlformats.org/drawingml/2006/main">
              <a:ext uri="{FF2B5EF4-FFF2-40B4-BE49-F238E27FC236}">
                <a16:creationId xmlns:a16="http://schemas.microsoft.com/office/drawing/2014/main" id="{3C68C9B6-8D21-4F1B-9547-213B014B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1A18"/>
                </a:solidFill>
              </a:defRPr>
            </a:pPr>
            <a:r>
              <a:rPr sz="2025" b="1">
                <a:solidFill>
                  <a:srgbClr val="161A18"/>
                </a:solidFill>
              </a:rPr>
              <a:t>SCORE</a:t>
            </a:r>
          </a:p>
        </p:txBody>
      </p:sp>
      <p:sp>
        <p:nvSpPr>
          <p:cNvPr id="20" name="ko-2">
            <a:extLst xmlns:a="http://schemas.openxmlformats.org/drawingml/2006/main">
              <a:ext uri="{FF2B5EF4-FFF2-40B4-BE49-F238E27FC236}">
                <a16:creationId xmlns:a16="http://schemas.microsoft.com/office/drawing/2014/main" id="{3FDE26E6-89F3-4C4A-952D-DAA70CA7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567F2"/>
                </a:solidFill>
              </a:defRPr>
            </a:pPr>
            <a:r>
              <a:rPr sz="1350" b="1">
                <a:solidFill>
                  <a:srgbClr val="4567F2"/>
                </a:solidFill>
              </a:rPr>
              <a:t>공부 체류 보조순위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16CC2DC8-F7B2-4696-AEBF-A97F2EB4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19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2025 업종 신호와 2026 POI를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분리해 현재 순위 산출</a:t>
            </a:r>
          </a:p>
        </p:txBody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1D5DE6A-9A14-4341-BD3D-B5FCC1E9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881FA72A-26C1-4913-B1D8-4C6978E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1A18"/>
                </a:solidFill>
              </a:defRPr>
            </a:pPr>
            <a:r>
              <a:rPr sz="1275" b="1">
                <a:solidFill>
                  <a:srgbClr val="161A18"/>
                </a:solidFill>
              </a:rPr>
              <a:t>집계 키  area_code  ·  분석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268526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n-4">
            <a:extLst xmlns:a="http://schemas.openxmlformats.org/drawingml/2006/main">
              <a:ext uri="{FF2B5EF4-FFF2-40B4-BE49-F238E27FC236}">
                <a16:creationId xmlns:a16="http://schemas.microsoft.com/office/drawing/2014/main" id="{57163F67-BA23-45D7-91B7-15D14CD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04</a:t>
            </a:r>
          </a:p>
        </p:txBody>
      </p:sp>
      <p:sp>
        <p:nvSpPr>
          <p:cNvPr id="2" name="k-4">
            <a:extLst xmlns:a="http://schemas.openxmlformats.org/drawingml/2006/main">
              <a:ext uri="{FF2B5EF4-FFF2-40B4-BE49-F238E27FC236}">
                <a16:creationId xmlns:a16="http://schemas.microsoft.com/office/drawing/2014/main" id="{A9A54AB2-4B48-4F43-ACAD-E0347E53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FEATURE GOVERNANCE</a:t>
            </a:r>
          </a:p>
        </p:txBody>
      </p:sp>
      <p:sp>
        <p:nvSpPr>
          <p:cNvPr id="3" name="brand-4">
            <a:extLst xmlns:a="http://schemas.openxmlformats.org/drawingml/2006/main">
              <a:ext uri="{FF2B5EF4-FFF2-40B4-BE49-F238E27FC236}">
                <a16:creationId xmlns:a16="http://schemas.microsoft.com/office/drawing/2014/main" id="{C900CC3C-C872-4B4F-90A6-2BE3E623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FF518667-6B47-40C4-A228-DC6B392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9B9F22E-D578-4273-A5E7-099B628B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공공 학습시설은 점수와 검토 후보를 분리했습니다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85519979-485F-4278-814D-66D06B3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공개 접근 여부가 불확실한 대학시설을 바로 순위에 넣지 않았습니다.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867abf98743e2"/>
          <a:stretch xmlns:a="http://schemas.openxmlformats.org/drawingml/2006/main"/>
        </p:blipFill>
        <p:spPr>
          <a:xfrm xmlns:a="http://schemas.openxmlformats.org/drawingml/2006/main">
            <a:off x="6885214" y="2114550"/>
            <a:ext cx="4422321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mn-0">
            <a:extLst xmlns:a="http://schemas.openxmlformats.org/drawingml/2006/main">
              <a:ext uri="{FF2B5EF4-FFF2-40B4-BE49-F238E27FC236}">
                <a16:creationId xmlns:a16="http://schemas.microsoft.com/office/drawing/2014/main" id="{33AC5BD9-8037-4AFE-8E88-86B48615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E746F"/>
                </a:solidFill>
              </a:defRPr>
            </a:pPr>
            <a:r>
              <a:rPr sz="1575" b="1">
                <a:solidFill>
                  <a:srgbClr val="6E746F"/>
                </a:solidFill>
              </a:rPr>
              <a:t>01</a:t>
            </a:r>
          </a:p>
        </p:txBody>
      </p:sp>
      <p:sp>
        <p:nvSpPr>
          <p:cNvPr id="9" name="mh-0">
            <a:extLst xmlns:a="http://schemas.openxmlformats.org/drawingml/2006/main">
              <a:ext uri="{FF2B5EF4-FFF2-40B4-BE49-F238E27FC236}">
                <a16:creationId xmlns:a16="http://schemas.microsoft.com/office/drawing/2014/main" id="{EA14DCB8-F77C-4C5E-85DF-F9EFC20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1A18"/>
                </a:solidFill>
              </a:defRPr>
            </a:pPr>
            <a:r>
              <a:rPr sz="2175" b="1">
                <a:solidFill>
                  <a:srgbClr val="161A18"/>
                </a:solidFill>
              </a:rPr>
              <a:t>236개 점수 반영</a:t>
            </a:r>
          </a:p>
        </p:txBody>
      </p:sp>
      <p:sp>
        <p:nvSpPr>
          <p:cNvPr id="10" name="mb-0">
            <a:extLst xmlns:a="http://schemas.openxmlformats.org/drawingml/2006/main">
              <a:ext uri="{FF2B5EF4-FFF2-40B4-BE49-F238E27FC236}">
                <a16:creationId xmlns:a16="http://schemas.microsoft.com/office/drawing/2014/main" id="{D08E2E3B-B051-4A34-9251-2CC9DCE8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공공도서관 205 · 열람실 14 · 청년공간 17</a:t>
            </a:r>
          </a:p>
        </p:txBody>
      </p:sp>
      <p:sp>
        <p:nvSpPr>
          <p:cNvPr id="11" name="ml-0">
            <a:extLst xmlns:a="http://schemas.openxmlformats.org/drawingml/2006/main">
              <a:ext uri="{FF2B5EF4-FFF2-40B4-BE49-F238E27FC236}">
                <a16:creationId xmlns:a16="http://schemas.microsoft.com/office/drawing/2014/main" id="{4C9B00FA-E2FD-48D4-B0DA-75E6184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n-1">
            <a:extLst xmlns:a="http://schemas.openxmlformats.org/drawingml/2006/main">
              <a:ext uri="{FF2B5EF4-FFF2-40B4-BE49-F238E27FC236}">
                <a16:creationId xmlns:a16="http://schemas.microsoft.com/office/drawing/2014/main" id="{55932A47-6BD3-4783-A03C-3463F3D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E746F"/>
                </a:solidFill>
              </a:defRPr>
            </a:pPr>
            <a:r>
              <a:rPr sz="1575" b="1">
                <a:solidFill>
                  <a:srgbClr val="6E746F"/>
                </a:solidFill>
              </a:rPr>
              <a:t>02</a:t>
            </a:r>
          </a:p>
        </p:txBody>
      </p:sp>
      <p:sp>
        <p:nvSpPr>
          <p:cNvPr id="13" name="mh-1">
            <a:extLst xmlns:a="http://schemas.openxmlformats.org/drawingml/2006/main">
              <a:ext uri="{FF2B5EF4-FFF2-40B4-BE49-F238E27FC236}">
                <a16:creationId xmlns:a16="http://schemas.microsoft.com/office/drawing/2014/main" id="{0FD86527-E7DC-4EA8-9312-D279BAB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1A18"/>
                </a:solidFill>
              </a:defRPr>
            </a:pPr>
            <a:r>
              <a:rPr sz="2175" b="1">
                <a:solidFill>
                  <a:srgbClr val="161A18"/>
                </a:solidFill>
              </a:rPr>
              <a:t>245개 검토 후보</a:t>
            </a:r>
          </a:p>
        </p:txBody>
      </p:sp>
      <p:sp>
        <p:nvSpPr>
          <p:cNvPr id="14" name="mb-1">
            <a:extLst xmlns:a="http://schemas.openxmlformats.org/drawingml/2006/main">
              <a:ext uri="{FF2B5EF4-FFF2-40B4-BE49-F238E27FC236}">
                <a16:creationId xmlns:a16="http://schemas.microsoft.com/office/drawing/2014/main" id="{011B5753-4731-4708-9CE6-3E5CEF30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대학 학습시설 9개는 공개 접근 확인 전 별도 보존</a:t>
            </a:r>
          </a:p>
        </p:txBody>
      </p:sp>
      <p:sp>
        <p:nvSpPr>
          <p:cNvPr id="15" name="ml-1">
            <a:extLst xmlns:a="http://schemas.openxmlformats.org/drawingml/2006/main">
              <a:ext uri="{FF2B5EF4-FFF2-40B4-BE49-F238E27FC236}">
                <a16:creationId xmlns:a16="http://schemas.microsoft.com/office/drawing/2014/main" id="{7B05399F-F210-46FB-8EE0-B7DD216E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n-2">
            <a:extLst xmlns:a="http://schemas.openxmlformats.org/drawingml/2006/main">
              <a:ext uri="{FF2B5EF4-FFF2-40B4-BE49-F238E27FC236}">
                <a16:creationId xmlns:a16="http://schemas.microsoft.com/office/drawing/2014/main" id="{C78E861C-C3D6-4305-9FE0-BCFD9B2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567F2"/>
                </a:solidFill>
              </a:defRPr>
            </a:pPr>
            <a:r>
              <a:rPr sz="157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17" name="mh-2">
            <a:extLst xmlns:a="http://schemas.openxmlformats.org/drawingml/2006/main">
              <a:ext uri="{FF2B5EF4-FFF2-40B4-BE49-F238E27FC236}">
                <a16:creationId xmlns:a16="http://schemas.microsoft.com/office/drawing/2014/main" id="{4AB91AA1-AE26-4759-B90E-D822133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567F2"/>
                </a:solidFill>
              </a:defRPr>
            </a:pPr>
            <a:r>
              <a:rPr sz="2175" b="1">
                <a:solidFill>
                  <a:srgbClr val="4567F2"/>
                </a:solidFill>
              </a:rPr>
              <a:t>내부와 400m 인접</a:t>
            </a:r>
          </a:p>
        </p:txBody>
      </p:sp>
      <p:sp>
        <p:nvSpPr>
          <p:cNvPr id="18" name="mb-2">
            <a:extLst xmlns:a="http://schemas.openxmlformats.org/drawingml/2006/main">
              <a:ext uri="{FF2B5EF4-FFF2-40B4-BE49-F238E27FC236}">
                <a16:creationId xmlns:a16="http://schemas.microsoft.com/office/drawing/2014/main" id="{2D239884-82EB-47AE-B2CC-72AAC728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05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공부 체류 점수에서 내부 80%, 인접 20% 반영</a:t>
            </a:r>
          </a:p>
        </p:txBody>
      </p:sp>
      <p:sp>
        <p:nvSpPr>
          <p:cNvPr id="19" name="ml-2">
            <a:extLst xmlns:a="http://schemas.openxmlformats.org/drawingml/2006/main">
              <a:ext uri="{FF2B5EF4-FFF2-40B4-BE49-F238E27FC236}">
                <a16:creationId xmlns:a16="http://schemas.microsoft.com/office/drawing/2014/main" id="{CF35265B-12F4-48C6-BD3B-F452FD6B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626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verify">
            <a:extLst xmlns:a="http://schemas.openxmlformats.org/drawingml/2006/main">
              <a:ext uri="{FF2B5EF4-FFF2-40B4-BE49-F238E27FC236}">
                <a16:creationId xmlns:a16="http://schemas.microsoft.com/office/drawing/2014/main" id="{74AD820C-3A23-450E-99BC-2B15D4CE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erify-text">
            <a:extLst xmlns:a="http://schemas.openxmlformats.org/drawingml/2006/main">
              <a:ext uri="{FF2B5EF4-FFF2-40B4-BE49-F238E27FC236}">
                <a16:creationId xmlns:a16="http://schemas.microsoft.com/office/drawing/2014/main" id="{25CED83E-9625-48C2-8757-72C200FB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공부 체류 보조순위  공공시설 20%  ·  공개 접근 미확인 대학시설은 점수 제외</a:t>
            </a:r>
          </a:p>
        </p:txBody>
      </p:sp>
    </p:spTree>
    <p:extLst>
      <p:ext uri="{BB962C8B-B14F-4D97-AF65-F5344CB8AC3E}">
        <p14:creationId xmlns:p14="http://schemas.microsoft.com/office/powerpoint/2010/main" val="241427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n-5">
            <a:extLst xmlns:a="http://schemas.openxmlformats.org/drawingml/2006/main">
              <a:ext uri="{FF2B5EF4-FFF2-40B4-BE49-F238E27FC236}">
                <a16:creationId xmlns:a16="http://schemas.microsoft.com/office/drawing/2014/main" id="{10FCA8D9-9554-450A-88B3-1940564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05</a:t>
            </a:r>
          </a:p>
        </p:txBody>
      </p:sp>
      <p:sp>
        <p:nvSpPr>
          <p:cNvPr id="2" name="k-5">
            <a:extLst xmlns:a="http://schemas.openxmlformats.org/drawingml/2006/main">
              <a:ext uri="{FF2B5EF4-FFF2-40B4-BE49-F238E27FC236}">
                <a16:creationId xmlns:a16="http://schemas.microsoft.com/office/drawing/2014/main" id="{35C89D2F-3648-4F94-BA9F-DECBA05F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QA &amp; REPRODUCIBILITY</a:t>
            </a:r>
          </a:p>
        </p:txBody>
      </p:sp>
      <p:sp>
        <p:nvSpPr>
          <p:cNvPr id="3" name="brand-5">
            <a:extLst xmlns:a="http://schemas.openxmlformats.org/drawingml/2006/main">
              <a:ext uri="{FF2B5EF4-FFF2-40B4-BE49-F238E27FC236}">
                <a16:creationId xmlns:a16="http://schemas.microsoft.com/office/drawing/2014/main" id="{8ACBE737-C258-471B-B975-A8BD251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49A700EB-2AA5-4263-BE96-C5FCAFD1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CFE97F-C4E6-443F-871C-A066A29F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검증 가능한 산출물로 정리했습니다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7a92c3c694c4f"/>
          <a:stretch xmlns:a="http://schemas.openxmlformats.org/drawingml/2006/main"/>
        </p:blipFill>
        <p:spPr>
          <a:xfrm xmlns:a="http://schemas.openxmlformats.org/drawingml/2006/main">
            <a:off x="6381750" y="1295400"/>
            <a:ext cx="4857750" cy="2400300"/>
          </a:xfrm>
          <a:prstGeom xmlns:a="http://schemas.openxmlformats.org/drawingml/2006/main" prst="rect">
            <a:avLst/>
          </a:prstGeom>
        </p:spPr>
      </p:pic>
      <p:sp>
        <p:nvSpPr>
          <p:cNvPr id="7" name="rt-0">
            <a:extLst xmlns:a="http://schemas.openxmlformats.org/drawingml/2006/main">
              <a:ext uri="{FF2B5EF4-FFF2-40B4-BE49-F238E27FC236}">
                <a16:creationId xmlns:a16="http://schemas.microsoft.com/office/drawing/2014/main" id="{349F5E9A-78CD-4830-B852-ED6040F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567F2"/>
                </a:solidFill>
              </a:defRPr>
            </a:pPr>
            <a:r>
              <a:rPr sz="1200" b="1">
                <a:solidFill>
                  <a:srgbClr val="4567F2"/>
                </a:solidFill>
              </a:rPr>
              <a:t>RAW</a:t>
            </a:r>
          </a:p>
        </p:txBody>
      </p:sp>
      <p:sp>
        <p:nvSpPr>
          <p:cNvPr id="8" name="rh-0">
            <a:extLst xmlns:a="http://schemas.openxmlformats.org/drawingml/2006/main">
              <a:ext uri="{FF2B5EF4-FFF2-40B4-BE49-F238E27FC236}">
                <a16:creationId xmlns:a16="http://schemas.microsoft.com/office/drawing/2014/main" id="{4B6777C1-25A0-417D-B903-1B58CE09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567F2"/>
                </a:solidFill>
              </a:defRPr>
            </a:pPr>
            <a:r>
              <a:rPr sz="1875" b="1">
                <a:solidFill>
                  <a:srgbClr val="4567F2"/>
                </a:solidFill>
              </a:rPr>
              <a:t>268개 place_id</a:t>
            </a:r>
          </a:p>
        </p:txBody>
      </p:sp>
      <p:sp>
        <p:nvSpPr>
          <p:cNvPr id="9" name="rb-0">
            <a:extLst xmlns:a="http://schemas.openxmlformats.org/drawingml/2006/main">
              <a:ext uri="{FF2B5EF4-FFF2-40B4-BE49-F238E27FC236}">
                <a16:creationId xmlns:a16="http://schemas.microsoft.com/office/drawing/2014/main" id="{ED34C9CC-05DC-4D02-A2F3-39D0CB8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원천 식별자는 모두 고유하고, 주소 누락 46건은 상태 열로 보존</a:t>
            </a:r>
          </a:p>
        </p:txBody>
      </p:sp>
      <p:sp>
        <p:nvSpPr>
          <p:cNvPr id="10" name="rl-0">
            <a:extLst xmlns:a="http://schemas.openxmlformats.org/drawingml/2006/main">
              <a:ext uri="{FF2B5EF4-FFF2-40B4-BE49-F238E27FC236}">
                <a16:creationId xmlns:a16="http://schemas.microsoft.com/office/drawing/2014/main" id="{69E6C250-F28F-42A2-89C2-263A010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t-1">
            <a:extLst xmlns:a="http://schemas.openxmlformats.org/drawingml/2006/main">
              <a:ext uri="{FF2B5EF4-FFF2-40B4-BE49-F238E27FC236}">
                <a16:creationId xmlns:a16="http://schemas.microsoft.com/office/drawing/2014/main" id="{6B88A59D-DDC9-442E-AAF3-E86F52DC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746F"/>
                </a:solidFill>
              </a:defRPr>
            </a:pPr>
            <a:r>
              <a:rPr sz="1200" b="1">
                <a:solidFill>
                  <a:srgbClr val="6E746F"/>
                </a:solidFill>
              </a:rPr>
              <a:t>CHECK</a:t>
            </a:r>
          </a:p>
        </p:txBody>
      </p:sp>
      <p:sp>
        <p:nvSpPr>
          <p:cNvPr id="12" name="rh-1">
            <a:extLst xmlns:a="http://schemas.openxmlformats.org/drawingml/2006/main">
              <a:ext uri="{FF2B5EF4-FFF2-40B4-BE49-F238E27FC236}">
                <a16:creationId xmlns:a16="http://schemas.microsoft.com/office/drawing/2014/main" id="{6E75C0E2-3CB7-4198-A905-ECF0EA01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1A18"/>
                </a:solidFill>
              </a:defRPr>
            </a:pPr>
            <a:r>
              <a:rPr sz="1875" b="1">
                <a:solidFill>
                  <a:srgbClr val="161A18"/>
                </a:solidFill>
              </a:rPr>
              <a:t>786 × 24 피처</a:t>
            </a:r>
          </a:p>
        </p:txBody>
      </p:sp>
      <p:sp>
        <p:nvSpPr>
          <p:cNvPr id="13" name="rb-1">
            <a:extLst xmlns:a="http://schemas.openxmlformats.org/drawingml/2006/main">
              <a:ext uri="{FF2B5EF4-FFF2-40B4-BE49-F238E27FC236}">
                <a16:creationId xmlns:a16="http://schemas.microsoft.com/office/drawing/2014/main" id="{80D65C94-D20E-4FF3-9B05-256CC3E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점수용 study_public_*와 전체 후보 study_public_all_*를 분리</a:t>
            </a:r>
          </a:p>
        </p:txBody>
      </p:sp>
      <p:sp>
        <p:nvSpPr>
          <p:cNvPr id="14" name="rl-1">
            <a:extLst xmlns:a="http://schemas.openxmlformats.org/drawingml/2006/main">
              <a:ext uri="{FF2B5EF4-FFF2-40B4-BE49-F238E27FC236}">
                <a16:creationId xmlns:a16="http://schemas.microsoft.com/office/drawing/2014/main" id="{6E1EE755-0398-46F8-998F-5A174E41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t-2">
            <a:extLst xmlns:a="http://schemas.openxmlformats.org/drawingml/2006/main">
              <a:ext uri="{FF2B5EF4-FFF2-40B4-BE49-F238E27FC236}">
                <a16:creationId xmlns:a16="http://schemas.microsoft.com/office/drawing/2014/main" id="{03A2E35F-68E4-48D6-8B55-D5AC653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746F"/>
                </a:solidFill>
              </a:defRPr>
            </a:pPr>
            <a:r>
              <a:rPr sz="1200" b="1">
                <a:solidFill>
                  <a:srgbClr val="6E746F"/>
                </a:solidFill>
              </a:rPr>
              <a:t>REVIEW</a:t>
            </a:r>
          </a:p>
        </p:txBody>
      </p:sp>
      <p:sp>
        <p:nvSpPr>
          <p:cNvPr id="16" name="rh-2">
            <a:extLst xmlns:a="http://schemas.openxmlformats.org/drawingml/2006/main">
              <a:ext uri="{FF2B5EF4-FFF2-40B4-BE49-F238E27FC236}">
                <a16:creationId xmlns:a16="http://schemas.microsoft.com/office/drawing/2014/main" id="{DAB901DF-E42E-45D5-8498-07D226C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1A18"/>
                </a:solidFill>
              </a:defRPr>
            </a:pPr>
            <a:r>
              <a:rPr sz="1875" b="1">
                <a:solidFill>
                  <a:srgbClr val="161A18"/>
                </a:solidFill>
              </a:rPr>
              <a:t>Top 20 · 117개 연결</a:t>
            </a:r>
          </a:p>
        </p:txBody>
      </p:sp>
      <p:sp>
        <p:nvSpPr>
          <p:cNvPr id="17" name="rb-2">
            <a:extLst xmlns:a="http://schemas.openxmlformats.org/drawingml/2006/main">
              <a:ext uri="{FF2B5EF4-FFF2-40B4-BE49-F238E27FC236}">
                <a16:creationId xmlns:a16="http://schemas.microsoft.com/office/drawing/2014/main" id="{101B4CC4-ABD9-43F5-AB20-2A7C4F9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상권 내부 18건, 400m 이내 99건을 지도 좌표로 확인</a:t>
            </a:r>
          </a:p>
        </p:txBody>
      </p:sp>
      <p:sp>
        <p:nvSpPr>
          <p:cNvPr id="18" name="rl-2">
            <a:extLst xmlns:a="http://schemas.openxmlformats.org/drawingml/2006/main">
              <a:ext uri="{FF2B5EF4-FFF2-40B4-BE49-F238E27FC236}">
                <a16:creationId xmlns:a16="http://schemas.microsoft.com/office/drawing/2014/main" id="{3711FF78-79B0-4B66-8BFC-A70FC13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054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dopt">
            <a:extLst xmlns:a="http://schemas.openxmlformats.org/drawingml/2006/main">
              <a:ext uri="{FF2B5EF4-FFF2-40B4-BE49-F238E27FC236}">
                <a16:creationId xmlns:a16="http://schemas.microsoft.com/office/drawing/2014/main" id="{98C878FD-553E-4E6C-BA2F-4900DA39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F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dopt-text">
            <a:extLst xmlns:a="http://schemas.openxmlformats.org/drawingml/2006/main">
              <a:ext uri="{FF2B5EF4-FFF2-40B4-BE49-F238E27FC236}">
                <a16:creationId xmlns:a16="http://schemas.microsoft.com/office/drawing/2014/main" id="{A37D04BD-9A50-4CDC-AC2E-5031E677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1A18"/>
                </a:solidFill>
              </a:defRPr>
            </a:pPr>
            <a:r>
              <a:rPr sz="1425" b="1">
                <a:solidFill>
                  <a:srgbClr val="161A18"/>
                </a:solidFill>
              </a:rPr>
              <a:t>자동 테스트 14건 통과  ·  이용 조건 문서화  ·  2026 POI는 2025 성능 검증에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70078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n-6">
            <a:extLst xmlns:a="http://schemas.openxmlformats.org/drawingml/2006/main">
              <a:ext uri="{FF2B5EF4-FFF2-40B4-BE49-F238E27FC236}">
                <a16:creationId xmlns:a16="http://schemas.microsoft.com/office/drawing/2014/main" id="{F3B5AE74-3202-4358-A6B9-3E76F17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06</a:t>
            </a:r>
          </a:p>
        </p:txBody>
      </p:sp>
      <p:sp>
        <p:nvSpPr>
          <p:cNvPr id="2" name="k-6">
            <a:extLst xmlns:a="http://schemas.openxmlformats.org/drawingml/2006/main">
              <a:ext uri="{FF2B5EF4-FFF2-40B4-BE49-F238E27FC236}">
                <a16:creationId xmlns:a16="http://schemas.microsoft.com/office/drawing/2014/main" id="{284D61AF-A0C5-4689-B500-75BEABC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CROSS-WORK INSIGHT</a:t>
            </a:r>
          </a:p>
        </p:txBody>
      </p:sp>
      <p:sp>
        <p:nvSpPr>
          <p:cNvPr id="3" name="brand-6">
            <a:extLst xmlns:a="http://schemas.openxmlformats.org/drawingml/2006/main">
              <a:ext uri="{FF2B5EF4-FFF2-40B4-BE49-F238E27FC236}">
                <a16:creationId xmlns:a16="http://schemas.microsoft.com/office/drawing/2014/main" id="{D60798F4-231D-4805-B2C7-A2C365A1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C237B280-9960-4B19-A90A-C178C49D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5BF167-D3A0-45AA-983E-8FBA906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세 데이터는 서로 다른 신호를 보여줍니다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1AF20D2C-E659-4C15-AC6A-8FE13B7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공부 점수–학교 이동 비중 ρ=0.198, 공부 점수–접근성 ρ=0.089로 서로 대체되지 않습니다.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e99dc44d34b6d"/>
          <a:stretch xmlns:a="http://schemas.openxmlformats.org/drawingml/2006/main"/>
        </p:blipFill>
        <p:spPr>
          <a:xfrm xmlns:a="http://schemas.openxmlformats.org/drawingml/2006/main">
            <a:off x="552450" y="2211705"/>
            <a:ext cx="5334000" cy="2987040"/>
          </a:xfrm>
          <a:prstGeom xmlns:a="http://schemas.openxmlformats.org/drawingml/2006/main" prst="rect">
            <a:avLst/>
          </a:prstGeom>
        </p:spPr>
      </p:pic>
      <p:sp>
        <p:nvSpPr>
          <p:cNvPr id="8" name="in-0">
            <a:extLst xmlns:a="http://schemas.openxmlformats.org/drawingml/2006/main">
              <a:ext uri="{FF2B5EF4-FFF2-40B4-BE49-F238E27FC236}">
                <a16:creationId xmlns:a16="http://schemas.microsoft.com/office/drawing/2014/main" id="{4B928A95-0755-43CD-9660-32888FA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01</a:t>
            </a:r>
          </a:p>
        </p:txBody>
      </p:sp>
      <p:sp>
        <p:nvSpPr>
          <p:cNvPr id="9" name="ih-0">
            <a:extLst xmlns:a="http://schemas.openxmlformats.org/drawingml/2006/main">
              <a:ext uri="{FF2B5EF4-FFF2-40B4-BE49-F238E27FC236}">
                <a16:creationId xmlns:a16="http://schemas.microsoft.com/office/drawing/2014/main" id="{DC820C79-2823-4A0B-A160-7216E1C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42</a:t>
            </a:r>
          </a:p>
        </p:txBody>
      </p:sp>
      <p:sp>
        <p:nvSpPr>
          <p:cNvPr id="10" name="ib-0">
            <a:extLst xmlns:a="http://schemas.openxmlformats.org/drawingml/2006/main">
              <a:ext uri="{FF2B5EF4-FFF2-40B4-BE49-F238E27FC236}">
                <a16:creationId xmlns:a16="http://schemas.microsoft.com/office/drawing/2014/main" id="{BAE9CF83-FEAC-4FBF-AAE2-0FC2BA3B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study-ready signal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시설·접근성·학교 신호가 함께 높은 우선 검증군</a:t>
            </a:r>
          </a:p>
        </p:txBody>
      </p:sp>
      <p:sp>
        <p:nvSpPr>
          <p:cNvPr id="11" name="in-1">
            <a:extLst xmlns:a="http://schemas.openxmlformats.org/drawingml/2006/main">
              <a:ext uri="{FF2B5EF4-FFF2-40B4-BE49-F238E27FC236}">
                <a16:creationId xmlns:a16="http://schemas.microsoft.com/office/drawing/2014/main" id="{1592094B-A8C2-4876-9EEE-51C278C8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02</a:t>
            </a:r>
          </a:p>
        </p:txBody>
      </p:sp>
      <p:sp>
        <p:nvSpPr>
          <p:cNvPr id="12" name="ih-1">
            <a:extLst xmlns:a="http://schemas.openxmlformats.org/drawingml/2006/main">
              <a:ext uri="{FF2B5EF4-FFF2-40B4-BE49-F238E27FC236}">
                <a16:creationId xmlns:a16="http://schemas.microsoft.com/office/drawing/2014/main" id="{D29EE28D-134F-4E60-93D0-289C60A9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125</a:t>
            </a:r>
          </a:p>
        </p:txBody>
      </p:sp>
      <p:sp>
        <p:nvSpPr>
          <p:cNvPr id="13" name="ib-1">
            <a:extLst xmlns:a="http://schemas.openxmlformats.org/drawingml/2006/main">
              <a:ext uri="{FF2B5EF4-FFF2-40B4-BE49-F238E27FC236}">
                <a16:creationId xmlns:a16="http://schemas.microsoft.com/office/drawing/2014/main" id="{E21412C3-0C8A-4437-9225-E0BFD52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validation needed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시설 점수는 높지만 학교 신호가 낮은 검증군</a:t>
            </a:r>
          </a:p>
        </p:txBody>
      </p:sp>
      <p:sp>
        <p:nvSpPr>
          <p:cNvPr id="14" name="in-2">
            <a:extLst xmlns:a="http://schemas.openxmlformats.org/drawingml/2006/main">
              <a:ext uri="{FF2B5EF4-FFF2-40B4-BE49-F238E27FC236}">
                <a16:creationId xmlns:a16="http://schemas.microsoft.com/office/drawing/2014/main" id="{B31F659B-65E1-41CC-A15A-6F7F05E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15" name="ih-2">
            <a:extLst xmlns:a="http://schemas.openxmlformats.org/drawingml/2006/main">
              <a:ext uri="{FF2B5EF4-FFF2-40B4-BE49-F238E27FC236}">
                <a16:creationId xmlns:a16="http://schemas.microsoft.com/office/drawing/2014/main" id="{90D4FB4B-FBCA-46DF-B169-7F2C1CF4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47</a:t>
            </a:r>
          </a:p>
        </p:txBody>
      </p:sp>
      <p:sp>
        <p:nvSpPr>
          <p:cNvPr id="16" name="ib-2">
            <a:extLst xmlns:a="http://schemas.openxmlformats.org/drawingml/2006/main">
              <a:ext uri="{FF2B5EF4-FFF2-40B4-BE49-F238E27FC236}">
                <a16:creationId xmlns:a16="http://schemas.microsoft.com/office/drawing/2014/main" id="{DBE17349-A0ED-40A9-ADC4-F096C40D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feature gap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학교 신호는 높지만 현 시설 피처가 낮은 보강군</a:t>
            </a:r>
          </a:p>
        </p:txBody>
      </p:sp>
      <p:sp>
        <p:nvSpPr>
          <p:cNvPr id="17" name="in-3">
            <a:extLst xmlns:a="http://schemas.openxmlformats.org/drawingml/2006/main">
              <a:ext uri="{FF2B5EF4-FFF2-40B4-BE49-F238E27FC236}">
                <a16:creationId xmlns:a16="http://schemas.microsoft.com/office/drawing/2014/main" id="{B03C1A1C-377D-41FE-B107-0DB99D8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1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04</a:t>
            </a:r>
          </a:p>
        </p:txBody>
      </p:sp>
      <p:sp>
        <p:nvSpPr>
          <p:cNvPr id="18" name="ih-3">
            <a:extLst xmlns:a="http://schemas.openxmlformats.org/drawingml/2006/main">
              <a:ext uri="{FF2B5EF4-FFF2-40B4-BE49-F238E27FC236}">
                <a16:creationId xmlns:a16="http://schemas.microsoft.com/office/drawing/2014/main" id="{1A2C99F0-08DB-4D3A-8E04-4FD1C8AA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CAUTION</a:t>
            </a:r>
          </a:p>
        </p:txBody>
      </p:sp>
      <p:sp>
        <p:nvSpPr>
          <p:cNvPr id="19" name="ib-3">
            <a:extLst xmlns:a="http://schemas.openxmlformats.org/drawingml/2006/main">
              <a:ext uri="{FF2B5EF4-FFF2-40B4-BE49-F238E27FC236}">
                <a16:creationId xmlns:a16="http://schemas.microsoft.com/office/drawing/2014/main" id="{AEB8E600-4AFB-45B1-816A-8CF2B65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이동 자료는 26개 기간의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목적 맥락 대리변수로만 사용</a:t>
            </a:r>
          </a:p>
        </p:txBody>
      </p:sp>
      <p:sp>
        <p:nvSpPr>
          <p:cNvPr id="20" name="final">
            <a:extLst xmlns:a="http://schemas.openxmlformats.org/drawingml/2006/main">
              <a:ext uri="{FF2B5EF4-FFF2-40B4-BE49-F238E27FC236}">
                <a16:creationId xmlns:a16="http://schemas.microsoft.com/office/drawing/2014/main" id="{21E9A1ED-146A-410A-8A8A-EEBC9AD1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8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inal-text">
            <a:extLst xmlns:a="http://schemas.openxmlformats.org/drawingml/2006/main">
              <a:ext uri="{FF2B5EF4-FFF2-40B4-BE49-F238E27FC236}">
                <a16:creationId xmlns:a16="http://schemas.microsoft.com/office/drawing/2014/main" id="{DCE4C498-20A6-45FE-BC6C-146CA034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다음 검증  B078 선택 라벨로 세 그룹의 실제 목적지 선택확률 차이를 확인</a:t>
            </a:r>
          </a:p>
        </p:txBody>
      </p:sp>
    </p:spTree>
    <p:extLst>
      <p:ext uri="{BB962C8B-B14F-4D97-AF65-F5344CB8AC3E}">
        <p14:creationId xmlns:p14="http://schemas.microsoft.com/office/powerpoint/2010/main" val="1243419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2026-09-22T00:43:58.9560000Z</dcterms:created>
  <dcterms:modified xsi:type="dcterms:W3CDTF">2026-09-22T00:43:58.9560000Z</dcterms:modified>
</coreProperties>
</file>