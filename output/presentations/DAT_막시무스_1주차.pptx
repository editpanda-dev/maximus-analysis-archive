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bad0cfceb140aa" /><Relationship Type="http://schemas.openxmlformats.org/officeDocument/2006/relationships/extended-properties" Target="/docProps/app.xml" Id="R03ba3cf915774613" /><Relationship Type="http://schemas.openxmlformats.org/officeDocument/2006/relationships/officeDocument" Target="/ppt/presentation.xml" Id="R76e038bf5bf74a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cbb5e07ba64c1e"/>
  </p:sldMasterIdLst>
  <p:notesMasterIdLst>
    <p:notesMasterId xmlns:r="http://schemas.openxmlformats.org/officeDocument/2006/relationships" r:id="R99c48aa73b994f21"/>
  </p:notesMasterIdLst>
  <p:sldIdLst>
    <p:sldId xmlns:r="http://schemas.openxmlformats.org/officeDocument/2006/relationships" id="256" r:id="R901c13b7840b4353"/>
    <p:sldId xmlns:r="http://schemas.openxmlformats.org/officeDocument/2006/relationships" id="257" r:id="Rd2d8a7bdaa72420e"/>
    <p:sldId xmlns:r="http://schemas.openxmlformats.org/officeDocument/2006/relationships" id="258" r:id="R517c17a6bef3462e"/>
    <p:sldId xmlns:r="http://schemas.openxmlformats.org/officeDocument/2006/relationships" id="259" r:id="Rda3634bfefd14f32"/>
    <p:sldId xmlns:r="http://schemas.openxmlformats.org/officeDocument/2006/relationships" id="260" r:id="R52315cc2cba94875"/>
    <p:sldId xmlns:r="http://schemas.openxmlformats.org/officeDocument/2006/relationships" id="261" r:id="R4978eb7d42df47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8721d355e7481a" /><Relationship Type="http://schemas.openxmlformats.org/officeDocument/2006/relationships/slideMaster" Target="/ppt/slideMasters/slideMaster1.xml" Id="Rd3cbb5e07ba64c1e" /><Relationship Type="http://schemas.openxmlformats.org/officeDocument/2006/relationships/notesMaster" Target="/ppt/notesMasters/notesMaster1.xml" Id="R99c48aa73b994f21" /><Relationship Type="http://schemas.openxmlformats.org/officeDocument/2006/relationships/presProps" Target="/ppt/presProps.xml" Id="R7ba962247de044f1" /><Relationship Type="http://schemas.openxmlformats.org/officeDocument/2006/relationships/tableStyles" Target="/ppt/tableStyles.xml" Id="R378b12e5dfed4205" /><Relationship Type="http://schemas.openxmlformats.org/officeDocument/2006/relationships/slide" Target="/ppt/slides/slide1.xml" Id="R901c13b7840b4353" /><Relationship Type="http://schemas.openxmlformats.org/officeDocument/2006/relationships/slide" Target="/ppt/slides/slide2.xml" Id="Rd2d8a7bdaa72420e" /><Relationship Type="http://schemas.openxmlformats.org/officeDocument/2006/relationships/slide" Target="/ppt/slides/slide3.xml" Id="R517c17a6bef3462e" /><Relationship Type="http://schemas.openxmlformats.org/officeDocument/2006/relationships/slide" Target="/ppt/slides/slide4.xml" Id="Rda3634bfefd14f32" /><Relationship Type="http://schemas.openxmlformats.org/officeDocument/2006/relationships/slide" Target="/ppt/slides/slide5.xml" Id="R52315cc2cba94875" /><Relationship Type="http://schemas.openxmlformats.org/officeDocument/2006/relationships/slide" Target="/ppt/slides/slide6.xml" Id="R4978eb7d42df47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49ed229e1c40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2a0607e45f486a" /><Relationship Type="http://schemas.openxmlformats.org/officeDocument/2006/relationships/notesMaster" Target="/ppt/notesMasters/notesMaster1.xml" Id="R83f0b0c3cbf740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dee6f2ad874755" /><Relationship Type="http://schemas.openxmlformats.org/officeDocument/2006/relationships/notesMaster" Target="/ppt/notesMasters/notesMaster1.xml" Id="R937d73ae0cc444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8478c03ee94c10" /><Relationship Type="http://schemas.openxmlformats.org/officeDocument/2006/relationships/notesMaster" Target="/ppt/notesMasters/notesMaster1.xml" Id="R31ad323db6c249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8217716d2246d7" /><Relationship Type="http://schemas.openxmlformats.org/officeDocument/2006/relationships/notesMaster" Target="/ppt/notesMasters/notesMaster1.xml" Id="R1798bf90ece64f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3a8f8e9f684086" /><Relationship Type="http://schemas.openxmlformats.org/officeDocument/2006/relationships/notesMaster" Target="/ppt/notesMasters/notesMaster1.xml" Id="R8f20ca0f2a2a4c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6468e27e374000" /><Relationship Type="http://schemas.openxmlformats.org/officeDocument/2006/relationships/notesMaster" Target="/ppt/notesMasters/notesMaster1.xml" Id="R5a5e9cbf741c40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저희는 유명 상권을 나열하는 앱보다 목적지 선택모델 설계에 집중합니다. 출발지와 목적, 시간 제약이 주어졌을 때 어떤 동네가 선택되는지를 확률과 순위로 학습합니다.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Maximus Week 3 final report</a:t>
            </a:r>
          </a:p>
          <a:p xmlns:a="http://schemas.openxmlformats.org/drawingml/2006/main">
            <a:r>
              <a:t>- 3D asset: Google Gemini Nano Banana, generated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유입과 소비가 완전히 같이 움직이지 않는다는 점이 출발점입니다. 기대매출을 먼저 추정한 뒤 실제 매출과의 차이를 잔차로 남기고, 미래 분기에서도 반복되는 양의 잔차와 음의 잔차를 목적소비형과 통과형으로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Team-provided Spearman EDA</a:t>
            </a:r>
          </a:p>
          <a:p xmlns:a="http://schemas.openxmlformats.org/drawingml/2006/main">
            <a:r>
              <a:t>- Week 3 final report section 2.1</a:t>
            </a:r>
          </a:p>
          <a:p xmlns:a="http://schemas.openxmlformats.org/drawingml/2006/main">
            <a:r>
              <a:t>- 3D asset: Google Gemini Nano Banana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파이프라인은 세 단계입니다. 실제로 갈 수 없는 곳을 제거하고, 이동·상권·소비 데이터를 특징량으로 합친 뒤, 같은 출발지와 목적, 시간대의 후보들 안에서 순위를 학습합니다.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B078/B079 sample schemas</a:t>
            </a:r>
          </a:p>
          <a:p xmlns:a="http://schemas.openxmlformats.org/drawingml/2006/main">
            <a:r>
              <a:t>- Huff 1963</a:t>
            </a:r>
          </a:p>
          <a:p xmlns:a="http://schemas.openxmlformats.org/drawingml/2006/main">
            <a:r>
              <a:t>- Arentze et al. 2005</a:t>
            </a:r>
          </a:p>
          <a:p xmlns:a="http://schemas.openxmlformats.org/drawingml/2006/main">
            <a:r>
              <a:t>- 3D assets: Google Gemini Nano Banana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Huff와 PPML을 기준선으로 두고 GAM과 CatBoost로 비선형성을 확인한 뒤 LambdaRank로 순위를 직접 최적화합니다. 랜덤 분할은 사용하지 않고 미래 분기와 미관측 지역에서 성능이 유지되는지 검증합니다.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Huff 1963</a:t>
            </a:r>
          </a:p>
          <a:p xmlns:a="http://schemas.openxmlformats.org/drawingml/2006/main">
            <a:r>
              <a:t>- Alam et al. 2025</a:t>
            </a:r>
          </a:p>
          <a:p xmlns:a="http://schemas.openxmlformats.org/drawingml/2006/main">
            <a:r>
              <a:t>- 3D asset: Google Gemini Nano Banana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초기에는 파인튜닝보다 후보군과 라벨, 랭킹 피처 품질이 중요합니다. 사전학습 SBERT를 고정해 텍스트 유사도를 하나의 피처로 쓰고, 충분한 선택 로그가 확보된 뒤에만 대조학습을 실험합니다.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 3 final report section 2.3</a:t>
            </a:r>
          </a:p>
          <a:p xmlns:a="http://schemas.openxmlformats.org/drawingml/2006/main">
            <a:r>
              <a:t>- 3D asset: Google Gemini Nano Banana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산출물은 목적별 후보 생성기, 유동–매출 괴리모형, 설명 가능한 목적지 랭커입니다. 복잡한 모델을 보여주는 데서 끝내지 않고 새 시점과 새 지역에서 추천 이유가 유지되는지까지 검증합니다.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 3 final report section 4</a:t>
            </a:r>
          </a:p>
          <a:p xmlns:a="http://schemas.openxmlformats.org/drawingml/2006/main">
            <a:r>
              <a:t>- 3D assets: Google Gemini Nano Banana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321a4d25443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dc8ef2c43a483e" /><Relationship Type="http://schemas.openxmlformats.org/officeDocument/2006/relationships/slideLayout" Target="/ppt/slideLayouts/slideLayout1.xml" Id="R4cf0275c4e3640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f0275c4e3640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b572c356048c5" /><Relationship Type="http://schemas.openxmlformats.org/officeDocument/2006/relationships/image" Target="/ppt/media/image.png" Id="R668a0ef2068a4a44" /><Relationship Type="http://schemas.openxmlformats.org/officeDocument/2006/relationships/notesSlide" Target="/ppt/notesSlides/notesSlide1.xml" Id="Rf564e60819f04e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81e0eb078462a" /><Relationship Type="http://schemas.openxmlformats.org/officeDocument/2006/relationships/image" Target="/ppt/media/image2.png" Id="R91ad1ea8ecbe45b6" /><Relationship Type="http://schemas.openxmlformats.org/officeDocument/2006/relationships/notesSlide" Target="/ppt/notesSlides/notesSlide2.xml" Id="R8dde224a11a944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31d1143b4459c" /><Relationship Type="http://schemas.openxmlformats.org/officeDocument/2006/relationships/image" Target="/ppt/media/image3.png" Id="R9422ab1b83154c07" /><Relationship Type="http://schemas.openxmlformats.org/officeDocument/2006/relationships/image" Target="/ppt/media/image4.png" Id="Reafa4bd865ea4eec" /><Relationship Type="http://schemas.openxmlformats.org/officeDocument/2006/relationships/image" Target="/ppt/media/image5.png" Id="Re5a693e594c7479f" /><Relationship Type="http://schemas.openxmlformats.org/officeDocument/2006/relationships/notesSlide" Target="/ppt/notesSlides/notesSlide3.xml" Id="R0b4ba5bda24449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09063521f4aae" /><Relationship Type="http://schemas.openxmlformats.org/officeDocument/2006/relationships/image" Target="/ppt/media/image6.png" Id="R13dfa8df3e604312" /><Relationship Type="http://schemas.openxmlformats.org/officeDocument/2006/relationships/notesSlide" Target="/ppt/notesSlides/notesSlide4.xml" Id="R52c3fa12095548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d63f2df564d4a" /><Relationship Type="http://schemas.openxmlformats.org/officeDocument/2006/relationships/image" Target="/ppt/media/image7.png" Id="R2cbb2c3d1ab04e0a" /><Relationship Type="http://schemas.openxmlformats.org/officeDocument/2006/relationships/notesSlide" Target="/ppt/notesSlides/notesSlide5.xml" Id="R34480c352b584a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5c73d47104e38" /><Relationship Type="http://schemas.openxmlformats.org/officeDocument/2006/relationships/image" Target="/ppt/media/image8.png" Id="R3f6c803992184363" /><Relationship Type="http://schemas.openxmlformats.org/officeDocument/2006/relationships/notesSlide" Target="/ppt/notesSlides/notesSlide6.xml" Id="Rd296e2bc7f2e41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">
            <a:extLst xmlns:a="http://schemas.openxmlformats.org/drawingml/2006/main">
              <a:ext uri="{FF2B5EF4-FFF2-40B4-BE49-F238E27FC236}">
                <a16:creationId xmlns:a16="http://schemas.microsoft.com/office/drawing/2014/main" id="{B6CB3786-4844-4E35-A19B-4040C349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F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7C4A1D-7321-4A5B-8D7B-21C76FA9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67F2"/>
                </a:solidFill>
              </a:defRPr>
            </a:pPr>
            <a:r>
              <a:rPr sz="1050" b="1">
                <a:solidFill>
                  <a:srgbClr val="4567F2"/>
                </a:solidFill>
              </a:rPr>
              <a:t>TEAM MAXIMUS · DAT OT</a:t>
            </a:r>
          </a:p>
        </p:txBody>
      </p:sp>
      <p:sp>
        <p:nvSpPr>
          <p:cNvPr id="3" name="hero">
            <a:extLst xmlns:a="http://schemas.openxmlformats.org/drawingml/2006/main">
              <a:ext uri="{FF2B5EF4-FFF2-40B4-BE49-F238E27FC236}">
                <a16:creationId xmlns:a16="http://schemas.microsoft.com/office/drawing/2014/main" id="{7F669609-E1C9-45DD-BE30-17EAD0BA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5334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61A18"/>
                </a:solidFill>
              </a:defRPr>
            </a:pPr>
            <a:r>
              <a:rPr sz="4125" b="1">
                <a:solidFill>
                  <a:srgbClr val="161A18"/>
                </a:solidFill>
              </a:rPr>
              <a:t>목적지는</a:t>
            </a:r>
          </a:p>
          <a:p xmlns:a="http://schemas.openxmlformats.org/drawingml/2006/main">
            <a:pPr algn="l">
              <a:defRPr sz="4125" b="1">
                <a:solidFill>
                  <a:srgbClr val="161A18"/>
                </a:solidFill>
              </a:defRPr>
            </a:pPr>
            <a:r>
              <a:rPr sz="4125" b="1">
                <a:solidFill>
                  <a:srgbClr val="161A18"/>
                </a:solidFill>
              </a:rPr>
              <a:t>유명세가 아니라</a:t>
            </a:r>
          </a:p>
          <a:p xmlns:a="http://schemas.openxmlformats.org/drawingml/2006/main">
            <a:pPr algn="l">
              <a:defRPr sz="4125" b="1">
                <a:solidFill>
                  <a:srgbClr val="161A18"/>
                </a:solidFill>
              </a:defRPr>
            </a:pPr>
            <a:r>
              <a:rPr sz="4125" b="1">
                <a:solidFill>
                  <a:srgbClr val="161A18"/>
                </a:solidFill>
              </a:rPr>
              <a:t>선택으로 증명된다</a:t>
            </a:r>
          </a:p>
        </p:txBody>
      </p:sp>
      <p:sp>
        <p:nvSpPr>
          <p:cNvPr id="4" name="sub">
            <a:extLst xmlns:a="http://schemas.openxmlformats.org/drawingml/2006/main">
              <a:ext uri="{FF2B5EF4-FFF2-40B4-BE49-F238E27FC236}">
                <a16:creationId xmlns:a16="http://schemas.microsoft.com/office/drawing/2014/main" id="{64E391FC-E864-4F64-A07D-9DCC2990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746F"/>
                </a:solidFill>
              </a:defRPr>
            </a:pPr>
            <a:r>
              <a:rPr sz="1650" b="0">
                <a:solidFill>
                  <a:srgbClr val="6E746F"/>
                </a:solidFill>
              </a:rPr>
              <a:t>동대문구 출발 50분 생활권에서</a:t>
            </a:r>
          </a:p>
          <a:p xmlns:a="http://schemas.openxmlformats.org/drawingml/2006/main">
            <a:pPr algn="l">
              <a:defRPr sz="1650" b="0">
                <a:solidFill>
                  <a:srgbClr val="6E746F"/>
                </a:solidFill>
              </a:defRPr>
            </a:pPr>
            <a:r>
              <a:rPr sz="1650" b="0">
                <a:solidFill>
                  <a:srgbClr val="6E746F"/>
                </a:solidFill>
              </a:rPr>
              <a:t>목적별 상권 선택확률과 순위를 모델링합니다.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a0ef2068a4a44"/>
          <a:stretch xmlns:a="http://schemas.openxmlformats.org/drawingml/2006/main"/>
        </p:blipFill>
        <p:spPr>
          <a:xfrm xmlns:a="http://schemas.openxmlformats.org/drawingml/2006/main">
            <a:off x="5905500" y="1070610"/>
            <a:ext cx="5429250" cy="3040380"/>
          </a:xfrm>
          <a:prstGeom xmlns:a="http://schemas.openxmlformats.org/drawingml/2006/main" prst="rect">
            <a:avLst/>
          </a:prstGeom>
        </p:spPr>
      </p:pic>
      <p:sp>
        <p:nvSpPr>
          <p:cNvPr id="6" name="formula-band">
            <a:extLst xmlns:a="http://schemas.openxmlformats.org/drawingml/2006/main">
              <a:ext uri="{FF2B5EF4-FFF2-40B4-BE49-F238E27FC236}">
                <a16:creationId xmlns:a16="http://schemas.microsoft.com/office/drawing/2014/main" id="{133B031D-82D8-42F5-B9DE-7A96AE07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542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rmula">
            <a:extLst xmlns:a="http://schemas.openxmlformats.org/drawingml/2006/main">
              <a:ext uri="{FF2B5EF4-FFF2-40B4-BE49-F238E27FC236}">
                <a16:creationId xmlns:a16="http://schemas.microsoft.com/office/drawing/2014/main" id="{E9DB878E-DD27-48AE-BF62-1DE57DDD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89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P(destination | origin, purpose, time)</a:t>
            </a:r>
          </a:p>
        </p:txBody>
      </p:sp>
      <p:sp>
        <p:nvSpPr>
          <p:cNvPr id="8" name="members">
            <a:extLst xmlns:a="http://schemas.openxmlformats.org/drawingml/2006/main">
              <a:ext uri="{FF2B5EF4-FFF2-40B4-BE49-F238E27FC236}">
                <a16:creationId xmlns:a16="http://schemas.microsoft.com/office/drawing/2014/main" id="{16AE0A94-CC06-4350-8A12-BEF2F742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34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A18"/>
                </a:solidFill>
              </a:defRPr>
            </a:pPr>
            <a:r>
              <a:rPr sz="1275" b="1">
                <a:solidFill>
                  <a:srgbClr val="161A18"/>
                </a:solidFill>
              </a:rPr>
              <a:t>장한별  ·  지우진  ·  최시현</a:t>
            </a:r>
          </a:p>
        </p:txBody>
      </p:sp>
    </p:spTree>
    <p:extLst>
      <p:ext uri="{BB962C8B-B14F-4D97-AF65-F5344CB8AC3E}">
        <p14:creationId xmlns:p14="http://schemas.microsoft.com/office/powerpoint/2010/main" val="1635502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n-2">
            <a:extLst xmlns:a="http://schemas.openxmlformats.org/drawingml/2006/main">
              <a:ext uri="{FF2B5EF4-FFF2-40B4-BE49-F238E27FC236}">
                <a16:creationId xmlns:a16="http://schemas.microsoft.com/office/drawing/2014/main" id="{F7EC0B58-131B-47B5-92BC-612B5CF8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67F2"/>
                </a:solidFill>
              </a:defRPr>
            </a:pPr>
            <a:r>
              <a:rPr sz="975" b="1">
                <a:solidFill>
                  <a:srgbClr val="4567F2"/>
                </a:solidFill>
              </a:rPr>
              <a:t>02</a:t>
            </a:r>
          </a:p>
        </p:txBody>
      </p:sp>
      <p:sp>
        <p:nvSpPr>
          <p:cNvPr id="2" name="k-2">
            <a:extLst xmlns:a="http://schemas.openxmlformats.org/drawingml/2006/main">
              <a:ext uri="{FF2B5EF4-FFF2-40B4-BE49-F238E27FC236}">
                <a16:creationId xmlns:a16="http://schemas.microsoft.com/office/drawing/2014/main" id="{8E33457C-A14D-48AA-A1D4-BA783A72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PROBLEM SIGNAL</a:t>
            </a:r>
          </a:p>
        </p:txBody>
      </p:sp>
      <p:sp>
        <p:nvSpPr>
          <p:cNvPr id="3" name="brand-2">
            <a:extLst xmlns:a="http://schemas.openxmlformats.org/drawingml/2006/main">
              <a:ext uri="{FF2B5EF4-FFF2-40B4-BE49-F238E27FC236}">
                <a16:creationId xmlns:a16="http://schemas.microsoft.com/office/drawing/2014/main" id="{BF4F1958-2923-4DD3-8C4A-BFFFD0FD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MAXIMUS · DAT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71357597-5A8B-4993-9CA3-C53FA10A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09EF0A-E9C9-43A4-A788-5013BEB4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A18"/>
                </a:solidFill>
              </a:defRPr>
            </a:pPr>
            <a:r>
              <a:rPr sz="3000" b="1">
                <a:solidFill>
                  <a:srgbClr val="161A18"/>
                </a:solidFill>
              </a:rPr>
              <a:t>사람이 많아도 돈을 쓰는 것은 아니다</a:t>
            </a:r>
          </a:p>
        </p:txBody>
      </p:sp>
      <p:sp>
        <p:nvSpPr>
          <p:cNvPr id="6" name="desc">
            <a:extLst xmlns:a="http://schemas.openxmlformats.org/drawingml/2006/main">
              <a:ext uri="{FF2B5EF4-FFF2-40B4-BE49-F238E27FC236}">
                <a16:creationId xmlns:a16="http://schemas.microsoft.com/office/drawing/2014/main" id="{A4B00860-203C-4587-BCF4-5A355A8B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유동인구와 카드매출의 차이를 모델이 설명해야 할 신호로 남깁니다.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d1ea8ecbe45b6"/>
          <a:stretch xmlns:a="http://schemas.openxmlformats.org/drawingml/2006/main"/>
        </p:blipFill>
        <p:spPr>
          <a:xfrm xmlns:a="http://schemas.openxmlformats.org/drawingml/2006/main">
            <a:off x="1005568" y="2476500"/>
            <a:ext cx="3741964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gap">
            <a:extLst xmlns:a="http://schemas.openxmlformats.org/drawingml/2006/main">
              <a:ext uri="{FF2B5EF4-FFF2-40B4-BE49-F238E27FC236}">
                <a16:creationId xmlns:a16="http://schemas.microsoft.com/office/drawing/2014/main" id="{F50D19F9-6B9F-46D7-89A5-BE76748B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567F2"/>
                </a:solidFill>
              </a:defRPr>
            </a:pPr>
            <a:r>
              <a:rPr sz="3450" b="1">
                <a:solidFill>
                  <a:srgbClr val="4567F2"/>
                </a:solidFill>
              </a:rPr>
              <a:t>Gap</a:t>
            </a:r>
          </a:p>
        </p:txBody>
      </p:sp>
      <p:sp>
        <p:nvSpPr>
          <p:cNvPr id="9" name="eq">
            <a:extLst xmlns:a="http://schemas.openxmlformats.org/drawingml/2006/main">
              <a:ext uri="{FF2B5EF4-FFF2-40B4-BE49-F238E27FC236}">
                <a16:creationId xmlns:a16="http://schemas.microsoft.com/office/drawing/2014/main" id="{8CFCF1C7-A76C-471F-9C1B-B1477E4E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A18"/>
                </a:solidFill>
              </a:defRPr>
            </a:pPr>
            <a:r>
              <a:rPr sz="2325" b="1">
                <a:solidFill>
                  <a:srgbClr val="161A18"/>
                </a:solidFill>
              </a:rPr>
              <a:t>실제 매출 − 기대 매출</a:t>
            </a:r>
          </a:p>
        </p:txBody>
      </p:sp>
      <p:sp>
        <p:nvSpPr>
          <p:cNvPr id="10" name="sep">
            <a:extLst xmlns:a="http://schemas.openxmlformats.org/drawingml/2006/main">
              <a:ext uri="{FF2B5EF4-FFF2-40B4-BE49-F238E27FC236}">
                <a16:creationId xmlns:a16="http://schemas.microsoft.com/office/drawing/2014/main" id="{216EA4C9-AFC5-43C7-9571-570B3DC5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lus">
            <a:extLst xmlns:a="http://schemas.openxmlformats.org/drawingml/2006/main">
              <a:ext uri="{FF2B5EF4-FFF2-40B4-BE49-F238E27FC236}">
                <a16:creationId xmlns:a16="http://schemas.microsoft.com/office/drawing/2014/main" id="{EC9469B6-A3E6-4275-8423-D7A3872C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567F2"/>
                </a:solidFill>
              </a:defRPr>
            </a:pPr>
            <a:r>
              <a:rPr sz="1650" b="1">
                <a:solidFill>
                  <a:srgbClr val="4567F2"/>
                </a:solidFill>
              </a:rPr>
              <a:t>Gap &gt; 0</a:t>
            </a:r>
          </a:p>
        </p:txBody>
      </p:sp>
      <p:sp>
        <p:nvSpPr>
          <p:cNvPr id="12" name="plus-desc">
            <a:extLst xmlns:a="http://schemas.openxmlformats.org/drawingml/2006/main">
              <a:ext uri="{FF2B5EF4-FFF2-40B4-BE49-F238E27FC236}">
                <a16:creationId xmlns:a16="http://schemas.microsoft.com/office/drawing/2014/main" id="{1B2B7C84-DA3F-46F4-9D14-43A7D46B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81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A18"/>
                </a:solidFill>
              </a:defRPr>
            </a:pPr>
            <a:r>
              <a:rPr sz="1425" b="0">
                <a:solidFill>
                  <a:srgbClr val="161A18"/>
                </a:solidFill>
              </a:rPr>
              <a:t>목적 소비형 · 규모보다 소비가 강한 상권</a:t>
            </a:r>
          </a:p>
        </p:txBody>
      </p:sp>
      <p:sp>
        <p:nvSpPr>
          <p:cNvPr id="13" name="minus">
            <a:extLst xmlns:a="http://schemas.openxmlformats.org/drawingml/2006/main">
              <a:ext uri="{FF2B5EF4-FFF2-40B4-BE49-F238E27FC236}">
                <a16:creationId xmlns:a16="http://schemas.microsoft.com/office/drawing/2014/main" id="{114DD5F5-8802-4D13-81F9-EBC8D399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746F"/>
                </a:solidFill>
              </a:defRPr>
            </a:pPr>
            <a:r>
              <a:rPr sz="1650" b="1">
                <a:solidFill>
                  <a:srgbClr val="6E746F"/>
                </a:solidFill>
              </a:rPr>
              <a:t>Gap &lt; 0</a:t>
            </a:r>
          </a:p>
        </p:txBody>
      </p:sp>
      <p:sp>
        <p:nvSpPr>
          <p:cNvPr id="14" name="minus-desc">
            <a:extLst xmlns:a="http://schemas.openxmlformats.org/drawingml/2006/main">
              <a:ext uri="{FF2B5EF4-FFF2-40B4-BE49-F238E27FC236}">
                <a16:creationId xmlns:a16="http://schemas.microsoft.com/office/drawing/2014/main" id="{D0165EE4-6F03-4AA2-8E87-F99B3205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529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A18"/>
                </a:solidFill>
              </a:defRPr>
            </a:pPr>
            <a:r>
              <a:rPr sz="1425" b="0">
                <a:solidFill>
                  <a:srgbClr val="161A18"/>
                </a:solidFill>
              </a:rPr>
              <a:t>통과형 · 유입이 소비로 전환되지 않는 상권</a:t>
            </a:r>
          </a:p>
        </p:txBody>
      </p:sp>
      <p:sp>
        <p:nvSpPr>
          <p:cNvPr id="15" name="condition">
            <a:extLst xmlns:a="http://schemas.openxmlformats.org/drawingml/2006/main">
              <a:ext uri="{FF2B5EF4-FFF2-40B4-BE49-F238E27FC236}">
                <a16:creationId xmlns:a16="http://schemas.microsoft.com/office/drawing/2014/main" id="{5FDA6545-7DAB-477E-9FED-BA694A1D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F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ndition-text">
            <a:extLst xmlns:a="http://schemas.openxmlformats.org/drawingml/2006/main">
              <a:ext uri="{FF2B5EF4-FFF2-40B4-BE49-F238E27FC236}">
                <a16:creationId xmlns:a16="http://schemas.microsoft.com/office/drawing/2014/main" id="{11FAD02A-1CB7-4BAC-B4AE-FEE91A7B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9725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A18"/>
                </a:solidFill>
              </a:defRPr>
            </a:pPr>
            <a:r>
              <a:rPr sz="1350" b="1">
                <a:solidFill>
                  <a:srgbClr val="161A18"/>
                </a:solidFill>
              </a:rPr>
              <a:t>미래 분기에서 3회 이상 지속되는 잔차만 채택</a:t>
            </a:r>
          </a:p>
        </p:txBody>
      </p:sp>
    </p:spTree>
    <p:extLst>
      <p:ext uri="{BB962C8B-B14F-4D97-AF65-F5344CB8AC3E}">
        <p14:creationId xmlns:p14="http://schemas.microsoft.com/office/powerpoint/2010/main" val="1235735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n-3">
            <a:extLst xmlns:a="http://schemas.openxmlformats.org/drawingml/2006/main">
              <a:ext uri="{FF2B5EF4-FFF2-40B4-BE49-F238E27FC236}">
                <a16:creationId xmlns:a16="http://schemas.microsoft.com/office/drawing/2014/main" id="{0C94A30E-8D00-44E3-A1CB-E92BC41A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67F2"/>
                </a:solidFill>
              </a:defRPr>
            </a:pPr>
            <a:r>
              <a:rPr sz="975" b="1">
                <a:solidFill>
                  <a:srgbClr val="4567F2"/>
                </a:solidFill>
              </a:rPr>
              <a:t>03</a:t>
            </a:r>
          </a:p>
        </p:txBody>
      </p:sp>
      <p:sp>
        <p:nvSpPr>
          <p:cNvPr id="2" name="k-3">
            <a:extLst xmlns:a="http://schemas.openxmlformats.org/drawingml/2006/main">
              <a:ext uri="{FF2B5EF4-FFF2-40B4-BE49-F238E27FC236}">
                <a16:creationId xmlns:a16="http://schemas.microsoft.com/office/drawing/2014/main" id="{EC1FEF0B-52CA-459E-9921-472B5686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MODEL PIPELINE</a:t>
            </a:r>
          </a:p>
        </p:txBody>
      </p:sp>
      <p:sp>
        <p:nvSpPr>
          <p:cNvPr id="3" name="brand-3">
            <a:extLst xmlns:a="http://schemas.openxmlformats.org/drawingml/2006/main">
              <a:ext uri="{FF2B5EF4-FFF2-40B4-BE49-F238E27FC236}">
                <a16:creationId xmlns:a16="http://schemas.microsoft.com/office/drawing/2014/main" id="{FB4A58B3-980F-469B-B07C-B65624A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MAXIMUS · DAT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4794A3B5-1B1F-4BDF-A187-B8C7818D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11CA80-0F45-4878-9A91-0F10DBFB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A18"/>
                </a:solidFill>
              </a:defRPr>
            </a:pPr>
            <a:r>
              <a:rPr sz="3000" b="1">
                <a:solidFill>
                  <a:srgbClr val="161A18"/>
                </a:solidFill>
              </a:rPr>
              <a:t>추천은 세 번의 판단을 거친다</a:t>
            </a:r>
          </a:p>
        </p:txBody>
      </p:sp>
      <p:sp>
        <p:nvSpPr>
          <p:cNvPr id="6" name="desc">
            <a:extLst xmlns:a="http://schemas.openxmlformats.org/drawingml/2006/main">
              <a:ext uri="{FF2B5EF4-FFF2-40B4-BE49-F238E27FC236}">
                <a16:creationId xmlns:a16="http://schemas.microsoft.com/office/drawing/2014/main" id="{F82E6DF2-9404-4A8E-81FC-D5219AFD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746F"/>
                </a:solidFill>
              </a:defRPr>
            </a:pPr>
            <a:r>
              <a:rPr sz="1500" b="0">
                <a:solidFill>
                  <a:srgbClr val="6E746F"/>
                </a:solidFill>
              </a:rPr>
              <a:t>선택 가능성 → 상권 신호 → 후보 내부 순위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2ab1b83154c07"/>
          <a:stretch xmlns:a="http://schemas.openxmlformats.org/drawingml/2006/main"/>
        </p:blipFill>
        <p:spPr>
          <a:xfrm xmlns:a="http://schemas.openxmlformats.org/drawingml/2006/main">
            <a:off x="848179" y="2209800"/>
            <a:ext cx="2494643" cy="2095500"/>
          </a:xfrm>
          <a:prstGeom xmlns:a="http://schemas.openxmlformats.org/drawingml/2006/main" prst="rect">
            <a:avLst/>
          </a:prstGeom>
        </p:spPr>
      </p:pic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EF618C21-DEEB-4EDB-9BDF-59EF8797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67F2"/>
                </a:solidFill>
              </a:defRPr>
            </a:pPr>
            <a:r>
              <a:rPr sz="1425" b="1">
                <a:solidFill>
                  <a:srgbClr val="4567F2"/>
                </a:solidFill>
              </a:rPr>
              <a:t>01</a:t>
            </a:r>
          </a:p>
        </p:txBody>
      </p:sp>
      <p:sp>
        <p:nvSpPr>
          <p:cNvPr id="9" name="head-0">
            <a:extLst xmlns:a="http://schemas.openxmlformats.org/drawingml/2006/main">
              <a:ext uri="{FF2B5EF4-FFF2-40B4-BE49-F238E27FC236}">
                <a16:creationId xmlns:a16="http://schemas.microsoft.com/office/drawing/2014/main" id="{BE316CC7-B6D3-4DA7-A7FF-30772AB5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A18"/>
                </a:solidFill>
              </a:defRPr>
            </a:pPr>
            <a:r>
              <a:rPr sz="2025" b="1">
                <a:solidFill>
                  <a:srgbClr val="161A18"/>
                </a:solidFill>
              </a:rPr>
              <a:t>REACH</a:t>
            </a:r>
          </a:p>
        </p:txBody>
      </p:sp>
      <p:sp>
        <p:nvSpPr>
          <p:cNvPr id="10" name="ko-0">
            <a:extLst xmlns:a="http://schemas.openxmlformats.org/drawingml/2006/main">
              <a:ext uri="{FF2B5EF4-FFF2-40B4-BE49-F238E27FC236}">
                <a16:creationId xmlns:a16="http://schemas.microsoft.com/office/drawing/2014/main" id="{9E80410A-991D-45CE-BA70-23CB18A0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67F2"/>
                </a:solidFill>
              </a:defRPr>
            </a:pPr>
            <a:r>
              <a:rPr sz="1350" b="1">
                <a:solidFill>
                  <a:srgbClr val="4567F2"/>
                </a:solidFill>
              </a:rPr>
              <a:t>50분 후보군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B91DE700-03EF-4C11-8FAD-7A5B6A3B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B078 이동시간과 대중교통 시간으로</a:t>
            </a:r>
          </a:p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선택 불가능한 목적지를 먼저 제외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a4bd865ea4eec"/>
          <a:stretch xmlns:a="http://schemas.openxmlformats.org/drawingml/2006/main"/>
        </p:blipFill>
        <p:spPr>
          <a:xfrm xmlns:a="http://schemas.openxmlformats.org/drawingml/2006/main">
            <a:off x="4562929" y="2209800"/>
            <a:ext cx="2494643" cy="2095500"/>
          </a:xfrm>
          <a:prstGeom xmlns:a="http://schemas.openxmlformats.org/drawingml/2006/main" prst="rect">
            <a:avLst/>
          </a:prstGeom>
        </p:spPr>
      </p:pic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9BC57D06-A00F-47A1-BDBD-40A11B8A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67F2"/>
                </a:solidFill>
              </a:defRPr>
            </a:pPr>
            <a:r>
              <a:rPr sz="1425" b="1">
                <a:solidFill>
                  <a:srgbClr val="4567F2"/>
                </a:solidFill>
              </a:rPr>
              <a:t>02</a:t>
            </a:r>
          </a:p>
        </p:txBody>
      </p:sp>
      <p:sp>
        <p:nvSpPr>
          <p:cNvPr id="14" name="head-1">
            <a:extLst xmlns:a="http://schemas.openxmlformats.org/drawingml/2006/main">
              <a:ext uri="{FF2B5EF4-FFF2-40B4-BE49-F238E27FC236}">
                <a16:creationId xmlns:a16="http://schemas.microsoft.com/office/drawing/2014/main" id="{E965E6EA-9CF5-4126-BF87-3CD52925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00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A18"/>
                </a:solidFill>
              </a:defRPr>
            </a:pPr>
            <a:r>
              <a:rPr sz="2025" b="1">
                <a:solidFill>
                  <a:srgbClr val="161A18"/>
                </a:solidFill>
              </a:rPr>
              <a:t>SIGNAL</a:t>
            </a:r>
          </a:p>
        </p:txBody>
      </p:sp>
      <p:sp>
        <p:nvSpPr>
          <p:cNvPr id="15" name="ko-1">
            <a:extLst xmlns:a="http://schemas.openxmlformats.org/drawingml/2006/main">
              <a:ext uri="{FF2B5EF4-FFF2-40B4-BE49-F238E27FC236}">
                <a16:creationId xmlns:a16="http://schemas.microsoft.com/office/drawing/2014/main" id="{5D3CFD98-7304-4E1D-AFE6-AF246B0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67F2"/>
                </a:solidFill>
              </a:defRPr>
            </a:pPr>
            <a:r>
              <a:rPr sz="1350" b="1">
                <a:solidFill>
                  <a:srgbClr val="4567F2"/>
                </a:solidFill>
              </a:rPr>
              <a:t>상권 특징량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0AA3F543-BDBE-404B-B440-DA988CA0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197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접근성·흡인력·전환력과</a:t>
            </a:r>
          </a:p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POI·업종다양성·Gap을 결합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693e594c7479f"/>
          <a:stretch xmlns:a="http://schemas.openxmlformats.org/drawingml/2006/main"/>
        </p:blipFill>
        <p:spPr>
          <a:xfrm xmlns:a="http://schemas.openxmlformats.org/drawingml/2006/main">
            <a:off x="7905750" y="2211265"/>
            <a:ext cx="3238500" cy="2092569"/>
          </a:xfrm>
          <a:prstGeom xmlns:a="http://schemas.openxmlformats.org/drawingml/2006/main" prst="rect">
            <a:avLst/>
          </a:prstGeom>
        </p:spPr>
      </p:pic>
      <p:sp>
        <p:nvSpPr>
          <p:cNvPr id="18" name="num-2">
            <a:extLst xmlns:a="http://schemas.openxmlformats.org/drawingml/2006/main">
              <a:ext uri="{FF2B5EF4-FFF2-40B4-BE49-F238E27FC236}">
                <a16:creationId xmlns:a16="http://schemas.microsoft.com/office/drawing/2014/main" id="{6DA6044F-99E8-4607-A8C1-7A3AFC1C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67F2"/>
                </a:solidFill>
              </a:defRPr>
            </a:pPr>
            <a:r>
              <a:rPr sz="1425" b="1">
                <a:solidFill>
                  <a:srgbClr val="4567F2"/>
                </a:solidFill>
              </a:rPr>
              <a:t>03</a:t>
            </a:r>
          </a:p>
        </p:txBody>
      </p:sp>
      <p:sp>
        <p:nvSpPr>
          <p:cNvPr id="19" name="head-2">
            <a:extLst xmlns:a="http://schemas.openxmlformats.org/drawingml/2006/main">
              <a:ext uri="{FF2B5EF4-FFF2-40B4-BE49-F238E27FC236}">
                <a16:creationId xmlns:a16="http://schemas.microsoft.com/office/drawing/2014/main" id="{3C68C9B6-8D21-4F1B-9547-213B014B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00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A18"/>
                </a:solidFill>
              </a:defRPr>
            </a:pPr>
            <a:r>
              <a:rPr sz="2025" b="1">
                <a:solidFill>
                  <a:srgbClr val="161A18"/>
                </a:solidFill>
              </a:rPr>
              <a:t>RANK</a:t>
            </a:r>
          </a:p>
        </p:txBody>
      </p:sp>
      <p:sp>
        <p:nvSpPr>
          <p:cNvPr id="20" name="ko-2">
            <a:extLst xmlns:a="http://schemas.openxmlformats.org/drawingml/2006/main">
              <a:ext uri="{FF2B5EF4-FFF2-40B4-BE49-F238E27FC236}">
                <a16:creationId xmlns:a16="http://schemas.microsoft.com/office/drawing/2014/main" id="{3FDE26E6-89F3-4C4A-952D-DAA70CA7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67F2"/>
                </a:solidFill>
              </a:defRPr>
            </a:pPr>
            <a:r>
              <a:rPr sz="1350" b="1">
                <a:solidFill>
                  <a:srgbClr val="4567F2"/>
                </a:solidFill>
              </a:rPr>
              <a:t>목적지 순위</a:t>
            </a:r>
          </a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16CC2DC8-F7B2-4696-AEBF-A97F2EB4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197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조건부로짓·PPML과</a:t>
            </a:r>
          </a:p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LightGBM LambdaRank를 비교</a:t>
            </a:r>
          </a:p>
        </p:txBody>
      </p:sp>
      <p:sp>
        <p:nvSpPr>
          <p:cNvPr id="2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1D5DE6A-9A14-4341-BD3D-B5FCC1E9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abel">
            <a:extLst xmlns:a="http://schemas.openxmlformats.org/drawingml/2006/main">
              <a:ext uri="{FF2B5EF4-FFF2-40B4-BE49-F238E27FC236}">
                <a16:creationId xmlns:a16="http://schemas.microsoft.com/office/drawing/2014/main" id="{881FA72A-26C1-4913-B1D8-4C6978E4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1A18"/>
                </a:solidFill>
              </a:defRPr>
            </a:pPr>
            <a:r>
              <a:rPr sz="1275" b="1">
                <a:solidFill>
                  <a:srgbClr val="161A18"/>
                </a:solidFill>
              </a:rPr>
              <a:t>학습 라벨  목적지별 이동량(count) 또는 후보군 내 선택 점유율</a:t>
            </a:r>
          </a:p>
        </p:txBody>
      </p:sp>
    </p:spTree>
    <p:extLst>
      <p:ext uri="{BB962C8B-B14F-4D97-AF65-F5344CB8AC3E}">
        <p14:creationId xmlns:p14="http://schemas.microsoft.com/office/powerpoint/2010/main" val="268526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n-4">
            <a:extLst xmlns:a="http://schemas.openxmlformats.org/drawingml/2006/main">
              <a:ext uri="{FF2B5EF4-FFF2-40B4-BE49-F238E27FC236}">
                <a16:creationId xmlns:a16="http://schemas.microsoft.com/office/drawing/2014/main" id="{57163F67-BA23-45D7-91B7-15D14CD4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67F2"/>
                </a:solidFill>
              </a:defRPr>
            </a:pPr>
            <a:r>
              <a:rPr sz="975" b="1">
                <a:solidFill>
                  <a:srgbClr val="4567F2"/>
                </a:solidFill>
              </a:rPr>
              <a:t>04</a:t>
            </a:r>
          </a:p>
        </p:txBody>
      </p:sp>
      <p:sp>
        <p:nvSpPr>
          <p:cNvPr id="2" name="k-4">
            <a:extLst xmlns:a="http://schemas.openxmlformats.org/drawingml/2006/main">
              <a:ext uri="{FF2B5EF4-FFF2-40B4-BE49-F238E27FC236}">
                <a16:creationId xmlns:a16="http://schemas.microsoft.com/office/drawing/2014/main" id="{A9A54AB2-4B48-4F43-ACAD-E0347E53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MODEL SELECTION</a:t>
            </a:r>
          </a:p>
        </p:txBody>
      </p:sp>
      <p:sp>
        <p:nvSpPr>
          <p:cNvPr id="3" name="brand-4">
            <a:extLst xmlns:a="http://schemas.openxmlformats.org/drawingml/2006/main">
              <a:ext uri="{FF2B5EF4-FFF2-40B4-BE49-F238E27FC236}">
                <a16:creationId xmlns:a16="http://schemas.microsoft.com/office/drawing/2014/main" id="{C900CC3C-C872-4B4F-90A6-2BE3E623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MAXIMUS · DAT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FF518667-6B47-40C4-A228-DC6B3924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9B9F22E-D578-4273-A5E7-099B628B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A18"/>
                </a:solidFill>
              </a:defRPr>
            </a:pPr>
            <a:r>
              <a:rPr sz="3000" b="1">
                <a:solidFill>
                  <a:srgbClr val="161A18"/>
                </a:solidFill>
              </a:rPr>
              <a:t>복잡도보다 검증 순서가 중요하다</a:t>
            </a:r>
          </a:p>
        </p:txBody>
      </p:sp>
      <p:sp>
        <p:nvSpPr>
          <p:cNvPr id="6" name="desc">
            <a:extLst xmlns:a="http://schemas.openxmlformats.org/drawingml/2006/main">
              <a:ext uri="{FF2B5EF4-FFF2-40B4-BE49-F238E27FC236}">
                <a16:creationId xmlns:a16="http://schemas.microsoft.com/office/drawing/2014/main" id="{85519979-485F-4278-814D-66D06B3E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모든 모델을 같은 미래 시점·미관측 지역에서 경쟁시킵니다.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fa8df3e604312"/>
          <a:stretch xmlns:a="http://schemas.openxmlformats.org/drawingml/2006/main"/>
        </p:blipFill>
        <p:spPr>
          <a:xfrm xmlns:a="http://schemas.openxmlformats.org/drawingml/2006/main">
            <a:off x="6885214" y="2114550"/>
            <a:ext cx="4422321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mn-0">
            <a:extLst xmlns:a="http://schemas.openxmlformats.org/drawingml/2006/main">
              <a:ext uri="{FF2B5EF4-FFF2-40B4-BE49-F238E27FC236}">
                <a16:creationId xmlns:a16="http://schemas.microsoft.com/office/drawing/2014/main" id="{33AC5BD9-8037-4AFE-8E88-86B48615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746F"/>
                </a:solidFill>
              </a:defRPr>
            </a:pPr>
            <a:r>
              <a:rPr sz="1575" b="1">
                <a:solidFill>
                  <a:srgbClr val="6E746F"/>
                </a:solidFill>
              </a:rPr>
              <a:t>01</a:t>
            </a:r>
          </a:p>
        </p:txBody>
      </p:sp>
      <p:sp>
        <p:nvSpPr>
          <p:cNvPr id="9" name="mh-0">
            <a:extLst xmlns:a="http://schemas.openxmlformats.org/drawingml/2006/main">
              <a:ext uri="{FF2B5EF4-FFF2-40B4-BE49-F238E27FC236}">
                <a16:creationId xmlns:a16="http://schemas.microsoft.com/office/drawing/2014/main" id="{EA14DCB8-F77C-4C5E-85DF-F9EFC207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86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1A18"/>
                </a:solidFill>
              </a:defRPr>
            </a:pPr>
            <a:r>
              <a:rPr sz="2175" b="1">
                <a:solidFill>
                  <a:srgbClr val="161A18"/>
                </a:solidFill>
              </a:rPr>
              <a:t>Huff · PPML</a:t>
            </a:r>
          </a:p>
        </p:txBody>
      </p:sp>
      <p:sp>
        <p:nvSpPr>
          <p:cNvPr id="10" name="mb-0">
            <a:extLst xmlns:a="http://schemas.openxmlformats.org/drawingml/2006/main">
              <a:ext uri="{FF2B5EF4-FFF2-40B4-BE49-F238E27FC236}">
                <a16:creationId xmlns:a16="http://schemas.microsoft.com/office/drawing/2014/main" id="{D08E2E3B-B051-4A34-9251-2CC9DCE8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746F"/>
                </a:solidFill>
              </a:defRPr>
            </a:pPr>
            <a:r>
              <a:rPr sz="1275" b="0">
                <a:solidFill>
                  <a:srgbClr val="6E746F"/>
                </a:solidFill>
              </a:rPr>
              <a:t>거리저항과 계수를 해석하는 기준선</a:t>
            </a:r>
          </a:p>
        </p:txBody>
      </p:sp>
      <p:sp>
        <p:nvSpPr>
          <p:cNvPr id="11" name="ml-0">
            <a:extLst xmlns:a="http://schemas.openxmlformats.org/drawingml/2006/main">
              <a:ext uri="{FF2B5EF4-FFF2-40B4-BE49-F238E27FC236}">
                <a16:creationId xmlns:a16="http://schemas.microsoft.com/office/drawing/2014/main" id="{4C9B00FA-E2FD-48D4-B0DA-75E61843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623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n-1">
            <a:extLst xmlns:a="http://schemas.openxmlformats.org/drawingml/2006/main">
              <a:ext uri="{FF2B5EF4-FFF2-40B4-BE49-F238E27FC236}">
                <a16:creationId xmlns:a16="http://schemas.microsoft.com/office/drawing/2014/main" id="{55932A47-6BD3-4783-A03C-3463F3DA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746F"/>
                </a:solidFill>
              </a:defRPr>
            </a:pPr>
            <a:r>
              <a:rPr sz="1575" b="1">
                <a:solidFill>
                  <a:srgbClr val="6E746F"/>
                </a:solidFill>
              </a:rPr>
              <a:t>02</a:t>
            </a:r>
          </a:p>
        </p:txBody>
      </p:sp>
      <p:sp>
        <p:nvSpPr>
          <p:cNvPr id="13" name="mh-1">
            <a:extLst xmlns:a="http://schemas.openxmlformats.org/drawingml/2006/main">
              <a:ext uri="{FF2B5EF4-FFF2-40B4-BE49-F238E27FC236}">
                <a16:creationId xmlns:a16="http://schemas.microsoft.com/office/drawing/2014/main" id="{0FD86527-E7DC-4EA8-9312-D279BAB9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1A18"/>
                </a:solidFill>
              </a:defRPr>
            </a:pPr>
            <a:r>
              <a:rPr sz="2175" b="1">
                <a:solidFill>
                  <a:srgbClr val="161A18"/>
                </a:solidFill>
              </a:rPr>
              <a:t>GAM · CatBoost</a:t>
            </a:r>
          </a:p>
        </p:txBody>
      </p:sp>
      <p:sp>
        <p:nvSpPr>
          <p:cNvPr id="14" name="mb-1">
            <a:extLst xmlns:a="http://schemas.openxmlformats.org/drawingml/2006/main">
              <a:ext uri="{FF2B5EF4-FFF2-40B4-BE49-F238E27FC236}">
                <a16:creationId xmlns:a16="http://schemas.microsoft.com/office/drawing/2014/main" id="{011B5753-4731-4708-9CE6-3E5CEF30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746F"/>
                </a:solidFill>
              </a:defRPr>
            </a:pPr>
            <a:r>
              <a:rPr sz="1275" b="0">
                <a:solidFill>
                  <a:srgbClr val="6E746F"/>
                </a:solidFill>
              </a:rPr>
              <a:t>포화·곡률·변수 상호작용 탐색</a:t>
            </a:r>
          </a:p>
        </p:txBody>
      </p:sp>
      <p:sp>
        <p:nvSpPr>
          <p:cNvPr id="15" name="ml-1">
            <a:extLst xmlns:a="http://schemas.openxmlformats.org/drawingml/2006/main">
              <a:ext uri="{FF2B5EF4-FFF2-40B4-BE49-F238E27FC236}">
                <a16:creationId xmlns:a16="http://schemas.microsoft.com/office/drawing/2014/main" id="{7B05399F-F210-46FB-8EE0-B7DD216E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624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n-2">
            <a:extLst xmlns:a="http://schemas.openxmlformats.org/drawingml/2006/main">
              <a:ext uri="{FF2B5EF4-FFF2-40B4-BE49-F238E27FC236}">
                <a16:creationId xmlns:a16="http://schemas.microsoft.com/office/drawing/2014/main" id="{C78E861C-C3D6-4305-9FE0-BCFD9B2D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567F2"/>
                </a:solidFill>
              </a:defRPr>
            </a:pPr>
            <a:r>
              <a:rPr sz="1575" b="1">
                <a:solidFill>
                  <a:srgbClr val="4567F2"/>
                </a:solidFill>
              </a:rPr>
              <a:t>03</a:t>
            </a:r>
          </a:p>
        </p:txBody>
      </p:sp>
      <p:sp>
        <p:nvSpPr>
          <p:cNvPr id="17" name="mh-2">
            <a:extLst xmlns:a="http://schemas.openxmlformats.org/drawingml/2006/main">
              <a:ext uri="{FF2B5EF4-FFF2-40B4-BE49-F238E27FC236}">
                <a16:creationId xmlns:a16="http://schemas.microsoft.com/office/drawing/2014/main" id="{4AB91AA1-AE26-4759-B90E-D8221339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86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67F2"/>
                </a:solidFill>
              </a:defRPr>
            </a:pPr>
            <a:r>
              <a:rPr sz="2175" b="1">
                <a:solidFill>
                  <a:srgbClr val="4567F2"/>
                </a:solidFill>
              </a:rPr>
              <a:t>LightGBM Ranker</a:t>
            </a:r>
          </a:p>
        </p:txBody>
      </p:sp>
      <p:sp>
        <p:nvSpPr>
          <p:cNvPr id="18" name="mb-2">
            <a:extLst xmlns:a="http://schemas.openxmlformats.org/drawingml/2006/main">
              <a:ext uri="{FF2B5EF4-FFF2-40B4-BE49-F238E27FC236}">
                <a16:creationId xmlns:a16="http://schemas.microsoft.com/office/drawing/2014/main" id="{2D239884-82EB-47AE-B2CC-72AAC728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05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746F"/>
                </a:solidFill>
              </a:defRPr>
            </a:pPr>
            <a:r>
              <a:rPr sz="1275" b="0">
                <a:solidFill>
                  <a:srgbClr val="6E746F"/>
                </a:solidFill>
              </a:rPr>
              <a:t>후보 내부 NDCG@5 직접 최적화</a:t>
            </a:r>
          </a:p>
        </p:txBody>
      </p:sp>
      <p:sp>
        <p:nvSpPr>
          <p:cNvPr id="19" name="ml-2">
            <a:extLst xmlns:a="http://schemas.openxmlformats.org/drawingml/2006/main">
              <a:ext uri="{FF2B5EF4-FFF2-40B4-BE49-F238E27FC236}">
                <a16:creationId xmlns:a16="http://schemas.microsoft.com/office/drawing/2014/main" id="{CF35265B-12F4-48C6-BD3B-F452FD6B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626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verify">
            <a:extLst xmlns:a="http://schemas.openxmlformats.org/drawingml/2006/main">
              <a:ext uri="{FF2B5EF4-FFF2-40B4-BE49-F238E27FC236}">
                <a16:creationId xmlns:a16="http://schemas.microsoft.com/office/drawing/2014/main" id="{74AD820C-3A23-450E-99BC-2B15D4CE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erify-text">
            <a:extLst xmlns:a="http://schemas.openxmlformats.org/drawingml/2006/main">
              <a:ext uri="{FF2B5EF4-FFF2-40B4-BE49-F238E27FC236}">
                <a16:creationId xmlns:a16="http://schemas.microsoft.com/office/drawing/2014/main" id="{25CED83E-9625-48C2-8757-72C200FB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13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시간순 CV  ·  지역 홀드아웃  ·  Poisson deviance  ·  NDCG@5  ·  SHAP 안정성</a:t>
            </a:r>
          </a:p>
        </p:txBody>
      </p:sp>
    </p:spTree>
    <p:extLst>
      <p:ext uri="{BB962C8B-B14F-4D97-AF65-F5344CB8AC3E}">
        <p14:creationId xmlns:p14="http://schemas.microsoft.com/office/powerpoint/2010/main" val="241427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n-5">
            <a:extLst xmlns:a="http://schemas.openxmlformats.org/drawingml/2006/main">
              <a:ext uri="{FF2B5EF4-FFF2-40B4-BE49-F238E27FC236}">
                <a16:creationId xmlns:a16="http://schemas.microsoft.com/office/drawing/2014/main" id="{10FCA8D9-9554-450A-88B3-1940564F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67F2"/>
                </a:solidFill>
              </a:defRPr>
            </a:pPr>
            <a:r>
              <a:rPr sz="975" b="1">
                <a:solidFill>
                  <a:srgbClr val="4567F2"/>
                </a:solidFill>
              </a:rPr>
              <a:t>05</a:t>
            </a:r>
          </a:p>
        </p:txBody>
      </p:sp>
      <p:sp>
        <p:nvSpPr>
          <p:cNvPr id="2" name="k-5">
            <a:extLst xmlns:a="http://schemas.openxmlformats.org/drawingml/2006/main">
              <a:ext uri="{FF2B5EF4-FFF2-40B4-BE49-F238E27FC236}">
                <a16:creationId xmlns:a16="http://schemas.microsoft.com/office/drawing/2014/main" id="{35C89D2F-3648-4F94-BA9F-DECBA05F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FINE-TUNING</a:t>
            </a:r>
          </a:p>
        </p:txBody>
      </p:sp>
      <p:sp>
        <p:nvSpPr>
          <p:cNvPr id="3" name="brand-5">
            <a:extLst xmlns:a="http://schemas.openxmlformats.org/drawingml/2006/main">
              <a:ext uri="{FF2B5EF4-FFF2-40B4-BE49-F238E27FC236}">
                <a16:creationId xmlns:a16="http://schemas.microsoft.com/office/drawing/2014/main" id="{8ACBE737-C258-471B-B975-A8BD251A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MAXIMUS · DAT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49A700EB-2AA5-4263-BE96-C5FCAFD1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CFE97F-C4E6-443F-871C-A066A29F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A18"/>
                </a:solidFill>
              </a:defRPr>
            </a:pPr>
            <a:r>
              <a:rPr sz="3000" b="1">
                <a:solidFill>
                  <a:srgbClr val="161A18"/>
                </a:solidFill>
              </a:rPr>
              <a:t>파인튜닝은 시작점이 아니라</a:t>
            </a:r>
          </a:p>
          <a:p xmlns:a="http://schemas.openxmlformats.org/drawingml/2006/main">
            <a:pPr algn="l">
              <a:defRPr sz="3000" b="1">
                <a:solidFill>
                  <a:srgbClr val="161A18"/>
                </a:solidFill>
              </a:defRPr>
            </a:pPr>
            <a:r>
              <a:rPr sz="3000" b="1">
                <a:solidFill>
                  <a:srgbClr val="161A18"/>
                </a:solidFill>
              </a:rPr>
              <a:t>데이터가 쌓인 뒤의 실험이다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b2c3d1ab04e0a"/>
          <a:stretch xmlns:a="http://schemas.openxmlformats.org/drawingml/2006/main"/>
        </p:blipFill>
        <p:spPr>
          <a:xfrm xmlns:a="http://schemas.openxmlformats.org/drawingml/2006/main">
            <a:off x="6381750" y="1295400"/>
            <a:ext cx="4857750" cy="2400300"/>
          </a:xfrm>
          <a:prstGeom xmlns:a="http://schemas.openxmlformats.org/drawingml/2006/main" prst="rect">
            <a:avLst/>
          </a:prstGeom>
        </p:spPr>
      </p:pic>
      <p:sp>
        <p:nvSpPr>
          <p:cNvPr id="7" name="rt-0">
            <a:extLst xmlns:a="http://schemas.openxmlformats.org/drawingml/2006/main">
              <a:ext uri="{FF2B5EF4-FFF2-40B4-BE49-F238E27FC236}">
                <a16:creationId xmlns:a16="http://schemas.microsoft.com/office/drawing/2014/main" id="{349F5E9A-78CD-4830-B852-ED6040F0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67F2"/>
                </a:solidFill>
              </a:defRPr>
            </a:pPr>
            <a:r>
              <a:rPr sz="1200" b="1">
                <a:solidFill>
                  <a:srgbClr val="4567F2"/>
                </a:solidFill>
              </a:rPr>
              <a:t>NOW</a:t>
            </a:r>
          </a:p>
        </p:txBody>
      </p:sp>
      <p:sp>
        <p:nvSpPr>
          <p:cNvPr id="8" name="rh-0">
            <a:extLst xmlns:a="http://schemas.openxmlformats.org/drawingml/2006/main">
              <a:ext uri="{FF2B5EF4-FFF2-40B4-BE49-F238E27FC236}">
                <a16:creationId xmlns:a16="http://schemas.microsoft.com/office/drawing/2014/main" id="{4B6777C1-25A0-417D-B903-1B58CE09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567F2"/>
                </a:solidFill>
              </a:defRPr>
            </a:pPr>
            <a:r>
              <a:rPr sz="1875" b="1">
                <a:solidFill>
                  <a:srgbClr val="4567F2"/>
                </a:solidFill>
              </a:rPr>
              <a:t>Frozen SBERT</a:t>
            </a:r>
          </a:p>
        </p:txBody>
      </p:sp>
      <p:sp>
        <p:nvSpPr>
          <p:cNvPr id="9" name="rb-0">
            <a:extLst xmlns:a="http://schemas.openxmlformats.org/drawingml/2006/main">
              <a:ext uri="{FF2B5EF4-FFF2-40B4-BE49-F238E27FC236}">
                <a16:creationId xmlns:a16="http://schemas.microsoft.com/office/drawing/2014/main" id="{ED34C9CC-05DC-4D02-A2F3-39D0CB82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746F"/>
                </a:solidFill>
              </a:defRPr>
            </a:pPr>
            <a:r>
              <a:rPr sz="1275" b="0">
                <a:solidFill>
                  <a:srgbClr val="6E746F"/>
                </a:solidFill>
              </a:rPr>
              <a:t>사용자 목적 문장과 점포 텍스트 유사도를 랭킹 피처로 사용</a:t>
            </a:r>
          </a:p>
        </p:txBody>
      </p:sp>
      <p:sp>
        <p:nvSpPr>
          <p:cNvPr id="10" name="rl-0">
            <a:extLst xmlns:a="http://schemas.openxmlformats.org/drawingml/2006/main">
              <a:ext uri="{FF2B5EF4-FFF2-40B4-BE49-F238E27FC236}">
                <a16:creationId xmlns:a16="http://schemas.microsoft.com/office/drawing/2014/main" id="{69E6C250-F28F-42A2-89C2-263A010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t-1">
            <a:extLst xmlns:a="http://schemas.openxmlformats.org/drawingml/2006/main">
              <a:ext uri="{FF2B5EF4-FFF2-40B4-BE49-F238E27FC236}">
                <a16:creationId xmlns:a16="http://schemas.microsoft.com/office/drawing/2014/main" id="{6B88A59D-DDC9-442E-AAF3-E86F52DC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746F"/>
                </a:solidFill>
              </a:defRPr>
            </a:pPr>
            <a:r>
              <a:rPr sz="1200" b="1">
                <a:solidFill>
                  <a:srgbClr val="6E746F"/>
                </a:solidFill>
              </a:rPr>
              <a:t>NEXT</a:t>
            </a:r>
          </a:p>
        </p:txBody>
      </p:sp>
      <p:sp>
        <p:nvSpPr>
          <p:cNvPr id="12" name="rh-1">
            <a:extLst xmlns:a="http://schemas.openxmlformats.org/drawingml/2006/main">
              <a:ext uri="{FF2B5EF4-FFF2-40B4-BE49-F238E27FC236}">
                <a16:creationId xmlns:a16="http://schemas.microsoft.com/office/drawing/2014/main" id="{6E75C0E2-3CB7-4198-A905-ECF0EA01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A18"/>
                </a:solidFill>
              </a:defRPr>
            </a:pPr>
            <a:r>
              <a:rPr sz="1875" b="1">
                <a:solidFill>
                  <a:srgbClr val="161A18"/>
                </a:solidFill>
              </a:rPr>
              <a:t>Weak supervision</a:t>
            </a:r>
          </a:p>
        </p:txBody>
      </p:sp>
      <p:sp>
        <p:nvSpPr>
          <p:cNvPr id="13" name="rb-1">
            <a:extLst xmlns:a="http://schemas.openxmlformats.org/drawingml/2006/main">
              <a:ext uri="{FF2B5EF4-FFF2-40B4-BE49-F238E27FC236}">
                <a16:creationId xmlns:a16="http://schemas.microsoft.com/office/drawing/2014/main" id="{80D65C94-D20E-4FF3-9B05-256CC3E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746F"/>
                </a:solidFill>
              </a:defRPr>
            </a:pPr>
            <a:r>
              <a:rPr sz="1275" b="0">
                <a:solidFill>
                  <a:srgbClr val="6E746F"/>
                </a:solidFill>
              </a:rPr>
              <a:t>목적–업종 규칙으로 positive·hard negative 쌍 생성</a:t>
            </a:r>
          </a:p>
        </p:txBody>
      </p:sp>
      <p:sp>
        <p:nvSpPr>
          <p:cNvPr id="14" name="rl-1">
            <a:extLst xmlns:a="http://schemas.openxmlformats.org/drawingml/2006/main">
              <a:ext uri="{FF2B5EF4-FFF2-40B4-BE49-F238E27FC236}">
                <a16:creationId xmlns:a16="http://schemas.microsoft.com/office/drawing/2014/main" id="{6E1EE755-0398-46F8-998F-5A174E41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t-2">
            <a:extLst xmlns:a="http://schemas.openxmlformats.org/drawingml/2006/main">
              <a:ext uri="{FF2B5EF4-FFF2-40B4-BE49-F238E27FC236}">
                <a16:creationId xmlns:a16="http://schemas.microsoft.com/office/drawing/2014/main" id="{03A2E35F-68E4-48D6-8B55-D5AC653B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746F"/>
                </a:solidFill>
              </a:defRPr>
            </a:pPr>
            <a:r>
              <a:rPr sz="1200" b="1">
                <a:solidFill>
                  <a:srgbClr val="6E746F"/>
                </a:solidFill>
              </a:rPr>
              <a:t>LATER</a:t>
            </a:r>
          </a:p>
        </p:txBody>
      </p:sp>
      <p:sp>
        <p:nvSpPr>
          <p:cNvPr id="16" name="rh-2">
            <a:extLst xmlns:a="http://schemas.openxmlformats.org/drawingml/2006/main">
              <a:ext uri="{FF2B5EF4-FFF2-40B4-BE49-F238E27FC236}">
                <a16:creationId xmlns:a16="http://schemas.microsoft.com/office/drawing/2014/main" id="{DAB901DF-E42E-45D5-8498-07D226CA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A18"/>
                </a:solidFill>
              </a:defRPr>
            </a:pPr>
            <a:r>
              <a:rPr sz="1875" b="1">
                <a:solidFill>
                  <a:srgbClr val="161A18"/>
                </a:solidFill>
              </a:rPr>
              <a:t>Contrastive FT</a:t>
            </a:r>
          </a:p>
        </p:txBody>
      </p:sp>
      <p:sp>
        <p:nvSpPr>
          <p:cNvPr id="17" name="rb-2">
            <a:extLst xmlns:a="http://schemas.openxmlformats.org/drawingml/2006/main">
              <a:ext uri="{FF2B5EF4-FFF2-40B4-BE49-F238E27FC236}">
                <a16:creationId xmlns:a16="http://schemas.microsoft.com/office/drawing/2014/main" id="{101B4CC4-ABD9-43F5-AB20-2A7C4F92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244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746F"/>
                </a:solidFill>
              </a:defRPr>
            </a:pPr>
            <a:r>
              <a:rPr sz="1275" b="0">
                <a:solidFill>
                  <a:srgbClr val="6E746F"/>
                </a:solidFill>
              </a:rPr>
              <a:t>실제 선택 로그가 충분할 때 InfoNCE·triplet loss 비교</a:t>
            </a:r>
          </a:p>
        </p:txBody>
      </p:sp>
      <p:sp>
        <p:nvSpPr>
          <p:cNvPr id="18" name="rl-2">
            <a:extLst xmlns:a="http://schemas.openxmlformats.org/drawingml/2006/main">
              <a:ext uri="{FF2B5EF4-FFF2-40B4-BE49-F238E27FC236}">
                <a16:creationId xmlns:a16="http://schemas.microsoft.com/office/drawing/2014/main" id="{3711FF78-79B0-4B66-8BFC-A70FC136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054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dopt">
            <a:extLst xmlns:a="http://schemas.openxmlformats.org/drawingml/2006/main">
              <a:ext uri="{FF2B5EF4-FFF2-40B4-BE49-F238E27FC236}">
                <a16:creationId xmlns:a16="http://schemas.microsoft.com/office/drawing/2014/main" id="{98C878FD-553E-4E6C-BA2F-4900DA39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F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dopt-text">
            <a:extLst xmlns:a="http://schemas.openxmlformats.org/drawingml/2006/main">
              <a:ext uri="{FF2B5EF4-FFF2-40B4-BE49-F238E27FC236}">
                <a16:creationId xmlns:a16="http://schemas.microsoft.com/office/drawing/2014/main" id="{A37D04BD-9A50-4CDC-AC2E-5031E677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245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A18"/>
                </a:solidFill>
              </a:defRPr>
            </a:pPr>
            <a:r>
              <a:rPr sz="1425" b="1">
                <a:solidFill>
                  <a:srgbClr val="161A18"/>
                </a:solidFill>
              </a:rPr>
              <a:t>채택 조건  Frozen 대비 Recall@K·NDCG 상승 + 지역 홀드아웃 성능 유지</a:t>
            </a:r>
          </a:p>
        </p:txBody>
      </p:sp>
    </p:spTree>
    <p:extLst>
      <p:ext uri="{BB962C8B-B14F-4D97-AF65-F5344CB8AC3E}">
        <p14:creationId xmlns:p14="http://schemas.microsoft.com/office/powerpoint/2010/main" val="1270078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n-6">
            <a:extLst xmlns:a="http://schemas.openxmlformats.org/drawingml/2006/main">
              <a:ext uri="{FF2B5EF4-FFF2-40B4-BE49-F238E27FC236}">
                <a16:creationId xmlns:a16="http://schemas.microsoft.com/office/drawing/2014/main" id="{F3B5AE74-3202-4358-A6B9-3E76F178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67F2"/>
                </a:solidFill>
              </a:defRPr>
            </a:pPr>
            <a:r>
              <a:rPr sz="975" b="1">
                <a:solidFill>
                  <a:srgbClr val="4567F2"/>
                </a:solidFill>
              </a:rPr>
              <a:t>06</a:t>
            </a:r>
          </a:p>
        </p:txBody>
      </p:sp>
      <p:sp>
        <p:nvSpPr>
          <p:cNvPr id="2" name="k-6">
            <a:extLst xmlns:a="http://schemas.openxmlformats.org/drawingml/2006/main">
              <a:ext uri="{FF2B5EF4-FFF2-40B4-BE49-F238E27FC236}">
                <a16:creationId xmlns:a16="http://schemas.microsoft.com/office/drawing/2014/main" id="{284D61AF-A0C5-4689-B500-75BEABC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SEMESTER OUTCOME</a:t>
            </a:r>
          </a:p>
        </p:txBody>
      </p:sp>
      <p:sp>
        <p:nvSpPr>
          <p:cNvPr id="3" name="brand-6">
            <a:extLst xmlns:a="http://schemas.openxmlformats.org/drawingml/2006/main">
              <a:ext uri="{FF2B5EF4-FFF2-40B4-BE49-F238E27FC236}">
                <a16:creationId xmlns:a16="http://schemas.microsoft.com/office/drawing/2014/main" id="{D60798F4-231D-4805-B2C7-A2C365A1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746F"/>
                </a:solidFill>
              </a:defRPr>
            </a:pPr>
            <a:r>
              <a:rPr sz="975" b="1">
                <a:solidFill>
                  <a:srgbClr val="6E746F"/>
                </a:solidFill>
              </a:rPr>
              <a:t>MAXIMUS · DAT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C237B280-9960-4B19-A90A-C178C49D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B5BF167-D3A0-45AA-983E-8FBA9062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A18"/>
                </a:solidFill>
              </a:defRPr>
            </a:pPr>
            <a:r>
              <a:rPr sz="3000" b="1">
                <a:solidFill>
                  <a:srgbClr val="161A18"/>
                </a:solidFill>
              </a:rPr>
              <a:t>한 학기 동안 ‘추천 이유’를 검증한다</a:t>
            </a:r>
          </a:p>
        </p:txBody>
      </p:sp>
      <p:sp>
        <p:nvSpPr>
          <p:cNvPr id="6" name="desc">
            <a:extLst xmlns:a="http://schemas.openxmlformats.org/drawingml/2006/main">
              <a:ext uri="{FF2B5EF4-FFF2-40B4-BE49-F238E27FC236}">
                <a16:creationId xmlns:a16="http://schemas.microsoft.com/office/drawing/2014/main" id="{1AF20D2C-E659-4C15-AC6A-8FE13B7E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746F"/>
                </a:solidFill>
              </a:defRPr>
            </a:pPr>
            <a:r>
              <a:rPr sz="1425" b="0">
                <a:solidFill>
                  <a:srgbClr val="6E746F"/>
                </a:solidFill>
              </a:rPr>
              <a:t>모델이 낸 답보다, 그 답이 새 시점과 새 지역에서도 유지되는지를 봅니다.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c803992184363"/>
          <a:stretch xmlns:a="http://schemas.openxmlformats.org/drawingml/2006/main"/>
        </p:blipFill>
        <p:spPr>
          <a:xfrm xmlns:a="http://schemas.openxmlformats.org/drawingml/2006/main">
            <a:off x="552450" y="2211705"/>
            <a:ext cx="5334000" cy="2987040"/>
          </a:xfrm>
          <a:prstGeom xmlns:a="http://schemas.openxmlformats.org/drawingml/2006/main" prst="rect">
            <a:avLst/>
          </a:prstGeom>
        </p:spPr>
      </p:pic>
      <p:sp>
        <p:nvSpPr>
          <p:cNvPr id="8" name="in-0">
            <a:extLst xmlns:a="http://schemas.openxmlformats.org/drawingml/2006/main">
              <a:ext uri="{FF2B5EF4-FFF2-40B4-BE49-F238E27FC236}">
                <a16:creationId xmlns:a16="http://schemas.microsoft.com/office/drawing/2014/main" id="{4B928A95-0755-43CD-9660-32888FA2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67F2"/>
                </a:solidFill>
              </a:defRPr>
            </a:pPr>
            <a:r>
              <a:rPr sz="1275" b="1">
                <a:solidFill>
                  <a:srgbClr val="4567F2"/>
                </a:solidFill>
              </a:rPr>
              <a:t>01</a:t>
            </a:r>
          </a:p>
        </p:txBody>
      </p:sp>
      <p:sp>
        <p:nvSpPr>
          <p:cNvPr id="9" name="ih-0">
            <a:extLst xmlns:a="http://schemas.openxmlformats.org/drawingml/2006/main">
              <a:ext uri="{FF2B5EF4-FFF2-40B4-BE49-F238E27FC236}">
                <a16:creationId xmlns:a16="http://schemas.microsoft.com/office/drawing/2014/main" id="{DC820C79-2823-4A0B-A160-7216E1C0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A18"/>
                </a:solidFill>
              </a:defRPr>
            </a:pPr>
            <a:r>
              <a:rPr sz="1800" b="1">
                <a:solidFill>
                  <a:srgbClr val="161A18"/>
                </a:solidFill>
              </a:rPr>
              <a:t>DATA</a:t>
            </a:r>
          </a:p>
        </p:txBody>
      </p:sp>
      <p:sp>
        <p:nvSpPr>
          <p:cNvPr id="10" name="ib-0">
            <a:extLst xmlns:a="http://schemas.openxmlformats.org/drawingml/2006/main">
              <a:ext uri="{FF2B5EF4-FFF2-40B4-BE49-F238E27FC236}">
                <a16:creationId xmlns:a16="http://schemas.microsoft.com/office/drawing/2014/main" id="{BAE9CF83-FEAC-4FBF-AAE2-0FC2BA3B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B078·B079 정합성</a:t>
            </a:r>
          </a:p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50분 후보군</a:t>
            </a:r>
          </a:p>
        </p:txBody>
      </p:sp>
      <p:sp>
        <p:nvSpPr>
          <p:cNvPr id="11" name="in-1">
            <a:extLst xmlns:a="http://schemas.openxmlformats.org/drawingml/2006/main">
              <a:ext uri="{FF2B5EF4-FFF2-40B4-BE49-F238E27FC236}">
                <a16:creationId xmlns:a16="http://schemas.microsoft.com/office/drawing/2014/main" id="{1592094B-A8C2-4876-9EEE-51C278C8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67F2"/>
                </a:solidFill>
              </a:defRPr>
            </a:pPr>
            <a:r>
              <a:rPr sz="1275" b="1">
                <a:solidFill>
                  <a:srgbClr val="4567F2"/>
                </a:solidFill>
              </a:rPr>
              <a:t>02</a:t>
            </a:r>
          </a:p>
        </p:txBody>
      </p:sp>
      <p:sp>
        <p:nvSpPr>
          <p:cNvPr id="12" name="ih-1">
            <a:extLst xmlns:a="http://schemas.openxmlformats.org/drawingml/2006/main">
              <a:ext uri="{FF2B5EF4-FFF2-40B4-BE49-F238E27FC236}">
                <a16:creationId xmlns:a16="http://schemas.microsoft.com/office/drawing/2014/main" id="{D29EE28D-134F-4E60-93D0-289C60A9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A18"/>
                </a:solidFill>
              </a:defRPr>
            </a:pPr>
            <a:r>
              <a:rPr sz="1800" b="1">
                <a:solidFill>
                  <a:srgbClr val="161A18"/>
                </a:solidFill>
              </a:rPr>
              <a:t>GAP</a:t>
            </a:r>
          </a:p>
        </p:txBody>
      </p:sp>
      <p:sp>
        <p:nvSpPr>
          <p:cNvPr id="13" name="ib-1">
            <a:extLst xmlns:a="http://schemas.openxmlformats.org/drawingml/2006/main">
              <a:ext uri="{FF2B5EF4-FFF2-40B4-BE49-F238E27FC236}">
                <a16:creationId xmlns:a16="http://schemas.microsoft.com/office/drawing/2014/main" id="{E21412C3-0C8A-4437-9225-E0BFD524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미래 시점 잔차</a:t>
            </a:r>
          </a:p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통과형·목적소비형</a:t>
            </a:r>
          </a:p>
        </p:txBody>
      </p:sp>
      <p:sp>
        <p:nvSpPr>
          <p:cNvPr id="14" name="in-2">
            <a:extLst xmlns:a="http://schemas.openxmlformats.org/drawingml/2006/main">
              <a:ext uri="{FF2B5EF4-FFF2-40B4-BE49-F238E27FC236}">
                <a16:creationId xmlns:a16="http://schemas.microsoft.com/office/drawing/2014/main" id="{B31F659B-65E1-41CC-A15A-6F7F05E1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67F2"/>
                </a:solidFill>
              </a:defRPr>
            </a:pPr>
            <a:r>
              <a:rPr sz="1275" b="1">
                <a:solidFill>
                  <a:srgbClr val="4567F2"/>
                </a:solidFill>
              </a:rPr>
              <a:t>03</a:t>
            </a:r>
          </a:p>
        </p:txBody>
      </p:sp>
      <p:sp>
        <p:nvSpPr>
          <p:cNvPr id="15" name="ih-2">
            <a:extLst xmlns:a="http://schemas.openxmlformats.org/drawingml/2006/main">
              <a:ext uri="{FF2B5EF4-FFF2-40B4-BE49-F238E27FC236}">
                <a16:creationId xmlns:a16="http://schemas.microsoft.com/office/drawing/2014/main" id="{90D4FB4B-FBCA-46DF-B169-7F2C1CF4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A18"/>
                </a:solidFill>
              </a:defRPr>
            </a:pPr>
            <a:r>
              <a:rPr sz="1800" b="1">
                <a:solidFill>
                  <a:srgbClr val="161A18"/>
                </a:solidFill>
              </a:rPr>
              <a:t>RANK</a:t>
            </a:r>
          </a:p>
        </p:txBody>
      </p:sp>
      <p:sp>
        <p:nvSpPr>
          <p:cNvPr id="16" name="ib-2">
            <a:extLst xmlns:a="http://schemas.openxmlformats.org/drawingml/2006/main">
              <a:ext uri="{FF2B5EF4-FFF2-40B4-BE49-F238E27FC236}">
                <a16:creationId xmlns:a16="http://schemas.microsoft.com/office/drawing/2014/main" id="{DBE17349-A0ED-40A9-ADC4-F096C40D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148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목적별 Top-K</a:t>
            </a:r>
          </a:p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NDCG@5·Recall@K</a:t>
            </a:r>
          </a:p>
        </p:txBody>
      </p:sp>
      <p:sp>
        <p:nvSpPr>
          <p:cNvPr id="17" name="in-3">
            <a:extLst xmlns:a="http://schemas.openxmlformats.org/drawingml/2006/main">
              <a:ext uri="{FF2B5EF4-FFF2-40B4-BE49-F238E27FC236}">
                <a16:creationId xmlns:a16="http://schemas.microsoft.com/office/drawing/2014/main" id="{B03C1A1C-377D-41FE-B107-0DB99D8F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71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67F2"/>
                </a:solidFill>
              </a:defRPr>
            </a:pPr>
            <a:r>
              <a:rPr sz="1275" b="1">
                <a:solidFill>
                  <a:srgbClr val="4567F2"/>
                </a:solidFill>
              </a:rPr>
              <a:t>04</a:t>
            </a:r>
          </a:p>
        </p:txBody>
      </p:sp>
      <p:sp>
        <p:nvSpPr>
          <p:cNvPr id="18" name="ih-3">
            <a:extLst xmlns:a="http://schemas.openxmlformats.org/drawingml/2006/main">
              <a:ext uri="{FF2B5EF4-FFF2-40B4-BE49-F238E27FC236}">
                <a16:creationId xmlns:a16="http://schemas.microsoft.com/office/drawing/2014/main" id="{1A2C99F0-08DB-4D3A-8E04-4FD1C8AA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9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A18"/>
                </a:solidFill>
              </a:defRPr>
            </a:pPr>
            <a:r>
              <a:rPr sz="1800" b="1">
                <a:solidFill>
                  <a:srgbClr val="161A18"/>
                </a:solidFill>
              </a:rPr>
              <a:t>EXPLAIN</a:t>
            </a:r>
          </a:p>
        </p:txBody>
      </p:sp>
      <p:sp>
        <p:nvSpPr>
          <p:cNvPr id="19" name="ib-3">
            <a:extLst xmlns:a="http://schemas.openxmlformats.org/drawingml/2006/main">
              <a:ext uri="{FF2B5EF4-FFF2-40B4-BE49-F238E27FC236}">
                <a16:creationId xmlns:a16="http://schemas.microsoft.com/office/drawing/2014/main" id="{AEB8E600-4AFB-45B1-816A-8CF2B65C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148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SHAP·계수·반례</a:t>
            </a:r>
          </a:p>
          <a:p xmlns:a="http://schemas.openxmlformats.org/drawingml/2006/main">
            <a:pPr algn="l">
              <a:defRPr sz="1200" b="0">
                <a:solidFill>
                  <a:srgbClr val="6E746F"/>
                </a:solidFill>
              </a:defRPr>
            </a:pPr>
            <a:r>
              <a:rPr sz="1200" b="0">
                <a:solidFill>
                  <a:srgbClr val="6E746F"/>
                </a:solidFill>
              </a:rPr>
              <a:t>추천 근거 점검</a:t>
            </a:r>
          </a:p>
        </p:txBody>
      </p:sp>
      <p:sp>
        <p:nvSpPr>
          <p:cNvPr id="20" name="final">
            <a:extLst xmlns:a="http://schemas.openxmlformats.org/drawingml/2006/main">
              <a:ext uri="{FF2B5EF4-FFF2-40B4-BE49-F238E27FC236}">
                <a16:creationId xmlns:a16="http://schemas.microsoft.com/office/drawing/2014/main" id="{21E9A1ED-146A-410A-8A8A-EEBC9AD1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87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inal-text">
            <a:extLst xmlns:a="http://schemas.openxmlformats.org/drawingml/2006/main">
              <a:ext uri="{FF2B5EF4-FFF2-40B4-BE49-F238E27FC236}">
                <a16:creationId xmlns:a16="http://schemas.microsoft.com/office/drawing/2014/main" id="{DCE4C498-20A6-45FE-BC6C-146CA034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최종 산출물  목적별 후보 생성기 + 유동–매출 괴리모형 + 설명 가능한 목적지 랭커</a:t>
            </a:r>
          </a:p>
        </p:txBody>
      </p:sp>
    </p:spTree>
    <p:extLst>
      <p:ext uri="{BB962C8B-B14F-4D97-AF65-F5344CB8AC3E}">
        <p14:creationId xmlns:p14="http://schemas.microsoft.com/office/powerpoint/2010/main" val="12434194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2026-08-31T08:06:56.3670000Z</dcterms:created>
  <dcterms:modified xsi:type="dcterms:W3CDTF">2026-08-31T08:06:56.3670000Z</dcterms:modified>
</coreProperties>
</file>