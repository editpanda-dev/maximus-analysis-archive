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da4a142a644ac1" /><Relationship Type="http://schemas.openxmlformats.org/officeDocument/2006/relationships/extended-properties" Target="/docProps/app.xml" Id="R1fb045e74f6b48b1" /><Relationship Type="http://schemas.openxmlformats.org/officeDocument/2006/relationships/officeDocument" Target="/ppt/presentation.xml" Id="Re956fabe929347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5da5dd174a4800"/>
  </p:sldMasterIdLst>
  <p:notesMasterIdLst>
    <p:notesMasterId xmlns:r="http://schemas.openxmlformats.org/officeDocument/2006/relationships" r:id="Rb56a655480c34e20"/>
  </p:notesMasterIdLst>
  <p:sldIdLst>
    <p:sldId xmlns:r="http://schemas.openxmlformats.org/officeDocument/2006/relationships" id="256" r:id="R4cf7210140424860"/>
    <p:sldId xmlns:r="http://schemas.openxmlformats.org/officeDocument/2006/relationships" id="257" r:id="Rd8dd8cc5c1764275"/>
    <p:sldId xmlns:r="http://schemas.openxmlformats.org/officeDocument/2006/relationships" id="258" r:id="Rc3172669f6ea4fb6"/>
    <p:sldId xmlns:r="http://schemas.openxmlformats.org/officeDocument/2006/relationships" id="259" r:id="R1e035227e5784c74"/>
    <p:sldId xmlns:r="http://schemas.openxmlformats.org/officeDocument/2006/relationships" id="260" r:id="Rd0bbfa3a3c44462c"/>
    <p:sldId xmlns:r="http://schemas.openxmlformats.org/officeDocument/2006/relationships" id="261" r:id="Rdd83caec750d4188"/>
    <p:sldId xmlns:r="http://schemas.openxmlformats.org/officeDocument/2006/relationships" id="262" r:id="R8bef89dc6801472b"/>
    <p:sldId xmlns:r="http://schemas.openxmlformats.org/officeDocument/2006/relationships" id="263" r:id="R3fc29431647e48c5"/>
    <p:sldId xmlns:r="http://schemas.openxmlformats.org/officeDocument/2006/relationships" id="264" r:id="R19308d96aad64e17"/>
    <p:sldId xmlns:r="http://schemas.openxmlformats.org/officeDocument/2006/relationships" id="265" r:id="R467f8b5cbe284bc9"/>
    <p:sldId xmlns:r="http://schemas.openxmlformats.org/officeDocument/2006/relationships" id="266" r:id="R269bf38d051a45bb"/>
    <p:sldId xmlns:r="http://schemas.openxmlformats.org/officeDocument/2006/relationships" id="267" r:id="R4fc8e7450d4f4678"/>
    <p:sldId xmlns:r="http://schemas.openxmlformats.org/officeDocument/2006/relationships" id="268" r:id="R19780de1f61944c2"/>
    <p:sldId xmlns:r="http://schemas.openxmlformats.org/officeDocument/2006/relationships" id="269" r:id="R9a192aca656948dd"/>
    <p:sldId xmlns:r="http://schemas.openxmlformats.org/officeDocument/2006/relationships" id="270" r:id="R445fc7730f49477f"/>
    <p:sldId xmlns:r="http://schemas.openxmlformats.org/officeDocument/2006/relationships" id="271" r:id="R00e8fcbe787d49a6"/>
    <p:sldId xmlns:r="http://schemas.openxmlformats.org/officeDocument/2006/relationships" id="272" r:id="Rf0d8b2fa82944000"/>
    <p:sldId xmlns:r="http://schemas.openxmlformats.org/officeDocument/2006/relationships" id="273" r:id="R0eba14dc042c475b"/>
    <p:sldId xmlns:r="http://schemas.openxmlformats.org/officeDocument/2006/relationships" id="274" r:id="R8749365a09c54a37"/>
    <p:sldId xmlns:r="http://schemas.openxmlformats.org/officeDocument/2006/relationships" id="275" r:id="R1b0f4f1eea2743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9123b1c9a84d44" /><Relationship Type="http://schemas.openxmlformats.org/officeDocument/2006/relationships/slideMaster" Target="/ppt/slideMasters/slideMaster1.xml" Id="Rb85da5dd174a4800" /><Relationship Type="http://schemas.openxmlformats.org/officeDocument/2006/relationships/notesMaster" Target="/ppt/notesMasters/notesMaster1.xml" Id="Rb56a655480c34e20" /><Relationship Type="http://schemas.openxmlformats.org/officeDocument/2006/relationships/presProps" Target="/ppt/presProps.xml" Id="R3d40150748b14087" /><Relationship Type="http://schemas.openxmlformats.org/officeDocument/2006/relationships/tableStyles" Target="/ppt/tableStyles.xml" Id="Rf05dc3a9cfd64f2e" /><Relationship Type="http://schemas.openxmlformats.org/officeDocument/2006/relationships/slide" Target="/ppt/slides/slide1.xml" Id="R4cf7210140424860" /><Relationship Type="http://schemas.openxmlformats.org/officeDocument/2006/relationships/slide" Target="/ppt/slides/slide2.xml" Id="Rd8dd8cc5c1764275" /><Relationship Type="http://schemas.openxmlformats.org/officeDocument/2006/relationships/slide" Target="/ppt/slides/slide3.xml" Id="Rc3172669f6ea4fb6" /><Relationship Type="http://schemas.openxmlformats.org/officeDocument/2006/relationships/slide" Target="/ppt/slides/slide4.xml" Id="R1e035227e5784c74" /><Relationship Type="http://schemas.openxmlformats.org/officeDocument/2006/relationships/slide" Target="/ppt/slides/slide5.xml" Id="Rd0bbfa3a3c44462c" /><Relationship Type="http://schemas.openxmlformats.org/officeDocument/2006/relationships/slide" Target="/ppt/slides/slide6.xml" Id="Rdd83caec750d4188" /><Relationship Type="http://schemas.openxmlformats.org/officeDocument/2006/relationships/slide" Target="/ppt/slides/slide7.xml" Id="R8bef89dc6801472b" /><Relationship Type="http://schemas.openxmlformats.org/officeDocument/2006/relationships/slide" Target="/ppt/slides/slide8.xml" Id="R3fc29431647e48c5" /><Relationship Type="http://schemas.openxmlformats.org/officeDocument/2006/relationships/slide" Target="/ppt/slides/slide9.xml" Id="R19308d96aad64e17" /><Relationship Type="http://schemas.openxmlformats.org/officeDocument/2006/relationships/slide" Target="/ppt/slides/slide10.xml" Id="R467f8b5cbe284bc9" /><Relationship Type="http://schemas.openxmlformats.org/officeDocument/2006/relationships/slide" Target="/ppt/slides/slide11.xml" Id="R269bf38d051a45bb" /><Relationship Type="http://schemas.openxmlformats.org/officeDocument/2006/relationships/slide" Target="/ppt/slides/slide12.xml" Id="R4fc8e7450d4f4678" /><Relationship Type="http://schemas.openxmlformats.org/officeDocument/2006/relationships/slide" Target="/ppt/slides/slide13.xml" Id="R19780de1f61944c2" /><Relationship Type="http://schemas.openxmlformats.org/officeDocument/2006/relationships/slide" Target="/ppt/slides/slide14.xml" Id="R9a192aca656948dd" /><Relationship Type="http://schemas.openxmlformats.org/officeDocument/2006/relationships/slide" Target="/ppt/slides/slide15.xml" Id="R445fc7730f49477f" /><Relationship Type="http://schemas.openxmlformats.org/officeDocument/2006/relationships/slide" Target="/ppt/slides/slide16.xml" Id="R00e8fcbe787d49a6" /><Relationship Type="http://schemas.openxmlformats.org/officeDocument/2006/relationships/slide" Target="/ppt/slides/slide17.xml" Id="Rf0d8b2fa82944000" /><Relationship Type="http://schemas.openxmlformats.org/officeDocument/2006/relationships/slide" Target="/ppt/slides/slide18.xml" Id="R0eba14dc042c475b" /><Relationship Type="http://schemas.openxmlformats.org/officeDocument/2006/relationships/slide" Target="/ppt/slides/slide19.xml" Id="R8749365a09c54a37" /><Relationship Type="http://schemas.openxmlformats.org/officeDocument/2006/relationships/slide" Target="/ppt/slides/slide20.xml" Id="R1b0f4f1eea27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c90b27901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244b4933ca4c79" /><Relationship Type="http://schemas.openxmlformats.org/officeDocument/2006/relationships/notesMaster" Target="/ppt/notesMasters/notesMaster1.xml" Id="R824cb7d9accf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305997736f4d0d" /><Relationship Type="http://schemas.openxmlformats.org/officeDocument/2006/relationships/notesMaster" Target="/ppt/notesMasters/notesMaster1.xml" Id="Reabd60733c6e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69d73fb94e4e42" /><Relationship Type="http://schemas.openxmlformats.org/officeDocument/2006/relationships/notesMaster" Target="/ppt/notesMasters/notesMaster1.xml" Id="Radbc53b1d3214c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b06045b224931" /><Relationship Type="http://schemas.openxmlformats.org/officeDocument/2006/relationships/notesMaster" Target="/ppt/notesMasters/notesMaster1.xml" Id="Rc64bc9da6ec6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7ff81d3474aef" /><Relationship Type="http://schemas.openxmlformats.org/officeDocument/2006/relationships/notesMaster" Target="/ppt/notesMasters/notesMaster1.xml" Id="R9cd4284397fb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4aafd2ecc34db8" /><Relationship Type="http://schemas.openxmlformats.org/officeDocument/2006/relationships/notesMaster" Target="/ppt/notesMasters/notesMaster1.xml" Id="R18d13cc6ea1547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7f853f8034762" /><Relationship Type="http://schemas.openxmlformats.org/officeDocument/2006/relationships/notesMaster" Target="/ppt/notesMasters/notesMaster1.xml" Id="R615c9cade68a44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006f00344a4ba1" /><Relationship Type="http://schemas.openxmlformats.org/officeDocument/2006/relationships/notesMaster" Target="/ppt/notesMasters/notesMaster1.xml" Id="Ra2b88fcd9f2d43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bda47d39df4c16" /><Relationship Type="http://schemas.openxmlformats.org/officeDocument/2006/relationships/notesMaster" Target="/ppt/notesMasters/notesMaster1.xml" Id="R337cb7c7160c47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8abebcc316408e" /><Relationship Type="http://schemas.openxmlformats.org/officeDocument/2006/relationships/notesMaster" Target="/ppt/notesMasters/notesMaster1.xml" Id="R3d4f9d1b8bb244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0f8ab6f10243b4" /><Relationship Type="http://schemas.openxmlformats.org/officeDocument/2006/relationships/notesMaster" Target="/ppt/notesMasters/notesMaster1.xml" Id="R26bb6a121ad349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7ed5f84feb4b83" /><Relationship Type="http://schemas.openxmlformats.org/officeDocument/2006/relationships/notesMaster" Target="/ppt/notesMasters/notesMaster1.xml" Id="R835dffa98e5245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d3b56270534db8" /><Relationship Type="http://schemas.openxmlformats.org/officeDocument/2006/relationships/notesMaster" Target="/ppt/notesMasters/notesMaster1.xml" Id="Reef794b0dff349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703291271f4a5e" /><Relationship Type="http://schemas.openxmlformats.org/officeDocument/2006/relationships/notesMaster" Target="/ppt/notesMasters/notesMaster1.xml" Id="R4060b0b4f87445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32d016bc374feb" /><Relationship Type="http://schemas.openxmlformats.org/officeDocument/2006/relationships/notesMaster" Target="/ppt/notesMasters/notesMaster1.xml" Id="R94fd016fd7c14d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ed792224b143bd" /><Relationship Type="http://schemas.openxmlformats.org/officeDocument/2006/relationships/notesMaster" Target="/ppt/notesMasters/notesMaster1.xml" Id="Rd5109c8da3c843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68e5dd4bac4f49" /><Relationship Type="http://schemas.openxmlformats.org/officeDocument/2006/relationships/notesMaster" Target="/ppt/notesMasters/notesMaster1.xml" Id="R255e95f541c347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864fec054b42b0" /><Relationship Type="http://schemas.openxmlformats.org/officeDocument/2006/relationships/notesMaster" Target="/ppt/notesMasters/notesMaster1.xml" Id="R98fe8395988647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e61b37c0ec43e0" /><Relationship Type="http://schemas.openxmlformats.org/officeDocument/2006/relationships/notesMaster" Target="/ppt/notesMasters/notesMaster1.xml" Id="R1dd4cc3756f140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d899aa5a284a12" /><Relationship Type="http://schemas.openxmlformats.org/officeDocument/2006/relationships/notesMaster" Target="/ppt/notesMasters/notesMaster1.xml" Id="R224776aa05ca43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업데이트. 공식 상권 후보 786개와 공공 학습시설 원천 POI 268개를 결합해 목적별 추천 근거를 보강했다.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지난주에는 동대문구 버스정류장과 지하철역 334개를 출발지로 두고, 세 시간대에서 반복 접근 가능한 행정동 204개를 탐색 생활권으로 정했다. 이후 공식 상권 폴리곤과 400m 기준으로 결합해 786개를 후보로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 학습시설 원천은 268행·41열이며, 상권 피처는 area_code 기준 786행으로 집계했다. 2026 POI는 현재 추천용 보조 피처로만 쓰고 2025년 매출 예측 검증에는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접근이 확인된 공공도서관 205곳, 열람실 14곳, 청년공간 17곳으로 총 236개를 점수에 반영한다. 대학시설 후보 9개는 전체 검토 245개에는 보존하지만 순위에는 반영하지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원천 POI 268개의 place_id는 고유하다. 상위 20개 상권의 117개 상권-시설 연결을 수동 확인했다. 2026년 POI는 2025년 성능 검증에 넣지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이동 자료는 동대문구 출발 OD 선택 라벨이 아니므로 목적 맥락 대리변수로만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교통 접근성은 334개 출발지에서 정류장·역·환승·도보를 연결한 정적 교통 그래프에서 계산했다. 오전 8시, 오후 2시, 오후 7시의 반복 접근성을 함께 보며 후보를 고른다.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행정동은 넓고 상권 성격이 섞여 있어 탐색 범위로만 사용했다. 786개의 공식 상권 폴리곤은 도달 정류장 400m 기준과 세 시간대 25% 접근률을 통과한 비교·추천 단위다.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PATH-v0의 일반 목적 점수는 목적 공급 신호 70%와 직전 분기 소비 신호 30%다. 공부는 독서실만 체류형 학습 업종으로 정의하고, 매출 원천에 독서실 소비가 없어 독서실 공급 신호 90%와 접근성 10%로 계산한다.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생활이동 데이터는 source_period가 26개 기간으로 혼재하고 동대문구 출발 OD가 아니다. 따라서 학교 이동 비중은 목적 맥락 대리변수로만 해석하며, 실제 추천 성능 지표로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B078 원본으로 실제 선택 라벨을 얻어 목적지 선택 데이터셋을 만드는 것이다. 현재의 후보군·시설·접근성·목적 맥락 변수는 학습과 검증을 위한 설명 피처 기반이다.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official_area_purpose_quarter_features.csv의 2025년 4분기 공부 목적 상위 5행을 읽기 쉽게 축약한 것이다. 전체 피처 테이블은 15,720행, 최신 분기 순위 테이블은 3,930행이다.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official_area_week2_integration.csv에서 동대문구의 대표 상권 5개를 추린 실제 결합 행이다. 이동 비중은 source_period가 혼재한 목적 맥락 대리변수이며 개별 목적지 선택 라벨이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목적별 상위 이름과 점수는 official_area_purpose_latest_rankings.csv의 2025 Q4 PATH-v0 순위에서 가져온다. 목적별 상세 Top 10은 다음 지도에서 공식 상권 폴리곤으로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지도는 commercial_area_candidates_25pct.geojson의 786개 공식 상권 폴리곤과 official_area_purpose_latest_rankings.csv의 2025 Q4 목적별 Top 10을 area_code로 결합해 제작했다. 밝은 폴리곤의 숫자는 각 목적 안의 순위다.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공부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카페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식사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쇼핑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여가문화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7638cd755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8ffdca0ff4824" /><Relationship Type="http://schemas.openxmlformats.org/officeDocument/2006/relationships/slideLayout" Target="/ppt/slideLayouts/slideLayout1.xml" Id="R2a8eafb1bfa4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8eafb1bfa4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f711288114065" /><Relationship Type="http://schemas.openxmlformats.org/officeDocument/2006/relationships/notesSlide" Target="/ppt/notesSlides/notesSlide1.xml" Id="R5fe68d36bd0e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bed2553214c79" /><Relationship Type="http://schemas.openxmlformats.org/officeDocument/2006/relationships/notesSlide" Target="/ppt/notesSlides/notesSlide2.xml" Id="R6bcaeeecfd8348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4e69677cd4772" /><Relationship Type="http://schemas.openxmlformats.org/officeDocument/2006/relationships/notesSlide" Target="/ppt/notesSlides/notesSlide3.xml" Id="R1f3344cc078b4f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65744cba74335" /><Relationship Type="http://schemas.openxmlformats.org/officeDocument/2006/relationships/notesSlide" Target="/ppt/notesSlides/notesSlide4.xml" Id="R2401d27b759b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f2ff356bf46ec" /><Relationship Type="http://schemas.openxmlformats.org/officeDocument/2006/relationships/notesSlide" Target="/ppt/notesSlides/notesSlide5.xml" Id="R5d0c7ea9381e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f17ddb27d47a3" /><Relationship Type="http://schemas.openxmlformats.org/officeDocument/2006/relationships/notesSlide" Target="/ppt/notesSlides/notesSlide6.xml" Id="R8eb968a8bd1d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dc6922cbf49cd" /><Relationship Type="http://schemas.openxmlformats.org/officeDocument/2006/relationships/notesSlide" Target="/ppt/notesSlides/notesSlide7.xml" Id="Rc7a96a8e4fef4a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693ea5af54561" /><Relationship Type="http://schemas.openxmlformats.org/officeDocument/2006/relationships/notesSlide" Target="/ppt/notesSlides/notesSlide8.xml" Id="R9ed1881b1a6d46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f7a9f4ac143f6" /><Relationship Type="http://schemas.openxmlformats.org/officeDocument/2006/relationships/notesSlide" Target="/ppt/notesSlides/notesSlide9.xml" Id="R8bde52aed1d648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efdef56b94a2d" /><Relationship Type="http://schemas.openxmlformats.org/officeDocument/2006/relationships/notesSlide" Target="/ppt/notesSlides/notesSlide10.xml" Id="Re2e76c446c2848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4b5c39bb544d5" /><Relationship Type="http://schemas.openxmlformats.org/officeDocument/2006/relationships/notesSlide" Target="/ppt/notesSlides/notesSlide11.xml" Id="Rbea2fedc01b349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cdbe2cf5e49eb" /><Relationship Type="http://schemas.openxmlformats.org/officeDocument/2006/relationships/notesSlide" Target="/ppt/notesSlides/notesSlide12.xml" Id="Rcfecb0c35be640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ffb71a883439e" /><Relationship Type="http://schemas.openxmlformats.org/officeDocument/2006/relationships/notesSlide" Target="/ppt/notesSlides/notesSlide13.xml" Id="Re075e66b792147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5117048e448f5" /><Relationship Type="http://schemas.openxmlformats.org/officeDocument/2006/relationships/notesSlide" Target="/ppt/notesSlides/notesSlide14.xml" Id="R20066684af3445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073f00bdf4463" /><Relationship Type="http://schemas.openxmlformats.org/officeDocument/2006/relationships/image" Target="/ppt/media/image.png" Id="R9e4383d9d8604313" /><Relationship Type="http://schemas.openxmlformats.org/officeDocument/2006/relationships/notesSlide" Target="/ppt/notesSlides/notesSlide15.xml" Id="Rc93dd7480d604e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82dbd60db4438" /><Relationship Type="http://schemas.openxmlformats.org/officeDocument/2006/relationships/image" Target="/ppt/media/image2.png" Id="Rc759c54ae37d4900" /><Relationship Type="http://schemas.openxmlformats.org/officeDocument/2006/relationships/notesSlide" Target="/ppt/notesSlides/notesSlide16.xml" Id="R02c851e66d5d4b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0fe8559d24b7e" /><Relationship Type="http://schemas.openxmlformats.org/officeDocument/2006/relationships/image" Target="/ppt/media/image3.png" Id="R6d1d8697f2044ac1" /><Relationship Type="http://schemas.openxmlformats.org/officeDocument/2006/relationships/notesSlide" Target="/ppt/notesSlides/notesSlide17.xml" Id="R65c722c990894b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a5ce071c54878" /><Relationship Type="http://schemas.openxmlformats.org/officeDocument/2006/relationships/image" Target="/ppt/media/image4.png" Id="Ra7e1a41720374409" /><Relationship Type="http://schemas.openxmlformats.org/officeDocument/2006/relationships/notesSlide" Target="/ppt/notesSlides/notesSlide18.xml" Id="Rb554f46ac7c740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3839500d24fbd" /><Relationship Type="http://schemas.openxmlformats.org/officeDocument/2006/relationships/image" Target="/ppt/media/image5.png" Id="R91781191fe1c43ef" /><Relationship Type="http://schemas.openxmlformats.org/officeDocument/2006/relationships/notesSlide" Target="/ppt/notesSlides/notesSlide19.xml" Id="Re9939eb3f3d043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afa7b73ae4e62" /><Relationship Type="http://schemas.openxmlformats.org/officeDocument/2006/relationships/image" Target="/ppt/media/image6.png" Id="R14fd487a04b04e26" /><Relationship Type="http://schemas.openxmlformats.org/officeDocument/2006/relationships/notesSlide" Target="/ppt/notesSlides/notesSlide20.xml" Id="Rc642efa0a5a346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F7FF0-B307-441C-ABA4-C7485944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D7E47-9B9A-4184-A9E8-D9CB5527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B66A7-2DD7-4FB1-8749-04DA5FA2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TEAM MAXIMUS  /  DAT 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72767-6083-43EE-A10C-5F28C07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공식 상권을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 데이터로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읽는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FF28A-4388-4402-AE51-82235447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 생활권 안에서</a:t>
            </a:r>
          </a:p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추천 가능한 상권의 근거를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93E43-ED02-49CA-9E1D-A8B3BB41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1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EF089-9CCA-4FEF-8BF7-264010D1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F3FD5-AA97-4065-A8A1-DCCBFD87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66"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F91D7-136F-40DE-83F2-508895B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99EB3-47C3-489B-B5C2-966F727A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EE558-0732-4AFF-B590-97EC9D3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 원천 POI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46FB3-658E-4D27-B5C0-20A521C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563BF-41AF-441E-A44F-CB9B7BBD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14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8D8E6-B6A9-4DBD-B3E6-F8554BB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1222609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F2846-6B40-4D4B-BCD7-4349EE2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564D0-D89D-4C02-8C9B-4A19C941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1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2223A-2D67-4BC8-8044-2F409319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774C4-F122-41FB-A013-6D27CDFF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BF78B-2F98-44A0-8453-3814D3E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지난주에는 추천의 공간 단위를 확정했습니다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057F8-744C-414B-8F6D-854F51ED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동대문구의 모든 출발지에서 반복 접근 가능한 범위를 먼저 정하고, 행정동보다 세밀한 공식 상권 폴리곤으로 옮겼습니다.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286E1-C767-44C6-B1AA-44576449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840D7-CF29-4D3B-B56E-0F901620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버스·지하철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73836-866E-42AB-B073-3712DF63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7D02F-9988-49FE-A145-EB473593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25% 이상 접근 가능한 행정동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98E05-1D2B-40E0-8799-6AFF195D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1A7F2-6205-456C-845B-DA4EF99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400m 결합 후 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11D93-3D78-4311-A54C-7AC85433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9B8E5-C183-443B-92DE-78FF601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871DF-B9C0-4E07-9ADF-103E1AE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기준  /  오전 8시 · 오후 2시 · 오후 7시</a:t>
            </a:r>
          </a:p>
        </p:txBody>
      </p:sp>
    </p:spTree>
    <p:extLst>
      <p:ext uri="{BB962C8B-B14F-4D97-AF65-F5344CB8AC3E}">
        <p14:creationId xmlns:p14="http://schemas.microsoft.com/office/powerpoint/2010/main" val="840621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840A3-1824-4844-A5AF-5DE93B5E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800AC-BA0A-454D-88CB-8634547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2 DATA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2CD7C-C8D5-4EF1-B0F9-C97E3832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0CA8A-BAB3-4A99-90FC-D8D45F06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7130D-6DED-49B8-8C85-01CC42DA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2주차에는 목적별 피처 테이블을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FBBA9-59B3-4834-B748-71C9DE9A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area_code를 유지해 공공시설, 상권 피처, 추천 보조순위를 하나의 분석 단위로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646FB-B02B-44CC-9787-9A8EB05D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2EC5B-EA64-4D58-87CB-8FFE9CE2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6F886-D8C6-4971-BC9E-2A0626CF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84E04-72D9-4009-A801-9F58B0D3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시설명·좌표·접근조건·출처를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41개 필드로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6D78B-6F2D-43DA-BA4F-6BA130D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0F76E-EDF0-465A-8175-384E42A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74CA2-B407-4330-9C93-8DAE2B5E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폴리곤 내부와 400m 이내를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시설 수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0FE43-56F6-49D2-832C-3D3E7389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D9169-1F22-47BD-9395-A88D3DB0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현재 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DFF03-9DC3-4708-846D-0C4E38A0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업종 신호와 2026 POI를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보조순위 산출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72C07-E72D-48AE-9C6D-BAC8829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분석 키  area_code  /  추천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1128381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DB24C-24E5-40F8-97F5-06A2CD51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F7E08-DFAF-4944-B733-04230337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DF1C2-9A12-436F-A3EA-92D4C2E5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293C4-3B34-47B5-910E-809314EA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077A6-BDA1-4A25-AA92-6B76E715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 반영과 검토 대상을 구분했습니다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A93D1-9E32-4F61-882C-F4B48684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여부가 불확실한 대학시설을 곧바로 추천 점수에 넣지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8E826-04E3-459B-B4B3-B462761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CC55E-A93E-4C8D-8B2E-15BCAD6B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POI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131C2-B1C5-4B89-8BF2-5A228DF9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30F85-A7E4-45B9-B5E9-EABCA455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DD8BD-4743-49CC-B1AD-A69B948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확인 후 점수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A1DCE-5A03-4211-B3F9-F4153D47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F996A-F388-43D2-A7C6-E4A7942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3AE2C-3763-48F1-BC48-97EEDA2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대학시설 후보 포함 검토용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51E54-D8B8-4DE2-8710-21B5E01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공부 체류 보조순위  /  상권 내부 80% + 400m 이내 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06EDC-8A24-4E0E-B17B-2194B22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 학습시설 9개는 공개 접근 확인 전까지 점수에서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1809177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CB24B-54F4-4145-8FBC-3A1799D4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6552B-CAE7-4EEF-A1AE-4E9160BC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QA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27D71-2C73-410D-BF6D-CED831A0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9132C-F89C-4669-96E0-0C87E23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ECF5A-1BEF-4114-A69B-E8D418CF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재현 가능한 산출물로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996BD-A943-4A2E-916E-CF52E20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식별자, 공간 결합 기준, 점수 반영 범위를 분리해 다음 분석 단계에서 다시 확인할 수 있게 남겼습니다.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815D0-0113-4AE5-A7BE-A72E15BE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945F1-5C19-46AD-8E7D-E37249F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3822A-0CB8-4C17-9C02-2FFC831D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고유 place_id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296F5-02E8-4F64-AAE3-C93E8B9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 ×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ED919-611E-4C2D-80AF-58BD5FF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 피처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점수용·검토용 필드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DC757-9BEC-4502-AB92-080A37E7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7C7BD-A03F-40E4-9898-92A74D06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상권–시설 연결 수동 점검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Top 20 상권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817DE-AEB4-47B3-B2C1-0CDC184E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2026 POI는 2025년 성능 검증에 사용하지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966112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62E2A-18B6-4F64-B093-3E17762E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2E426-7D6B-4DB1-8139-C9F1D26E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CROSS-WORK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6F342-BD9E-46A3-8DE6-59456B1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3D34F-809F-44A7-822B-C825A85C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37EE-EC84-45D1-99F2-2D34D322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세 데이터는 서로 다른 신호를 보여줍니다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D5C97-8079-41F7-A92E-7FE034B1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 상관은 0.198, 공부 점수와 접근성의 상관은 0.089입니다.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067EC-EA23-461C-A55D-B91DDB43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66BBC-221D-4F2D-A022-BD3DFB19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시설·접근성·학교 신호가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함께 높은 우선 검증군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59C75-0199-4263-A3CE-C9ED0EBB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8EB3E-6026-4CEE-ACFE-6C8FCDDF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 점수는 높지만 학교 신호가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실제 선택 검증이 필요한 상권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E8B4D-375A-4797-9230-D9C75657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D0274-9C64-4A23-95B1-66CCCECA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학교 신호는 높지만 현재 시설 피처가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추가 조사할 상권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FD8C5-784F-4727-AD1D-98E0BE58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다음 단계  /  B078 선택 라벨로 세 그룹의 실제 목적지 선택확률을 비교</a:t>
            </a:r>
          </a:p>
        </p:txBody>
      </p:sp>
    </p:spTree>
    <p:extLst>
      <p:ext uri="{BB962C8B-B14F-4D97-AF65-F5344CB8AC3E}">
        <p14:creationId xmlns:p14="http://schemas.microsoft.com/office/powerpoint/2010/main" val="943797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AF5B4-2422-4863-810F-1C6CC6CF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6D7CB-914C-471F-8225-EA1B79B9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ACCESSIBILITY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DAED8-641A-46B0-AED6-A68EF55F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6140A-E1B5-409F-A0DB-9CA92FE4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4B80D-D90E-4669-8599-16C955DB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 생활권은 교통망에서 먼저 계산했습니다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96773-206F-4094-B9C2-F48A46A7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334개 출발지에서 버스·지하철 운행 정보를 그래프로 만들고, 대기·환승·도보를 포함한 최소 이동시간을 계산했습니다.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20E85-C15E-49F1-856D-03B08963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출발지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A1C6B-367A-41D9-ACF0-6D6816C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F3F52-FE60-4CC8-8D20-EEA707E3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교통 그래프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4D734-34E8-482E-AE13-4CE04D16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AB1DC-D79C-403F-B34C-AAD7EC0E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도달 정류장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1EBC6-8782-4551-B648-3AFF155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상권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7877D-796C-42B9-BD7F-841AF98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9646B-EC89-4782-B689-5C619314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6D5F5-C422-45A8-89EA-9A9F564D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접근률을 사용해 특정 시간대에만 열리는 후보를 줄였습니다</a:t>
            </a:r>
          </a:p>
        </p:txBody>
      </p:sp>
    </p:spTree>
    <p:extLst>
      <p:ext uri="{BB962C8B-B14F-4D97-AF65-F5344CB8AC3E}">
        <p14:creationId xmlns:p14="http://schemas.microsoft.com/office/powerpoint/2010/main" val="763736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9A563-115B-411F-B08F-41CF3ECD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A678A-5613-4C6A-9DAD-CB811B38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F8113-0390-4A31-A010-7E4BA6AA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5881D-04E6-42DC-93FD-391BF11F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6DBE4-927A-4F5D-841F-0D6849D0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후보군은 행정동이 아니라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DA3AB-52D1-4158-ACB8-3C11E493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행정동은 탐색 범위로 쓰고, 실제 비교·추천 단위는 서울시 공식 상권 경계로 세분화했습니다.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E876A-2745-4279-8905-D19C0AD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A56F9-3097-4DD4-A015-F868555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 가능 행정동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탐색 생활권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2CBCA-3700-484D-A04B-7BE568B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400m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331AF-BCC8-494C-83F1-0E9BA689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도달 정류장과 상권 경계의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공간 결합 거리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8F228-30E7-459C-BFAA-3FD710C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22C4F-6D86-4B32-B4F9-69AEA808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세 시간대 25% 기준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B2954-81F1-4997-BA82-682B4514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646FC-9BA7-4AA2-A248-6A215388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5C25A-25DB-4803-9798-DB666BEB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25%는 소수 출발지에서만 접근 가능한 상권을 걸러내되, 동대문구 내부의 생활권 다양성을 보존하기 위한 탐색 기준입니다</a:t>
            </a:r>
          </a:p>
        </p:txBody>
      </p:sp>
    </p:spTree>
    <p:extLst>
      <p:ext uri="{BB962C8B-B14F-4D97-AF65-F5344CB8AC3E}">
        <p14:creationId xmlns:p14="http://schemas.microsoft.com/office/powerpoint/2010/main" val="2093418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F1784-8FF9-4EAA-8FE0-1730E749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283BA-965E-4DF3-81FE-0F9013C3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PATH-V0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95DF4-8203-455E-B229-A19568E0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67436-3ED7-475F-A7C9-EDA6B673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3D25A-C6D8-4914-A60C-F293AAC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Top 10은 PATH-v0 점수로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1B90F-BCD9-4655-861B-E682355F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PATH는 Purpose-Aware Transit-constrained Heuristic입니다. 2025 Q4의 접근 가능한 공식 상권 안에서 목적별 순위를 만드는 규칙기반 기준선입니다.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D0D45-758D-4F23-88BC-842CD6D3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일반 목적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7A4EB-25AB-449B-AC8B-7030DC5A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0.70 × 공급 신호  +  0.30 × 직전 분기 소비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C06A4-5959-4A13-94D3-28DAD32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공급 신호 = 점포 수 백분위 65% + 상권 내 목적 업종 비중 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F33E4-034B-4BE2-A3AF-CAB63AE7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소비 신호 = 매출 규모 50% + 목적 매출 비중 25% + 적합 시간대 비중 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49F27-2A78-407E-BFD5-DE3FC91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4E17D-31E6-4933-A947-FC13D96C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 목적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4087F-AF45-4B0A-9E5E-94167457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0.90 × 독서실 공급 신호  +  0.10 × 접근성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60B27-C6A2-415A-A074-A3624B54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매출 원천에 독서실 소비가 없어 임의의 매출 신호를 넣지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11111378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2FEB5-9597-4CFD-B93D-64DCDF01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AFA01-BBB5-419E-A470-F19F9D2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MOBILITY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1180E-608E-40D4-9147-8DC4BD23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C058A-1B3B-41E1-A291-F349692A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330F-EB7D-4991-941C-FE674312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생활이동 데이터는 ‘선택 라벨’이 아닌 맥락 신호입니다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F578D-EE07-4515-93AB-D8027931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지우진의 생활이동 집계는 지역별 학교·업무·여가 목적 비중을 보여주지만, 동대문구에서 출발한 개인의 실제 목적지 선택 기록은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E629A-CEEB-4C85-8755-64017C25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E51D-E1B8-4AAF-B544-7D00BE0A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source_period가 섞인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관측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5CC89-D601-4883-95A6-465B16AD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0.198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45162-57BF-48A5-A9F5-25BAF3C1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95A01-80C7-418E-8667-598AAFBD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0.089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EDF2B-2274-414A-9DBD-AFBF079E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최소 접근률의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38981-A0BA-4211-86C2-FCEADDB7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따라서 생활이동 비중은 상권의 목적 맥락을 보완하는 변수로만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14921307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EBD50-6E12-4A7C-8890-5CD4844C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0EFBC-767D-4481-8829-158AF33C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8EE07-372D-40BA-BB60-041C0731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3B35E-EE1F-42C1-87D5-185313F2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E9074-D8FA-42E4-A8C1-AB9FF22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다음 단계는 실제 선택 데이터로 기준선을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F5A0E-FA17-4536-B638-F856AC5C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지금의 786개 상권은 후보군과 설명 피처를 갖춘 상태입니다. B078 원본 접근이 가능해지면 목적지 선택모형으로 넘어갑니다.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E80C8-9284-4C25-AA3E-D7F9D442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377AF-BB59-4650-90B6-A2E3BBD3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B078 원본에서 출발지·도착지·시간대·목적 관련 변수를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08501-70EF-4604-8AAE-2DD1F20D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D906C-51C6-4C78-9FEE-69C50B3D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선택 상권과 미선택 후보를 비교하는 목적지 선택 데이터셋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A77FC-0560-4E69-8578-0BD11569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FFFE3-21B4-4281-A6BC-074476E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다항 로짓·트리 기반 모델로 추천 성능과 설명력을 함께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0DE88-5DD5-4768-A92D-EAEDA8FD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현재 산출물은 추천 서비스의 답이 아니라, 학습·검증 가능한 후보 공간과 피처의 기반입니다</a:t>
            </a:r>
          </a:p>
        </p:txBody>
      </p:sp>
    </p:spTree>
    <p:extLst>
      <p:ext uri="{BB962C8B-B14F-4D97-AF65-F5344CB8AC3E}">
        <p14:creationId xmlns:p14="http://schemas.microsoft.com/office/powerpoint/2010/main" val="910970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FFE1C-C7A2-460D-93CB-5A07BD01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18FDF-1F85-40FA-AE01-1536E6B2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RAW FEATURE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1406C-693E-43E4-A540-3D449651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74739-D5D8-422E-BB3D-6EEEB8AC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0E18D-40D5-41FC-982C-A486BB80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목적별 피처 테이블은 이렇게 생겼습니다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8CA9-AC50-4AF5-9C32-FA38C2F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Q4 ‘공부’ 목적의 PATH-v0 상위 행 5개입니다. 각 행은 상권 1개와 목적 1개의 결합 단위입니다.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933450"/>
                <a:gridCol w="2000250"/>
                <a:gridCol w="1047750"/>
                <a:gridCol w="1104900"/>
                <a:gridCol w="742950"/>
                <a:gridCol w="1066800"/>
                <a:gridCol w="1066800"/>
                <a:gridCol w="97155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rank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area_code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상권명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유형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최소접근률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PATH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3120059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구삼강변맛길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0.904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98.2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3110241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먹골역 5번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3110220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85.3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70.8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장안동사거리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ABB83-962A-430E-B292-46C5B039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총 15,720행 = 4개 분기 × 786개 상권 × 5개 목적. 최신 분기 순위는 3,930행입니다.</a:t>
            </a:r>
          </a:p>
        </p:txBody>
      </p:sp>
    </p:spTree>
    <p:extLst>
      <p:ext uri="{BB962C8B-B14F-4D97-AF65-F5344CB8AC3E}">
        <p14:creationId xmlns:p14="http://schemas.microsoft.com/office/powerpoint/2010/main" val="19787694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A7881-8577-4237-B223-585262E5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6C5DB-8CC1-4560-B385-645AA98B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JOIN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D6C9A-E738-4DED-841E-0BCCFC3B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9A2E0-14FB-4E78-A6BB-4FD4A43A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326E7-8F28-4B4B-9C44-A35BFAF1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상권 피처는 area_code 하나로 결합됩니다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CA950-067A-41D5-915E-565CE2B0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접근성, 공공 학습시설, 카카오 스터디카페, 생활이동 맥락을 같은 786개 공식 상권 키에 붙였습니다.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43000"/>
                <a:gridCol w="1095375"/>
                <a:gridCol w="1143000"/>
                <a:gridCol w="1285875"/>
                <a:gridCol w="1428750"/>
                <a:gridCol w="228600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내부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400m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스터디카페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학교 이동비중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분류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회기시장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경희대후문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0.955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demand signal feature gap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청량초등학교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C3097-DE0C-4BDD-8A6D-2D21F8C6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이동 비중은 실제 개인 선택 라벨이 아니라 지역의 목적 맥락 대리변수입니다.</a:t>
            </a:r>
          </a:p>
        </p:txBody>
      </p:sp>
    </p:spTree>
    <p:extLst>
      <p:ext uri="{BB962C8B-B14F-4D97-AF65-F5344CB8AC3E}">
        <p14:creationId xmlns:p14="http://schemas.microsoft.com/office/powerpoint/2010/main" val="2556366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30557-7450-4C8A-AA38-E92BA1A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FBFB0-796F-4189-92F3-F9130615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81E54-7846-4C15-8F55-9462003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6FA1B-84EA-42EB-8A44-AA52B1FE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01EAD-84DF-4BF0-A2BF-1A4B8C3F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점수는 실제로 목적에 따라 다르게 나옵니다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96734-7E72-4CF8-B8A3-7AD72095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786개 후보를 놓고도 목적별 공급 구조와 소비 신호가 달라 상위 상권이 달라집니다.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0E7CC-5452-4EAA-9E26-05B97FD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7492B-2464-4687-9E5A-0B227171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구삼강변맛길  94.3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F0757-2B45-4F62-9514-838F5F02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외대앞역 1번  92.4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ED23D-D593-47AA-A2A9-A47190B4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카페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7ED19-D8C9-4806-B489-130D9D3E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북촌(안국역)  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B3F82-F4AA-457D-8797-D5BA795D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서촌(경복궁역)  96.1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45876-F976-4277-8F95-3ED065F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식사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B0599-37E0-4A95-A0B3-0E97705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광화문역  94.3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B0446-727A-43ED-B441-87115B6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종각역  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C5DA7-89F2-4AB6-BFF0-E947612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쇼핑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D60A1-6148-4794-97C2-55DE678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롯데백화점 시청광장  95.8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093B5-FAE0-429B-814B-7D41E428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여가문화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527DD-04F2-45B8-8398-51820C39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수유역  97.6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AEBAA-F3B8-4C45-98BE-5AF2AC6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점수는 PATH-v0 기준이며, 아래 지도에는 각 목적별 상위 10개 공식 상권 폴리곤을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8284022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8DAB6-5817-4E36-8E4D-30B272A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8D5C4-F72E-4C45-8E83-95D538F3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PURPOSE TOP 10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B17F2-FBBE-404B-AD11-D9CB39B8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C1E69-1BD4-414A-B9CB-6F4476A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C3E01-725E-46BC-A0BF-E9A74622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상위 10개는 서로 다른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05E7D-2FFE-4DA6-8BEB-8CE10E4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어두운 면은 786개 전체 후보, 밝은 면과 숫자는 2025 Q4 목적별 PATH-v0 상위 10개입니다.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383d9d8604313"/>
          <a:stretch xmlns:a="http://schemas.openxmlformats.org/drawingml/2006/main"/>
        </p:blipFill>
        <p:spPr>
          <a:xfrm xmlns:a="http://schemas.openxmlformats.org/drawingml/2006/main">
            <a:off x="2965538" y="1952625"/>
            <a:ext cx="6051374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0A88B-3609-4BA6-BE6E-FCB61182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각 목적은 독립적으로 순위를 계산합니다. 따라서 같은 30분 생활권이라도 목적에 따라 상위 상권의 위치와 구성은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15939016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165DF-6CCD-4715-BAEC-B11BE0C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47C51-6C28-47B9-BF01-C1026C5F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463E7-CA6E-41C9-B3D0-EF278EB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966E0-FFF2-42F1-9A6C-F199FCD0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96134-42C6-46BD-97FA-5BAB08DB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공부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75871-CD48-4554-9797-BCC7CF3C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9c54ae37d4900"/>
          <a:stretch xmlns:a="http://schemas.openxmlformats.org/drawingml/2006/main"/>
        </p:blipFill>
        <p:spPr>
          <a:xfrm xmlns:a="http://schemas.openxmlformats.org/drawingml/2006/main">
            <a:off x="1824673" y="1847850"/>
            <a:ext cx="3361055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DF7CD-07E1-4237-9B3E-A01FD2AD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2C42A-C89F-4838-8FEA-FBCDA709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6ADC6-5F56-49AC-99F1-18A5F043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구삼강변맛길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73C9D-4D1E-4C9A-8FEF-AAC32B8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CA7E4-9C42-4A4C-B513-DF7AE08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먹골역 5번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20118-9509-4594-BE1E-8970CA22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7F9AB-2C47-4AB3-81E0-429F624A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외대앞역 1번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A07C4-9B79-4187-A863-750B6BD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8D262-5047-4353-80B3-60C700D6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경희대학교(경희대)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3FD78-9716-47D6-95D0-C06FDC17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A8EC5-1B37-411B-9D53-00B4C245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장안동사거리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A710A-74F3-4FB5-985F-3F3FC429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C9949-6405-4338-B9C1-62F751A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대원고등학교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49077-EEE6-4FD9-A2CF-8D7FAB5B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2B933-9C1A-4436-81E0-A8DC9BC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전농로터리시장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2C3ED-3643-4237-9C4F-A4E80F06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CC210-DAFC-4ECA-A055-A2F42FDF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국립정신건강센터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0EC1A-8AB6-4365-AF57-5D66CC86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F4F9A-7086-48FC-AE95-ABA59BDB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신내1동주민센터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94A92-3E8A-498A-AE14-6CC5A960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CEAB06-5414-4DAD-ACEC-EEFE770F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한성대입구역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5CD08-B476-444A-B114-84BB3E51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1ACA4-7492-4E50-8014-E58F1116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375458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4415B-D234-473B-9254-B82C715D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C99B5-327A-4FFF-9670-9CAC7B8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C893B-0AC8-47C6-A5C6-681ADBC9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A542B-C858-4EE0-8998-116AC9F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516F0-33BD-4AB9-B90C-09DA0BC0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카페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75CD0-FDC9-4733-9E50-8A44F891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d8697f2044ac1"/>
          <a:stretch xmlns:a="http://schemas.openxmlformats.org/drawingml/2006/main"/>
        </p:blipFill>
        <p:spPr>
          <a:xfrm xmlns:a="http://schemas.openxmlformats.org/drawingml/2006/main">
            <a:off x="1825867" y="1847850"/>
            <a:ext cx="3358666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395BF-85D3-4EAF-B656-E4DD6AE8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644D9-5FC2-4ACA-9660-E45B3E76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858CD-A2FD-4AA2-BC0A-CA46F66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북촌(안국역)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A965A-0C09-464A-A609-27A1637B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A0E8F-B2E1-46DF-82B4-9D5CA23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서촌(경복궁역)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71140-202C-4BFE-9A2A-9AB7974D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CE2AC-27D1-4025-B857-97F68063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배화여자대학교(박노수미술관)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A4D72-B31B-4C86-8ECE-A20E1C76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4B9FD-E32E-486A-BAE7-A3D07C87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삼청동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8B978-5C92-4AC0-82D0-55477A3D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97015-C92F-47E4-AA00-81E12D1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광화문역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1764E-C9D8-4D5D-8C7D-E9F75C4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C2955-46B0-48D3-8CC4-35B0C8B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서교동(홍대)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88A3D-F658-4151-8CDF-556C0FAA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4A59A-E654-4CC0-9EE4-F63D7189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경의선책거리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822C3-5987-45BE-8F96-B8B3BA6D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1F12A-32A3-4DE4-8BCE-2896F032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을지로입구역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F322C-B89A-4A44-8006-ABC0CF1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53C73-CE31-4A24-9A37-14D7A716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시청역_8번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25C5F-D745-4E97-91C1-70618EF7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51A31-3216-486F-B495-D4DD1896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대학로(혜화역)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5266C-97D6-4612-9CA8-8CFA5F8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32CFE-00F9-4198-B1A1-67A11D9B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3330822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7DC56-E6C7-446B-A2C7-FF13A472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AB50F-22F7-4907-9179-CA443874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F0D54-9BA0-488C-BBE7-AAF18997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A136D-6757-491F-8230-DA27FB34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E9270-BE5F-4821-BEF5-B1BE32AA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식사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3C64E-1D00-4588-9FC1-762D8E5D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1a41720374409"/>
          <a:stretch xmlns:a="http://schemas.openxmlformats.org/drawingml/2006/main"/>
        </p:blipFill>
        <p:spPr>
          <a:xfrm xmlns:a="http://schemas.openxmlformats.org/drawingml/2006/main">
            <a:off x="1825867" y="1847850"/>
            <a:ext cx="3358666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0AD9B-EFB2-4E4B-8A35-67559A82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1F37E-F8A5-4AE3-BCDC-C0D36017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CD5E8-A703-4E65-AA3C-53F6089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광화문역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8B9BC-AE60-47EE-82EB-D470BF2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39531-1E70-4EBF-87CF-EF383752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종각역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6A109-BD27-4C3B-8F73-DD47F639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C4FD7-DA7B-483F-BB4B-B1CC3508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도화동 상점가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BA3EA-EEF4-4932-A9D3-423D4DE6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70038-71EC-4907-B123-E311A2DA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대학로(혜화역)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A27B0-0D8E-40C4-B3D6-20C36386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26C93-0CB3-499A-B77E-B1EFD95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을지로입구역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BCCD6-AF2D-4620-A9D4-AB01DBE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013C6-FB25-4444-8395-BDD3B5F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북창동(시청역_6번)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F93EB-A467-4D4D-9298-C9DB73FA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B472A-B641-40CC-AF68-15901AC2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남영동 먹자골목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AC43A-FCA9-4B0C-A00E-D0111971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89.8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E592B-166C-45C8-B849-D63CA1C8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방이동먹자골목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204DC-F282-4C02-9B60-75160338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B777B-3F3A-4BAC-A250-AA256543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서대문역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9296B-CC8E-4F58-8621-372E133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075E4-361D-4CEA-96A7-E8FDFAE7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이태원(이태원역)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37292-1A75-4799-B157-20FD321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AA846-ED53-4525-BA20-51E8FDC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5554271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9CA5A8-B0B5-4622-B06E-0F8B548E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118A5-69EC-4AB1-8D44-3B6F7595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4AFCC-0A96-402E-9949-10255CF3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C2585-D2F6-4F67-891D-612FE1E7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BB51C-5CDB-432E-B273-192774E7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쇼핑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1012A-1DD6-491A-9948-7470D240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81191fe1c43ef"/>
          <a:stretch xmlns:a="http://schemas.openxmlformats.org/drawingml/2006/main"/>
        </p:blipFill>
        <p:spPr>
          <a:xfrm xmlns:a="http://schemas.openxmlformats.org/drawingml/2006/main">
            <a:off x="1825867" y="1847850"/>
            <a:ext cx="3358666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40021-20B9-4C5A-8095-14E8F8C3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82D82-CC81-4B72-B662-57DC7A1F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54D14-109F-4F55-9146-25E68240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롯데백화점(시청광장 지하쇼핑센터)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D9484-16E4-4B9E-8145-BC2F12F8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CC9EA-496F-4DAC-AF70-8D6BE19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동대문패션타운 관광특구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2D673-AB5C-4F32-B28D-70910EF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588E0-8372-4EE7-9BB6-5C5352F1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동대문역사문화공원역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45647-350C-40DD-8C75-35ECDD74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BD7D0-2F15-4798-B123-19B912D6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강변역(테크노마트)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37406-619F-4927-A5D8-EC552741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10286-B33E-43C9-AD09-A2129B3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종로3가역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455AE-5140-47E8-821B-267A158B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45D4F-F967-4344-895F-58CCCDA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잠실역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219D2-C3BE-4479-A299-8F7F878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C2C8F-A7D6-4A57-990F-46170CCC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강남 마이스 관광특구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00979-A55A-4CB6-8C78-0FE3A82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43702-E9DB-425F-A7DC-43D90196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용산전자상가(용산역)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48236-42FA-49B5-9AC5-19BBA2E2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159F2-B497-475B-AC6E-4D848BF9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남대문시장(자유상가)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80285-A142-4623-895D-2D3897BB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0FA354-DEFF-478F-802F-8AEA4CCE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천호역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7ED37-86BA-4AB7-9981-FF6CB158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CD49F-2DB0-4E37-A3A3-51EDB5E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54965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7B102E-D85A-452F-8539-4827977E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9AC37-8C6A-4389-8568-0616130A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88287-C310-424C-B26C-B5D9545D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011AF-A76F-4487-B04E-359486A7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DC2AD-9005-4A35-BD2D-274DC4A0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여가문화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F7E6B-B382-4890-9EB0-F8FBB4CF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d487a04b04e26"/>
          <a:stretch xmlns:a="http://schemas.openxmlformats.org/drawingml/2006/main"/>
        </p:blipFill>
        <p:spPr>
          <a:xfrm xmlns:a="http://schemas.openxmlformats.org/drawingml/2006/main">
            <a:off x="1825867" y="1847850"/>
            <a:ext cx="3358666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3E89D-1A73-48EB-B039-851A77DA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8B0B7-647E-4D23-A6D0-BDAD9932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32825-DC2F-400E-BDA7-94838AB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수유역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EC035-3BB4-4972-BAD5-EAFCCDB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97.6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0F482-4549-4BE3-9331-43249BAB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방이동먹자골목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B018B-6A7E-49F6-8A78-DEB5CDE5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96.0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CB89D-A943-4BDD-9A0E-2CA94431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잠실새내역(신천)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7ED22-F9C9-49FE-B550-4F78B3B3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95.7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11A65-9C8C-48B1-9FCE-B6EB993C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군자역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2252C-EEB0-445E-8EFF-78B652C9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308CE-EB66-4EAE-84BF-A5C5B2AB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길동역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D3D81-A2EF-49CC-976D-AE0651B9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84606-574A-41EC-807A-E4D93412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성신여대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C3D88-A43C-4F8F-85FC-3C16E84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E606D-8130-4623-A479-61F0A49E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상봉역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D298A-5D2C-4336-96E6-81BF7309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AFE23-56EE-45DA-BD2B-47291DC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구의역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94551-AF74-404A-A9B1-00619FD1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156C06-22AA-4CF2-BC73-4686818C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건대입구역(건대)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53FB0-6242-491F-8326-AA8443C9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24A49-85E7-464B-8C24-6AC13932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상계역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23F78-4AAB-4C6E-9F9A-6B15294E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AD00D7-232E-4E56-AE22-5EDE8D3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323582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2026-09-22T01:34:03.3360000Z</dcterms:created>
  <dcterms:modified xsi:type="dcterms:W3CDTF">2026-09-22T01:34:03.3360000Z</dcterms:modified>
</coreProperties>
</file>