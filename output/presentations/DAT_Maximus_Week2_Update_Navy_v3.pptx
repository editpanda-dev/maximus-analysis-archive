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8f5ca41ec345dd" /><Relationship Type="http://schemas.openxmlformats.org/officeDocument/2006/relationships/extended-properties" Target="/docProps/app.xml" Id="R66684b1c11b74bd6" /><Relationship Type="http://schemas.openxmlformats.org/officeDocument/2006/relationships/officeDocument" Target="/ppt/presentation.xml" Id="Rd9d0e7574d2a4f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2e01f4ec7b4d9b"/>
  </p:sldMasterIdLst>
  <p:notesMasterIdLst>
    <p:notesMasterId xmlns:r="http://schemas.openxmlformats.org/officeDocument/2006/relationships" r:id="Re82a530761a14566"/>
  </p:notesMasterIdLst>
  <p:sldIdLst>
    <p:sldId xmlns:r="http://schemas.openxmlformats.org/officeDocument/2006/relationships" id="256" r:id="R271608e2babd4065"/>
    <p:sldId xmlns:r="http://schemas.openxmlformats.org/officeDocument/2006/relationships" id="257" r:id="R50369f02e51642b5"/>
    <p:sldId xmlns:r="http://schemas.openxmlformats.org/officeDocument/2006/relationships" id="258" r:id="R8899ed2953ca4ba8"/>
    <p:sldId xmlns:r="http://schemas.openxmlformats.org/officeDocument/2006/relationships" id="259" r:id="Rb60f08cc7da34f55"/>
    <p:sldId xmlns:r="http://schemas.openxmlformats.org/officeDocument/2006/relationships" id="260" r:id="Re72ce23ff8e14e39"/>
    <p:sldId xmlns:r="http://schemas.openxmlformats.org/officeDocument/2006/relationships" id="261" r:id="R4ce07be8199548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1ccbe09ae04dcb" /><Relationship Type="http://schemas.openxmlformats.org/officeDocument/2006/relationships/slideMaster" Target="/ppt/slideMasters/slideMaster1.xml" Id="Ra62e01f4ec7b4d9b" /><Relationship Type="http://schemas.openxmlformats.org/officeDocument/2006/relationships/notesMaster" Target="/ppt/notesMasters/notesMaster1.xml" Id="Re82a530761a14566" /><Relationship Type="http://schemas.openxmlformats.org/officeDocument/2006/relationships/presProps" Target="/ppt/presProps.xml" Id="R55b921ec6e564c49" /><Relationship Type="http://schemas.openxmlformats.org/officeDocument/2006/relationships/tableStyles" Target="/ppt/tableStyles.xml" Id="R1cbd54d952024630" /><Relationship Type="http://schemas.openxmlformats.org/officeDocument/2006/relationships/slide" Target="/ppt/slides/slide1.xml" Id="R271608e2babd4065" /><Relationship Type="http://schemas.openxmlformats.org/officeDocument/2006/relationships/slide" Target="/ppt/slides/slide2.xml" Id="R50369f02e51642b5" /><Relationship Type="http://schemas.openxmlformats.org/officeDocument/2006/relationships/slide" Target="/ppt/slides/slide3.xml" Id="R8899ed2953ca4ba8" /><Relationship Type="http://schemas.openxmlformats.org/officeDocument/2006/relationships/slide" Target="/ppt/slides/slide4.xml" Id="Rb60f08cc7da34f55" /><Relationship Type="http://schemas.openxmlformats.org/officeDocument/2006/relationships/slide" Target="/ppt/slides/slide5.xml" Id="Re72ce23ff8e14e39" /><Relationship Type="http://schemas.openxmlformats.org/officeDocument/2006/relationships/slide" Target="/ppt/slides/slide6.xml" Id="R4ce07be8199548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c6897c65f346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8fedc1b6c74db3" /><Relationship Type="http://schemas.openxmlformats.org/officeDocument/2006/relationships/notesMaster" Target="/ppt/notesMasters/notesMaster1.xml" Id="R5ba6c7981f254d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10275bb2d4481d" /><Relationship Type="http://schemas.openxmlformats.org/officeDocument/2006/relationships/notesMaster" Target="/ppt/notesMasters/notesMaster1.xml" Id="Rb36272cbc6a64e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6c0bf70d3f45d8" /><Relationship Type="http://schemas.openxmlformats.org/officeDocument/2006/relationships/notesMaster" Target="/ppt/notesMasters/notesMaster1.xml" Id="Rdbd57f7a95d443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3d4913e5274000" /><Relationship Type="http://schemas.openxmlformats.org/officeDocument/2006/relationships/notesMaster" Target="/ppt/notesMasters/notesMaster1.xml" Id="Re483487d718143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6c75ac0e014132" /><Relationship Type="http://schemas.openxmlformats.org/officeDocument/2006/relationships/notesMaster" Target="/ppt/notesMasters/notesMaster1.xml" Id="R4f42e30442734a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580f58ba614e10" /><Relationship Type="http://schemas.openxmlformats.org/officeDocument/2006/relationships/notesMaster" Target="/ppt/notesMasters/notesMaster1.xml" Id="R680e83ddae614e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2주차 업데이트. 공식 상권 후보 786개와 공공 학습시설 원천 POI 268개를 결합해 목적별 추천 근거를 보강했다.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지난주에는 동대문구 버스정류장과 지하철역 334개를 출발지로 두고, 세 시간대에서 반복 접근 가능한 행정동 204개를 탐색 생활권으로 정했다. 이후 공식 상권 폴리곤과 400m 기준으로 결합해 786개를 후보로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공공 학습시설 원천은 268행·41열이며, 상권 피처는 area_code 기준 786행으로 집계했다. 2026 POI는 현재 추천용 보조 피처로만 쓰고 2025년 매출 예측 검증에는 쓰지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공개 접근이 확인된 공공도서관 205곳, 열람실 14곳, 청년공간 17곳으로 총 236개를 점수에 반영한다. 대학시설 후보 9개는 전체 검토 245개에는 보존하지만 순위에는 반영하지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원천 POI 268개의 place_id는 고유하다. 상위 20개 상권의 117개 상권-시설 연결을 수동 확인했다. 2026년 POI는 2025년 성능 검증에 넣지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담당 산출물을 area_code 786개 기준으로 결합했다. 공부 체류 점수와 학교 목적 이동 비중의 Spearman 상관은 0.198, 최소 접근률과의 상관은 0.089다. 이동 자료는 동대문구 출발 OD 선택 라벨이 아니므로 목적 맥락 대리변수로만 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ff3a1fd40e48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d2b73feba6492b" /><Relationship Type="http://schemas.openxmlformats.org/officeDocument/2006/relationships/slideLayout" Target="/ppt/slideLayouts/slideLayout1.xml" Id="R0ed9dc26432349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d9dc26432349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f5fb6a94e4c40" /><Relationship Type="http://schemas.openxmlformats.org/officeDocument/2006/relationships/notesSlide" Target="/ppt/notesSlides/notesSlide1.xml" Id="Rca43ba8fed7744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b76653e9743ce" /><Relationship Type="http://schemas.openxmlformats.org/officeDocument/2006/relationships/notesSlide" Target="/ppt/notesSlides/notesSlide2.xml" Id="Re205082200d148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46d34428f4213" /><Relationship Type="http://schemas.openxmlformats.org/officeDocument/2006/relationships/notesSlide" Target="/ppt/notesSlides/notesSlide3.xml" Id="Rd9524dc603f749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40cd4d51c4991" /><Relationship Type="http://schemas.openxmlformats.org/officeDocument/2006/relationships/notesSlide" Target="/ppt/notesSlides/notesSlide4.xml" Id="R3afc6f97b39547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0c3e0d2084df0" /><Relationship Type="http://schemas.openxmlformats.org/officeDocument/2006/relationships/notesSlide" Target="/ppt/notesSlides/notesSlide5.xml" Id="R7fa4ab6c8ff142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d563a108d4ef0" /><Relationship Type="http://schemas.openxmlformats.org/officeDocument/2006/relationships/notesSlide" Target="/ppt/notesSlides/notesSlide6.xml" Id="R9c32dded779e4c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21757-9C7F-46EF-90DF-08CBA08E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49E41-EBC9-4E63-BC10-E4AF96BD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35852-E0FA-46E6-8A1F-CB929E68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TEAM MAXIMUS  /  DAT 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2BABF-89AE-446F-AB9F-081AE5F8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5722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공식 상권을</a:t>
            </a:r>
          </a:p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목적 데이터로</a:t>
            </a:r>
          </a:p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읽는 방법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675C9-97B3-46C7-8923-FE011D45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출발 생활권 안에서</a:t>
            </a:r>
          </a:p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추천 가능한 상권의 근거를 보강했습니다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D17D9-E6B8-4590-A868-E2DD6D69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9715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AD7E6-924A-43CF-936C-CF07D11A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715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FD4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94CE7-75A7-4CB6-AB35-96CF6CE9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478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66"/>
          </a:bodyPr>
          <a:lstStyle xmlns:a="http://schemas.openxmlformats.org/drawingml/2006/main"/>
          <a:p xmlns:a="http://schemas.openxmlformats.org/drawingml/2006/main">
            <a:pPr>
              <a:defRPr sz="5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ACE5F-8563-420E-A5A8-55429910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812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공식 상권 후보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849B4-E573-4A26-9840-C12CE8B2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29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DF1E1-2E02-4233-BE4B-DEFFD4CE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8671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공공 학습시설 원천 POI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17782-D108-4C7A-800C-03A29CB8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5295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29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334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F3137-951A-4EFD-B225-895EE690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3149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출발지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F6ADB-D188-49FD-8DA7-24DE6F0A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장한별  ·  지우진  ·  최시현</a:t>
            </a:r>
          </a:p>
        </p:txBody>
      </p:sp>
    </p:spTree>
    <p:extLst>
      <p:ext uri="{BB962C8B-B14F-4D97-AF65-F5344CB8AC3E}">
        <p14:creationId xmlns:p14="http://schemas.microsoft.com/office/powerpoint/2010/main" val="4634660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8AF42-8008-4F0E-9A63-6EC3943E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DD6B4-9CDA-4841-A23B-EAD26F5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WEEK 1 RECAP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6A190-70F5-47B5-B7D9-96D03996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F262D-CCA4-4D9F-B0FC-567D7FB1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1D9AB-04F4-4329-A1FA-651F06BB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지난주에는 추천의 공간 단위를 확정했습니다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55792-1688-4F62-B541-9BB2084E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동대문구의 모든 출발지에서 반복 접근 가능한 범위를 먼저 정하고, 행정동보다 세밀한 공식 상권 폴리곤으로 옮겼습니다.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F99E8-E2DE-4151-9231-138AF64F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C6B48-11DD-4EE4-9F5D-40109029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버스·지하철 출발지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E84EF-7571-42A7-8D41-6A329460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8FD0B-349D-47C4-A73B-F456DCF3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67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25% 이상 접근 가능한 행정동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39564-D187-4465-A498-75C3C34D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786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B6E2E-67E4-4393-9962-C26F478F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67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400m 결합 후 공식 상권 후보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1EC48-06B1-4698-ACC6-E0C71F76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63829-C8C0-408A-9C6D-E9A650FE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147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2416B-5DD3-447D-88C0-5784C6BB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세 시간대 공통 기준  /  오전 8시 · 오후 2시 · 오후 7시</a:t>
            </a:r>
          </a:p>
        </p:txBody>
      </p:sp>
    </p:spTree>
    <p:extLst>
      <p:ext uri="{BB962C8B-B14F-4D97-AF65-F5344CB8AC3E}">
        <p14:creationId xmlns:p14="http://schemas.microsoft.com/office/powerpoint/2010/main" val="15322279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5FB8A-AC84-4005-B6B3-8AF51B97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597A9-7740-42B5-8F9E-3EEB224E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WEEK 2 DATA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253A4-7BBB-493C-A28D-E37A9764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59233-62BC-4AD9-AD78-B21BFAED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70B53-30A0-4DD4-B939-6C200409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2주차에는 목적별 피처 테이블을 보강했습니다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C73D5-71EC-49ED-95FE-9E9D69D6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같은 area_code를 유지해 공공시설, 상권 피처, 추천 보조순위를 하나의 분석 단위로 결합했습니다.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F92F3-52E9-478B-AB4C-35270A92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A7AF1-01A7-4A25-BE1B-AD39B77D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586DA-58A0-4231-9D47-BC952B95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87B96-A046-40F6-9117-E4DBE895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시설명·좌표·접근조건·출처를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41개 필드로 보존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F88D8-1250-4BD7-BA2C-AFECC56D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4D9CA-F405-4986-AA2F-32DA1C62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A6BE8-58B9-45EA-9D31-8E559A5E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폴리곤 내부와 400m 이내를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분리해 시설 수 집계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E8CB5-9907-477A-916F-40483E03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CBBA7-0079-469C-B980-587F9631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현재 순위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70D95-2172-45E3-A63F-EAC27E9C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2025 업종 신호와 2026 POI를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분리해 보조순위 산출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7EAB8-0E6C-4D82-A61B-84B4DB46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분석 키  area_code  /  추천 단위  공식 상권 786개</a:t>
            </a:r>
          </a:p>
        </p:txBody>
      </p:sp>
    </p:spTree>
    <p:extLst>
      <p:ext uri="{BB962C8B-B14F-4D97-AF65-F5344CB8AC3E}">
        <p14:creationId xmlns:p14="http://schemas.microsoft.com/office/powerpoint/2010/main" val="2105634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A3901-FB34-44ED-A503-FA8FFE29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D01F1-73EE-4DB7-9C0D-64ECD8BC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FEATURE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0AEA9-6CBE-41B2-A233-63B306E1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F006A-543E-4CDE-8795-28CF4921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88072-8B4E-4A1A-BC68-68156A0B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점수 반영과 검토 대상을 구분했습니다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4B353-8E44-43AB-8A57-77825E6F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공개 접근 여부가 불확실한 대학시설을 곧바로 추천 점수에 넣지 않았습니다.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77B07-EBF6-4F31-84D4-4B4B3022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E978F-E890-455E-BE29-D32D247A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66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POI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55955-DA2F-491C-A0BC-56327082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E5685-F6B5-4F05-9F5F-33DAF97C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236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2C6ED-2B33-4CCF-9367-4ADC4624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766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공개 접근 확인 후 점수 반영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977C5-D42A-45B6-936C-2BE7152B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90982-455E-4260-8FEC-3D5E5A57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245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187B3-BB6F-4933-A595-25D8D23B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766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대학시설 후보 포함 검토용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827E7-542B-4EA3-A367-8C7397A2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공부 체류 보조순위  /  상권 내부 80% + 400m 이내 20%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14A80-FAC0-46C6-8C8D-BEE128B8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대학 학습시설 9개는 공개 접근 확인 전까지 점수에서 제외합니다</a:t>
            </a:r>
          </a:p>
        </p:txBody>
      </p:sp>
    </p:spTree>
    <p:extLst>
      <p:ext uri="{BB962C8B-B14F-4D97-AF65-F5344CB8AC3E}">
        <p14:creationId xmlns:p14="http://schemas.microsoft.com/office/powerpoint/2010/main" val="16606562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F9294-BB46-4699-9DDD-77CBE2E4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CA276-F92E-4B16-92E6-E7EF4300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QA &amp; 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CB2EA-5628-4FCB-817B-0E2535F2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6B684-D7D2-4709-8F66-754BAE25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B1B90-9813-4357-8037-3D1EA2BC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재현 가능한 산출물로 정리했습니다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9561D-267B-4817-8674-691A46EC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식별자, 공간 결합 기준, 점수 반영 범위를 분리해 다음 분석 단계에서 다시 확인할 수 있게 남겼습니다.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C28F6-B03F-410F-9B82-C119DF8A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857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36E7C-E43E-491F-BD68-376ACC62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7FFD4-F152-4352-AE5F-62ECCD87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고유 place_id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식별자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53ACB-5975-400B-96B9-31B730B0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813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 × 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7FA2A-B359-4670-8708-DC632670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575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상권 피처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점수용·검토용 필드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5DB9D-8E2E-4509-B313-55AE7EE0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117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6BB27-EA5C-4664-8986-812DCF68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575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상권–시설 연결 수동 점검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Top 20 상권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E0FA0-5B8D-40F9-B0CF-88C6FA30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2026 POI는 2025년 성능 검증에 사용하지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3447941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8966A4-8DEC-4DF9-B8F1-0EAFCCDE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67507-BE48-4A77-97FE-722E7BEC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CROSS-WORK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6516E-1BC7-4E7B-8F6A-B4274F4B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7D482-AA21-44A9-AFD4-605A64E3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D2000-3065-4999-85A6-1E132CCF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세 데이터는 서로 다른 신호를 보여줍니다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21125-5302-4D28-A670-DC8C8924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공부 점수와 학교 이동 비중의 상관은 0.198, 공부 점수와 접근성의 상관은 0.089입니다.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2903D-F7B9-4156-AFA7-37C561B4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B7899-68F7-4EA1-8D15-63010D60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시설·접근성·학교 신호가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함께 높은 우선 검증군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F5413-249F-4915-8590-A59C9131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00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3BB5B-114E-4947-BBE8-50863D32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 점수는 높지만 학교 신호가 낮아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실제 선택 검증이 필요한 상권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4ADF6-31C1-4E5C-BA93-90EC7A32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47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E8754-66CB-46BE-B652-A45127E8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290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학교 신호는 높지만 현재 시설 피처가 낮아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추가 조사할 상권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09AA1-A01B-401C-8991-EB7C6B81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다음 단계  /  B078 선택 라벨로 세 그룹의 실제 목적지 선택확률을 비교</a:t>
            </a:r>
          </a:p>
        </p:txBody>
      </p:sp>
    </p:spTree>
    <p:extLst>
      <p:ext uri="{BB962C8B-B14F-4D97-AF65-F5344CB8AC3E}">
        <p14:creationId xmlns:p14="http://schemas.microsoft.com/office/powerpoint/2010/main" val="477667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2026-09-22T01:16:38.0890000Z</dcterms:created>
  <dcterms:modified xsi:type="dcterms:W3CDTF">2026-09-22T01:16:38.0890000Z</dcterms:modified>
</coreProperties>
</file>