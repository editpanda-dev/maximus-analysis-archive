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da90421a84fb1" /><Relationship Type="http://schemas.openxmlformats.org/officeDocument/2006/relationships/extended-properties" Target="/docProps/app.xml" Id="R9a1d038f2841417c" /><Relationship Type="http://schemas.openxmlformats.org/officeDocument/2006/relationships/officeDocument" Target="/ppt/presentation.xml" Id="Rab08c13ee09d4a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454685ec114142"/>
  </p:sldMasterIdLst>
  <p:notesMasterIdLst>
    <p:notesMasterId xmlns:r="http://schemas.openxmlformats.org/officeDocument/2006/relationships" r:id="Rd5616b87b8b14de5"/>
  </p:notesMasterIdLst>
  <p:sldIdLst>
    <p:sldId xmlns:r="http://schemas.openxmlformats.org/officeDocument/2006/relationships" id="256" r:id="R8594eb0feb7b460a"/>
    <p:sldId xmlns:r="http://schemas.openxmlformats.org/officeDocument/2006/relationships" id="257" r:id="R4815ce3c27c8487d"/>
    <p:sldId xmlns:r="http://schemas.openxmlformats.org/officeDocument/2006/relationships" id="258" r:id="R08be73744fa442cb"/>
    <p:sldId xmlns:r="http://schemas.openxmlformats.org/officeDocument/2006/relationships" id="259" r:id="R03f063054ba14f0a"/>
    <p:sldId xmlns:r="http://schemas.openxmlformats.org/officeDocument/2006/relationships" id="260" r:id="R6d5a3dec28764a05"/>
    <p:sldId xmlns:r="http://schemas.openxmlformats.org/officeDocument/2006/relationships" id="261" r:id="R2b7f7c9c0d554b8f"/>
    <p:sldId xmlns:r="http://schemas.openxmlformats.org/officeDocument/2006/relationships" id="262" r:id="R0ee55ec3b9c04d9b"/>
    <p:sldId xmlns:r="http://schemas.openxmlformats.org/officeDocument/2006/relationships" id="263" r:id="Raf2dce40aa014479"/>
    <p:sldId xmlns:r="http://schemas.openxmlformats.org/officeDocument/2006/relationships" id="264" r:id="Rca7b63ff901447ff"/>
    <p:sldId xmlns:r="http://schemas.openxmlformats.org/officeDocument/2006/relationships" id="265" r:id="R3c44657aa1ad4ab3"/>
    <p:sldId xmlns:r="http://schemas.openxmlformats.org/officeDocument/2006/relationships" id="266" r:id="R9335afd91db94105"/>
    <p:sldId xmlns:r="http://schemas.openxmlformats.org/officeDocument/2006/relationships" id="267" r:id="R22b2662ff05a4968"/>
    <p:sldId xmlns:r="http://schemas.openxmlformats.org/officeDocument/2006/relationships" id="268" r:id="Rc23dbebce8d24336"/>
    <p:sldId xmlns:r="http://schemas.openxmlformats.org/officeDocument/2006/relationships" id="269" r:id="Rb53576c2ddda49fb"/>
    <p:sldId xmlns:r="http://schemas.openxmlformats.org/officeDocument/2006/relationships" id="270" r:id="R176bb55814c44f46"/>
    <p:sldId xmlns:r="http://schemas.openxmlformats.org/officeDocument/2006/relationships" id="271" r:id="R458e8f9d19c44960"/>
    <p:sldId xmlns:r="http://schemas.openxmlformats.org/officeDocument/2006/relationships" id="272" r:id="R3f08f1b1903e436a"/>
    <p:sldId xmlns:r="http://schemas.openxmlformats.org/officeDocument/2006/relationships" id="273" r:id="R019cc063f0254542"/>
    <p:sldId xmlns:r="http://schemas.openxmlformats.org/officeDocument/2006/relationships" id="274" r:id="Rd1b9dd857d834333"/>
    <p:sldId xmlns:r="http://schemas.openxmlformats.org/officeDocument/2006/relationships" id="275" r:id="Rf627370e4a0d47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feecd9866d4396" /><Relationship Type="http://schemas.openxmlformats.org/officeDocument/2006/relationships/slideMaster" Target="/ppt/slideMasters/slideMaster1.xml" Id="R0c454685ec114142" /><Relationship Type="http://schemas.openxmlformats.org/officeDocument/2006/relationships/notesMaster" Target="/ppt/notesMasters/notesMaster1.xml" Id="Rd5616b87b8b14de5" /><Relationship Type="http://schemas.openxmlformats.org/officeDocument/2006/relationships/presProps" Target="/ppt/presProps.xml" Id="R076a591591c74dfb" /><Relationship Type="http://schemas.openxmlformats.org/officeDocument/2006/relationships/tableStyles" Target="/ppt/tableStyles.xml" Id="R474a5634fe6e4e7e" /><Relationship Type="http://schemas.openxmlformats.org/officeDocument/2006/relationships/slide" Target="/ppt/slides/slide1.xml" Id="R8594eb0feb7b460a" /><Relationship Type="http://schemas.openxmlformats.org/officeDocument/2006/relationships/slide" Target="/ppt/slides/slide2.xml" Id="R4815ce3c27c8487d" /><Relationship Type="http://schemas.openxmlformats.org/officeDocument/2006/relationships/slide" Target="/ppt/slides/slide3.xml" Id="R08be73744fa442cb" /><Relationship Type="http://schemas.openxmlformats.org/officeDocument/2006/relationships/slide" Target="/ppt/slides/slide4.xml" Id="R03f063054ba14f0a" /><Relationship Type="http://schemas.openxmlformats.org/officeDocument/2006/relationships/slide" Target="/ppt/slides/slide5.xml" Id="R6d5a3dec28764a05" /><Relationship Type="http://schemas.openxmlformats.org/officeDocument/2006/relationships/slide" Target="/ppt/slides/slide6.xml" Id="R2b7f7c9c0d554b8f" /><Relationship Type="http://schemas.openxmlformats.org/officeDocument/2006/relationships/slide" Target="/ppt/slides/slide7.xml" Id="R0ee55ec3b9c04d9b" /><Relationship Type="http://schemas.openxmlformats.org/officeDocument/2006/relationships/slide" Target="/ppt/slides/slide8.xml" Id="Raf2dce40aa014479" /><Relationship Type="http://schemas.openxmlformats.org/officeDocument/2006/relationships/slide" Target="/ppt/slides/slide9.xml" Id="Rca7b63ff901447ff" /><Relationship Type="http://schemas.openxmlformats.org/officeDocument/2006/relationships/slide" Target="/ppt/slides/slide10.xml" Id="R3c44657aa1ad4ab3" /><Relationship Type="http://schemas.openxmlformats.org/officeDocument/2006/relationships/slide" Target="/ppt/slides/slide11.xml" Id="R9335afd91db94105" /><Relationship Type="http://schemas.openxmlformats.org/officeDocument/2006/relationships/slide" Target="/ppt/slides/slide12.xml" Id="R22b2662ff05a4968" /><Relationship Type="http://schemas.openxmlformats.org/officeDocument/2006/relationships/slide" Target="/ppt/slides/slide13.xml" Id="Rc23dbebce8d24336" /><Relationship Type="http://schemas.openxmlformats.org/officeDocument/2006/relationships/slide" Target="/ppt/slides/slide14.xml" Id="Rb53576c2ddda49fb" /><Relationship Type="http://schemas.openxmlformats.org/officeDocument/2006/relationships/slide" Target="/ppt/slides/slide15.xml" Id="R176bb55814c44f46" /><Relationship Type="http://schemas.openxmlformats.org/officeDocument/2006/relationships/slide" Target="/ppt/slides/slide16.xml" Id="R458e8f9d19c44960" /><Relationship Type="http://schemas.openxmlformats.org/officeDocument/2006/relationships/slide" Target="/ppt/slides/slide17.xml" Id="R3f08f1b1903e436a" /><Relationship Type="http://schemas.openxmlformats.org/officeDocument/2006/relationships/slide" Target="/ppt/slides/slide18.xml" Id="R019cc063f0254542" /><Relationship Type="http://schemas.openxmlformats.org/officeDocument/2006/relationships/slide" Target="/ppt/slides/slide19.xml" Id="Rd1b9dd857d834333" /><Relationship Type="http://schemas.openxmlformats.org/officeDocument/2006/relationships/slide" Target="/ppt/slides/slide20.xml" Id="Rf627370e4a0d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4ef4dbe3544c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a7fa60e1b24eeb" /><Relationship Type="http://schemas.openxmlformats.org/officeDocument/2006/relationships/notesMaster" Target="/ppt/notesMasters/notesMaster1.xml" Id="R4583d7503a5845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a60fffe93435c" /><Relationship Type="http://schemas.openxmlformats.org/officeDocument/2006/relationships/notesMaster" Target="/ppt/notesMasters/notesMaster1.xml" Id="R4dc3b7c0ec1f48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bd695d21ec4d99" /><Relationship Type="http://schemas.openxmlformats.org/officeDocument/2006/relationships/notesMaster" Target="/ppt/notesMasters/notesMaster1.xml" Id="R78c0b9b50b5e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4a221a21940f3" /><Relationship Type="http://schemas.openxmlformats.org/officeDocument/2006/relationships/notesMaster" Target="/ppt/notesMasters/notesMaster1.xml" Id="Rc22eeb7708e244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765f62a68245b3" /><Relationship Type="http://schemas.openxmlformats.org/officeDocument/2006/relationships/notesMaster" Target="/ppt/notesMasters/notesMaster1.xml" Id="Rabe35f8a082048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f50105bd7c4558" /><Relationship Type="http://schemas.openxmlformats.org/officeDocument/2006/relationships/notesMaster" Target="/ppt/notesMasters/notesMaster1.xml" Id="Rd5ef965a5559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87e8cee5a94042" /><Relationship Type="http://schemas.openxmlformats.org/officeDocument/2006/relationships/notesMaster" Target="/ppt/notesMasters/notesMaster1.xml" Id="R8e475bba670d47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1d5152c37f4106" /><Relationship Type="http://schemas.openxmlformats.org/officeDocument/2006/relationships/notesMaster" Target="/ppt/notesMasters/notesMaster1.xml" Id="R8a609ddfc314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d5e0dbb41747e1" /><Relationship Type="http://schemas.openxmlformats.org/officeDocument/2006/relationships/notesMaster" Target="/ppt/notesMasters/notesMaster1.xml" Id="R09fc4538bc5e4c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54f91004fa4666" /><Relationship Type="http://schemas.openxmlformats.org/officeDocument/2006/relationships/notesMaster" Target="/ppt/notesMasters/notesMaster1.xml" Id="R8d6c9a140b5f4a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2cbde4b0d44f63" /><Relationship Type="http://schemas.openxmlformats.org/officeDocument/2006/relationships/notesMaster" Target="/ppt/notesMasters/notesMaster1.xml" Id="R01be3ac3805843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ff799e2a784cd6" /><Relationship Type="http://schemas.openxmlformats.org/officeDocument/2006/relationships/notesMaster" Target="/ppt/notesMasters/notesMaster1.xml" Id="R8a03d94dae5c44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34c95348ca4b88" /><Relationship Type="http://schemas.openxmlformats.org/officeDocument/2006/relationships/notesMaster" Target="/ppt/notesMasters/notesMaster1.xml" Id="Rd79be36b124848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061768e4c44e35" /><Relationship Type="http://schemas.openxmlformats.org/officeDocument/2006/relationships/notesMaster" Target="/ppt/notesMasters/notesMaster1.xml" Id="R565e65f48deb44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68b1077c634c9e" /><Relationship Type="http://schemas.openxmlformats.org/officeDocument/2006/relationships/notesMaster" Target="/ppt/notesMasters/notesMaster1.xml" Id="R5b8b7d09a23d46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6b52160c40479b" /><Relationship Type="http://schemas.openxmlformats.org/officeDocument/2006/relationships/notesMaster" Target="/ppt/notesMasters/notesMaster1.xml" Id="Rc4eb3a668b334e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8202466de24b1a" /><Relationship Type="http://schemas.openxmlformats.org/officeDocument/2006/relationships/notesMaster" Target="/ppt/notesMasters/notesMaster1.xml" Id="Rf8958e19258b4e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73a2e572a4454a" /><Relationship Type="http://schemas.openxmlformats.org/officeDocument/2006/relationships/notesMaster" Target="/ppt/notesMasters/notesMaster1.xml" Id="Rd75d6f86416f4b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f293ea46474724" /><Relationship Type="http://schemas.openxmlformats.org/officeDocument/2006/relationships/notesMaster" Target="/ppt/notesMasters/notesMaster1.xml" Id="R16c76b77d02249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d297d0307c464d" /><Relationship Type="http://schemas.openxmlformats.org/officeDocument/2006/relationships/notesMaster" Target="/ppt/notesMasters/notesMaster1.xml" Id="R8376fa49884d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교통 접근성은 334개 출발지에서 정류장·역·환승·도보를 연결한 정적 교통 그래프에서 계산했다. 오전 8시, 오후 2시, 오후 7시의 반복 접근성을 함께 보며 후보를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행정동은 넓고 상권 성격이 섞여 있어 탐색 범위로만 사용했다. 786개의 공식 상권 폴리곤은 도달 정류장 400m 기준과 세 시간대 25% 접근률을 통과한 비교·추천 단위다.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PATH-v0의 일반 목적 점수는 목적 공급 신호 70%와 직전 분기 소비 신호 30%다. 공부는 독서실만 체류형 학습 업종으로 정의하고, 매출 원천에 독서실 소비가 없어 독서실 공급 신호 90%와 접근성 10%로 계산한다.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생활이동 데이터는 source_period가 26개 기간으로 혼재하고 동대문구 출발 OD가 아니다. 따라서 학교 이동 비중은 목적 맥락 대리변수로만 해석하며, 실제 추천 성능 지표로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B078 원본으로 실제 선택 라벨을 얻어 목적지 선택 데이터셋을 만드는 것이다. 현재의 후보군·시설·접근성·목적 맥락 변수는 학습과 검증을 위한 설명 피처 기반이다.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official_area_purpose_quarter_features.csv의 2025년 4분기 공부 목적 상위 5행을 읽기 쉽게 축약한 것이다. 전체 피처 테이블은 15,720행, 최신 분기 순위 테이블은 3,930행이다.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official_area_week2_integration.csv에서 동대문구의 대표 상권 5개를 추린 실제 결합 행이다. 이동 비중은 source_period가 혼재한 목적 맥락 대리변수이며 개별 목적지 선택 라벨이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목적별 상위 이름과 점수는 official_area_purpose_latest_rankings.csv의 2025 Q4 PATH-v0 순위에서 가져온다. 목적별 상세 Top 10은 다음 지도에서 공식 상권 폴리곤으로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commercial_area_candidates_25pct.geojson의 786개 공식 상권 폴리곤과 official_area_purpose_latest_rankings.csv의 2025 Q4 목적별 Top 10을 area_code로 결합해 제작했다. 밝은 폴리곤의 숫자는 각 목적 안의 순위다.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공부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카페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식사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쇼핑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여가문화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eb3143d95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8c9726b7f4161" /><Relationship Type="http://schemas.openxmlformats.org/officeDocument/2006/relationships/slideLayout" Target="/ppt/slideLayouts/slideLayout1.xml" Id="R53bc3638fc67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bc3638fc67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a241674af4da4" /><Relationship Type="http://schemas.openxmlformats.org/officeDocument/2006/relationships/notesSlide" Target="/ppt/notesSlides/notesSlide1.xml" Id="Rcdecf8073be841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d2cbd06024518" /><Relationship Type="http://schemas.openxmlformats.org/officeDocument/2006/relationships/notesSlide" Target="/ppt/notesSlides/notesSlide2.xml" Id="R6cd55ad4aaa7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464100bb0480d" /><Relationship Type="http://schemas.openxmlformats.org/officeDocument/2006/relationships/notesSlide" Target="/ppt/notesSlides/notesSlide3.xml" Id="R1bdf1137537641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3312810b54801" /><Relationship Type="http://schemas.openxmlformats.org/officeDocument/2006/relationships/notesSlide" Target="/ppt/notesSlides/notesSlide4.xml" Id="R92cca0b5361c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97a192d684008" /><Relationship Type="http://schemas.openxmlformats.org/officeDocument/2006/relationships/notesSlide" Target="/ppt/notesSlides/notesSlide5.xml" Id="R4697d148a03046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b817fecd7457a" /><Relationship Type="http://schemas.openxmlformats.org/officeDocument/2006/relationships/notesSlide" Target="/ppt/notesSlides/notesSlide6.xml" Id="Ra09f3e5fcf724c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755cec0d64ad7" /><Relationship Type="http://schemas.openxmlformats.org/officeDocument/2006/relationships/notesSlide" Target="/ppt/notesSlides/notesSlide7.xml" Id="R2b6771916b8d47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934cb4e3a4d1c" /><Relationship Type="http://schemas.openxmlformats.org/officeDocument/2006/relationships/notesSlide" Target="/ppt/notesSlides/notesSlide8.xml" Id="R058aaf31ae3347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969c0e3b0419f" /><Relationship Type="http://schemas.openxmlformats.org/officeDocument/2006/relationships/notesSlide" Target="/ppt/notesSlides/notesSlide9.xml" Id="R28b5c9ea698748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89cae327a49e4" /><Relationship Type="http://schemas.openxmlformats.org/officeDocument/2006/relationships/notesSlide" Target="/ppt/notesSlides/notesSlide10.xml" Id="R3bc11df1d1e14c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d207cd0ae49f2" /><Relationship Type="http://schemas.openxmlformats.org/officeDocument/2006/relationships/notesSlide" Target="/ppt/notesSlides/notesSlide11.xml" Id="R20e1d00a26e341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64ebc8e934651" /><Relationship Type="http://schemas.openxmlformats.org/officeDocument/2006/relationships/notesSlide" Target="/ppt/notesSlides/notesSlide12.xml" Id="R1b64812f34f247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d0dae37234b57" /><Relationship Type="http://schemas.openxmlformats.org/officeDocument/2006/relationships/notesSlide" Target="/ppt/notesSlides/notesSlide13.xml" Id="R0e5e5fd3d55742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fa0aa9c9b476b" /><Relationship Type="http://schemas.openxmlformats.org/officeDocument/2006/relationships/notesSlide" Target="/ppt/notesSlides/notesSlide14.xml" Id="R92209c39c9944c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1b92cf69947eb" /><Relationship Type="http://schemas.openxmlformats.org/officeDocument/2006/relationships/image" Target="/ppt/media/image.png" Id="Rb59ed7201f234e3a" /><Relationship Type="http://schemas.openxmlformats.org/officeDocument/2006/relationships/notesSlide" Target="/ppt/notesSlides/notesSlide15.xml" Id="R76ec86efa9e742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09f9285db40ae" /><Relationship Type="http://schemas.openxmlformats.org/officeDocument/2006/relationships/image" Target="/ppt/media/image2.png" Id="Rdcf3eb099ad044ef" /><Relationship Type="http://schemas.openxmlformats.org/officeDocument/2006/relationships/notesSlide" Target="/ppt/notesSlides/notesSlide16.xml" Id="R9fe97dc3414c43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4c68e537c4071" /><Relationship Type="http://schemas.openxmlformats.org/officeDocument/2006/relationships/image" Target="/ppt/media/image3.png" Id="R772d771931fb4e8e" /><Relationship Type="http://schemas.openxmlformats.org/officeDocument/2006/relationships/notesSlide" Target="/ppt/notesSlides/notesSlide17.xml" Id="R6e190e137d7c44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15bde771f4b96" /><Relationship Type="http://schemas.openxmlformats.org/officeDocument/2006/relationships/image" Target="/ppt/media/image4.png" Id="Raa4b2dc7d92f4c05" /><Relationship Type="http://schemas.openxmlformats.org/officeDocument/2006/relationships/notesSlide" Target="/ppt/notesSlides/notesSlide18.xml" Id="R9e48dedd14f243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9b5f4fc234794" /><Relationship Type="http://schemas.openxmlformats.org/officeDocument/2006/relationships/image" Target="/ppt/media/image5.png" Id="R9bd10e8b6b7b4507" /><Relationship Type="http://schemas.openxmlformats.org/officeDocument/2006/relationships/notesSlide" Target="/ppt/notesSlides/notesSlide19.xml" Id="R6850ca87269b44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9f0b91fce41e9" /><Relationship Type="http://schemas.openxmlformats.org/officeDocument/2006/relationships/image" Target="/ppt/media/image6.png" Id="Rebb9c756992643fc" /><Relationship Type="http://schemas.openxmlformats.org/officeDocument/2006/relationships/notesSlide" Target="/ppt/notesSlides/notesSlide20.xml" Id="R8da17b1607d249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53F7C-F190-483B-8F77-A0E6E65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C9BAF-2280-4FD9-8B60-35D5C181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2DE1D-09C8-4418-B3C0-E94E763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70EC1-6DA1-4745-9619-59530B4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B4975-E2EE-47B2-9C7B-F180B392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C2BE7-D657-4145-9A60-5C19F90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503D6-4CE6-435E-88E9-CB879B9A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E38A9-312D-4E63-B76B-C430941C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5795A-E561-46E6-B51A-7E237A74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8DDC6-CDE3-43DA-9AE4-25400EE5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CBD25-BE47-419B-A0B0-ED83E80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7CB62-07D5-4E89-85C4-3981301C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7A5F1-24C0-4742-ACC7-221E7D77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C57FB-CCFE-4485-A374-D52E454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1598191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F8D7F-AC4C-4DDF-B4AA-E6B0078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C7B38-6EA9-434D-980E-37E3C5A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EFA7-D456-406C-B0AA-03A1DEE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30CF6-D2DC-4E4B-8792-2D948DBB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2DABF-A927-451A-A391-DA922729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18628-CE8C-435D-A640-6444E3F6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D79AA-F221-4878-9EDC-DE74E47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5D4D2-ECAD-416B-A34C-5F36B13A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AE3F4-9446-4371-B3C6-C2B94888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0263E-08DC-4443-85D0-5A1E3C96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F121-2B12-4D82-88F1-FF3019A1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E4240-837C-409C-A71A-48951164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0F9A7-7BA0-4E1D-88B5-461C6B6E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3E1E8-AD9E-40DE-8D09-A0DFB0B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594A6-4D2C-4A80-9517-0B1CD21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828368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F1006-A2EF-4148-A533-3F03E2B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13A39-8D6F-45A7-BA83-15D01BB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BED49-416D-45D5-A814-F5231E8B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90832-8C96-4DA2-B669-333D118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4B62B-B595-47E2-BAC8-E4C6589C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FB46B-E3C1-4A23-9A07-077D78C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6B4BA-E654-470B-90B1-587CEDF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BF9CA-49EA-406A-BE87-3342C0C0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C5CC2-6508-46D8-9970-AFD6FE2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1D9C-958F-40BB-BB43-A233D1CF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00ED7-DF69-4262-A3BF-FE8316B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676A0-DE73-40BE-95D8-FD669D6D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4A847-85E8-4D3C-852E-E79C1719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1AA85-FE57-4AF3-A680-E1C38AD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440E3-63F3-4A26-80A9-52CA2E55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C975E-45E8-4011-A55C-E455A0E5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D0510-6C97-45E8-9B3C-C5B471A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490742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C075F-A22C-469F-A6AF-975A9C36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D96F3-A7D4-42B5-A4E7-E585A93A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CC136-33BC-45CD-BBED-B3F1C50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67045-4815-426E-9156-BD252EA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D3590-D018-409E-AF35-6ECC9BF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5C529-50CE-492F-99C6-C40AD51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C71E7-AC46-44FF-9FE4-20DBFD96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26A69-B630-44AB-90DE-4345B7AB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C2365-6BD3-4C2D-9F1B-ECBBA36E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D2794-5A90-4EE1-A036-08B96410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142C0-B43A-4F97-8E5D-B1D1D30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31DF1-C60B-4CFB-BF6A-CD1E4340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84267-37D9-43C2-8BE0-8E274A16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A2252-0CFB-4524-BE40-F136D4D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C760A-D76D-48E9-87AD-FC3DEB3B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5A3E2-1253-4E4D-909A-EBF35672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354225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62967-9A8F-4D1D-945F-9522B947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45CB0-53AA-4462-81B7-C5BFC16D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09235-81A7-40A1-B797-471C640F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68E43-77AE-42C4-80BE-DBADF6FD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36B52-CC2E-4CDE-B331-7BFD1F2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A9D28-0ECA-457A-BE11-B3A7EE58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D0014-88AB-49D5-A275-20322562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C6BCD-4DC9-4701-AC07-7A7A32D9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05ECF-2458-4016-987B-F96CEEE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06117-8EF9-40A9-8B6E-0FDAE196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4683C-EB63-4EA8-A02D-8DD7B37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D7AB4-E4C8-4CD7-B183-1F83BAE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6904F-FF2D-4829-984C-E1E6CCBE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EA85C-E2D7-4211-9D2F-FA927ACC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735250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8E86B-4AC5-471A-834D-D017895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F2A73-B76E-45ED-A5D5-30821F66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05EBB-C805-494B-902C-4A24F9AA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D5339-A7B2-447D-A8FA-F680BBBA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118BB-B9D9-40B5-A95E-109B60BC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B5995-9E32-4D36-B5E4-A1BE95F4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7501A-1B0D-4995-8ADA-B7619FB2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52587-43A9-46BC-BF51-C95ADF9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05B33-58E7-4933-B009-AA60C19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9F004-F1C4-4EDE-B19F-9E39F9F2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E51F6-DABF-474F-A3AE-EF33732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A1179-C545-46CB-BA7A-336182A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7DF05-64C4-495B-956D-7699BC15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740890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1D30F-AED3-496C-888A-769F572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D7FD1-0F9B-4853-837B-30B81544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ACCESSIBILITY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86209-E487-4852-9FF3-D817088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E20CB-0A11-41F3-9DF0-9C77BBF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EFE64-4C2F-40E8-A5D3-AA1E788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 생활권은 교통망에서 먼저 계산했습니다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B7C96-7A33-491E-9C58-14E5548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334개 출발지에서 버스·지하철 운행 정보를 그래프로 만들고, 대기·환승·도보를 포함한 최소 이동시간을 계산했습니다.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DC4BA-D2C5-4C55-B52F-B8FEFBA6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출발지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E6BE2-C332-4FDA-B377-31FF948A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815BB-1E19-4451-9841-B5D3669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교통 그래프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8E8C4-6CB0-4A38-B286-F1ADBF7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64132-AB34-49A0-83ED-41956D1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도달 정류장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79089-ABE9-4963-9F5E-9787A47F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상권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75AB6-8C2D-4DD9-894F-A5B2129D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FEA97-2EDF-4B61-96CB-A873387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312F8-1E04-4716-963C-1D65BCEC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접근률을 사용해 특정 시간대에만 열리는 후보를 줄였습니다</a:t>
            </a:r>
          </a:p>
        </p:txBody>
      </p:sp>
    </p:spTree>
    <p:extLst>
      <p:ext uri="{BB962C8B-B14F-4D97-AF65-F5344CB8AC3E}">
        <p14:creationId xmlns:p14="http://schemas.microsoft.com/office/powerpoint/2010/main" val="20251019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35FFD-18ED-4735-B753-D0470C9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CDDDE-6E04-47DF-A9FF-4A44F17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9D98F-E699-4EEC-ADC2-B8054EB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0F096-38C4-4D1B-ABDA-5D4F3CEC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EC776-CB06-4650-BA94-2A4B3212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후보군은 행정동이 아니라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AF8A0-7C25-4B7B-8BE0-795D0F6E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행정동은 탐색 범위로 쓰고, 실제 비교·추천 단위는 서울시 공식 상권 경계로 세분화했습니다.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1D1DB-CD51-41ED-9BC8-74FD279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266DA-6B9C-4798-8528-7DBCC45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 가능 행정동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탐색 생활권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D6AA7-3ABA-4FF8-8CB8-5DD1EF9F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400m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F6AD8-D08B-4855-9F73-93C12962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도달 정류장과 상권 경계의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공간 결합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4E4BF-708C-4680-836E-356D6A6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71701-B610-4879-8DB8-F3025A2F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세 시간대 25% 기준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1F0C5-9247-4777-ACC2-4AD4018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48979-06CC-4E37-958F-328A943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8E388-5971-4C28-8E48-E9BCD578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25%는 소수 출발지에서만 접근 가능한 상권을 걸러내되, 동대문구 내부의 생활권 다양성을 보존하기 위한 탐색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216036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40F84-1412-4A48-814C-516B689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D4AC7-B8EE-4D89-BE8C-315CFDF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PATH-V0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711F3-1CAE-42D9-BCB4-F8EFAF48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FF91A-8611-4893-96BF-E1EA20D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46BF6-9B0D-423A-8D45-BA2EB32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Top 10은 PATH-v0 점수로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ACB02-98E6-4471-9E06-C35456A0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PATH는 Purpose-Aware Transit-constrained Heuristic입니다. 2025 Q4의 접근 가능한 공식 상권 안에서 목적별 순위를 만드는 규칙기반 기준선입니다.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4FDEC-ABBA-4B89-B985-25FB06A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일반 목적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827A0-4D57-48D1-B1B9-3C13EB64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0.70 × 공급 신호  +  0.30 × 직전 분기 소비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F6C87-BB08-4313-8963-D1A2935A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공급 신호 = 점포 수 백분위 65% + 상권 내 목적 업종 비중 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D9FA1-0C95-4340-B37C-71AC204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소비 신호 = 매출 규모 50% + 목적 매출 비중 25% + 적합 시간대 비중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4F014-F06D-4DF5-A8A1-C6B909D4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43DB9-8B1B-4D5F-A2A8-699F7C40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 목적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C1B4F-622A-443B-8C1B-BF7BFC72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0.90 × 독서실 공급 신호  +  0.10 × 접근성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324F3-06F5-4429-816C-9D36D0E9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매출 원천에 독서실 소비가 없어 임의의 매출 신호를 넣지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582397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E48AA-9B62-42AA-92FF-7C49482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DB1E1-18C2-4EF1-AD46-52D744C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MOBILITY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4AC74-199D-44A5-8C05-8101291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8179A-2324-43A8-AAE0-5294E68C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941D2-760F-4845-8DF6-221D033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생활이동 데이터는 ‘선택 라벨’이 아닌 맥락 신호입니다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30615-1E4C-4DA0-B541-0A686827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지우진의 생활이동 집계는 지역별 학교·업무·여가 목적 비중을 보여주지만, 동대문구에서 출발한 개인의 실제 목적지 선택 기록은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0D10C-36BC-4FC1-A47E-505820C7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C2313-37FB-48B4-8C95-8BC5610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source_period가 섞인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C84DB-BAB2-4251-BBF3-031FF836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0.198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CA9BB-24E4-4D3E-93C8-63D5419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993D9-FDB8-4A21-9351-DD6F6DBF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0.089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6B922-E54A-4C91-936C-A9739EBE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최소 접근률의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F495-C6F9-482A-96F4-C4271A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따라서 생활이동 비중은 상권의 목적 맥락을 보완하는 변수로만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829536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A1480-C929-4907-A679-B21B65E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28E4D-5251-4490-8489-FE61C06B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FA726-B418-40E0-8204-64FA7D1B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C97F8-0EA3-46D1-A5F8-A1CA1439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7F08B-6524-4AC6-8982-69A705C6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다음 단계는 실제 선택 데이터로 기준선을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DFE4A-8569-40DD-A3FE-59C80038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지금의 786개 상권은 후보군과 설명 피처를 갖춘 상태입니다. B078 원본 접근이 가능해지면 목적지 선택모형으로 넘어갑니다.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53D79-EF3E-42D1-B300-08741FB1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2095B-4BCC-4530-A39C-C36037F2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B078 원본에서 출발지·도착지·시간대·목적 관련 변수를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A8BD1-EC18-41F8-8025-549DA04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98E0-2F89-4654-8747-554AEB87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선택 상권과 미선택 후보를 비교하는 목적지 선택 데이터셋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10083-EE7B-466F-8146-2476541A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2F380-B430-4B87-81B9-865A8D33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다항 로짓·트리 기반 모델로 추천 성능과 설명력을 함께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ADD89-4935-4F3C-AECC-46524E84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산출물은 추천 서비스의 답이 아니라, 학습·검증 가능한 후보 공간과 피처의 기반입니다</a:t>
            </a:r>
          </a:p>
        </p:txBody>
      </p:sp>
    </p:spTree>
    <p:extLst>
      <p:ext uri="{BB962C8B-B14F-4D97-AF65-F5344CB8AC3E}">
        <p14:creationId xmlns:p14="http://schemas.microsoft.com/office/powerpoint/2010/main" val="20864762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9A217-5E65-481A-9EB8-D87E87D9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29032-CB0F-41D3-9F85-78DD87BE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RAW FEATURE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043CE-08F7-46DF-89BC-E61BD8CE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85D78-158B-4652-9D19-9C64231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99D0E-3D41-45ED-934E-7089F13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목적별 피처 테이블은 이렇게 생겼습니다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636FB-2B9E-4271-851B-C86DE311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Q4 ‘공부’ 목적의 PATH-v0 상위 행 5개입니다. 각 행은 상권 1개와 목적 1개의 결합 단위입니다.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933450"/>
                <a:gridCol w="2000250"/>
                <a:gridCol w="1047750"/>
                <a:gridCol w="1104900"/>
                <a:gridCol w="742950"/>
                <a:gridCol w="1066800"/>
                <a:gridCol w="1066800"/>
                <a:gridCol w="97155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rank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area_code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상권명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유형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최소접근률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PATH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3120059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구삼강변맛길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0.904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98.2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3110241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먹골역 5번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3110220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85.3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70.8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장안동사거리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8C585-F20D-4102-A8AD-6597218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총 15,720행 = 4개 분기 × 786개 상권 × 5개 목적. 최신 분기 순위는 3,930행입니다.</a:t>
            </a:r>
          </a:p>
        </p:txBody>
      </p:sp>
    </p:spTree>
    <p:extLst>
      <p:ext uri="{BB962C8B-B14F-4D97-AF65-F5344CB8AC3E}">
        <p14:creationId xmlns:p14="http://schemas.microsoft.com/office/powerpoint/2010/main" val="8064709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8D68-10CE-4341-BA07-15ECB4B0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E3FF3-0FC8-4C8B-A1A4-E3DF8DB8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684C1-FEA9-485B-8945-3DA9014F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533E9-4ED4-485A-B77A-7C7F4FA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9C4C3-B54E-4EE0-BDE9-CB7C804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상권 피처는 area_code 하나로 결합됩니다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7121E-3628-4D29-98E3-2B8CCA24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접근성, 공공 학습시설, 카카오 스터디카페, 생활이동 맥락을 같은 786개 공식 상권 키에 붙였습니다.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43000"/>
                <a:gridCol w="1095375"/>
                <a:gridCol w="1143000"/>
                <a:gridCol w="1285875"/>
                <a:gridCol w="1428750"/>
                <a:gridCol w="228600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내부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400m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스터디카페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학교 이동비중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분류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회기시장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경희대후문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0.955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demand signal feature gap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청량초등학교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7DA3C-AD84-4DD5-A0C3-B65A0C65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이동 비중은 실제 개인 선택 라벨이 아니라 지역의 목적 맥락 대리변수입니다.</a:t>
            </a:r>
          </a:p>
        </p:txBody>
      </p:sp>
    </p:spTree>
    <p:extLst>
      <p:ext uri="{BB962C8B-B14F-4D97-AF65-F5344CB8AC3E}">
        <p14:creationId xmlns:p14="http://schemas.microsoft.com/office/powerpoint/2010/main" val="20470674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FD3E0-5BF3-4ED7-9F10-F1FF484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67C3A-1D1B-41D0-A538-9FA1441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2D169-256E-4613-9D7E-F4922489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6A741-8C6E-4BD5-9DFF-951FFBF6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10E03-9AFE-45C8-933E-00E5CEE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점수는 실제로 목적에 따라 다르게 나옵니다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EFBE6-5A82-4C64-8CFC-D3201E6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786개 후보를 놓고도 목적별 공급 구조와 소비 신호가 달라 상위 상권이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BB7D9-6542-4D38-BE1B-2A650CFA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840CC-9E49-47C4-BF48-CBFEAB1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구삼강변맛길  94.3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584D8-933B-432A-8ECC-F7E328F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외대앞역 1번  92.4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57631-6B92-49CC-B790-6445F3E7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카페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4E6C1-FEAD-4EAA-B8C4-438A0B9E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북촌(안국역)  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B4E0C-9D5F-448D-80EB-853DF34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서촌(경복궁역)  96.1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AC1C2-7625-484B-A305-E31D7A11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DD1DF-DC1D-4BDB-B37E-8C14E5FB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광화문역  94.3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FF1B0-F308-4BF6-9492-70C2E91F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종각역  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35595-0DA0-477E-A866-CF6A1AD3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쇼핑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59797-7390-46C9-9DAF-4DA82B0C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롯데백화점 시청광장  95.8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80805-B6E3-4E02-A783-699E9A9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여가문화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44F0C-60BF-4905-A211-2E422394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수유역  97.6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A8EAC-838B-4A23-A119-8FBA7392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점수는 PATH-v0 기준이며, 아래 지도에는 각 목적별 상위 10개 공식 상권 폴리곤을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73502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FE1C8-2782-4300-A4DE-0A312367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9997B-4F00-476F-AC8E-EF15CC7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PURPOSE TOP 10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79268-06FF-42BC-A1D3-E8AC75ED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85E37-72A5-4AF1-A18A-724BEC09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CA741-7C83-448C-A76A-51A3122C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상위 10개는 서로 다른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C47EC-62B6-4C54-9B68-2900324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어두운 면은 786개 전체 후보, 밝은 면과 숫자는 2025 Q4 목적별 PATH-v0 상위 10개입니다.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d7201f234e3a"/>
          <a:stretch xmlns:a="http://schemas.openxmlformats.org/drawingml/2006/main"/>
        </p:blipFill>
        <p:spPr>
          <a:xfrm xmlns:a="http://schemas.openxmlformats.org/drawingml/2006/main">
            <a:off x="2990345" y="1952625"/>
            <a:ext cx="6001759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F0DA2-33A2-4B61-A8E3-C0C31EB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각 목적은 독립적으로 순위를 계산합니다. 따라서 같은 30분 생활권이라도 목적에 따라 상위 상권의 위치와 구성은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376295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3790E-467D-4124-A55B-2FA7A02B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8747-BDA9-464E-8322-D88A36F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5F749-9CB7-4EB4-B25C-F5050AB0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870F9-04B5-43CC-BDE8-1CBCA3E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EBF55-2C26-478E-BD55-C4F7D17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공부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C64C5-E598-4AFD-BD89-FC90C88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3eb099ad044ef"/>
          <a:stretch xmlns:a="http://schemas.openxmlformats.org/drawingml/2006/main"/>
        </p:blipFill>
        <p:spPr>
          <a:xfrm xmlns:a="http://schemas.openxmlformats.org/drawingml/2006/main">
            <a:off x="1459523" y="1847850"/>
            <a:ext cx="4091354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A3242-B55B-4CEF-970A-74B642A1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0EED5-EBBF-4582-9E7D-A7A909C0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9A757-9504-44BE-8002-3BB2F50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구삼강변맛길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AEDAD-C97E-432A-884D-AF64805E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9BB75-903F-4BDF-B0CE-2DF7694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먹골역 5번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10D57-DBDC-4BBA-A70C-008E0B3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D1848-E533-4190-93C5-F41B4B4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외대앞역 1번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0468-70A4-4510-B4D3-D308786C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77B52-D6B0-4357-A35C-1E837D1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경희대학교(경희대)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DA692-47A7-4FA9-A39F-F28C2C07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5D735-407A-44ED-8888-595A851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장안동사거리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73BCA-4C11-4366-B172-80843B0E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B2D1D-B021-4E95-9CE7-480B3E9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대원고등학교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9CC00-4080-42C1-821B-2E993451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4E7FF-45F9-4085-B85A-F0C4062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전농로터리시장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41DA9-2E39-4126-B860-3431BD8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03324-18F1-4DF9-B985-DBE944D3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국립정신건강센터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8FB2A-C0CC-432E-8FA4-BFAE36DC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132DE-FED4-4242-9EE9-5076B24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신내1동주민센터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DBEDB-25DB-45C5-8B26-CD835DB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A3AA5-7AE2-4ED7-B8CF-4D04368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한성대입구역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59634-AC0F-4BF3-9180-7FD768C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4120F-871A-428D-87B1-A651AB6E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9059913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39D24-31C1-4260-AE55-42EBCD5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6309E-A0D5-48A7-BBFA-177CF6BE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99D79-068B-4091-93A0-20242C4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9BB13-93A0-44B3-BC18-9B308E2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CAFB1-EE75-4948-A411-B2AD1E1F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카페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FEFA0-787A-4CDB-9146-3AAA8BDD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d771931fb4e8e"/>
          <a:stretch xmlns:a="http://schemas.openxmlformats.org/drawingml/2006/main"/>
        </p:blipFill>
        <p:spPr>
          <a:xfrm xmlns:a="http://schemas.openxmlformats.org/drawingml/2006/main">
            <a:off x="1344913" y="1847850"/>
            <a:ext cx="4320575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19B9B-16B7-4EEF-A213-D1D39559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8919-4322-4394-B083-1A106643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3C2F3-C6D8-48C3-91BD-D10A861D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북촌(안국역)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D8B05-D8CF-476F-8376-B6A6902F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9227B-B321-4F5C-80CE-D6BA0C5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서촌(경복궁역)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D3E02-F399-437C-8063-5E03642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1A8A0-C61E-4D68-9301-DC314E9D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배화여자대학교(박노수미술관)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9C04E-4EF7-494A-AEA0-95A6083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C056A-5C74-48FB-87AE-AB30F46C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삼청동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6584D-3227-442F-A93C-BC2F1697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EFB0E-677B-4C4E-B072-297F49EF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광화문역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DB6F9-4583-4C84-9392-A36473A0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7318A-3C2B-45E4-B714-9C237A6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서교동(홍대)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35C27-D56B-42D3-A1E4-C857A0C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E1599-3C50-48FF-AB30-6E41045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경의선책거리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B050-E696-4658-BECA-AA5AB889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DE18B-4EBE-47F3-BBA5-C947651A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을지로입구역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CE969-BFA2-401B-BFEB-98776356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E45EA-0EA8-4018-BA7B-95E50762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시청역_8번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8B5816-7B37-4E93-82DA-D5DB9291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A3409-CBA2-4EA3-87A3-807FF3BA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대학로(혜화역)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3E54A-82E4-496B-9EE6-48DBD812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267376-347F-4D65-B076-BE55A058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2924610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917CD-93A9-4B95-8792-6AB8AA9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04095-A199-4B1C-94AB-0795B0E5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D96DD-2171-4E69-8148-3D4DDA6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F1316-BB26-4271-902C-1BE32EC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083BA-82C3-4AD6-986E-1C0D69CD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식사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E6A7B-4002-4589-B743-5FAB3C0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b2dc7d92f4c05"/>
          <a:stretch xmlns:a="http://schemas.openxmlformats.org/drawingml/2006/main"/>
        </p:blipFill>
        <p:spPr>
          <a:xfrm xmlns:a="http://schemas.openxmlformats.org/drawingml/2006/main">
            <a:off x="1639491" y="1847850"/>
            <a:ext cx="3731419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0F36E-6ACD-4785-8496-F72E2E2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71C82-8E86-4E83-9087-13E1F78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4D24-59F9-40D4-8F31-D74A5267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광화문역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60C8A-606C-4414-A7A3-CA322787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FDDED-2917-4AF6-8338-38A75215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종각역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4F53D-E8FA-48F5-972C-105BC77C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168DA-F3A0-4404-A106-87546952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도화동 상점가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0C79C-516E-42E9-ABF5-553DAA6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8AF7F-6B88-48BA-B798-2B3A139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대학로(혜화역)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3F3E9-ABC2-4866-A138-C54FA9FE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01871-341E-41A4-B0BB-9D20B564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을지로입구역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AAF61-6ECA-4A9C-A0F3-AC299102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CDA1E-E089-4154-A045-45741C2D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북창동(시청역_6번)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34295-51C9-4118-A47B-28841722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6DB6C-F339-42B8-80F1-D919810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남영동 먹자골목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44952-4C7E-4A5C-A84B-2319DD2A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89.8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0DB02-0DF4-4248-8890-56474B5F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방이동먹자골목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44693-FC19-4CAA-8EB1-FBCD9822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0C4DB-02E3-4D89-BE59-74CDF6B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서대문역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18460-C577-4097-AC9E-49B4DD8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249D9-653B-4052-AA75-4860B16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이태원(이태원역)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FC2D9-CD95-4453-B844-56BA9E08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5CA30-D99B-4A88-A49A-618E633B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6000964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B7CDC-2842-4F00-85E4-33D56B3D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C797A-BD05-42FA-A934-5EDC45CB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24AAF-9F37-4A96-9CA6-53BF6D89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E64B3-0A7C-4FA6-B1A5-6290A2A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1132-6854-4726-8C3E-E1545DAC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쇼핑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F06E-1ACF-4B30-BE51-7D329D26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10e8b6b7b4507"/>
          <a:stretch xmlns:a="http://schemas.openxmlformats.org/drawingml/2006/main"/>
        </p:blipFill>
        <p:spPr>
          <a:xfrm xmlns:a="http://schemas.openxmlformats.org/drawingml/2006/main">
            <a:off x="1677661" y="1847850"/>
            <a:ext cx="3655079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82319-CEDE-49FC-B343-578A344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245C8-B5A6-4B9E-A0AA-FD73ECA0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8CEC1-0DB6-451F-850C-12CC1D91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롯데백화점(시청광장 지하쇼핑센터)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25F87-4B5C-4388-8DEC-271C6FB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EF411-2F84-41EA-9EA2-FE1AB886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동대문패션타운 관광특구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1DBDE-D91B-43AA-8D45-361CF4FC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3E4D1-EFFF-4C12-83AD-EEE8BFB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동대문역사문화공원역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5068F-132C-40AF-A594-817FCDC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8AF6C-4A68-4B71-86F7-A52E11DF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강변역(테크노마트)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63BAB-5A53-4741-98DD-4FB180D4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29E47-CF29-4194-91F9-BCEF26E0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종로3가역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919BC-0735-4B9E-B0E5-CD0DC153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EA130-FF6A-44F9-8473-D8ADE28B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잠실역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E5948-F9F5-4CEC-B7AD-384BA81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56F97-4760-455E-BBE6-12B6F6E5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강남 마이스 관광특구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B2576-E14F-4430-B223-7ECE638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677B2-8253-48D5-B168-1970305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용산전자상가(용산역)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79655-3594-472C-A778-896A024F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BAFB9-D267-440E-B4A1-B94989C3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남대문시장(자유상가)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47551-8A8B-4772-A104-C6994A71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61C1A-716C-49BB-8025-162099C6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천호역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B22D3-3E25-4182-BC9D-641D3508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AEAABA-3C97-4D8D-A78A-1946C14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9018952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0496D-ED8E-455B-A6AF-5D8A8A7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CE774-1E42-4FAF-828A-A90BC924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1E13D-03A8-4004-B46A-BF2C73D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E05B2-32DD-48C0-BC02-1C33ADD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08335-4C7D-43B2-B4E3-3846806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여가문화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9B951-5A84-4B1A-B4B4-28594C9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9c756992643fc"/>
          <a:stretch xmlns:a="http://schemas.openxmlformats.org/drawingml/2006/main"/>
        </p:blipFill>
        <p:spPr>
          <a:xfrm xmlns:a="http://schemas.openxmlformats.org/drawingml/2006/main">
            <a:off x="1652319" y="1847850"/>
            <a:ext cx="3705762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7A142-B106-4C8E-A0F6-9AFC5F2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C160E-4257-4044-8353-86A834D7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8AB01-89F5-4370-AE7D-1CE07776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수유역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F6705-C040-4976-98EE-E8D16FB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97.6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E881C-5DD7-4C17-9D88-FBC4979A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방이동먹자골목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A7530-A387-4D3F-8507-7E712623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96.0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8B0CD-6FA4-4CA3-B079-B5995F41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잠실새내역(신천)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BB7E1-8BB0-436F-8222-FAFE8CD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95.7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93D8E-1311-487B-865D-DD994E11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군자역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753E4-5D9A-4559-8CB6-A49A02C1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80213-B1D1-4556-8714-ECBCCA68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길동역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93EE7-DEF7-475B-87AF-8B794B8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566BF-8CF3-4B9D-BA90-3A9BEFC2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성신여대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72E85-F937-40EB-8192-969E24CC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061B0-3DFF-445E-8F13-FE79E8A0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상봉역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94338-68C9-4BAD-8146-3106F854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63798-FC9B-4CAC-A72D-6E6C73F8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구의역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DC0B8-0EAA-4A3E-908B-728285B5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92414-56A3-4010-A634-B98B44AB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건대입구역(건대)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ECB68-30D1-4C38-B3BA-21F5D75E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544895-1818-49BB-8167-5CF8AFA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상계역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C8A40F-D99B-4378-B587-35571FE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7EAD7-C9C3-4D27-8B3E-7F4E3782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901647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2026-09-22T02:07:33.7850000Z</dcterms:created>
  <dcterms:modified xsi:type="dcterms:W3CDTF">2026-09-22T02:07:33.7850000Z</dcterms:modified>
</coreProperties>
</file>