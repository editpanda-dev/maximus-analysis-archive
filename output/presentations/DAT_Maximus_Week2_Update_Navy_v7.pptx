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004c259a084758" /><Relationship Type="http://schemas.openxmlformats.org/officeDocument/2006/relationships/extended-properties" Target="/docProps/app.xml" Id="Re5151e30d4494fba" /><Relationship Type="http://schemas.openxmlformats.org/officeDocument/2006/relationships/officeDocument" Target="/ppt/presentation.xml" Id="R1cdf7d35901d43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d1a68ed1f7452a"/>
  </p:sldMasterIdLst>
  <p:notesMasterIdLst>
    <p:notesMasterId xmlns:r="http://schemas.openxmlformats.org/officeDocument/2006/relationships" r:id="R0eac9a8b06e04fe9"/>
  </p:notesMasterIdLst>
  <p:sldIdLst>
    <p:sldId xmlns:r="http://schemas.openxmlformats.org/officeDocument/2006/relationships" id="256" r:id="Ra7c69bd018e44efc"/>
    <p:sldId xmlns:r="http://schemas.openxmlformats.org/officeDocument/2006/relationships" id="257" r:id="Rac83bb26833f472b"/>
    <p:sldId xmlns:r="http://schemas.openxmlformats.org/officeDocument/2006/relationships" id="258" r:id="R9180cd20efa64622"/>
    <p:sldId xmlns:r="http://schemas.openxmlformats.org/officeDocument/2006/relationships" id="259" r:id="R6a370781554f4b30"/>
    <p:sldId xmlns:r="http://schemas.openxmlformats.org/officeDocument/2006/relationships" id="260" r:id="R09cf9ee93bb54f68"/>
    <p:sldId xmlns:r="http://schemas.openxmlformats.org/officeDocument/2006/relationships" id="261" r:id="Reda52835f3e84fb6"/>
    <p:sldId xmlns:r="http://schemas.openxmlformats.org/officeDocument/2006/relationships" id="262" r:id="R7fcece39b38c45a6"/>
    <p:sldId xmlns:r="http://schemas.openxmlformats.org/officeDocument/2006/relationships" id="263" r:id="Rb4805e02a708468e"/>
    <p:sldId xmlns:r="http://schemas.openxmlformats.org/officeDocument/2006/relationships" id="264" r:id="Rc610d5b3cd8c4849"/>
    <p:sldId xmlns:r="http://schemas.openxmlformats.org/officeDocument/2006/relationships" id="265" r:id="R09a9e3b69fef4cd3"/>
    <p:sldId xmlns:r="http://schemas.openxmlformats.org/officeDocument/2006/relationships" id="266" r:id="R97e181874f164752"/>
    <p:sldId xmlns:r="http://schemas.openxmlformats.org/officeDocument/2006/relationships" id="267" r:id="R8ec645f933b14cee"/>
    <p:sldId xmlns:r="http://schemas.openxmlformats.org/officeDocument/2006/relationships" id="268" r:id="R99515b69c7eb46c9"/>
    <p:sldId xmlns:r="http://schemas.openxmlformats.org/officeDocument/2006/relationships" id="269" r:id="R34974fd6f4c24599"/>
    <p:sldId xmlns:r="http://schemas.openxmlformats.org/officeDocument/2006/relationships" id="270" r:id="Rcf41a4455b644063"/>
    <p:sldId xmlns:r="http://schemas.openxmlformats.org/officeDocument/2006/relationships" id="271" r:id="R0897d9d1edd64a55"/>
    <p:sldId xmlns:r="http://schemas.openxmlformats.org/officeDocument/2006/relationships" id="272" r:id="Rf673b1b723634ca3"/>
    <p:sldId xmlns:r="http://schemas.openxmlformats.org/officeDocument/2006/relationships" id="273" r:id="R2a926c4945304843"/>
    <p:sldId xmlns:r="http://schemas.openxmlformats.org/officeDocument/2006/relationships" id="274" r:id="R97cbc6d00b50406a"/>
    <p:sldId xmlns:r="http://schemas.openxmlformats.org/officeDocument/2006/relationships" id="275" r:id="R41c8f1d760c847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5a19ae8f444c26" /><Relationship Type="http://schemas.openxmlformats.org/officeDocument/2006/relationships/slideMaster" Target="/ppt/slideMasters/slideMaster1.xml" Id="R32d1a68ed1f7452a" /><Relationship Type="http://schemas.openxmlformats.org/officeDocument/2006/relationships/notesMaster" Target="/ppt/notesMasters/notesMaster1.xml" Id="R0eac9a8b06e04fe9" /><Relationship Type="http://schemas.openxmlformats.org/officeDocument/2006/relationships/presProps" Target="/ppt/presProps.xml" Id="R219b3ff77fff4142" /><Relationship Type="http://schemas.openxmlformats.org/officeDocument/2006/relationships/tableStyles" Target="/ppt/tableStyles.xml" Id="R269c75eeeba84cff" /><Relationship Type="http://schemas.openxmlformats.org/officeDocument/2006/relationships/slide" Target="/ppt/slides/slide1.xml" Id="Ra7c69bd018e44efc" /><Relationship Type="http://schemas.openxmlformats.org/officeDocument/2006/relationships/slide" Target="/ppt/slides/slide2.xml" Id="Rac83bb26833f472b" /><Relationship Type="http://schemas.openxmlformats.org/officeDocument/2006/relationships/slide" Target="/ppt/slides/slide3.xml" Id="R9180cd20efa64622" /><Relationship Type="http://schemas.openxmlformats.org/officeDocument/2006/relationships/slide" Target="/ppt/slides/slide4.xml" Id="R6a370781554f4b30" /><Relationship Type="http://schemas.openxmlformats.org/officeDocument/2006/relationships/slide" Target="/ppt/slides/slide5.xml" Id="R09cf9ee93bb54f68" /><Relationship Type="http://schemas.openxmlformats.org/officeDocument/2006/relationships/slide" Target="/ppt/slides/slide6.xml" Id="Reda52835f3e84fb6" /><Relationship Type="http://schemas.openxmlformats.org/officeDocument/2006/relationships/slide" Target="/ppt/slides/slide7.xml" Id="R7fcece39b38c45a6" /><Relationship Type="http://schemas.openxmlformats.org/officeDocument/2006/relationships/slide" Target="/ppt/slides/slide8.xml" Id="Rb4805e02a708468e" /><Relationship Type="http://schemas.openxmlformats.org/officeDocument/2006/relationships/slide" Target="/ppt/slides/slide9.xml" Id="Rc610d5b3cd8c4849" /><Relationship Type="http://schemas.openxmlformats.org/officeDocument/2006/relationships/slide" Target="/ppt/slides/slide10.xml" Id="R09a9e3b69fef4cd3" /><Relationship Type="http://schemas.openxmlformats.org/officeDocument/2006/relationships/slide" Target="/ppt/slides/slide11.xml" Id="R97e181874f164752" /><Relationship Type="http://schemas.openxmlformats.org/officeDocument/2006/relationships/slide" Target="/ppt/slides/slide12.xml" Id="R8ec645f933b14cee" /><Relationship Type="http://schemas.openxmlformats.org/officeDocument/2006/relationships/slide" Target="/ppt/slides/slide13.xml" Id="R99515b69c7eb46c9" /><Relationship Type="http://schemas.openxmlformats.org/officeDocument/2006/relationships/slide" Target="/ppt/slides/slide14.xml" Id="R34974fd6f4c24599" /><Relationship Type="http://schemas.openxmlformats.org/officeDocument/2006/relationships/slide" Target="/ppt/slides/slide15.xml" Id="Rcf41a4455b644063" /><Relationship Type="http://schemas.openxmlformats.org/officeDocument/2006/relationships/slide" Target="/ppt/slides/slide16.xml" Id="R0897d9d1edd64a55" /><Relationship Type="http://schemas.openxmlformats.org/officeDocument/2006/relationships/slide" Target="/ppt/slides/slide17.xml" Id="Rf673b1b723634ca3" /><Relationship Type="http://schemas.openxmlformats.org/officeDocument/2006/relationships/slide" Target="/ppt/slides/slide18.xml" Id="R2a926c4945304843" /><Relationship Type="http://schemas.openxmlformats.org/officeDocument/2006/relationships/slide" Target="/ppt/slides/slide19.xml" Id="R97cbc6d00b50406a" /><Relationship Type="http://schemas.openxmlformats.org/officeDocument/2006/relationships/slide" Target="/ppt/slides/slide20.xml" Id="R41c8f1d760c847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cd103af21149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60accc81004105" /><Relationship Type="http://schemas.openxmlformats.org/officeDocument/2006/relationships/notesMaster" Target="/ppt/notesMasters/notesMaster1.xml" Id="R07f55115f7d646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34221b1a9745d0" /><Relationship Type="http://schemas.openxmlformats.org/officeDocument/2006/relationships/notesMaster" Target="/ppt/notesMasters/notesMaster1.xml" Id="Ra4e5b30f658c44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7c88257647404e" /><Relationship Type="http://schemas.openxmlformats.org/officeDocument/2006/relationships/notesMaster" Target="/ppt/notesMasters/notesMaster1.xml" Id="R894391c6f7314a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042c284f3b4dd1" /><Relationship Type="http://schemas.openxmlformats.org/officeDocument/2006/relationships/notesMaster" Target="/ppt/notesMasters/notesMaster1.xml" Id="Rce7a3e6a48234f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48992adcba47b5" /><Relationship Type="http://schemas.openxmlformats.org/officeDocument/2006/relationships/notesMaster" Target="/ppt/notesMasters/notesMaster1.xml" Id="Rbff7f274787345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dcb2487c384e31" /><Relationship Type="http://schemas.openxmlformats.org/officeDocument/2006/relationships/notesMaster" Target="/ppt/notesMasters/notesMaster1.xml" Id="R9683c90364db40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2c2e1b1d0c40d8" /><Relationship Type="http://schemas.openxmlformats.org/officeDocument/2006/relationships/notesMaster" Target="/ppt/notesMasters/notesMaster1.xml" Id="R2254caacfc6f41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09f34e716d4ca2" /><Relationship Type="http://schemas.openxmlformats.org/officeDocument/2006/relationships/notesMaster" Target="/ppt/notesMasters/notesMaster1.xml" Id="Reb62b7c1b34745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621aeabf084a85" /><Relationship Type="http://schemas.openxmlformats.org/officeDocument/2006/relationships/notesMaster" Target="/ppt/notesMasters/notesMaster1.xml" Id="Rac9f6df672be4f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026d19fc414a30" /><Relationship Type="http://schemas.openxmlformats.org/officeDocument/2006/relationships/notesMaster" Target="/ppt/notesMasters/notesMaster1.xml" Id="R74599581a58249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4a636dfcfe4e6f" /><Relationship Type="http://schemas.openxmlformats.org/officeDocument/2006/relationships/notesMaster" Target="/ppt/notesMasters/notesMaster1.xml" Id="R87dd9834ee8c45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efbac01d0f48c3" /><Relationship Type="http://schemas.openxmlformats.org/officeDocument/2006/relationships/notesMaster" Target="/ppt/notesMasters/notesMaster1.xml" Id="R4e9c1adcea7b49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43b296330f4fa8" /><Relationship Type="http://schemas.openxmlformats.org/officeDocument/2006/relationships/notesMaster" Target="/ppt/notesMasters/notesMaster1.xml" Id="Raa5def3a291446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4c99ce64d74572" /><Relationship Type="http://schemas.openxmlformats.org/officeDocument/2006/relationships/notesMaster" Target="/ppt/notesMasters/notesMaster1.xml" Id="R19415414976d423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85d0e5e60e479b" /><Relationship Type="http://schemas.openxmlformats.org/officeDocument/2006/relationships/notesMaster" Target="/ppt/notesMasters/notesMaster1.xml" Id="R56152c6656c24d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2e7b61c2a54268" /><Relationship Type="http://schemas.openxmlformats.org/officeDocument/2006/relationships/notesMaster" Target="/ppt/notesMasters/notesMaster1.xml" Id="R552b9a10c4af42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d6fc77a1304826" /><Relationship Type="http://schemas.openxmlformats.org/officeDocument/2006/relationships/notesMaster" Target="/ppt/notesMasters/notesMaster1.xml" Id="R9ef7de78ae4640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fa9741c1ea4858" /><Relationship Type="http://schemas.openxmlformats.org/officeDocument/2006/relationships/notesMaster" Target="/ppt/notesMasters/notesMaster1.xml" Id="Rdfb02023697348b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97bc804725847fb" /><Relationship Type="http://schemas.openxmlformats.org/officeDocument/2006/relationships/notesMaster" Target="/ppt/notesMasters/notesMaster1.xml" Id="R011ffb35dd3047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af41bb7642a453e" /><Relationship Type="http://schemas.openxmlformats.org/officeDocument/2006/relationships/notesMaster" Target="/ppt/notesMasters/notesMaster1.xml" Id="R69d7ba1cc308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업데이트. 공식 상권 후보 786개와 공공 학습시설 원천 POI 268개를 결합해 목적별 추천 근거를 보강했다.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지난주에는 동대문구 버스정류장과 지하철역 334개를 출발지로 두고, 세 시간대에서 반복 접근 가능한 행정동 204개를 탐색 생활권으로 정했다. 이후 공식 상권 폴리곤과 400m 기준으로 결합해 786개를 후보로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공공 학습시설 원천은 268행·41열이며, 상권 피처는 area_code 기준 786행으로 집계했다. 2026 POI는 현재 추천용 보조 피처로만 쓰고 2025년 매출 예측 검증에는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접근이 확인된 공공도서관 205곳, 열람실 14곳, 청년공간 17곳으로 총 236개를 점수에 반영한다. 대학시설 후보 9개는 전체 검토 245개에는 보존하지만 순위에는 반영하지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원천 POI 268개의 place_id는 고유하다. 상위 20개 상권의 117개 상권-시설 연결을 수동 확인했다. 2026년 POI는 2025년 성능 검증에 넣지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담당 산출물을 area_code 786개 기준으로 결합했다. 공부 체류 점수와 학교 목적 이동 비중의 Spearman 상관은 0.198, 최소 접근률과의 상관은 0.089다. 이동 자료는 동대문구 출발 OD 선택 라벨이 아니므로 목적 맥락 대리변수로만 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교통 접근성은 334개 출발지에서 정류장·역·환승·도보를 연결한 정적 교통 그래프에서 계산했다. 오전 8시, 오후 2시, 오후 7시의 반복 접근성을 함께 보며 후보를 고른다.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행정동은 넓고 상권 성격이 섞여 있어 탐색 범위로만 사용했다. 786개의 공식 상권 폴리곤은 도달 정류장 400m 기준과 세 시간대 25% 접근률을 통과한 비교·추천 단위다.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PATH-v0의 일반 목적 점수는 목적 공급 신호 70%와 직전 분기 소비 신호 30%다. 공부는 독서실만 체류형 학습 업종으로 정의하고, 매출 원천에 독서실 소비가 없어 독서실 공급 신호 90%와 접근성 10%로 계산한다.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생활이동 데이터는 source_period가 26개 기간으로 혼재하고 동대문구 출발 OD가 아니다. 따라서 학교 이동 비중은 목적 맥락 대리변수로만 해석하며, 실제 추천 성능 지표로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B078 원본으로 실제 선택 라벨을 얻어 목적지 선택 데이터셋을 만드는 것이다. 현재의 후보군·시설·접근성·목적 맥락 변수는 학습과 검증을 위한 설명 피처 기반이다.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표는 official_area_purpose_quarter_features.csv의 2025년 4분기 공부 목적 상위 5행을 읽기 쉽게 축약한 것이다. 전체 피처 테이블은 15,720행, 최신 분기 순위 테이블은 3,930행이다.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표는 official_area_week2_integration.csv에서 동대문구의 대표 상권 5개를 추린 실제 결합 행이다. 이동 비중은 source_period가 혼재한 목적 맥락 대리변수이며 개별 목적지 선택 라벨이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목적별 상위 이름과 점수는 official_area_purpose_latest_rankings.csv의 2025 Q4 PATH-v0 순위에서 가져온다. 목적별 상세 Top 10은 다음 지도에서 공식 상권 폴리곤으로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지도는 commercial_area_candidates_25pct.geojson의 786개 공식 상권 폴리곤과 official_area_purpose_latest_rankings.csv의 2025 Q4 목적별 Top 10을 area_code로 결합해 제작했다. 밝은 폴리곤의 숫자는 각 목적 안의 순위다.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공부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카페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식사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쇼핑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여가문화 목적의 2025 Q4 PATH-v0 상위 10개 공식 상권을 폴리곤으로 표시했다. 점수와 이름은 official_area_purpose_latest_rankings.csv, 경계는 commercial_area_candidates_25pct.geojson에서 가져왔다.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b361e445941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f53dc7de4e45d0" /><Relationship Type="http://schemas.openxmlformats.org/officeDocument/2006/relationships/slideLayout" Target="/ppt/slideLayouts/slideLayout1.xml" Id="Rd08e06d9a8214c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8e06d9a8214c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352cc3dd04869" /><Relationship Type="http://schemas.openxmlformats.org/officeDocument/2006/relationships/notesSlide" Target="/ppt/notesSlides/notesSlide1.xml" Id="R7c94703aa9be41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f2c2ed35d45b0" /><Relationship Type="http://schemas.openxmlformats.org/officeDocument/2006/relationships/notesSlide" Target="/ppt/notesSlides/notesSlide2.xml" Id="Ra8e7a6e87aa34d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51c3171f842a6" /><Relationship Type="http://schemas.openxmlformats.org/officeDocument/2006/relationships/notesSlide" Target="/ppt/notesSlides/notesSlide3.xml" Id="Re712d524474142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b8004c4c94694" /><Relationship Type="http://schemas.openxmlformats.org/officeDocument/2006/relationships/notesSlide" Target="/ppt/notesSlides/notesSlide4.xml" Id="R053c44fc104b4c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272252db6426b" /><Relationship Type="http://schemas.openxmlformats.org/officeDocument/2006/relationships/notesSlide" Target="/ppt/notesSlides/notesSlide5.xml" Id="Rd41e18ab915745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138be2ea34b8e" /><Relationship Type="http://schemas.openxmlformats.org/officeDocument/2006/relationships/notesSlide" Target="/ppt/notesSlides/notesSlide6.xml" Id="R7a8a10b3bab349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e78298f76496b" /><Relationship Type="http://schemas.openxmlformats.org/officeDocument/2006/relationships/notesSlide" Target="/ppt/notesSlides/notesSlide7.xml" Id="R5686a0a3df8340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ca6385923411c" /><Relationship Type="http://schemas.openxmlformats.org/officeDocument/2006/relationships/notesSlide" Target="/ppt/notesSlides/notesSlide8.xml" Id="R1cc46def5a9d43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d46761b514641" /><Relationship Type="http://schemas.openxmlformats.org/officeDocument/2006/relationships/notesSlide" Target="/ppt/notesSlides/notesSlide9.xml" Id="Rd871b0ff325d40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a95ce08644eca" /><Relationship Type="http://schemas.openxmlformats.org/officeDocument/2006/relationships/notesSlide" Target="/ppt/notesSlides/notesSlide10.xml" Id="Rd6f3900aa1c94e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3c40c51a94d75" /><Relationship Type="http://schemas.openxmlformats.org/officeDocument/2006/relationships/notesSlide" Target="/ppt/notesSlides/notesSlide11.xml" Id="Rdc362710ca7540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b5e8046d94f2d" /><Relationship Type="http://schemas.openxmlformats.org/officeDocument/2006/relationships/notesSlide" Target="/ppt/notesSlides/notesSlide12.xml" Id="R17614f4d48504a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cfcf8c830432b" /><Relationship Type="http://schemas.openxmlformats.org/officeDocument/2006/relationships/notesSlide" Target="/ppt/notesSlides/notesSlide13.xml" Id="Rbaa77a75877d42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636c11d2b49df" /><Relationship Type="http://schemas.openxmlformats.org/officeDocument/2006/relationships/notesSlide" Target="/ppt/notesSlides/notesSlide14.xml" Id="Ree6c49ff000c4a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8627c1a70426d" /><Relationship Type="http://schemas.openxmlformats.org/officeDocument/2006/relationships/image" Target="/ppt/media/image.png" Id="R9b0d205f88944ed9" /><Relationship Type="http://schemas.openxmlformats.org/officeDocument/2006/relationships/notesSlide" Target="/ppt/notesSlides/notesSlide15.xml" Id="R5ef8a5cc6f424b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d8104088741f3" /><Relationship Type="http://schemas.openxmlformats.org/officeDocument/2006/relationships/image" Target="/ppt/media/image2.png" Id="R81e4265785264b77" /><Relationship Type="http://schemas.openxmlformats.org/officeDocument/2006/relationships/notesSlide" Target="/ppt/notesSlides/notesSlide16.xml" Id="R1c87e20218104a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4e9a96f4e49af" /><Relationship Type="http://schemas.openxmlformats.org/officeDocument/2006/relationships/image" Target="/ppt/media/image3.png" Id="Rec1f934067634050" /><Relationship Type="http://schemas.openxmlformats.org/officeDocument/2006/relationships/notesSlide" Target="/ppt/notesSlides/notesSlide17.xml" Id="R792bfcc0ecc947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e31553f0d41a2" /><Relationship Type="http://schemas.openxmlformats.org/officeDocument/2006/relationships/image" Target="/ppt/media/image4.png" Id="R2db5e2922f964a0d" /><Relationship Type="http://schemas.openxmlformats.org/officeDocument/2006/relationships/notesSlide" Target="/ppt/notesSlides/notesSlide18.xml" Id="Rf70ca0b2790f4e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52018692f4b7c" /><Relationship Type="http://schemas.openxmlformats.org/officeDocument/2006/relationships/image" Target="/ppt/media/image5.png" Id="R6f56f45d80ea4205" /><Relationship Type="http://schemas.openxmlformats.org/officeDocument/2006/relationships/notesSlide" Target="/ppt/notesSlides/notesSlide19.xml" Id="Re63b47f7103549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e38eaca0b451d" /><Relationship Type="http://schemas.openxmlformats.org/officeDocument/2006/relationships/image" Target="/ppt/media/image6.png" Id="Rb1abcbabaa824683" /><Relationship Type="http://schemas.openxmlformats.org/officeDocument/2006/relationships/notesSlide" Target="/ppt/notesSlides/notesSlide20.xml" Id="R20da9c6a8c0642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03B72-71F3-4FCC-8EFA-CE863B0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1300B-D637-4CEF-8DA1-87467F7D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9FE64-9B5B-4821-9D90-065E03A7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TEAM MAXIMUS  /  DAT 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1EF14-D118-4F0C-BF3B-8CF63B4B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572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공식 상권을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 데이터로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읽는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3FBC9-2302-42A2-893F-BC2CADE0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 생활권 안에서</a:t>
            </a:r>
          </a:p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추천 가능한 상권의 근거를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9EC85-F55E-405D-8475-2A5C0C5C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9715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EE101-CEE1-4B09-944C-6F5D60F9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15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D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3A078-9400-4B7B-B4BE-83B6B0F5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66"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1A859-E27E-4C07-A445-BDDFCC1B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81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6EB8B-A4C3-43C9-8F55-00887F11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54B96-4B79-43CA-87C7-95410E60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867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공공 학습시설 원천 POI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FACEC-D563-42E3-9701-17673EC2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8A6E5-7484-4496-82D5-9B320C94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14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189DE-CA0B-4C52-8F60-B91374DA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장한별  ·  지우진  ·  최시현</a:t>
            </a:r>
          </a:p>
        </p:txBody>
      </p:sp>
    </p:spTree>
    <p:extLst>
      <p:ext uri="{BB962C8B-B14F-4D97-AF65-F5344CB8AC3E}">
        <p14:creationId xmlns:p14="http://schemas.microsoft.com/office/powerpoint/2010/main" val="1019969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DE4CC-1F5D-4C3F-84BC-9AFC0F86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B26B8-23AD-4EC9-8BDE-00ECC53F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1 RECAP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CDB7E-2C92-41FC-9487-414D7C24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8EF9E-D4DD-4534-83C7-6128C898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F385F-43F6-4B05-8F25-6CEBB940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지난주에는 추천의 공간 단위를 확정했습니다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9DFFA-AE9D-4351-A61A-CF54BB02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동대문구의 모든 출발지에서 반복 접근 가능한 범위를 먼저 정하고, 행정동보다 세밀한 공식 상권 폴리곤으로 옮겼습니다.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D91DA-7977-49E0-8004-7D094D7A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3AB0E-A9BA-4152-8D00-54715DC1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버스·지하철 출발지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0482E-A0D1-4A7D-8AA7-E968C6E6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67976-DC3C-46C8-B90B-ACB6B8E8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25% 이상 접근 가능한 행정동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3C870-BBF7-4F58-ADA3-17977D39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421B4-0383-4B69-9581-B4F488A4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400m 결합 후 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83255-1BA1-4E9A-9FD0-CC0F2265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2DDF7-4BC4-4C1E-A17A-A9370CB2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64AB2-1C0A-4540-9155-A7CC6AB9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기준  /  오전 8시 · 오후 2시 · 오후 7시</a:t>
            </a:r>
          </a:p>
        </p:txBody>
      </p:sp>
    </p:spTree>
    <p:extLst>
      <p:ext uri="{BB962C8B-B14F-4D97-AF65-F5344CB8AC3E}">
        <p14:creationId xmlns:p14="http://schemas.microsoft.com/office/powerpoint/2010/main" val="1209185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E60B6-A7FA-4074-A1AF-756419E4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B98C9-6003-4BD2-89BA-DC6DAE40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2 DATA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8DDEA-4484-43ED-80AD-A22929A6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278D7-C409-4D68-9CD4-4E8463E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20C66-2406-4E1A-A96E-8DB71F63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2주차에는 목적별 피처 테이블을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933EA-6068-4619-8104-E63FD6D3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area_code를 유지해 공공시설, 상권 피처, 추천 보조순위를 하나의 분석 단위로 결합했습니다.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4962B-D548-4589-B4C4-B650B413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1036F-1E26-44F3-8FDD-9E6DF3A1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90951-9B85-40B0-945C-8D6D3351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23759-C330-4290-ACD5-012BDB9C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시설명·좌표·접근조건·출처를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41개 필드로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CAAED-994C-474F-AD4A-7846C51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C5893-45A5-4E2F-8285-6F9524B5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736C8-BAE2-4024-9A75-9098EE82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폴리곤 내부와 400m 이내를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시설 수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8CECA-BEE1-47DB-BAA5-490A9965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86F17-6D1C-4261-BEE3-E29DEF82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현재 순위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5D804-8694-40CD-9B89-F9B18C7F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업종 신호와 2026 POI를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보조순위 산출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6BAA7-CB6C-43DF-8388-A27BA6B9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분석 키  area_code  /  추천 단위  공식 상권 786개</a:t>
            </a:r>
          </a:p>
        </p:txBody>
      </p:sp>
    </p:spTree>
    <p:extLst>
      <p:ext uri="{BB962C8B-B14F-4D97-AF65-F5344CB8AC3E}">
        <p14:creationId xmlns:p14="http://schemas.microsoft.com/office/powerpoint/2010/main" val="26756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F3BFD-89E6-4D70-9D27-D3765993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A17B6-3FE2-486F-A4AD-C87F97EC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490AD-5F20-4A8C-8AE0-0F85789A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DC560-FBB0-4ACC-A781-5E9FE75E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1D07D-6A2F-46C6-8BB1-AF4D8B14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 반영과 검토 대상을 구분했습니다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E21DE-90EC-4AD6-B35B-3576300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여부가 불확실한 대학시설을 곧바로 추천 점수에 넣지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1F46E-0C1C-43FF-8380-4CA4720E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ED415-5EF4-4BE6-8FA0-BA764743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POI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DD939-CFE4-40F2-B410-128A0149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E23B8-0B84-48DA-A8E4-D507339A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A9965-525F-4893-97A1-7A6F26D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확인 후 점수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7E1E8-DCE4-4382-9C2D-7F7B1410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88F54-A10A-437D-8BAE-DD05F2F6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00C-B6C1-4062-B1F9-8A6F48BE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대학시설 후보 포함 검토용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EBA57-329D-41FF-9DFC-55E3844A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공부 체류 보조순위  /  상권 내부 80% + 400m 이내 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D4BE2-9C7F-45BC-99AA-3C8D40BF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 학습시설 9개는 공개 접근 확인 전까지 점수에서 제외합니다</a:t>
            </a:r>
          </a:p>
        </p:txBody>
      </p:sp>
    </p:spTree>
    <p:extLst>
      <p:ext uri="{BB962C8B-B14F-4D97-AF65-F5344CB8AC3E}">
        <p14:creationId xmlns:p14="http://schemas.microsoft.com/office/powerpoint/2010/main" val="788562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61BD2-515C-45F7-9E0A-52A0FDFA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7FDD2-D04B-47B5-8374-923CA147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QA &amp;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D798A-C8FD-4D72-B66F-56D57B86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E04E3-3C48-4AC1-A9E2-4548A947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25CE5-6260-46F1-9649-EDDC0D7E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재현 가능한 산출물로 정리했습니다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69CCA-411A-4108-9324-75F982D6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식별자, 공간 결합 기준, 점수 반영 범위를 분리해 다음 분석 단계에서 다시 확인할 수 있게 남겼습니다.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E1DFF-585B-4165-8263-4845E47E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6A667-6A92-4CD1-A7EA-FDF5D2C2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6056A-CB21-4E9F-BDA6-0C3DF0FD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고유 place_id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804FF-D513-4089-8E93-8D510B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 ×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51CED-F514-4BF9-A1C5-671124CC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575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 피처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점수용·검토용 필드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6D33C-5C56-42D2-8E74-BBC2B8AE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7E9B3-8865-4997-85D3-0090431A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57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상권–시설 연결 수동 점검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Top 20 상권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A7000-E698-4B54-A4D4-E4D24D8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2026 POI는 2025년 성능 검증에 사용하지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339043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DD88F-0DC9-4500-8449-4F17CAE9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965D3-6A28-4796-AD12-970E97F4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CROSS-WORK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7D897-C30A-4E02-B9F2-7D4450B0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18F93-6662-453B-B0F2-F5D18F2A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17D6A-AA5C-41A1-820E-6A911DFA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세 데이터는 서로 다른 신호를 보여줍니다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512C9-B4A7-48A4-878B-AF674F63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 상관은 0.198, 공부 점수와 접근성의 상관은 0.089입니다.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B00D6-1644-47E6-9D03-AC41342E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98800-4E24-41D7-849E-30B644BC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시설·접근성·학교 신호가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함께 높은 우선 검증군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C1E25-6B74-41CF-AFCD-CF3635D4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0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6539A-70C9-4F45-8ACB-AECF4B1B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 점수는 높지만 학교 신호가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실제 선택 검증이 필요한 상권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0777A-84AE-4E78-847A-9B18A5E8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0E525-B818-4731-B036-50325416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학교 신호는 높지만 현재 시설 피처가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추가 조사할 상권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11D4A-B2CC-4AFE-B464-68945A92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다음 단계  /  B078 선택 라벨로 세 그룹의 실제 목적지 선택확률을 비교</a:t>
            </a:r>
          </a:p>
        </p:txBody>
      </p:sp>
    </p:spTree>
    <p:extLst>
      <p:ext uri="{BB962C8B-B14F-4D97-AF65-F5344CB8AC3E}">
        <p14:creationId xmlns:p14="http://schemas.microsoft.com/office/powerpoint/2010/main" val="480443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21FC0-8569-4F7C-AA83-38984258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19FE6-0F0A-4EC2-BB9D-4E9A5C64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ACCESSIBILITY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B3025-B66F-4C7E-904B-F55C7165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AA3D0-7867-44EC-9DC0-9A59F9EB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6C52C-A1DF-4C76-B43E-E3021B39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 생활권은 교통망에서 먼저 계산했습니다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2812D-2D1F-4A19-808C-449ABF63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334개 출발지에서 버스·지하철 운행 정보를 그래프로 만들고, 대기·환승·도보를 포함한 최소 이동시간을 계산했습니다.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A609F-C997-4F10-9472-3F3E6963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출발지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BD23D-0EF2-4D32-9295-0AF0958D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DF384-C447-419C-9D97-38ECEA87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교통 그래프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FCF29-6963-43CA-A596-F8678525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5C376-4627-4C6E-BD15-BB4698BC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도달 정류장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B4C20-E9AE-4109-BFC2-FFC6CD7F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813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상권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7CCAF-53AA-4FBC-AF4D-EB34F674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5FEF0-870A-4A71-8515-46639924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C4B5A-9A51-47B7-9A6B-A0B3000F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접근률을 사용해 특정 시간대에만 열리는 후보를 줄였습니다</a:t>
            </a:r>
          </a:p>
        </p:txBody>
      </p:sp>
    </p:spTree>
    <p:extLst>
      <p:ext uri="{BB962C8B-B14F-4D97-AF65-F5344CB8AC3E}">
        <p14:creationId xmlns:p14="http://schemas.microsoft.com/office/powerpoint/2010/main" val="195750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8390E-19FB-4E3C-A6DE-356A3EAA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CB438-CFA1-405E-AF3B-EA8E6997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CANDIDATE UNIVERSE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8492A-E790-44FD-A6B8-3EEDBBDE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8022C-3E98-4B25-962F-03398231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B6F0A-7973-47A4-98EE-09954F9C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후보군은 행정동이 아니라 공식 상권 폴리곤입니다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D1FC9-744C-42E0-A58A-600DEF0E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행정동은 탐색 범위로 쓰고, 실제 비교·추천 단위는 서울시 공식 상권 경계로 세분화했습니다.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6C598-F76F-47F7-B5BC-587B5065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9454C-85AC-4986-9DC5-FCDE8CCD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 가능 행정동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탐색 생활권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09529-50D4-4B78-9142-9D74372A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400m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2996F-3939-4244-A6A6-25CF3B2D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576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도달 정류장과 상권 경계의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공간 결합 거리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D2EF5-8A80-4584-AF36-8906501B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3CDD2-AC8C-4D7D-905E-1B86B329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세 시간대 25% 기준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70379-7646-49E9-8220-5575CFD7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8C912-1C1F-44FA-A8C6-A26B4661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716F2-B6FD-48EC-8C20-B54CCAA1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25%는 소수 출발지에서만 접근 가능한 상권을 걸러내되, 동대문구 내부의 생활권 다양성을 보존하기 위한 탐색 기준입니다</a:t>
            </a:r>
          </a:p>
        </p:txBody>
      </p:sp>
    </p:spTree>
    <p:extLst>
      <p:ext uri="{BB962C8B-B14F-4D97-AF65-F5344CB8AC3E}">
        <p14:creationId xmlns:p14="http://schemas.microsoft.com/office/powerpoint/2010/main" val="1256989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7C258-B658-4A35-AD41-F0FB230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D40F6-58E9-4A79-8A5C-F2EAB1E7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PATH-V0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DDBB4-37D0-4308-BC46-B6F75286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D684F-3BEE-49FB-ADB2-BC1262FB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5DB13-88D5-49AB-9A65-8E6F8BBD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목적별 Top 10은 PATH-v0 점수로 계산합니다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C7D06-AAEA-443C-8FBF-A5C77755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PATH는 Purpose-Aware Transit-constrained Heuristic입니다. 2025 Q4의 접근 가능한 공식 상권 안에서 목적별 순위를 만드는 규칙기반 기준선입니다.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FDE66-BE28-4E97-86C6-6174428F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일반 목적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3E4BA-527F-4000-A044-9940493C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0.70 × 공급 신호  +  0.30 × 직전 분기 소비 신호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B2A48-BEA8-467B-8CC8-217F7DA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공급 신호 = 점포 수 백분위 65% + 상권 내 목적 업종 비중 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2C2A1-C8E5-435A-9E15-1BF4B341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소비 신호 = 매출 규모 50% + 목적 매출 비중 25% + 적합 시간대 비중 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57563-FE60-47CB-8272-2212A5F1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049E2-2AF9-4419-93BA-9ED7A62D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공부 목적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B2C4C-58C2-4B8B-9315-897E6B6B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0.90 × 독서실 공급 신호  +  0.10 × 접근성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4DFFD-85CD-4441-9903-B0251AEC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매출 원천에 독서실 소비가 없어 임의의 매출 신호를 넣지 않았습니다</a:t>
            </a:r>
          </a:p>
        </p:txBody>
      </p:sp>
    </p:spTree>
    <p:extLst>
      <p:ext uri="{BB962C8B-B14F-4D97-AF65-F5344CB8AC3E}">
        <p14:creationId xmlns:p14="http://schemas.microsoft.com/office/powerpoint/2010/main" val="19010522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52025-6FD1-4F40-9987-3B619B22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AE185-00AB-461F-97A0-629BB24F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MOBILITY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E5EC2-8836-4B5F-A36D-857049D4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A2EB5-ECFD-40D4-917D-90892B4B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0E2FE-1BB9-4348-9B33-AB8CB17F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생활이동 데이터는 ‘선택 라벨’이 아닌 맥락 신호입니다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88CD2-DD49-4E2D-89E5-0F574288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지우진의 생활이동 집계는 지역별 학교·업무·여가 목적 비중을 보여주지만, 동대문구에서 출발한 개인의 실제 목적지 선택 기록은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984FE-5BEB-4518-8A3A-EB7BAD03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3C4E6-12DE-40CE-A254-1E7C9C26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source_period가 섞인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관측 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0D602-D5CA-4441-8C02-4306902D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0.198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816FA-AA3A-4C52-834A-F6623E89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1C7C2-EE32-4A05-AA39-9D55EA12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0.089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BE8C6-F480-47BB-AF6F-BBC216B5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최소 접근률의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518EF-216E-4FB5-835B-7B84365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따라서 생활이동 비중은 상권의 목적 맥락을 보완하는 변수로만 사용합니다</a:t>
            </a:r>
          </a:p>
        </p:txBody>
      </p:sp>
    </p:spTree>
    <p:extLst>
      <p:ext uri="{BB962C8B-B14F-4D97-AF65-F5344CB8AC3E}">
        <p14:creationId xmlns:p14="http://schemas.microsoft.com/office/powerpoint/2010/main" val="16835434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B6064-32FD-453D-A221-CE0CD6E6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3F6F2-3049-46ED-B371-DF29D428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NEXT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0E2FD-84F4-4EC9-AFCD-57234D84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B9BBC-9659-4ED6-B906-3E4F1629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0B7C6-6BCC-4910-BED8-64B7C744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다음 단계는 실제 선택 데이터로 기준선을 검증하는 일입니다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E86B8-99DC-4E8B-82D3-8DF8A2BE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지금의 786개 상권은 후보군과 설명 피처를 갖춘 상태입니다. B078 원본 접근이 가능해지면 목적지 선택모형으로 넘어갑니다.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5FC6B-F816-40E9-ACFD-E2C86BCA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7EB2C-713F-4E0D-AADA-BB0B97BA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B078 원본에서 출발지·도착지·시간대·목적 관련 변수를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369BC-CC86-4259-A041-BFEC2828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3972F-CF9C-4F63-A733-257E807C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실제 선택 상권과 미선택 후보를 비교하는 목적지 선택 데이터셋 구성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AB42D-5275-49E4-855B-37BA93DA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9988F-4644-409F-9112-462CCA8D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다항 로짓·트리 기반 모델로 추천 성능과 설명력을 함께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AF824-701D-418C-94A2-59AFDB86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현재 산출물은 추천 서비스의 답이 아니라, 학습·검증 가능한 후보 공간과 피처의 기반입니다</a:t>
            </a:r>
          </a:p>
        </p:txBody>
      </p:sp>
    </p:spTree>
    <p:extLst>
      <p:ext uri="{BB962C8B-B14F-4D97-AF65-F5344CB8AC3E}">
        <p14:creationId xmlns:p14="http://schemas.microsoft.com/office/powerpoint/2010/main" val="6209913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B3F25-5900-4467-9691-E1AF3543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05B8C-B6CB-4239-BB37-55B65AC3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RAW FEATURE 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BE1D5-8615-48D1-8604-90571CA8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2FD4F-66FD-4929-B1A3-5C8A6A9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440D7-0A49-4A84-ADE3-DE7A0BA9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실제 목적별 피처 테이블은 이렇게 생겼습니다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2E4C1-3EF6-49B0-B1B1-5ECDB589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Q4 ‘공부’ 목적의 PATH-v0 상위 행 5개입니다. 각 행은 상권 1개와 목적 1개의 결합 단위입니다.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"/>
                <a:gridCol w="933450"/>
                <a:gridCol w="2000250"/>
                <a:gridCol w="1047750"/>
                <a:gridCol w="1104900"/>
                <a:gridCol w="742950"/>
                <a:gridCol w="1066800"/>
                <a:gridCol w="1066800"/>
                <a:gridCol w="971550"/>
              </a:tblGrid>
              <a:tr h="3889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rank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area_code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상권명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유형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최소접근률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접근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PATH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3120059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구삼강변맛길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0.904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98.2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59.4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3110241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먹골역 5번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골목상권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93.8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95.6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3110220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외대앞역 1번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골목상권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0.991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93.2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85.3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3120064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경희대학교(경희대)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70.8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91.7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장안동사거리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92.6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82.4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91.5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ADD7A-E8DB-4666-8EEE-779576E6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총 15,720행 = 4개 분기 × 786개 상권 × 5개 목적. 최신 분기 순위는 3,930행입니다.</a:t>
            </a:r>
          </a:p>
        </p:txBody>
      </p:sp>
    </p:spTree>
    <p:extLst>
      <p:ext uri="{BB962C8B-B14F-4D97-AF65-F5344CB8AC3E}">
        <p14:creationId xmlns:p14="http://schemas.microsoft.com/office/powerpoint/2010/main" val="18323490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6141A-AC8A-4905-89E5-52516843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74828-E246-47BB-B915-EA4CF2A7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JOIN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D8DCF-ED2A-42AA-960E-BDA4DE41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BB935-6554-477C-A449-1B4D5E2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2E2E9-E4F0-41C1-BE98-E1508AD7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상권 피처는 area_code 하나로 결합됩니다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C29AC-85F9-4271-A597-EFD950B6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접근성, 공공 학습시설, 카카오 스터디카페, 생활이동 맥락을 같은 786개 공식 상권 키에 붙였습니다.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143000"/>
                <a:gridCol w="1095375"/>
                <a:gridCol w="1143000"/>
                <a:gridCol w="1285875"/>
                <a:gridCol w="1428750"/>
                <a:gridCol w="2286000"/>
              </a:tblGrid>
              <a:tr h="3889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최소접근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공공 내부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공공 400m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스터디카페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학교 이동비중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통합 분류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외대앞역 1번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0.991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경희대학교(경희대)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회기시장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경희대후문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0.955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demand signal feature gap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청량초등학교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F00D2-4804-4EBF-8536-8840DC9A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이동 비중은 실제 개인 선택 라벨이 아니라 지역의 목적 맥락 대리변수입니다.</a:t>
            </a:r>
          </a:p>
        </p:txBody>
      </p:sp>
    </p:spTree>
    <p:extLst>
      <p:ext uri="{BB962C8B-B14F-4D97-AF65-F5344CB8AC3E}">
        <p14:creationId xmlns:p14="http://schemas.microsoft.com/office/powerpoint/2010/main" val="10103439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8109A-C58C-4649-9F20-9B5EC1F2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95159-F32E-4401-97A3-919DF68E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674DD-E2B0-48B4-B93A-32757218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53D8A-B601-4C42-9765-A63886A8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F14EC-8D52-4B1C-96F7-FDE21DF6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점수는 실제로 목적에 따라 다르게 나옵니다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FCBF9-FC05-48CA-A9F8-356E9559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786개 후보를 놓고도 목적별 공급 구조와 소비 신호가 달라 상위 상권이 달라집니다.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D7A5D-209B-452D-B7F3-245E0443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공부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94E68-F156-49B3-92F0-F39D25E3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구삼강변맛길  94.3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FAAB5-3F10-4BDD-92FE-EE92705A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외대앞역 1번  92.4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9D4EE-5C38-4254-A243-88FFDDEA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카페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0875B-532A-48D3-AEBA-6C08C01E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북촌(안국역)  96.5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D54CE-096A-4B07-BCDF-B5D6E2D2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서촌(경복궁역)  96.1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E96EB-1098-4C4B-B041-D4350F7A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식사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D66C6-98AF-4A2B-A3A0-BA0DFA6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광화문역  94.3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CAA8B-7E2C-4D89-B797-3DFB006E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종각역  92.4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B112E-FEA1-41D2-91DF-4C972935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쇼핑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9EB66-74DF-4317-9F76-383C66B5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롯데백화점 시청광장  95.8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25B90-FB2A-4383-A4F7-B08B655C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여가문화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514C7-0D6C-4D01-B07E-3C5219CC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76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수유역  97.6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5AB4F9-D25A-4680-966F-423CDC7C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점수는 PATH-v0 기준이며, 아래 지도에는 각 목적별 상위 10개 공식 상권 폴리곤을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3247224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1C0AE-650D-4C95-86FC-F856CEAE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9198B-9296-4F05-83E2-B2D4442B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PURPOSE TOP 10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8293A-6C1D-4AAB-A6C1-CF94F8FD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25E7D-5EB5-4695-8683-69A01F57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57F69-4855-41A1-B95D-2F0C5C64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목적별 상위 10개는 서로 다른 공식 상권 폴리곤입니다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B7787-60F4-449C-9BA4-52A0C368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어두운 면은 786개 전체 후보, 밝은 면과 숫자는 2025 Q4 목적별 PATH-v0 상위 10개입니다.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d205f88944ed9"/>
          <a:stretch xmlns:a="http://schemas.openxmlformats.org/drawingml/2006/main"/>
        </p:blipFill>
        <p:spPr>
          <a:xfrm xmlns:a="http://schemas.openxmlformats.org/drawingml/2006/main">
            <a:off x="2938795" y="1952625"/>
            <a:ext cx="610486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06E57-63AA-4891-B02D-2AB9FC26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각 목적은 독립적으로 순위를 계산합니다. 따라서 같은 30분 생활권이라도 목적에 따라 상위 상권의 위치와 구성은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260108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EA599D-67E9-4EE8-8055-E5258890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AB0EE-7D4B-4528-AAD0-765B2B79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AC8FB-D39C-4065-B0B7-07E13418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CF28E-89E6-4A64-BA13-D8553B5D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7623D-F565-408C-AEBF-8423B39B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공부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406F3-99CD-48B5-8C3C-0B7264C3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4265785264b77"/>
          <a:stretch xmlns:a="http://schemas.openxmlformats.org/drawingml/2006/main"/>
        </p:blipFill>
        <p:spPr>
          <a:xfrm xmlns:a="http://schemas.openxmlformats.org/drawingml/2006/main">
            <a:off x="1465186" y="1847850"/>
            <a:ext cx="4080029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3F211-402E-4449-8F15-B64E0D58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D4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AE0FD-9008-4A74-AB4D-27551961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A649D-76ED-49F4-B379-F88AA62B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구삼강변맛길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F55C8-2670-4899-9FFF-00C757D7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94.3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1B9F4-C321-401E-9D0A-FF0DD2E1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먹골역 5번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667FF-CC91-42E5-A7C1-9A29C1E5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94.0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45799-2858-49E2-AEFF-2F4CB74B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외대앞역 1번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4CA2B-0B0F-438F-B7D3-4844D6BC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92.4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E669D-856D-43E3-A9C9-CEFD5A27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경희대학교(경희대)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71636-3510-4863-8BE3-C381E63F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DC02E-09C3-4E6E-A2C0-DB1848A5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장안동사거리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9E03D-DBB0-4020-8576-5CC19E80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F4C91-5DB5-4648-9C30-4311DFDD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대원고등학교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F7695-B395-4133-9BA4-4884FF0C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729D5-7931-4065-A28A-0100FB06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전농로터리시장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49C5E-6AB4-417E-B2E2-A5BFA2FC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167FE-E3C3-4142-9DA5-F8A75279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국립정신건강센터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5A780-E395-4F57-9CAD-C810FC36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C0C75-65A2-4ABF-B30F-7C72B8AF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신내1동주민센터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3924C-56B2-42E6-AC9B-0CA7263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41D1AD-1DF5-489A-92F0-C4C315F0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한성대입구역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0C230-F1B8-45F7-9F37-5E59A751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A06C79-AA1E-4E4B-B3DE-90BFA7E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3748484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FE4DF6-41EC-4700-AC6A-071C45CF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DF8EE-510D-41C2-967E-F21358C8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F101C-F0C9-4ECF-B9D1-BE22D6AD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791D8-F4A8-4B91-845E-492B7CCC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78031-EC70-4F13-90F7-B7D72BBA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카페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799F0-426B-48A6-B2A8-362A7FDA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f934067634050"/>
          <a:stretch xmlns:a="http://schemas.openxmlformats.org/drawingml/2006/main"/>
        </p:blipFill>
        <p:spPr>
          <a:xfrm xmlns:a="http://schemas.openxmlformats.org/drawingml/2006/main">
            <a:off x="1466596" y="1847850"/>
            <a:ext cx="4077207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F2412-60F6-458F-B4AC-8181ABDA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15AD4-D905-47B3-9D59-8C9A7E1D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D289C-0712-4284-8387-5454E1D0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북촌(안국역)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AD35C-2138-46D4-9FCC-C12439ED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96.5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E7152-0E8A-45D4-9196-F23930FF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서촌(경복궁역)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43BF6-26E1-43FF-9FDE-59D4E0A8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96.1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4A27B-86B2-41B7-8279-17F93610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배화여자대학교(박노수미술관)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C8277-C609-4C92-8D24-19EA9C79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95.0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05F39-760D-4F91-82DA-8ECA029F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삼청동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891F0-F657-45FC-A6A6-D1FADA6D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697EF-4337-463A-BA52-458FCE37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광화문역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D26DF-9151-439F-BF1E-AA2038DE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69B11-035E-4BAF-B68D-CA3C396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서교동(홍대)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95C2E-83C6-4CBD-A29A-E63B4822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E03BD-7E98-4021-9232-C15E5818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경의선책거리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D8A65-F1FD-4622-82A6-4A8FD3E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92.9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ADBE2-0C46-4BA1-8CAD-1E43099F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을지로입구역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55302-E5E5-4E9C-B5A3-2A91A52A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92.3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E29B6-346A-4248-A869-889AD94B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시청역_8번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CD0F3-AE5C-4FE8-A73D-86F9CD78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7C2DCF-B771-4ED8-95AB-D17F0F01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대학로(혜화역)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3E3996-F22F-41D7-96D2-9F35DEA2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91.3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E93C3-B176-468F-8032-7880AF8D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7042193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BD7409-7D2F-444D-B225-EDB55BC6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FBA3D-015B-42A0-9515-A94B7250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ABECE-FDCF-4BEE-AC67-DE795D4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C1A25-CC9B-4AEB-BFA5-14F80C61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F9910-7798-46C9-B12C-6A0E93EC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식사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053A2-EF46-468B-84AA-A1A8EC7E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5e2922f964a0d"/>
          <a:stretch xmlns:a="http://schemas.openxmlformats.org/drawingml/2006/main"/>
        </p:blipFill>
        <p:spPr>
          <a:xfrm xmlns:a="http://schemas.openxmlformats.org/drawingml/2006/main">
            <a:off x="1466596" y="1847850"/>
            <a:ext cx="4077207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B94EA-65A8-4100-83BF-1FB24F82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6E471-73C2-4DC8-B248-B6CA1D71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5E0F8-9827-4A54-9311-5DF3E220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광화문역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EA121-26EC-4AE2-BF77-FE4003F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94.3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E9233-4CE3-4147-A888-2F6E35CA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종각역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23CBF-E89D-4FE0-9C26-622BC5B0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92.4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6EF11-51E9-47FE-8F59-BCB060F7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도화동 상점가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0F2CC-D294-4B52-8C70-75017F49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90.9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A5D23-566D-4695-AD60-D017EE6C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대학로(혜화역)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99660-79BE-453B-8D2C-B84067EA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235C6-A6AE-4DEC-87B1-79451DCB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을지로입구역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E1D2B-E228-48C6-B214-79373585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3460D-6D20-44F4-9905-D75087F3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북창동(시청역_6번)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3C70A-D9E7-45A6-AF0C-4D8F1EA7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90.0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181BD-DD43-4063-8245-A23BBF45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남영동 먹자골목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8010A-F848-4E65-819E-1F5E2714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89.8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F0A3A0-2C33-40CD-9DBE-37387D81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방이동먹자골목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EC5D76-DFD5-4340-8B61-3D4A570B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57CD9E-3E57-4D45-9DCB-E170230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서대문역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D43C77-A648-40B9-9CD5-66184CC0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9BB1E-25C3-47AC-B033-05579BEC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이태원(이태원역)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A38B4D-D92C-445D-BD6E-AF989FE4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88.6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3ECCE9-6469-4DEB-BF0C-DDEB7779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5751636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E64265-1266-44F5-9D40-0BF072D1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1A5DA-1E92-42B5-903D-D3AF6400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168ED-7E4B-4F0C-BED3-BC5FA5BB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42CDE-73AF-48DB-B9DB-8BC6B261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BF747-5096-4251-A83C-9A34D0EC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쇼핑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09A07-FCDA-4448-A6A8-B833119F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6f45d80ea4205"/>
          <a:stretch xmlns:a="http://schemas.openxmlformats.org/drawingml/2006/main"/>
        </p:blipFill>
        <p:spPr>
          <a:xfrm xmlns:a="http://schemas.openxmlformats.org/drawingml/2006/main">
            <a:off x="1465186" y="1847850"/>
            <a:ext cx="4080029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28CF9-298A-4952-A48D-FE62D35D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C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DBADB-32EB-464C-91B9-066ADD47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FC324-F21A-4362-8622-FE7B3919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롯데백화점(시청광장 지하쇼핑센터)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E97B7-3722-4B9A-9F59-DC298AEE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29AAD-C69F-44D9-84CA-5D1A6678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동대문패션타운 관광특구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9D62B-456B-499F-8E9C-604847A5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C38F8-83EE-40D0-9D83-BF7BF1D4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동대문역사문화공원역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A52BB-3D01-45E4-B1C2-B4425757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95.2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DD7F2-3E3C-45E7-94AA-F9E59C22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강변역(테크노마트)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86765-4009-4663-B5EA-3A32913E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95.2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093A4-9B7C-413F-89D4-0535DABB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종로3가역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7EA8E-5991-4A3C-8945-1198D3F2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8F361-E76A-4B62-9B93-CACA8273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잠실역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ECDC1-D9B2-452B-9959-1621276A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04D2F-A7ED-46FD-83B0-75182532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강남 마이스 관광특구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13353-EB60-4DCB-AC11-30DFB572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2E217F-D848-4DF5-B1D8-0D8DD08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용산전자상가(용산역)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EB39B3-0D84-4655-BADA-9D718BDC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46243E-FCBD-4300-872C-9E0814EC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남대문시장(자유상가)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5996EE-42FB-4AAF-BB0A-BB75150B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6CC10-AB4E-487C-917A-C719107E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천호역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F69A25-869E-4447-A0E8-8F799E35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B9E71F-F94B-4B51-BAFC-E952E239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4408910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8C926D-A16F-403B-B1B1-CBDD448B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EED24-0E4B-4F78-89D8-7EAC9797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TOP 10 POLYGON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4E294-B5ED-4C5E-BB51-0310B963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73C61-6B83-49AA-93AB-4A3E6846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B4C60-1B48-4CAF-BD4B-8AA144D9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여가문화 목적 Top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A3484-96BA-460C-A49C-B182CD7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밝은 폴리곤과 숫자는 2025 Q4 PATH-v0 순위입니다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bcbabaa824683"/>
          <a:stretch xmlns:a="http://schemas.openxmlformats.org/drawingml/2006/main"/>
        </p:blipFill>
        <p:spPr>
          <a:xfrm xmlns:a="http://schemas.openxmlformats.org/drawingml/2006/main">
            <a:off x="1466596" y="1847850"/>
            <a:ext cx="4077207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926D8-2686-4E15-ABE3-90AAB61F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B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3312D-FA63-403F-8FAE-B8F59155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RANK   공식 상권명                                     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E915E-A6D8-40C1-A2AC-6E6AE3CA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01     수유역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56BAF-D900-4656-80CF-7F2D57C1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97.6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2132F-C578-4E8B-B1BC-9716C145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02     방이동먹자골목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0790A-B527-43EE-A95D-C3341BAE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336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96.0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647D9-B688-4E2D-B6A7-79D10627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03     잠실새내역(신천)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8D51B-C950-4EFA-87B8-A7FA6334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95.7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BD0D8-C1A2-48B0-B577-A0BFB7C6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04     군자역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7A7B8-036B-4BB5-852B-26E11D13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861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EAE34-1915-4EC0-BE2E-14B3E978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05     길동역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2192F-8264-4134-A55D-1D3AE5D8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62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8EB53-D51A-4779-8F2A-646E896C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385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06     성신여대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5642B-6E17-4EF3-8995-A236D9FB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385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61889-F0CC-430C-86DB-6C8A2559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07     상봉역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A4977-97AB-4813-8BED-4C365988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94.5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B23BF-2D8D-42C5-B6A6-8029689C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08     구의역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3B168-A05F-4C70-89E7-0F116482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91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E284D-48B3-428C-85C1-39CE9B5A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09     건대입구역(건대)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116D9-EF1E-4CE5-89CC-5DD572A1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672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FB3B4-C108-4E1F-925E-D0D133AF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10     상계역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F4AAC3-9457-472C-958F-342588B8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434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93.1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16C18-3D0E-4B31-83C7-0BEDB662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어두운 폴리곤은 동일한 접근성 기준을 통과한 나머지 후보 상권입니다</a:t>
            </a:r>
          </a:p>
        </p:txBody>
      </p:sp>
    </p:spTree>
    <p:extLst>
      <p:ext uri="{BB962C8B-B14F-4D97-AF65-F5344CB8AC3E}">
        <p14:creationId xmlns:p14="http://schemas.microsoft.com/office/powerpoint/2010/main" val="131874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2026-09-22T02:05:27.7330000Z</dcterms:created>
  <dcterms:modified xsi:type="dcterms:W3CDTF">2026-09-22T02:05:27.7330000Z</dcterms:modified>
</coreProperties>
</file>