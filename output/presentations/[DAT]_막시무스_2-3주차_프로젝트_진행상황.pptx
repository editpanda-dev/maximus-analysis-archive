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be1d27cb644503" /><Relationship Type="http://schemas.openxmlformats.org/officeDocument/2006/relationships/extended-properties" Target="/docProps/app.xml" Id="R772c19b612234b96" /><Relationship Type="http://schemas.openxmlformats.org/officeDocument/2006/relationships/officeDocument" Target="/ppt/presentation.xml" Id="Rca61107cae7a42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b216abefff4db3"/>
  </p:sldMasterIdLst>
  <p:notesMasterIdLst>
    <p:notesMasterId xmlns:r="http://schemas.openxmlformats.org/officeDocument/2006/relationships" r:id="R35a07e5bf6d64453"/>
  </p:notesMasterIdLst>
  <p:sldIdLst>
    <p:sldId xmlns:r="http://schemas.openxmlformats.org/officeDocument/2006/relationships" id="256" r:id="R7feffdb1469f4b7a"/>
    <p:sldId xmlns:r="http://schemas.openxmlformats.org/officeDocument/2006/relationships" id="257" r:id="R1cf8aae3276b41b0"/>
    <p:sldId xmlns:r="http://schemas.openxmlformats.org/officeDocument/2006/relationships" id="258" r:id="R4f440b082585472b"/>
    <p:sldId xmlns:r="http://schemas.openxmlformats.org/officeDocument/2006/relationships" id="259" r:id="R6494c9a6608d4c39"/>
    <p:sldId xmlns:r="http://schemas.openxmlformats.org/officeDocument/2006/relationships" id="260" r:id="Ree10904c1306457b"/>
    <p:sldId xmlns:r="http://schemas.openxmlformats.org/officeDocument/2006/relationships" id="261" r:id="Rff5fcea3bbec4246"/>
    <p:sldId xmlns:r="http://schemas.openxmlformats.org/officeDocument/2006/relationships" id="262" r:id="Rfe7e77f423fe4ff3"/>
    <p:sldId xmlns:r="http://schemas.openxmlformats.org/officeDocument/2006/relationships" id="263" r:id="R0466c09647924591"/>
    <p:sldId xmlns:r="http://schemas.openxmlformats.org/officeDocument/2006/relationships" id="264" r:id="Rd3013dee6dc74552"/>
    <p:sldId xmlns:r="http://schemas.openxmlformats.org/officeDocument/2006/relationships" id="265" r:id="R11fe1ae1741d44cc"/>
    <p:sldId xmlns:r="http://schemas.openxmlformats.org/officeDocument/2006/relationships" id="266" r:id="R4ff36751ddad43d4"/>
    <p:sldId xmlns:r="http://schemas.openxmlformats.org/officeDocument/2006/relationships" id="267" r:id="R1ce4a8c5f53d4f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1d53f7edcb4815" /><Relationship Type="http://schemas.openxmlformats.org/officeDocument/2006/relationships/slideMaster" Target="/ppt/slideMasters/slideMaster1.xml" Id="Rb5b216abefff4db3" /><Relationship Type="http://schemas.openxmlformats.org/officeDocument/2006/relationships/notesMaster" Target="/ppt/notesMasters/notesMaster1.xml" Id="R35a07e5bf6d64453" /><Relationship Type="http://schemas.openxmlformats.org/officeDocument/2006/relationships/presProps" Target="/ppt/presProps.xml" Id="R30678644b120452d" /><Relationship Type="http://schemas.openxmlformats.org/officeDocument/2006/relationships/tableStyles" Target="/ppt/tableStyles.xml" Id="Ra736927c23ec4bd6" /><Relationship Type="http://schemas.openxmlformats.org/officeDocument/2006/relationships/slide" Target="/ppt/slides/slide1.xml" Id="R7feffdb1469f4b7a" /><Relationship Type="http://schemas.openxmlformats.org/officeDocument/2006/relationships/slide" Target="/ppt/slides/slide2.xml" Id="R1cf8aae3276b41b0" /><Relationship Type="http://schemas.openxmlformats.org/officeDocument/2006/relationships/slide" Target="/ppt/slides/slide3.xml" Id="R4f440b082585472b" /><Relationship Type="http://schemas.openxmlformats.org/officeDocument/2006/relationships/slide" Target="/ppt/slides/slide4.xml" Id="R6494c9a6608d4c39" /><Relationship Type="http://schemas.openxmlformats.org/officeDocument/2006/relationships/slide" Target="/ppt/slides/slide5.xml" Id="Ree10904c1306457b" /><Relationship Type="http://schemas.openxmlformats.org/officeDocument/2006/relationships/slide" Target="/ppt/slides/slide6.xml" Id="Rff5fcea3bbec4246" /><Relationship Type="http://schemas.openxmlformats.org/officeDocument/2006/relationships/slide" Target="/ppt/slides/slide7.xml" Id="Rfe7e77f423fe4ff3" /><Relationship Type="http://schemas.openxmlformats.org/officeDocument/2006/relationships/slide" Target="/ppt/slides/slide8.xml" Id="R0466c09647924591" /><Relationship Type="http://schemas.openxmlformats.org/officeDocument/2006/relationships/slide" Target="/ppt/slides/slide9.xml" Id="Rd3013dee6dc74552" /><Relationship Type="http://schemas.openxmlformats.org/officeDocument/2006/relationships/slide" Target="/ppt/slides/slide10.xml" Id="R11fe1ae1741d44cc" /><Relationship Type="http://schemas.openxmlformats.org/officeDocument/2006/relationships/slide" Target="/ppt/slides/slide11.xml" Id="R4ff36751ddad43d4" /><Relationship Type="http://schemas.openxmlformats.org/officeDocument/2006/relationships/slide" Target="/ppt/slides/slide12.xml" Id="R1ce4a8c5f53d4f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54ae7ee27343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0595dd9cef47cc" /><Relationship Type="http://schemas.openxmlformats.org/officeDocument/2006/relationships/notesMaster" Target="/ppt/notesMasters/notesMaster1.xml" Id="Rcd2ab322d12f4f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29825049c746a0" /><Relationship Type="http://schemas.openxmlformats.org/officeDocument/2006/relationships/notesMaster" Target="/ppt/notesMasters/notesMaster1.xml" Id="R1e6d1fb9365541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5cfd5327140b4" /><Relationship Type="http://schemas.openxmlformats.org/officeDocument/2006/relationships/notesMaster" Target="/ppt/notesMasters/notesMaster1.xml" Id="R619218829c9348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55dcb26a4e4901" /><Relationship Type="http://schemas.openxmlformats.org/officeDocument/2006/relationships/notesMaster" Target="/ppt/notesMasters/notesMaster1.xml" Id="Rb717ca50d10748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c9ebfea2c7491e" /><Relationship Type="http://schemas.openxmlformats.org/officeDocument/2006/relationships/notesMaster" Target="/ppt/notesMasters/notesMaster1.xml" Id="R80be65f24c5446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b3577b1b4d4f7f" /><Relationship Type="http://schemas.openxmlformats.org/officeDocument/2006/relationships/notesMaster" Target="/ppt/notesMasters/notesMaster1.xml" Id="Rc7397d872a7748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a8d57bf8f04dd6" /><Relationship Type="http://schemas.openxmlformats.org/officeDocument/2006/relationships/notesMaster" Target="/ppt/notesMasters/notesMaster1.xml" Id="Rabb90db0cd7b4c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7c5106b7294438" /><Relationship Type="http://schemas.openxmlformats.org/officeDocument/2006/relationships/notesMaster" Target="/ppt/notesMasters/notesMaster1.xml" Id="Rc69b0fe83ed346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a53700c2054d05" /><Relationship Type="http://schemas.openxmlformats.org/officeDocument/2006/relationships/notesMaster" Target="/ppt/notesMasters/notesMaster1.xml" Id="R42e406abe39f4c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ac8c0200a548eb" /><Relationship Type="http://schemas.openxmlformats.org/officeDocument/2006/relationships/notesMaster" Target="/ppt/notesMasters/notesMaster1.xml" Id="Rb74d0fd89c464f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d71190ce3f49d9" /><Relationship Type="http://schemas.openxmlformats.org/officeDocument/2006/relationships/notesMaster" Target="/ppt/notesMasters/notesMaster1.xml" Id="Rb9f064c3f20b40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3ec94e3cb2424f" /><Relationship Type="http://schemas.openxmlformats.org/officeDocument/2006/relationships/notesMaster" Target="/ppt/notesMasters/notesMaster1.xml" Id="Ra87a21ae53194f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Team Maximus Week 1–3 internal outputs</a:t>
            </a:r>
          </a:p>
          <a:p xmlns:a="http://schemas.openxmlformats.org/drawingml/2006/main">
            <a:r>
              <a:t>- Cover visual: team-generated transit hero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data/processed/commercial_area_accessibility/COMMERCIAL_AREA_ACCESSIBILITY_REPORT.md</a:t>
            </a:r>
          </a:p>
          <a:p xmlns:a="http://schemas.openxmlformats.org/drawingml/2006/main">
            <a:r>
              <a:t>- Week 2/3 member outputs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Week 1 transit pipeline</a:t>
            </a:r>
          </a:p>
          <a:p xmlns:a="http://schemas.openxmlformats.org/drawingml/2006/main">
            <a:r>
              <a:t>- Week 2/3 purpose scoring methods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data/processed/commercial_area_accessibility/commercial_area_candidates_25pct.csv</a:t>
            </a:r>
          </a:p>
          <a:p xmlns:a="http://schemas.openxmlformats.org/drawingml/2006/main">
            <a:r>
              <a:t>- Output counts: 334 origins, 786 official polygons, 6 tourism special zones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official_area_poi_features(최종).csv</a:t>
            </a:r>
          </a:p>
          <a:p xmlns:a="http://schemas.openxmlformats.org/drawingml/2006/main">
            <a:r>
              <a:t>- Week 2 public facility and Kakao POI enrichment work</a:t>
            </a:r>
          </a:p>
          <a:p xmlns:a="http://schemas.openxmlformats.org/drawingml/2006/main">
            <a:r>
              <a:t>- Workplan rule: public facilities and café POIs are not double counted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/private/tmp/maximus-jiujin-leisure/data/processed/leisure_culture_v1/leisure_culture_v1_audit.json</a:t>
            </a:r>
          </a:p>
          <a:p xmlns:a="http://schemas.openxmlformats.org/drawingml/2006/main">
            <a:r>
              <a:t>- 1,229 collected; 739 inside; 167 candidates; 148 verified walk400; 465 night-food; 422 adult tags excluded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/private/tmp/maximus-geonwoo-meal-shopping/docs/meal_shopping_v1_method.md</a:t>
            </a:r>
          </a:p>
          <a:p xmlns:a="http://schemas.openxmlformats.org/drawingml/2006/main">
            <a:r>
              <a:t>- Meal: 6; shopping: 5; tourism 6 excluded; wholesale/special 7 excluded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/private/tmp/maximus-geonwoo-meal-shopping/data/processed/meal_shopping_v1/meal_shopping_v1_audit.json</a:t>
            </a:r>
          </a:p>
          <a:p xmlns:a="http://schemas.openxmlformats.org/drawingml/2006/main">
            <a:r>
              <a:t>- Raw→adjusted Pearson r: meal area .134→.013, shopping area .135→.017; meal total stores .194→-.015, shopping total stores .334→.120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meal_shopping_v1 method and outputs</a:t>
            </a:r>
          </a:p>
          <a:p xmlns:a="http://schemas.openxmlformats.org/drawingml/2006/main">
            <a:r>
              <a:t>- leisure_culture_v1 method and outputs</a:t>
            </a:r>
          </a:p>
          <a:p xmlns:a="http://schemas.openxmlformats.org/drawingml/2006/main">
            <a:r>
              <a:t>- Weights are transparent baseline weights, not learned final model parameters.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/private/tmp/maximus-geonwoo-meal-shopping/data/processed/meal_shopping_v1/meal_plus_shopping_v1_top10.csv</a:t>
            </a:r>
          </a:p>
          <a:p xmlns:a="http://schemas.openxmlformats.org/drawingml/2006/main">
            <a:r>
              <a:t>- Example reason data from official_area_meal_shopping_v1_786x2.csv, area 3130104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data-access status</a:t>
            </a:r>
          </a:p>
          <a:p xmlns:a="http://schemas.openxmlformats.org/drawingml/2006/main">
            <a:r>
              <a:t>- B078/B079 full raw data requires Seoul Big Data Campus offline access; not used as training labels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roadmap and current data-access constraints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8ac4aa8e2c49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251bf5f10f4ef4" /><Relationship Type="http://schemas.openxmlformats.org/officeDocument/2006/relationships/slideLayout" Target="/ppt/slideLayouts/slideLayout1.xml" Id="Rbb2f83fffaca44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2f83fffaca44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14e652300436f" /><Relationship Type="http://schemas.openxmlformats.org/officeDocument/2006/relationships/image" Target="/ppt/media/image.png" Id="Rec3b3cbba5d04895" /><Relationship Type="http://schemas.openxmlformats.org/officeDocument/2006/relationships/notesSlide" Target="/ppt/notesSlides/notesSlide1.xml" Id="R07871d87571e4a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2cbf0f80146b2" /><Relationship Type="http://schemas.openxmlformats.org/officeDocument/2006/relationships/notesSlide" Target="/ppt/notesSlides/notesSlide2.xml" Id="Rdc38a3a02c9147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9c55091324088" /><Relationship Type="http://schemas.openxmlformats.org/officeDocument/2006/relationships/notesSlide" Target="/ppt/notesSlides/notesSlide3.xml" Id="Rce4da8589e4045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596b5d9e14440" /><Relationship Type="http://schemas.openxmlformats.org/officeDocument/2006/relationships/image" Target="/ppt/media/image2.png" Id="R857bfc8b35384a75" /><Relationship Type="http://schemas.openxmlformats.org/officeDocument/2006/relationships/notesSlide" Target="/ppt/notesSlides/notesSlide4.xml" Id="R489c9dbbd3d64a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cad088cab4cdb" /><Relationship Type="http://schemas.openxmlformats.org/officeDocument/2006/relationships/notesSlide" Target="/ppt/notesSlides/notesSlide5.xml" Id="R323f25b1502a4e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4437923ca440c" /><Relationship Type="http://schemas.openxmlformats.org/officeDocument/2006/relationships/notesSlide" Target="/ppt/notesSlides/notesSlide6.xml" Id="R10840cbe87a243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ec83d96a748c1" /><Relationship Type="http://schemas.openxmlformats.org/officeDocument/2006/relationships/notesSlide" Target="/ppt/notesSlides/notesSlide7.xml" Id="R21bb6137bde74a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b1c35abf844ed" /><Relationship Type="http://schemas.openxmlformats.org/officeDocument/2006/relationships/chart" Target="/ppt/slides/charts/chart1.xml" Id="Re6254eba337e4f36" /><Relationship Type="http://schemas.openxmlformats.org/officeDocument/2006/relationships/notesSlide" Target="/ppt/notesSlides/notesSlide8.xml" Id="Rc2ce9ee83b5348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52cd966064c99" /><Relationship Type="http://schemas.openxmlformats.org/officeDocument/2006/relationships/notesSlide" Target="/ppt/notesSlides/notesSlide9.xml" Id="Rdb5ccf2a73dd4b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bb14b68084009" /><Relationship Type="http://schemas.openxmlformats.org/officeDocument/2006/relationships/notesSlide" Target="/ppt/notesSlides/notesSlide10.xml" Id="Rb131bf2477494f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23ffd41ef40e9" /><Relationship Type="http://schemas.openxmlformats.org/officeDocument/2006/relationships/notesSlide" Target="/ppt/notesSlides/notesSlide11.xml" Id="Rf176652f2feb4c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4d2d42e294872" /><Relationship Type="http://schemas.openxmlformats.org/officeDocument/2006/relationships/notesSlide" Target="/ppt/notesSlides/notesSlide12.xml" Id="R6b3765c8f49c42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원점수</c:v>
          </c:tx>
          <c:spPr>
            <a:solidFill xmlns:a="http://schemas.openxmlformats.org/drawingml/2006/main">
              <a:srgbClr val="F5C444"/>
            </a:solidFill>
          </c:spPr>
          <c:cat>
            <c:strRef>
              <c:f>'Chart Data'!$A$2:$A$5</c:f>
              <c:strCache>
                <c:ptCount val="4"/>
                <c:pt idx="0">
                  <c:v>식사·면적</c:v>
                </c:pt>
                <c:pt idx="1">
                  <c:v>쇼핑·면적</c:v>
                </c:pt>
                <c:pt idx="2">
                  <c:v>식사·총점포</c:v>
                </c:pt>
                <c:pt idx="3">
                  <c:v>쇼핑·총점포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0.134</c:v>
                </c:pt>
                <c:pt idx="1">
                  <c:v>0.135</c:v>
                </c:pt>
                <c:pt idx="2">
                  <c:v>0.194</c:v>
                </c:pt>
                <c:pt idx="3">
                  <c:v>0.334</c:v>
                </c:pt>
              </c:numCache>
            </c:numRef>
          </c:val>
        </c:ser>
        <c:ser>
          <c:idx val="1"/>
          <c:order val="1"/>
          <c:tx>
            <c:v>보정 후</c:v>
          </c:tx>
          <c:spPr>
            <a:solidFill xmlns:a="http://schemas.openxmlformats.org/drawingml/2006/main">
              <a:srgbClr val="071A3D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식사·면적</c:v>
                </c:pt>
                <c:pt idx="1">
                  <c:v>쇼핑·면적</c:v>
                </c:pt>
                <c:pt idx="2">
                  <c:v>식사·총점포</c:v>
                </c:pt>
                <c:pt idx="3">
                  <c:v>쇼핑·총점포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0.013</c:v>
                </c:pt>
                <c:pt idx="1">
                  <c:v>0.017</c:v>
                </c:pt>
                <c:pt idx="2">
                  <c:v>-0.015</c:v>
                </c:pt>
                <c:pt idx="3">
                  <c:v>0.12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CBEBB-E140-4554-B9F7-F67DFA0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DF9AB-AAF6-4576-9118-306F5517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TEAM MAXIMUS · DAT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17824-83C8-494B-82B5-674B7E7A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5429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후보군은 만들었고,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이제 목적별 근거를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정교화합니다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AC547-E161-4455-95DF-1EE4E3BF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2·3주차 프로젝트 진행상황 보고</a:t>
            </a:r>
          </a:p>
          <a:p xmlns:a="http://schemas.openxmlformats.org/drawingml/2006/main">
            <a:pPr>
              <a:def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786개 공식 상권의 목적별 추천 기준선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24E37-F10D-410B-A8A7-902C59F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542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F62"/>
          </a:solidFill>
          <a:ln xmlns:a="http://schemas.openxmlformats.org/drawingml/2006/main" w="0">
            <a:solidFill>
              <a:srgbClr val="102F6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93437-003F-45B4-B8E7-A519A147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REACH × PURPOSE ×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68F62-720E-4F1D-B879-8D68207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장한별  ·  지우진  ·  김건우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b3cbba5d04895"/>
          <a:srcRect xmlns:a="http://schemas.openxmlformats.org/drawingml/2006/main" l="2792" t="0" r="2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028700"/>
            <a:ext cx="4857750" cy="2895600"/>
          </a:xfrm>
          <a:prstGeom xmlns:a="http://schemas.openxmlformats.org/drawingml/2006/main" prst="roundRect">
            <a:avLst>
              <a:gd name="adj" fmla="val 5921"/>
            </a:avLst>
          </a:prstGeom>
        </p:spPr>
      </p:pic>
    </p:spTree>
    <p:extLst>
      <p:ext uri="{BB962C8B-B14F-4D97-AF65-F5344CB8AC3E}">
        <p14:creationId xmlns:p14="http://schemas.microsoft.com/office/powerpoint/2010/main" val="1357540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ED838B-F11E-4D47-9C7D-0B0C85B6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E731E-847C-4DF4-9092-72419250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1 →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FAFDC-FDD6-42E8-8532-9711FAD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43AE0-AB52-48F7-8710-3AA4B75C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27EE5-2E2A-4B35-9927-198A6563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3주간, “갈 수 있는 상권”을 “설명 가능한 후보”로 바꿨습니다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C48AA-D816-4603-A1C1-F37A4510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접근성으로 후보군을 정의하고, 목적별 공급·소비·공간 신호를 결합했습니다.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18F82-0059-42DE-98CF-497EAFEA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2D978-4174-4FBE-A191-3B4C9C42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C9E87-E992-41F7-AE65-A30F2FCB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314B0-F9A0-4A3E-891D-552ABA9C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동대문구 출발 정류장·역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1B034-D556-42FF-8667-564EAE7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C09DC-E873-43FD-8062-A12D172B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B16DE-18AA-4119-A80D-64F4835B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66045-01AD-4ABC-9808-80268485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대중교통 생활권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C70DE-43B3-4A4D-A91F-11CDA2F6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2381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745AA-BC26-45B3-A0B8-1DDD88CB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038B1-AAB5-4742-ADA9-FECEF9E5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786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963C4-0378-4C80-8CE2-9EEEA6AD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908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공식 상권 폴리곤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B144C-5E11-4211-BDD9-BC48B54B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33147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C9421-9824-4A1E-8226-1242FE37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41D29-76BA-424F-B970-32E42132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765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D2E952-8A67-4604-87D4-2995129F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908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식사·쇼핑·카페·여가문화 v1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60BDC-F7B6-40A3-8454-2093A666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W1  접근성 기반 후보군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8EE265-5788-45EA-B5C8-CC43C365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334개 출발지에서 시간대별 도달 정류장을 계산하고, 공식 상권 폴리곤으로 후보를 고정했습니다.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B491CE-429C-4969-92A6-B091A081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W2  목적별 증거·시설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B9873-E2BD-4D05-A2AF-8C4AA7B1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529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공부·카페·공공시설과 여가문화 POI를 상권 내부·보행 400m 범위로 분리해 피처화했습니다.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29BE9-27E6-4BA2-A041-F98D938A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W3  보정된 추천 기준선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95450-64D5-4910-812B-6D760FFD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529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 하위분류와 규모 쏠림 보정을 적용해 목적별 순위의 해석 가능성을 높였습니다.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B443BA-C4A2-416B-9B5B-A51D2A45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2AE52-1B9A-4CBC-B1DC-C42CEC21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637704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F15CD0-F336-479B-91FE-2F7E94C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F3CE2-DCF2-44DB-A240-4545B7AF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SYSTEM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5F432-8CB0-46B9-8FF5-87A7DCAD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60500-0CFF-4C24-AF0E-526C44E6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90F83-AED2-4214-8C30-A4255BFB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추천은 네 개의 판단을 순서대로 통과합니다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B6C72-C28F-42B9-9878-96CE75D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장소를 바로 나열하지 않고, 이동 제약·공식 경계·목적 신호·제외 규칙을 순차 적용합니다.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A553B-0228-4A70-8CA3-FEB99574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D6812-6E4A-4E4C-99D0-1C78C340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68BBD-DEE8-46CD-A9F5-B3C4A1EE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819F6-BABA-4E22-BEEA-C904610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01  REACH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3942B-BA21-4B6F-8B1B-7834DEEE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334개 출발지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30분 도달 가능성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48986-4A68-4149-9F5A-373E29DB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E9E08-B006-4638-9811-9F5288D3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087B6-38EA-4298-9475-BEBDA9F0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AFD9A-F34D-4331-A2A3-C74CAE75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28EB9-BC16-4CD6-86FF-1D9007A6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02 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BB3D71-3C10-43AF-BCB0-6398B474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786개 서울시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공식 상권 폴리곤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E3C2C-0C5A-4FA0-9A37-50145DC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F949F-7FEC-44B3-B4F5-791E3226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DDB59-DEE7-4422-A26C-FC8A9A10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1DF5C-255A-4FF4-9925-592D6A53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6BFFF-686F-46C1-9310-809AD344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03  PURPOSE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AFB4B-2B0B-4C7C-A3BF-7F22638A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점포·매출·POI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시간대·보행권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3C89C-A5BF-4272-98C7-FBCA22E8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560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A9B6C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35280-748C-4FD6-AF14-BE7E094D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2190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98AE2-9AC2-4757-914A-A4B4B56F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A3BA3-507E-4A4B-82D5-CADD7D19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9EBE4-92B8-404A-8512-F4CDFA0E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04  RANK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D7E250-5380-4BE8-AF71-BF45F194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규모 보정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제외·신뢰도 표기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E0978C-CE98-4C03-B956-E31B4F7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76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1E87E-70DA-4C86-8F90-E292EB98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핵심 원칙   |   “도달 가능”은 후보 조건이고, “추천할 만함”은 목적별 증거와 규모 보정 후에만 판단합니다.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49CEA-3609-48FB-A3A7-26C2187E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6E7DD3-FDC0-49C0-B883-26A45426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2010090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E88E0-95F1-42A1-9312-99FF0C62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38EDF-FAF8-43E9-91F6-444477AB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CANDIDATE UNIVERSE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D05AF-2A35-4B76-8D17-5A80B0A3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6F272-C1FD-4354-9383-71981226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1C6E1-50F9-4A62-9E8A-8902C39B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동대문구에서 출발해도, 추천 단위는 “행정동”이 아니라 “공식 상권”입니다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93971-B87F-407C-9051-4DFA6CCA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행정동은 넓고 성격이 섞여 있어, 서울시 공식 상권 경계(폴리곤)를 최종 비교 단위로 사용합니다.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bfc8b35384a75"/>
          <a:srcRect xmlns:a="http://schemas.openxmlformats.org/drawingml/2006/main" l="0" t="34822" r="0" b="348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238375"/>
            <a:ext cx="4762500" cy="31432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24397-56A6-40E1-9A10-65A760F7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334개 출발지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E777F-618C-41AA-B10F-9723BB48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동대문구 내 버스정류장·지하철역을 출발지로 두고, 오전 8시·오후 2시·오후 7시의 접근성을 함께 확인했습니다.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4E84C-1813-4A27-8E8F-B086898B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2375"/>
            <a:ext cx="5029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solidFill>
              <a:srgbClr val="FFF4C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4115B-56EF-4831-9554-EA0244FE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147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25% 이상 출발지가 도달 가능 → 후보 포함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B616D-0BDC-4454-AEBE-E84D5DA5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결과: 786개 공식 상권 폴리곤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E0CD9-E349-4E5C-8F21-07034D0D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관광특구 6개는 권역이 과도하게 넓어 목적지 추천에서 제외하며, 나머지는 목적별 점수로 다시 정렬합니다.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5F40D-ED1E-4EA1-8753-3B290746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DCC49-C105-467E-B719-D26E782A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352468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31B89-B53C-49E3-8DC4-0A5DF727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25DF39-26EE-4EA3-9D51-F699A690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2 ·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64C82-232B-4A48-AB79-E43D35E3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87D4C-1A80-4E78-91CA-AEDBF6D3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12F73-FCF5-4A96-9A34-0AFC0840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점포 수만 세지 않고, “어떤 경험을 할 수 있는가”를 피처로 만들었습니다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DDE2B-C993-4EDD-96DA-39199739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상권 내부와 도보권 시설을 분리해 목적별 체류·학습·문화 신호를 구조화했습니다.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739BD-A9A6-4A3E-92DC-A6712C30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8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787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DE0A6-C69C-4540-BA69-C11BAC67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공부·카페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BFAA0-F484-431E-AA0C-EA0799C3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도서관·열람실·청년공간·대학 학습시설을 공공 피처로 사용하고, 스터디카페·대형카페는 별도 참고 신호로 관리합니다.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5131C-0372-4BD7-A16B-19B557D6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0258C-DBD4-4AC0-9C44-892A1ADF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B796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8D614-34D8-4BA0-8337-CF6E08BA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여가문화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CB9C9-405B-4D8B-8899-45CF64E5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박물관·미술관·공연장·영화관·문화센터·전시공간·공원·스포츠시설을 상권 내부/보행권으로 나눠 집계합니다.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D50D4-586D-4B94-9E48-225FFB3A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BDFCB1-0CBF-42F8-9F98-626BE2C4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6E5E0-92FE-4209-8A4F-BA5577E3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공간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1B905-44FD-4AB3-9AE1-225BE8B9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1487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폴리곤 내부 수와 “도보 400m 이내” 수를 분리합니다. 단순 직선거리의 과대평가를 피하기 위해 보행 경로 확인으로 전환했습니다.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91156-9BDB-482D-B1AA-80DA15F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83720-7F83-4FE9-A1BF-F92AA039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686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35F40-397F-4D80-AADE-3194ECE3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95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시설 피처의 역할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28A70-A179-4273-93A0-279FDE9A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공급 신호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72461-20CF-41C1-A3D7-3D8AC852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242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무엇을 할 수 있는가</a:t>
            </a:r>
          </a:p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시설 수·다양성·특화도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9CA24-7953-4B0E-9A91-938185E7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6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0D620-9905-474A-925B-D2B681E9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소비 신호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363647-3306-4AE8-811B-6483CB4C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실제 소비가 있는가</a:t>
            </a:r>
          </a:p>
          <a:p xmlns:a="http://schemas.openxmlformats.org/drawingml/2006/main">
            <a:pPr>
              <a:def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매출·거래건수·시간대 적합도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40C20-6B55-4A69-8F65-ECC18FC0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D5FCB-D13D-4CB0-88EE-CB66BA48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448813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C732EA-1A1B-4B7A-884F-481E9216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84791-0C80-4F31-A767-8FA5AC3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2 · WALK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273A0-47FE-426C-AE7C-27E0B8BE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E578E-901F-46E3-B689-907502D6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3AC6E-F2AA-49D7-AA9A-5A2C2609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여가문화는 “검색 결과”가 아니라, 실제 도보권 검증을 거친 POI만 점수에 반영했습니다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D6426-6607-4722-A964-878DCED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실시간 성격의 POI는 2026년 스냅샷으로 분리하고, 2025년 매출과 혼용하지 않았습니다.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C95EE-37FF-4E2F-9BA2-34D9A36C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1066800" cy="1809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FFA01-CFCB-401F-B010-6DE5DF48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1229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788A8-6419-4504-878F-4B22F5FC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수집 POI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47F9B-ABE4-46CE-9408-A0B9796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71900"/>
            <a:ext cx="1066800" cy="10858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78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A8E19-F1F5-4C26-9E85-781A5C6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86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739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5DFAC-A3DB-4140-BA5A-7F447A68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폴리곤 내부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DA655-4DA4-4B2F-AE6E-D832D1BC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0100"/>
            <a:ext cx="1066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5417C-9596-4CD6-AEA0-C16732FF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44896-B8E5-4AD8-ADF7-85485B8B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경계 외 후보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0956C-C853-4CF5-8473-F4B9814D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38675"/>
            <a:ext cx="10668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7B79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92837-4211-49F6-9C84-CC022510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52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148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CF1C8-BE03-4444-8324-D12D0642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도보 400m 통과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0FEC0-7E91-48EA-BBBF-DC740150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1066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6D6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FFA66-A44C-4B17-B93E-8A63FA7F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8A316-043A-451E-B4AD-5E34E470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요리주점</a:t>
            </a:r>
          </a:p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반영 후보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81FFD-CA75-4850-907F-22F18164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38625"/>
            <a:ext cx="10668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A9B6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B6E475-36C9-4394-BE5B-2DC9ABD6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52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422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1888E-9A16-4531-9AFC-5728C6CE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48250"/>
            <a:ext cx="1257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성인 유흥</a:t>
            </a:r>
          </a:p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점수 제외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4EDC1F-5460-44B7-911A-AFF9B41F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FB578-CED4-4A4B-892C-CC17E71D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0668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1437B-D498-485C-8B7B-88B036A2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“요리주점·유흥주점”은 2025년 공식 100대 업종에서 분리 코드가 불충분합니다. 그래서 요리주점은 현재 POI를 도보 검증해 보조 신호로 쓰고, 성인 유흥은 추천 점수에서 제외했습니다.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54077-7FED-4474-9B5F-EDFACAC9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3DC9B-FB17-46B6-B180-FBD84C6E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545698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13C3D-103C-4BE0-AA0A-1E8BDABA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E46AF-285B-4F9D-B033-113313A6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3 · TAXONOMY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A0709-AEBA-4F57-9D37-6F6EF893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3F4C0-0582-4A6D-8828-85C3F0DE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D955E-C63B-4DBE-A685-B9D2CEC8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식사와 쇼핑은 대분류 하나가 아니라, 하위 목적의 조합으로 다룹니다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19EBD-AB3B-4808-9EA3-59CD61CF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같은 “식사”라도 메뉴와 가격대가 다르고, 같은 “쇼핑”이라도 찾는 품목이 다르기 때문입니다.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909A-7663-49CC-80C0-AED1D5B2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5095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EE91B-18A4-4B25-8472-3DBE4E66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EF758-B714-45BF-9524-4FC1FDDB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MEAL · 6 SUBCATEGORIES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27D51-4838-4401-82B7-028D3390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한식  ·  중식  ·  일식</a:t>
            </a:r>
          </a:p>
          <a:p xmlns:a="http://schemas.openxmlformats.org/drawingml/2006/main">
            <a:pPr>
              <a:def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양식  ·  간편식  ·  치킨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CEC3D-0ECB-4400-A035-E366204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가격대는 메뉴 가격을 임의로 추정하지 않고,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동일 음식 세부업종의 점심 시간대 객단가 Q25 / Q75로 구분합니다.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CE564-3DEE-44CD-813F-11415C89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5095875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939ED-2F0A-438C-BE6E-22697C5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333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02C43-0662-486F-8345-C934206F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105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SHOPPING · 5 SUBCATEGORIES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4E452-5FDB-4F36-B589-71708AA1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패션·뷰티  ·  식품·생활</a:t>
            </a:r>
          </a:p>
          <a:p xmlns:a="http://schemas.openxmlformats.org/drawingml/2006/main">
            <a:pPr>
              <a:def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취미·문화  ·  디지털·홈  ·  건강·반려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8237F-5B62-420F-8AEC-FE1762F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481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도매·특수시장 7개는 소비자 소매 추천에서 제외합니다.</a:t>
            </a:r>
          </a:p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관광특구 6개도 지나치게 넓어 순위 대상에서 제외합니다.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15E3E-A6EB-46CA-B929-699B9F48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베이커리·디저트는 카페, 호프·요리주점은 여가문화로 귀속해 중복 반영을 줄였습니다.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4DFA4-04E9-457F-ABD5-0BACF48F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F7C82-E5E4-46E7-BF38-30C81A0E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2128315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57349-B75B-48E1-8D45-10613918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91CD2-0F9C-45F0-B205-0F9DD1AF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WEEK 3 · DE-BIASING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617014-DFEC-4280-82A6-F0C16932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F01C6-8888-4C4D-B9C4-5EDD1059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95388-E01C-42D3-9545-1F5B8427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“큰 상권이라 높은 점수”가 되지 않도록, 규모 효과를 분리했습니다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EADA7-0BCC-4C6B-ACEB-BE05049C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원점수는 면적·총점포 수와 연동되기 쉬워, 목적 신호의 잔차를 최종 순위 점수로 사용합니다.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47700" y="2333625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254eba337e4f3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4B4D1-B90E-4CD4-9B29-D76295F7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3714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7735A-8257-4166-A759-D576D877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보정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F4DD4-081D-4093-966A-39E127E9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30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 점포 밀도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 업종 다양성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3. 서울 평균 대비 특화도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4. 매출·거래 밀도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5. 접근성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A81DD-6A8B-4392-981C-0F9971C7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387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보정 후 순위는 “상권의 크기”보다 “목적에 맞는 밀도·특화도”를 더 많이 반영합니다.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785DC-016F-4585-BAC8-B7C217E3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E3C95-BB72-4650-8D75-13F46E14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7700349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4195BC-8066-41C3-8235-58B66806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7D4F4-E210-4AD4-93E3-65F44096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RECOMMENDATION BASELINE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4CDEA-542D-454D-9E9A-FD4752B6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57524-6540-402F-BA57-E632B4A7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465A1-6DF5-4A05-B413-7622F866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현재의 추천은 “학습 완료 모델”이 아니라, 검증 가능한 목적별 기준선입니다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91AF7-9A9E-4836-9D57-339C5FD9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각 목적별로 같은 구조의 피처를 쓰되, 하위분류와 제외 규칙만 다르게 적용합니다.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3A52D-25FB-493D-AC2F-15F52D6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0668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D9B10-311D-4A24-8C51-3EDF878D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Purpose Score = 0.20 × 접근성 + 0.35 × 공급 신호 + 0.35 × 활동·소비 신호 + 0.10 × 시간 적합도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72873-42DF-4C11-8CBC-9DD2EE64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C0B6A-2643-4649-A4EF-0A18CF81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접근성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A34A9-4DEC-4C74-BC2B-8BCE44A5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338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08·14·19시 도달 비율, 최소 도달 비율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644FA-5667-4393-B35D-5770B10F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573BA-0EA8-43F7-8CBF-1A16FE4F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공급 신호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8ABBF-E892-4F42-8F75-2B7931D6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점포·시설 밀도, 업종 다양성, 특화도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0A3A2B-DEB8-4C22-A881-C949C4BC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0F7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9B1FA-2E36-4170-981E-812729E1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활동·소비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3EE90-2714-4294-960B-C8BE060F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815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매출·거래 밀도, 관측 여부, 보행권 POI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9A2C3-80D1-4C7F-B78A-5655217A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809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DEB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8C40A-F276-4478-90CB-179FB4E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시간 적합도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1C043-AD8C-4A40-BD6E-8FED17BC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054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목적별 시간대 매출 비중 / 저녁·심야 신호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944622-423E-4C07-9930-5C34C83C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단, 매출이 비공개인 행은 추정 여부를 표시하고 “고신뢰 Top10”과 일반 탐색 후보를 분리합니다.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3CBC8-FE45-4D94-9AFC-7D90EF36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2AFA5-A289-42AD-AE7E-5ACFBFC8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243775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06B4E-5868-4EDE-B2C4-2704EEF3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92F5C-7BCB-4986-AAED-B23005B3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CURRENT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25D09-8918-4F70-BEEA-60BD3907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0B3EF-17EE-4122-97A0-3AEA5A6B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95DFD-A896-4C9E-8BDC-7034174A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목적별 Top10은 이미 생성되지만, “정답 추천”으로 주장하지는 않습니다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21DFB-B99B-4CBA-AA6C-5A45C295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후보별 점수와 추천 이유를 함께 저장해, 사용자가 순위의 근거를 확인할 수 있도록 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9B109-CF5B-41BF-89CD-5B4586E8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5143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27313-AF56-4AC9-9204-BB73B7E4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3619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0E85C-878A-4A61-B0F2-8D6BD423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MEAL + SHOPPING · HIGH-CONFIDENCE 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B404A-05A6-400D-BF88-4933495B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01  동부시장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265C1-087F-4103-A26F-2C89FF34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02  마포시장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5DA0E-7516-4796-985C-648BCAB9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03  면곡골목시장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57AB6-D891-4F3D-99B4-75FB9AB1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04  화양제일골목시장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97952-0FF5-4A11-BFEC-A7304AFF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05  답십리현대시장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DD850-D45E-4009-A405-CDBA2D12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조합 목적은 각 목적 점수를 합산하기 전에</a:t>
            </a:r>
          </a:p>
          <a:p xmlns:a="http://schemas.openxmlformats.org/drawingml/2006/main">
            <a:pPr>
              <a:def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관광·도매 제외와 고신뢰 규칙을 동일하게 적용합니다.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27472-F8D4-4C07-B6C9-7BF76557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38375"/>
            <a:ext cx="49911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452FE-2835-41E2-AE14-2A4A40CB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47925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C44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C33FE-B98C-421E-BC06-6393CAE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669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RECOMMENDATION REASON CARD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3E79D-3CC3-4815-BC67-C0B26C80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전곡시장 · 쇼핑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7DFA6-4636-4B90-AD07-0D76A735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주요 유형  식품·생활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관련 점포  38개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업종 매출 공개율  24%</a:t>
            </a:r>
          </a:p>
          <a:p xmlns:a="http://schemas.openxmlformats.org/drawingml/2006/main">
            <a:pPr>
              <a:def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CE5F5"/>
                </a:solidFill>
                <a:latin typeface="Helvetica Neue"/>
                <a:ea typeface="Helvetica Neue"/>
                <a:cs typeface="Helvetica Neue"/>
              </a:rPr>
              <a:t>세 시간대 접근률  0.99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C730D-CF39-46B4-8F00-0E0DC6F1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434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“점포·매출이 모두 관측된 상권”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1322B1-C6E6-4E45-A0DC-FC9A2344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0C2B3-201C-41FC-9178-F89B3AC6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2326842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D01EC-E963-4994-9382-B5929608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E0D43-E905-4A7F-95AD-2C0D3AD2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WHAT WE CAN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59238-2EFF-4019-946F-46218184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4FDC3-BFD0-4A27-9020-9EAEFAB7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C4942-F500-4554-BA79-B60F6817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2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이번 주차의 성과는 “추천 성능”이 아니라, 추천을 학습·검증할 데이터 구조를 만든 것입니다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EE686-69AC-456A-B821-856E3938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후보군·피처·제외 규칙은 재현 가능하지만, 개인의 실제 선택을 예측했다는 주장은 아직 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E3FB4-2747-43B9-BDE2-03977F2E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00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0F7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6E96F-A528-464B-A1E9-0B15D93B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현재 말할 수 있는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02607-4D50-4FCD-82CF-2E00F41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786개 후보의 목적별 피처와 점수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면적·점포 수 쏠림을 줄인 순위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상권 내부와 보행권 시설의 분리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제외 사유·매출 추정 여부·추천 근거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DFD63-7F88-4E18-A9D0-0426963C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0006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DEB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584D1-E22B-450E-B50A-0C5F2F3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아직 말하지 않는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07234-B9AF-4E5C-894C-FC3D048A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908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개인별 “선택 확률”의 정확도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실제 사용자 만족도·클릭 성과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B078/B079 원본 기반 이동–소비 전환</a:t>
            </a:r>
          </a:p>
          <a:p xmlns:a="http://schemas.openxmlformats.org/drawingml/2006/main">
            <a:pPr>
              <a:def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• 2026년 POI로 2025년 과거 성과 설명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D4E1A-BB7B-4DE7-8328-798082F2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핵심: 지금은 “그럴듯한 답”이 아니라, 어떤 근거로 순위가 나왔는지 추적 가능한 추천 기준선을 만드는 단계입니다.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B47F2-A9EB-424E-B47F-82E66036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CC0B8-F8C4-49BC-B198-67E16734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PROJECT PROGRESS</a:t>
            </a:r>
          </a:p>
        </p:txBody>
      </p:sp>
    </p:spTree>
    <p:extLst>
      <p:ext uri="{BB962C8B-B14F-4D97-AF65-F5344CB8AC3E}">
        <p14:creationId xmlns:p14="http://schemas.microsoft.com/office/powerpoint/2010/main" val="17049982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40ED61-EF96-48FB-8387-83280F5D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FE114-2C2D-472B-9B9A-F1355FB7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NEXT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496EE-DD48-48BE-9A21-F42A3A19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MAXIMUS · DAT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71578-0524-4D11-8F81-B7FD987F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A66A8-3BF5-476E-A87D-63553AD1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다음 단계는 더 많은 장소를 넣는 것이 아니라, 기준선이 실제 선택과 맞는지 검증하는 일입니다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9230A-CB92-432B-B289-D348D1B6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10월 중간발표 전에는 목적별 하위분류·보행경로·공개 이동데이터 기반의 검증 단위를 고정합니다.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691B9-C485-43CA-92C8-FC8B0C22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7310F-1DCE-4AD2-8EA3-0AB5F6BE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4F810F-7A86-4F6C-871B-44B126AA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하위분류 고정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007FE-D95D-475E-9702-65D69FA5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식사·쇼핑·카페·공부·여가문화별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포함/제외 업종과 근거를 확정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5DCC7-BDD3-4A8F-AA9E-D3EE493C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0A3A0-FBCE-4720-8732-FE5A5138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B9736-81C3-40BA-9E03-5AF60A5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보행경로 적용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3F3B1-C100-4B94-B1D9-E73DCE1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직선거리 대신 카카오 도보 경로로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400m 도보권 규칙을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4B9EC-2760-4FAB-BA37-578E1159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F7256-FAC2-4388-8624-B4571332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48ABC-49FE-4B89-A5A9-C4EA1802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공개 이동데이터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9E80A-7275-45EF-BA18-9E52D3AE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행정동·시간대 생활이동 공개본으로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후보 접근성과 목적 신호를 교차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95A6D-ABF6-4999-9D87-DCB55621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24125"/>
            <a:ext cx="2362200" cy="2428875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08DAF-3693-4670-9DE7-CB34AA0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C44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367DD6-3FF2-4CFA-9E95-C929E94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1A3D"/>
                </a:solidFill>
                <a:latin typeface="Helvetica Neue"/>
                <a:ea typeface="Helvetica Neue"/>
                <a:cs typeface="Helvetica Neue"/>
              </a:rPr>
              <a:t>설명 카드·평가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E52CA-583D-48A9-A42E-E57CF12C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188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추천 이유 카드와 고신뢰 표기를</a:t>
            </a:r>
          </a:p>
          <a:p xmlns:a="http://schemas.openxmlformats.org/drawingml/2006/main">
            <a:pPr>
              <a:def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확정하고 사용자 평가 설계를 시작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4C1D6D-277E-4A44-AFDA-B71A183C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0744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A3D"/>
          </a:solidFill>
          <a:ln xmlns:a="http://schemas.openxmlformats.org/drawingml/2006/main" w="0">
            <a:solidFill>
              <a:srgbClr val="071A3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65AEB-BC5E-4017-829F-CC4E315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1023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목표  |  접근 가능한 786개 상권에 대해, 목적별 순위와 그 이유를 같은 기준으로 설명하는 추천 기준선 v1 완성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307DD1-3D0E-49E1-ADA6-98BAD77B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60EF2-A807-47BB-8FD2-D8180B7E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2708A"/>
                </a:solidFill>
                <a:latin typeface="Helvetica Neue"/>
                <a:ea typeface="Helvetica Neue"/>
                <a:cs typeface="Helvetica Neue"/>
              </a:rPr>
              <a:t>TEAM MAXIMUS · THANK YOU</a:t>
            </a:r>
          </a:p>
        </p:txBody>
      </p:sp>
    </p:spTree>
    <p:extLst>
      <p:ext uri="{BB962C8B-B14F-4D97-AF65-F5344CB8AC3E}">
        <p14:creationId xmlns:p14="http://schemas.microsoft.com/office/powerpoint/2010/main" val="399481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2026-09-30T00:29:09.1930000Z</dcterms:created>
  <dcterms:modified xsi:type="dcterms:W3CDTF">2026-09-30T00:29:09.1930000Z</dcterms:modified>
</coreProperties>
</file>