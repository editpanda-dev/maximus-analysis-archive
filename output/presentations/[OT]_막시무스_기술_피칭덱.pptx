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a8767fa0d2435b" /><Relationship Type="http://schemas.openxmlformats.org/officeDocument/2006/relationships/extended-properties" Target="/docProps/app.xml" Id="R0d576c47662742a7" /><Relationship Type="http://schemas.openxmlformats.org/officeDocument/2006/relationships/officeDocument" Target="/ppt/presentation.xml" Id="R92097a6fdbcc4b6b" /></Relationships>
</file>

<file path=ppt/presentation.xml><?xml version="1.0" encoding="utf-8"?>
<p:presentation xmlns:p="http://schemas.openxmlformats.org/presentationml/2006/main">
  <p:sldMasterIdLst>
    <p:sldMasterId xmlns:r="http://schemas.openxmlformats.org/officeDocument/2006/relationships" id="2147483648" r:id="Rc8e0ff9518ac4063"/>
  </p:sldMasterIdLst>
  <p:notesMasterIdLst>
    <p:notesMasterId xmlns:r="http://schemas.openxmlformats.org/officeDocument/2006/relationships" r:id="R91e18fdcc649497b"/>
  </p:notesMasterIdLst>
  <p:sldIdLst>
    <p:sldId xmlns:r="http://schemas.openxmlformats.org/officeDocument/2006/relationships" id="256" r:id="R78e6d809aff34898"/>
    <p:sldId xmlns:r="http://schemas.openxmlformats.org/officeDocument/2006/relationships" id="257" r:id="R1f9f22ffaa474f56"/>
    <p:sldId xmlns:r="http://schemas.openxmlformats.org/officeDocument/2006/relationships" id="258" r:id="R8515c0ea6b95456b"/>
    <p:sldId xmlns:r="http://schemas.openxmlformats.org/officeDocument/2006/relationships" id="259" r:id="R3a6baef6f0ca42a8"/>
    <p:sldId xmlns:r="http://schemas.openxmlformats.org/officeDocument/2006/relationships" id="260" r:id="R8edced3d27d1495d"/>
    <p:sldId xmlns:r="http://schemas.openxmlformats.org/officeDocument/2006/relationships" id="261" r:id="R3f5a67130fd3411c"/>
    <p:sldId xmlns:r="http://schemas.openxmlformats.org/officeDocument/2006/relationships" id="262" r:id="Rc6d70c209b774c1c"/>
    <p:sldId xmlns:r="http://schemas.openxmlformats.org/officeDocument/2006/relationships" id="263" r:id="R5d723c08febc47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0522e047d949cb" /><Relationship Type="http://schemas.openxmlformats.org/officeDocument/2006/relationships/slideMaster" Target="/ppt/slideMasters/slideMaster1.xml" Id="Rc8e0ff9518ac4063" /><Relationship Type="http://schemas.openxmlformats.org/officeDocument/2006/relationships/notesMaster" Target="/ppt/notesMasters/notesMaster1.xml" Id="R91e18fdcc649497b" /><Relationship Type="http://schemas.openxmlformats.org/officeDocument/2006/relationships/presProps" Target="/ppt/presProps.xml" Id="R018b9341215f430d" /><Relationship Type="http://schemas.openxmlformats.org/officeDocument/2006/relationships/tableStyles" Target="/ppt/tableStyles.xml" Id="Rdec9a60ce20441d8" /><Relationship Type="http://schemas.openxmlformats.org/officeDocument/2006/relationships/slide" Target="/ppt/slides/slide1.xml" Id="R78e6d809aff34898" /><Relationship Type="http://schemas.openxmlformats.org/officeDocument/2006/relationships/slide" Target="/ppt/slides/slide2.xml" Id="R1f9f22ffaa474f56" /><Relationship Type="http://schemas.openxmlformats.org/officeDocument/2006/relationships/slide" Target="/ppt/slides/slide3.xml" Id="R8515c0ea6b95456b" /><Relationship Type="http://schemas.openxmlformats.org/officeDocument/2006/relationships/slide" Target="/ppt/slides/slide4.xml" Id="R3a6baef6f0ca42a8" /><Relationship Type="http://schemas.openxmlformats.org/officeDocument/2006/relationships/slide" Target="/ppt/slides/slide5.xml" Id="R8edced3d27d1495d" /><Relationship Type="http://schemas.openxmlformats.org/officeDocument/2006/relationships/slide" Target="/ppt/slides/slide6.xml" Id="R3f5a67130fd3411c" /><Relationship Type="http://schemas.openxmlformats.org/officeDocument/2006/relationships/slide" Target="/ppt/slides/slide7.xml" Id="Rc6d70c209b774c1c" /><Relationship Type="http://schemas.openxmlformats.org/officeDocument/2006/relationships/slide" Target="/ppt/slides/slide8.xml" Id="R5d723c08febc47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71a0825f454f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2a20aa62d64023" /><Relationship Type="http://schemas.openxmlformats.org/officeDocument/2006/relationships/notesMaster" Target="/ppt/notesMasters/notesMaster1.xml" Id="Rad2028f973a246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af241a8ff94e02" /><Relationship Type="http://schemas.openxmlformats.org/officeDocument/2006/relationships/notesMaster" Target="/ppt/notesMasters/notesMaster1.xml" Id="Re59c7db7460647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093b6d04cf4efc" /><Relationship Type="http://schemas.openxmlformats.org/officeDocument/2006/relationships/notesMaster" Target="/ppt/notesMasters/notesMaster1.xml" Id="R5d42997e5a7140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e6d33780fe4724" /><Relationship Type="http://schemas.openxmlformats.org/officeDocument/2006/relationships/notesMaster" Target="/ppt/notesMasters/notesMaster1.xml" Id="Reaa025d649b845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c3104c65484d89" /><Relationship Type="http://schemas.openxmlformats.org/officeDocument/2006/relationships/notesMaster" Target="/ppt/notesMasters/notesMaster1.xml" Id="Rae428dccc34448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b78a7d7a074df5" /><Relationship Type="http://schemas.openxmlformats.org/officeDocument/2006/relationships/notesMaster" Target="/ppt/notesMasters/notesMaster1.xml" Id="R3fdcd18f6eaf4f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b19e93419342ef" /><Relationship Type="http://schemas.openxmlformats.org/officeDocument/2006/relationships/notesMaster" Target="/ppt/notesMasters/notesMaster1.xml" Id="Rcbb5dca8059a4d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79fa81e0a5437f" /><Relationship Type="http://schemas.openxmlformats.org/officeDocument/2006/relationships/notesMaster" Target="/ppt/notesMasters/notesMaster1.xml" Id="R3b09ee3e05c04e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질문은 단순합니다. 사람이 많은 지역이면 정말 좋은 상권일까요? 저희는 동대문구에서 50분 안에 갈 수 있는 지역 가운데, 방문과 소비의 차이를 데이터로 설명하고 목적별로 추천하려고 합니다.</a:t>
            </a:r>
          </a:p>
          <a:p xmlns:a="http://schemas.openxmlformats.org/drawingml/2006/main">
            <a:r>
              <a:t/>
            </a:r>
          </a:p>
          <a:p xmlns:a="http://schemas.openxmlformats.org/drawingml/2006/main">
            <a:r>
              <a:t>[Sources]</a:t>
            </a:r>
          </a:p>
          <a:p xmlns:a="http://schemas.openxmlformats.org/drawingml/2006/main">
            <a:r>
              <a:t>- Team Maximus Week 3 final report, 2026-08-24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저희의 분석 대상은 단순히 유동이 많은 지역이 아닙니다. 유동과 매출의 일반적인 관계를 먼저 학습하고, 그 관계에서 지속적으로 벗어나는 지역을 찾습니다. 양의 잔차는 목적소비형, 음의 잔차는 통과형 가능성을 의미합니다.</a:t>
            </a:r>
          </a:p>
          <a:p xmlns:a="http://schemas.openxmlformats.org/drawingml/2006/main">
            <a:r>
              <a:t/>
            </a:r>
          </a:p>
          <a:p xmlns:a="http://schemas.openxmlformats.org/drawingml/2006/main">
            <a:r>
              <a:t>[Sources]</a:t>
            </a:r>
          </a:p>
          <a:p xmlns:a="http://schemas.openxmlformats.org/drawingml/2006/main">
            <a:r>
              <a:t>- Team-provided 423-dong EDA summary</a:t>
            </a:r>
          </a:p>
          <a:p xmlns:a="http://schemas.openxmlformats.org/drawingml/2006/main">
            <a:r>
              <a:t>- Week 3 final report section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B078은 이동, B079는 소비 결과, 상권·POI는 목적지 속성, 카카오 API는 실제 대중교통 접근성을 담당합니다. 네 자료는 동일 개인을 추적하는 방식이 아니라 공통 기간과 행정동, 집단 수준의 특징으로 맞춥니다.</a:t>
            </a:r>
          </a:p>
          <a:p xmlns:a="http://schemas.openxmlformats.org/drawingml/2006/main">
            <a:r>
              <a:t/>
            </a:r>
          </a:p>
          <a:p xmlns:a="http://schemas.openxmlformats.org/drawingml/2006/main">
            <a:r>
              <a:t>[Sources]</a:t>
            </a:r>
          </a:p>
          <a:p xmlns:a="http://schemas.openxmlformats.org/drawingml/2006/main">
            <a:r>
              <a:t>- B078_PURPOSE_250M_202403_sample.csv</a:t>
            </a:r>
          </a:p>
          <a:p xmlns:a="http://schemas.openxmlformats.org/drawingml/2006/main">
            <a:r>
              <a:t>- B079_personal_card_inflow_dong_sample.csv</a:t>
            </a:r>
          </a:p>
          <a:p xmlns:a="http://schemas.openxmlformats.org/drawingml/2006/main">
            <a:r>
              <a:t>- Week 3 final report sections 1.1 and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EDA에서 유동과 매출의 상관은 0.555였습니다. 반면 점포 수와 업종 집적, 음식지출은 0.9 안팎이었습니다. 이 수치가 곧 인과관계를 뜻하지는 않지만, 유동 하나로 추천하면 환승·통과 지역을 과대평가할 수 있다는 출발점은 분명합니다.</a:t>
            </a:r>
          </a:p>
          <a:p xmlns:a="http://schemas.openxmlformats.org/drawingml/2006/main">
            <a:r>
              <a:t/>
            </a:r>
          </a:p>
          <a:p xmlns:a="http://schemas.openxmlformats.org/drawingml/2006/main">
            <a:r>
              <a:t>[Sources]</a:t>
            </a:r>
          </a:p>
          <a:p xmlns:a="http://schemas.openxmlformats.org/drawingml/2006/main">
            <a:r>
              <a:t>- Team-provided 423-dong EDA: Spearman 0.555, 0.899, 0.904, 0.911</a:t>
            </a:r>
          </a:p>
          <a:p xmlns:a="http://schemas.openxmlformats.org/drawingml/2006/main">
            <a:r>
              <a:t>- Week 3 final report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선형관계 지역을 먼저 빼지 않습니다. 전체 지역으로 기대매출을 학습한 뒤, 잔차가 작으면 일반형으로 두고 잔차가 반복되는 지역만 원인을 분석합니다. GAM은 포화와 곡률을, 트리 모델은 복잡한 상호작용을 포착하며 SHAP으로 설명합니다.</a:t>
            </a:r>
          </a:p>
          <a:p xmlns:a="http://schemas.openxmlformats.org/drawingml/2006/main">
            <a:r>
              <a:t/>
            </a:r>
          </a:p>
          <a:p xmlns:a="http://schemas.openxmlformats.org/drawingml/2006/main">
            <a:r>
              <a:t>[Sources]</a:t>
            </a:r>
          </a:p>
          <a:p xmlns:a="http://schemas.openxmlformats.org/drawingml/2006/main">
            <a:r>
              <a:t>- Week 3 final report section 2.1</a:t>
            </a:r>
          </a:p>
          <a:p xmlns:a="http://schemas.openxmlformats.org/drawingml/2006/main">
            <a:r>
              <a:t>- Local EDA methodology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B078과 B079를 같은 사람의 기록처럼 붙이지 않습니다. 대신 특정 행정동에 어떤 목적과 연령, 시간대의 유입이 있었는지와 어떤 업종에서 소비가 발생했는지를 집단 수준에서 비교해 목적 벡터를 만듭니다.</a:t>
            </a:r>
          </a:p>
          <a:p xmlns:a="http://schemas.openxmlformats.org/drawingml/2006/main">
            <a:r>
              <a:t/>
            </a:r>
          </a:p>
          <a:p xmlns:a="http://schemas.openxmlformats.org/drawingml/2006/main">
            <a:r>
              <a:t>[Sources]</a:t>
            </a:r>
          </a:p>
          <a:p xmlns:a="http://schemas.openxmlformats.org/drawingml/2006/main">
            <a:r>
              <a:t>- B078 and B079 sample schemas</a:t>
            </a:r>
          </a:p>
          <a:p xmlns:a="http://schemas.openxmlformats.org/drawingml/2006/main">
            <a:r>
              <a:t>- Week 3 final report sections 1.1,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R0는 데이터가 적어도 작동하는 베이스라인입니다. X1은 실제 이동과 소비 결과로 가중치를 교정하고 SHAP으로 근거를 제시합니다. P2에서는 KoRoBERTa나 Sentence-BERT로 추천 상권 안의 점포 텍스트를 사용자 요구와 비교해 재정렬합니다.</a:t>
            </a:r>
          </a:p>
          <a:p xmlns:a="http://schemas.openxmlformats.org/drawingml/2006/main">
            <a:r>
              <a:t/>
            </a:r>
          </a:p>
          <a:p xmlns:a="http://schemas.openxmlformats.org/drawingml/2006/main">
            <a:r>
              <a:t>[Sources]</a:t>
            </a:r>
          </a:p>
          <a:p xmlns:a="http://schemas.openxmlformats.org/drawingml/2006/main">
            <a:r>
              <a:t>- Week 3 final report sections 2.3 and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학기 안에 반드시 완성할 결과물은 설명 가능한 상권 추천모델입니다. 정식 데이터 확보, 50분 후보군, 괴리모형, 목적별 순위와 검증까지가 핵심 범위입니다. 마지막에는 사람이 많은 곳이 아니라 목적 있게 선택되는 곳을 추천하는 모델로 답을 내리겠습니다.</a:t>
            </a:r>
          </a:p>
          <a:p xmlns:a="http://schemas.openxmlformats.org/drawingml/2006/main">
            <a:r>
              <a:t/>
            </a:r>
          </a:p>
          <a:p xmlns:a="http://schemas.openxmlformats.org/drawingml/2006/main">
            <a:r>
              <a:t>[Sources]</a:t>
            </a:r>
          </a:p>
          <a:p xmlns:a="http://schemas.openxmlformats.org/drawingml/2006/main">
            <a:r>
              <a:t>- Week 3 final report section 4</a:t>
            </a:r>
          </a:p>
          <a:p xmlns:a="http://schemas.openxmlformats.org/drawingml/2006/main">
            <a:r>
              <a:t>- Local project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83ce61233940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b7b26d53334f3a" /><Relationship Type="http://schemas.openxmlformats.org/officeDocument/2006/relationships/slideLayout" Target="/ppt/slideLayouts/slideLayout1.xml" Id="R2b34b8f4db0b4f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34b8f4db0b4f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437f71fd774b1f" /><Relationship Type="http://schemas.openxmlformats.org/officeDocument/2006/relationships/notesSlide" Target="/ppt/notesSlides/notesSlide1.xml" Id="Rab9d4ac60e2a49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bda9316f9f41b4" /><Relationship Type="http://schemas.openxmlformats.org/officeDocument/2006/relationships/notesSlide" Target="/ppt/notesSlides/notesSlide2.xml" Id="R31e87b57743c40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dbcfb968524a38" /><Relationship Type="http://schemas.openxmlformats.org/officeDocument/2006/relationships/notesSlide" Target="/ppt/notesSlides/notesSlide3.xml" Id="R9b5d4d921e0b42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eec3afa9044fa1" /><Relationship Type="http://schemas.openxmlformats.org/officeDocument/2006/relationships/chart" Target="/ppt/slides/charts/chart1.xml" Id="Rbe6c99d0e5c44360" /><Relationship Type="http://schemas.openxmlformats.org/officeDocument/2006/relationships/notesSlide" Target="/ppt/notesSlides/notesSlide4.xml" Id="R74655c7fd69c46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76a12f073e4886" /><Relationship Type="http://schemas.openxmlformats.org/officeDocument/2006/relationships/notesSlide" Target="/ppt/notesSlides/notesSlide5.xml" Id="Re20ab496ec5940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2ef524304b49d0" /><Relationship Type="http://schemas.openxmlformats.org/officeDocument/2006/relationships/notesSlide" Target="/ppt/notesSlides/notesSlide6.xml" Id="R256cad52ef9c43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95495ad6fa417c" /><Relationship Type="http://schemas.openxmlformats.org/officeDocument/2006/relationships/notesSlide" Target="/ppt/notesSlides/notesSlide7.xml" Id="R32c6987755c249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d900a378b64217" /><Relationship Type="http://schemas.openxmlformats.org/officeDocument/2006/relationships/notesSlide" Target="/ppt/notesSlides/notesSlide8.xml" Id="R6c41dfef517747a1" /></Relationships>
</file>

<file path=ppt/slides/charts/chart1.xml><?xml version="1.0" encoding="utf-8"?>
<c:chartSpace xmlns:c="http://schemas.openxmlformats.org/drawingml/2006/chart">
  <c:lang val="en-US"/>
  <c:chart>
    <c:plotArea>
      <c:barChart>
        <c:barDir val="bar"/>
        <c:grouping val="clustered"/>
        <c:varyColors val="0"/>
        <c:ser>
          <c:idx val="0"/>
          <c:order val="0"/>
          <c:tx>
            <c:v>매출과의 상관</c:v>
          </c:tx>
          <c:spPr>
            <a:solidFill xmlns:a="http://schemas.openxmlformats.org/drawingml/2006/main">
              <a:srgbClr val="FEE500"/>
            </a:solidFill>
          </c:spPr>
          <c:dPt>
            <c:idx val="0"/>
            <c:invertIfNegative val="0"/>
            <c:spPr>
              <a:solidFill xmlns:a="http://schemas.openxmlformats.org/drawingml/2006/main">
                <a:srgbClr val="68635F"/>
              </a:solidFill>
            </c:spPr>
          </c:dPt>
          <c:dPt>
            <c:idx val="1"/>
            <c:invertIfNegative val="0"/>
            <c:spPr>
              <a:solidFill xmlns:a="http://schemas.openxmlformats.org/drawingml/2006/main">
                <a:srgbClr val="FEE500"/>
              </a:solidFill>
            </c:spPr>
          </c:dPt>
          <c:dPt>
            <c:idx val="2"/>
            <c:invertIfNegative val="0"/>
            <c:spPr>
              <a:solidFill xmlns:a="http://schemas.openxmlformats.org/drawingml/2006/main">
                <a:srgbClr val="FEE500"/>
              </a:solidFill>
            </c:spPr>
          </c:dPt>
          <c:dPt>
            <c:idx val="3"/>
            <c:invertIfNegative val="0"/>
            <c:spPr>
              <a:solidFill xmlns:a="http://schemas.openxmlformats.org/drawingml/2006/main">
                <a:srgbClr val="FEE500"/>
              </a:solidFill>
            </c:spPr>
          </c:dPt>
          <c:cat>
            <c:strLit>
              <c:ptCount val="4"/>
              <c:pt idx="0">
                <c:v>유동인구</c:v>
              </c:pt>
              <c:pt idx="1">
                <c:v>점포 수</c:v>
              </c:pt>
              <c:pt idx="2">
                <c:v>유사업종 점포</c:v>
              </c:pt>
              <c:pt idx="3">
                <c:v>음식지출</c:v>
              </c:pt>
            </c:strLit>
          </c:cat>
          <c:val>
            <c:numLit>
              <c:formatCode>0.000</c:formatCode>
              <c:ptCount val="4"/>
              <c:pt idx="0">
                <c:v>0.555</c:v>
              </c:pt>
              <c:pt idx="1">
                <c:v>0.899</c:v>
              </c:pt>
              <c:pt idx="2">
                <c:v>0.904</c:v>
              </c:pt>
              <c:pt idx="3">
                <c:v>0.911</c:v>
              </c:pt>
            </c:numLit>
          </c:val>
        </c:ser>
        <c:dLbls>
          <c:txPr>
            <a:bodyPr xmlns:a="http://schemas.openxmlformats.org/drawingml/2006/main" anchorCtr="1"/>
            <a:lstStyle xmlns:a="http://schemas.openxmlformats.org/drawingml/2006/main"/>
            <a:p xmlns:a="http://schemas.openxmlformats.org/drawingml/2006/main">
              <a:pPr>
                <a:defRPr sz="1350" b="1">
                  <a:solidFill>
                    <a:srgbClr val="191919"/>
                  </a:solidFil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D8D2C7"/>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8635F"/>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8D2C7"/>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1919"/>
                </a:solidFill>
              </a:defRPr>
            </a:pPr>
          </a:p>
        </c:txPr>
        <c:crossAx val="48650112"/>
        <c:crossBetween val="between"/>
      </c:valAx>
      <c:spPr>
        <a:solidFill xmlns:a="http://schemas.openxmlformats.org/drawingml/2006/main">
          <a:srgbClr val="FFFEF7"/>
        </a:solidFill>
      </c:spPr>
    </c:plotArea>
    <c:plotVisOnly val="1"/>
  </c:chart>
  <c:spPr>
    <a:solidFill xmlns:a="http://schemas.openxmlformats.org/drawingml/2006/main">
      <a:srgbClr val="FFFEF7"/>
    </a:solidFill>
  </c:spPr>
</c:chartSpace>
</file>

<file path=ppt/slides/slide1.xml><?xml version="1.0" encoding="utf-8"?>
<p:sld xmlns:p="http://schemas.openxmlformats.org/presentationml/2006/main">
  <p:cSld>
    <p:bg>
      <p:bgPr>
        <a:solidFill xmlns:a="http://schemas.openxmlformats.org/drawingml/2006/main">
          <a:srgbClr val="FEE500"/>
        </a:solidFill>
      </p:bgPr>
    </p:bg>
    <p:spTree>
      <p:nvGrpSpPr>
        <p:cNvPr id="1" name=""/>
        <p:cNvGrpSpPr/>
        <p:nvPr/>
      </p:nvGrpSpPr>
      <p:grpSpPr>
        <a:xfrm xmlns:a="http://schemas.openxmlformats.org/drawingml/2006/main"/>
      </p:grpSpPr>
      <p:sp>
        <p:nvSpPr>
          <p:cNvPr id="8" name="team-name">
            <a:extLst xmlns:a="http://schemas.openxmlformats.org/drawingml/2006/main">
              <a:ext uri="{FF2B5EF4-FFF2-40B4-BE49-F238E27FC236}">
                <a16:creationId xmlns:a16="http://schemas.microsoft.com/office/drawing/2014/main" id="{BAAD579A-B8EC-4B1A-91B0-377125810880}"/>
              </a:ext>
            </a:extLst>
          </p:cNvPr>
          <p:cNvSpPr>
            <a:spLocks xmlns:a="http://schemas.openxmlformats.org/drawingml/2006/main" noGrp="1"/>
          </p:cNvSpPr>
          <p:nvPr/>
        </p:nvSpPr>
        <p:spPr>
          <a:xfrm xmlns:a="http://schemas.openxmlformats.org/drawingml/2006/main">
            <a:off x="685800" y="552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91919"/>
                </a:solidFill>
              </a:defRPr>
            </a:pPr>
            <a:r>
              <a:rPr sz="1200" b="1">
                <a:solidFill>
                  <a:srgbClr val="191919"/>
                </a:solidFill>
              </a:rPr>
              <a:t>TEAM MAXIMUS</a:t>
            </a:r>
          </a:p>
        </p:txBody>
      </p:sp>
      <p:sp>
        <p:nvSpPr>
          <p:cNvPr id="2" name="hero-title">
            <a:extLst xmlns:a="http://schemas.openxmlformats.org/drawingml/2006/main">
              <a:ext uri="{FF2B5EF4-FFF2-40B4-BE49-F238E27FC236}">
                <a16:creationId xmlns:a16="http://schemas.microsoft.com/office/drawing/2014/main" id="{FBAF1028-C46F-46DB-A8BD-37C2C80CD0C3}"/>
              </a:ext>
            </a:extLst>
          </p:cNvPr>
          <p:cNvSpPr>
            <a:spLocks xmlns:a="http://schemas.openxmlformats.org/drawingml/2006/main" noGrp="1"/>
          </p:cNvSpPr>
          <p:nvPr/>
        </p:nvSpPr>
        <p:spPr>
          <a:xfrm xmlns:a="http://schemas.openxmlformats.org/drawingml/2006/main">
            <a:off x="685800" y="1581150"/>
            <a:ext cx="7810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191919"/>
                </a:solidFill>
              </a:defRPr>
            </a:pPr>
            <a:r>
              <a:rPr sz="4350" b="1">
                <a:solidFill>
                  <a:srgbClr val="191919"/>
                </a:solidFill>
              </a:rPr>
              <a:t>사람은 많은데,</a:t>
            </a:r>
          </a:p>
          <a:p xmlns:a="http://schemas.openxmlformats.org/drawingml/2006/main">
            <a:pPr algn="l">
              <a:defRPr sz="4350" b="1">
                <a:solidFill>
                  <a:srgbClr val="191919"/>
                </a:solidFill>
              </a:defRPr>
            </a:pPr>
            <a:r>
              <a:rPr sz="4350" b="1">
                <a:solidFill>
                  <a:srgbClr val="191919"/>
                </a:solidFill>
              </a:rPr>
              <a:t>왜 매출은 다를까?</a:t>
            </a:r>
          </a:p>
        </p:txBody>
      </p:sp>
      <p:sp>
        <p:nvSpPr>
          <p:cNvPr id="3" name="hero-subtitle">
            <a:extLst xmlns:a="http://schemas.openxmlformats.org/drawingml/2006/main">
              <a:ext uri="{FF2B5EF4-FFF2-40B4-BE49-F238E27FC236}">
                <a16:creationId xmlns:a16="http://schemas.microsoft.com/office/drawing/2014/main" id="{463334AD-2F98-4536-8CAA-B86B995AA4B8}"/>
              </a:ext>
            </a:extLst>
          </p:cNvPr>
          <p:cNvSpPr>
            <a:spLocks xmlns:a="http://schemas.openxmlformats.org/drawingml/2006/main" noGrp="1"/>
          </p:cNvSpPr>
          <p:nvPr/>
        </p:nvSpPr>
        <p:spPr>
          <a:xfrm xmlns:a="http://schemas.openxmlformats.org/drawingml/2006/main">
            <a:off x="723900" y="3581400"/>
            <a:ext cx="619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2D2926"/>
                </a:solidFill>
              </a:defRPr>
            </a:pPr>
            <a:r>
              <a:rPr sz="2025" b="0">
                <a:solidFill>
                  <a:srgbClr val="2D2926"/>
                </a:solidFill>
              </a:rPr>
              <a:t>동대문구 출발 50분 생활권의</a:t>
            </a:r>
          </a:p>
          <a:p xmlns:a="http://schemas.openxmlformats.org/drawingml/2006/main">
            <a:pPr algn="l">
              <a:defRPr sz="2025" b="0">
                <a:solidFill>
                  <a:srgbClr val="2D2926"/>
                </a:solidFill>
              </a:defRPr>
            </a:pPr>
            <a:r>
              <a:rPr sz="2025" b="0">
                <a:solidFill>
                  <a:srgbClr val="2D2926"/>
                </a:solidFill>
              </a:rPr>
              <a:t>목적별 상권 추천 모델</a:t>
            </a:r>
          </a:p>
        </p:txBody>
      </p:sp>
      <p:sp>
        <p:nvSpPr>
          <p:cNvPr id="4" name="hero-square">
            <a:extLst xmlns:a="http://schemas.openxmlformats.org/drawingml/2006/main">
              <a:ext uri="{FF2B5EF4-FFF2-40B4-BE49-F238E27FC236}">
                <a16:creationId xmlns:a16="http://schemas.microsoft.com/office/drawing/2014/main" id="{0B9F0675-43E8-43B0-8FDA-52B31970B4A6}"/>
              </a:ext>
            </a:extLst>
          </p:cNvPr>
          <p:cNvSpPr>
            <a:spLocks xmlns:a="http://schemas.openxmlformats.org/drawingml/2006/main" noGrp="1"/>
          </p:cNvSpPr>
          <p:nvPr/>
        </p:nvSpPr>
        <p:spPr>
          <a:xfrm xmlns:a="http://schemas.openxmlformats.org/drawingml/2006/main">
            <a:off x="9048750" y="1295400"/>
            <a:ext cx="2000250" cy="2000250"/>
          </a:xfrm>
          <a:prstGeom xmlns:a="http://schemas.openxmlformats.org/drawingml/2006/main" prst="roundRect">
            <a:avLst>
              <a:gd name="adj" fmla="val 7619"/>
            </a:avLst>
          </a:prstGeom>
          <a:solidFill xmlns:a="http://schemas.openxmlformats.org/drawingml/2006/main">
            <a:srgbClr val="191919"/>
          </a:solidFill>
          <a:ln xmlns:a="http://schemas.openxmlformats.org/drawingml/2006/main" w="0">
            <a:noFill/>
            <a:prstDash val="solid"/>
          </a:ln>
        </p:spPr>
      </p:sp>
      <p:sp>
        <p:nvSpPr>
          <p:cNvPr id="5" name="hero-number">
            <a:extLst xmlns:a="http://schemas.openxmlformats.org/drawingml/2006/main">
              <a:ext uri="{FF2B5EF4-FFF2-40B4-BE49-F238E27FC236}">
                <a16:creationId xmlns:a16="http://schemas.microsoft.com/office/drawing/2014/main" id="{B9FB1C42-BBBB-4158-8CBC-38B66752196E}"/>
              </a:ext>
            </a:extLst>
          </p:cNvPr>
          <p:cNvSpPr>
            <a:spLocks xmlns:a="http://schemas.openxmlformats.org/drawingml/2006/main" noGrp="1"/>
          </p:cNvSpPr>
          <p:nvPr/>
        </p:nvSpPr>
        <p:spPr>
          <a:xfrm xmlns:a="http://schemas.openxmlformats.org/drawingml/2006/main">
            <a:off x="9048750" y="1524000"/>
            <a:ext cx="200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400" b="1">
                <a:solidFill>
                  <a:srgbClr val="FEE500"/>
                </a:solidFill>
              </a:defRPr>
            </a:pPr>
            <a:r>
              <a:rPr sz="5400" b="1">
                <a:solidFill>
                  <a:srgbClr val="FEE500"/>
                </a:solidFill>
              </a:rPr>
              <a:t>50</a:t>
            </a:r>
          </a:p>
        </p:txBody>
      </p:sp>
      <p:sp>
        <p:nvSpPr>
          <p:cNvPr id="6" name="hero-min">
            <a:extLst xmlns:a="http://schemas.openxmlformats.org/drawingml/2006/main">
              <a:ext uri="{FF2B5EF4-FFF2-40B4-BE49-F238E27FC236}">
                <a16:creationId xmlns:a16="http://schemas.microsoft.com/office/drawing/2014/main" id="{3D6DD3BC-8CC2-4FCE-BAC1-A1F240304526}"/>
              </a:ext>
            </a:extLst>
          </p:cNvPr>
          <p:cNvSpPr>
            <a:spLocks xmlns:a="http://schemas.openxmlformats.org/drawingml/2006/main" noGrp="1"/>
          </p:cNvSpPr>
          <p:nvPr/>
        </p:nvSpPr>
        <p:spPr>
          <a:xfrm xmlns:a="http://schemas.openxmlformats.org/drawingml/2006/main">
            <a:off x="9048750" y="23812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MIN</a:t>
            </a:r>
          </a:p>
        </p:txBody>
      </p:sp>
      <p:sp>
        <p:nvSpPr>
          <p:cNvPr id="7" name="members">
            <a:extLst xmlns:a="http://schemas.openxmlformats.org/drawingml/2006/main">
              <a:ext uri="{FF2B5EF4-FFF2-40B4-BE49-F238E27FC236}">
                <a16:creationId xmlns:a16="http://schemas.microsoft.com/office/drawing/2014/main" id="{F6D9D11C-2C4B-444F-8C3F-020E67D39732}"/>
              </a:ext>
            </a:extLst>
          </p:cNvPr>
          <p:cNvSpPr>
            <a:spLocks xmlns:a="http://schemas.openxmlformats.org/drawingml/2006/main" noGrp="1"/>
          </p:cNvSpPr>
          <p:nvPr/>
        </p:nvSpPr>
        <p:spPr>
          <a:xfrm xmlns:a="http://schemas.openxmlformats.org/drawingml/2006/main">
            <a:off x="723900" y="60198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91919"/>
                </a:solidFill>
              </a:defRPr>
            </a:pPr>
            <a:r>
              <a:rPr sz="1350" b="1">
                <a:solidFill>
                  <a:srgbClr val="191919"/>
                </a:solidFill>
              </a:rPr>
              <a:t>장한별 · 지우진 · 최시현</a:t>
            </a:r>
          </a:p>
        </p:txBody>
      </p:sp>
    </p:spTree>
    <p:extLst>
      <p:ext uri="{BB962C8B-B14F-4D97-AF65-F5344CB8AC3E}">
        <p14:creationId xmlns:p14="http://schemas.microsoft.com/office/powerpoint/2010/main" val="1970507172"/>
      </p:ext>
    </p:extLst>
  </p:cSld>
</p:sld>
</file>

<file path=ppt/slides/slide2.xml><?xml version="1.0" encoding="utf-8"?>
<p:sld xmlns:p="http://schemas.openxmlformats.org/presentationml/2006/main">
  <p:cSld>
    <p:bg>
      <p:bgPr>
        <a:solidFill xmlns:a="http://schemas.openxmlformats.org/drawingml/2006/main">
          <a:srgbClr val="FFFEF7"/>
        </a:solidFill>
      </p:bgPr>
    </p:bg>
    <p:spTree>
      <p:nvGrpSpPr>
        <p:cNvPr id="1" name=""/>
        <p:cNvGrpSpPr/>
        <p:nvPr/>
      </p:nvGrpSpPr>
      <p:grpSpPr>
        <a:xfrm xmlns:a="http://schemas.openxmlformats.org/drawingml/2006/main"/>
      </p:grpSpPr>
      <p:sp>
        <p:nvSpPr>
          <p:cNvPr id="15" name="page-2">
            <a:extLst xmlns:a="http://schemas.openxmlformats.org/drawingml/2006/main">
              <a:ext uri="{FF2B5EF4-FFF2-40B4-BE49-F238E27FC236}">
                <a16:creationId xmlns:a16="http://schemas.microsoft.com/office/drawing/2014/main" id="{C71A74C3-04E3-4038-B326-1CCAFB5E5899}"/>
              </a:ext>
            </a:extLst>
          </p:cNvPr>
          <p:cNvSpPr>
            <a:spLocks xmlns:a="http://schemas.openxmlformats.org/drawingml/2006/main" noGrp="1"/>
          </p:cNvSpPr>
          <p:nvPr/>
        </p:nvSpPr>
        <p:spPr>
          <a:xfrm xmlns:a="http://schemas.openxmlformats.org/drawingml/2006/main">
            <a:off x="609600" y="3619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8635F"/>
                </a:solidFill>
              </a:defRPr>
            </a:pPr>
            <a:r>
              <a:rPr sz="1125" b="1">
                <a:solidFill>
                  <a:srgbClr val="68635F"/>
                </a:solidFill>
              </a:rPr>
              <a:t>02</a:t>
            </a:r>
          </a:p>
        </p:txBody>
      </p:sp>
      <p:sp>
        <p:nvSpPr>
          <p:cNvPr id="2" name="title-2">
            <a:extLst xmlns:a="http://schemas.openxmlformats.org/drawingml/2006/main">
              <a:ext uri="{FF2B5EF4-FFF2-40B4-BE49-F238E27FC236}">
                <a16:creationId xmlns:a16="http://schemas.microsoft.com/office/drawing/2014/main" id="{344A293E-B1D1-4CD8-AB82-C71FF0A9C8FA}"/>
              </a:ext>
            </a:extLst>
          </p:cNvPr>
          <p:cNvSpPr>
            <a:spLocks xmlns:a="http://schemas.openxmlformats.org/drawingml/2006/main" noGrp="1"/>
          </p:cNvSpPr>
          <p:nvPr/>
        </p:nvSpPr>
        <p:spPr>
          <a:xfrm xmlns:a="http://schemas.openxmlformats.org/drawingml/2006/main">
            <a:off x="6096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91919"/>
                </a:solidFill>
              </a:defRPr>
            </a:pPr>
            <a:r>
              <a:rPr sz="2700" b="1">
                <a:solidFill>
                  <a:srgbClr val="191919"/>
                </a:solidFill>
              </a:rPr>
              <a:t>유동인구만으로는 ‘목적 있는 방문’을 설명할 수 없다</a:t>
            </a:r>
          </a:p>
        </p:txBody>
      </p:sp>
      <p:sp>
        <p:nvSpPr>
          <p:cNvPr id="3" name="yellow-rule-2">
            <a:extLst xmlns:a="http://schemas.openxmlformats.org/drawingml/2006/main">
              <a:ext uri="{FF2B5EF4-FFF2-40B4-BE49-F238E27FC236}">
                <a16:creationId xmlns:a16="http://schemas.microsoft.com/office/drawing/2014/main" id="{A4E3E8A3-CB89-4974-98E7-25903D5CAC71}"/>
              </a:ext>
            </a:extLst>
          </p:cNvPr>
          <p:cNvSpPr>
            <a:spLocks xmlns:a="http://schemas.openxmlformats.org/drawingml/2006/main" noGrp="1"/>
          </p:cNvSpPr>
          <p:nvPr/>
        </p:nvSpPr>
        <p:spPr>
          <a:xfrm xmlns:a="http://schemas.openxmlformats.org/drawingml/2006/main">
            <a:off x="11068050" y="371475"/>
            <a:ext cx="514350" cy="114300"/>
          </a:xfrm>
          <a:prstGeom xmlns:a="http://schemas.openxmlformats.org/drawingml/2006/main" prst="roundRect">
            <a:avLst>
              <a:gd name="adj" fmla="val 16667"/>
            </a:avLst>
          </a:prstGeom>
          <a:solidFill xmlns:a="http://schemas.openxmlformats.org/drawingml/2006/main">
            <a:srgbClr val="FEE500"/>
          </a:solidFill>
          <a:ln xmlns:a="http://schemas.openxmlformats.org/drawingml/2006/main" w="0">
            <a:noFill/>
            <a:prstDash val="solid"/>
          </a:ln>
        </p:spPr>
      </p:sp>
      <p:sp>
        <p:nvSpPr>
          <p:cNvPr id="4" name="flow-label">
            <a:extLst xmlns:a="http://schemas.openxmlformats.org/drawingml/2006/main">
              <a:ext uri="{FF2B5EF4-FFF2-40B4-BE49-F238E27FC236}">
                <a16:creationId xmlns:a16="http://schemas.microsoft.com/office/drawing/2014/main" id="{E843DC88-5066-400C-8600-42230799ED71}"/>
              </a:ext>
            </a:extLst>
          </p:cNvPr>
          <p:cNvSpPr>
            <a:spLocks xmlns:a="http://schemas.openxmlformats.org/drawingml/2006/main" noGrp="1"/>
          </p:cNvSpPr>
          <p:nvPr/>
        </p:nvSpPr>
        <p:spPr>
          <a:xfrm xmlns:a="http://schemas.openxmlformats.org/drawingml/2006/main">
            <a:off x="914400" y="219075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91919"/>
                </a:solidFill>
              </a:defRPr>
            </a:pPr>
            <a:r>
              <a:rPr sz="2250" b="1">
                <a:solidFill>
                  <a:srgbClr val="191919"/>
                </a:solidFill>
              </a:rPr>
              <a:t>유동인구</a:t>
            </a:r>
          </a:p>
        </p:txBody>
      </p:sp>
      <p:sp>
        <p:nvSpPr>
          <p:cNvPr id="5" name="sales-label">
            <a:extLst xmlns:a="http://schemas.openxmlformats.org/drawingml/2006/main">
              <a:ext uri="{FF2B5EF4-FFF2-40B4-BE49-F238E27FC236}">
                <a16:creationId xmlns:a16="http://schemas.microsoft.com/office/drawing/2014/main" id="{B08926A0-7BED-490D-982E-69E4EAA89650}"/>
              </a:ext>
            </a:extLst>
          </p:cNvPr>
          <p:cNvSpPr>
            <a:spLocks xmlns:a="http://schemas.openxmlformats.org/drawingml/2006/main" noGrp="1"/>
          </p:cNvSpPr>
          <p:nvPr/>
        </p:nvSpPr>
        <p:spPr>
          <a:xfrm xmlns:a="http://schemas.openxmlformats.org/drawingml/2006/main">
            <a:off x="8896350" y="219075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91919"/>
                </a:solidFill>
              </a:defRPr>
            </a:pPr>
            <a:r>
              <a:rPr sz="2250" b="1">
                <a:solidFill>
                  <a:srgbClr val="191919"/>
                </a:solidFill>
              </a:rPr>
              <a:t>카드매출</a:t>
            </a:r>
          </a:p>
        </p:txBody>
      </p:sp>
      <p:sp>
        <p:nvSpPr>
          <p:cNvPr id="6" name="flow-to-gap">
            <a:extLst xmlns:a="http://schemas.openxmlformats.org/drawingml/2006/main">
              <a:ext uri="{FF2B5EF4-FFF2-40B4-BE49-F238E27FC236}">
                <a16:creationId xmlns:a16="http://schemas.microsoft.com/office/drawing/2014/main" id="{4685FFA5-614D-4E72-A12B-52237C60EE90}"/>
              </a:ext>
            </a:extLst>
          </p:cNvPr>
          <p:cNvSpPr>
            <a:spLocks xmlns:a="http://schemas.openxmlformats.org/drawingml/2006/main" noGrp="1"/>
          </p:cNvSpPr>
          <p:nvPr/>
        </p:nvSpPr>
        <p:spPr>
          <a:xfrm xmlns:a="http://schemas.openxmlformats.org/drawingml/2006/main">
            <a:off x="3276600" y="2428875"/>
            <a:ext cx="2038350" cy="0"/>
          </a:xfrm>
          <a:prstGeom xmlns:a="http://schemas.openxmlformats.org/drawingml/2006/main" prst="line">
            <a:avLst/>
          </a:prstGeom>
          <a:noFill xmlns:a="http://schemas.openxmlformats.org/drawingml/2006/main"/>
          <a:ln xmlns:a="http://schemas.openxmlformats.org/drawingml/2006/main" w="47625">
            <a:solidFill>
              <a:srgbClr val="D8D2C7"/>
            </a:solidFill>
            <a:prstDash val="solid"/>
          </a:ln>
        </p:spPr>
      </p:sp>
      <p:sp>
        <p:nvSpPr>
          <p:cNvPr id="7" name="gap-to-sales">
            <a:extLst xmlns:a="http://schemas.openxmlformats.org/drawingml/2006/main">
              <a:ext uri="{FF2B5EF4-FFF2-40B4-BE49-F238E27FC236}">
                <a16:creationId xmlns:a16="http://schemas.microsoft.com/office/drawing/2014/main" id="{B3940CE3-BA85-4A5A-B073-5F828110431A}"/>
              </a:ext>
            </a:extLst>
          </p:cNvPr>
          <p:cNvSpPr>
            <a:spLocks xmlns:a="http://schemas.openxmlformats.org/drawingml/2006/main" noGrp="1"/>
          </p:cNvSpPr>
          <p:nvPr/>
        </p:nvSpPr>
        <p:spPr>
          <a:xfrm xmlns:a="http://schemas.openxmlformats.org/drawingml/2006/main">
            <a:off x="6877050" y="2428875"/>
            <a:ext cx="2000250" cy="0"/>
          </a:xfrm>
          <a:prstGeom xmlns:a="http://schemas.openxmlformats.org/drawingml/2006/main" prst="line">
            <a:avLst/>
          </a:prstGeom>
          <a:noFill xmlns:a="http://schemas.openxmlformats.org/drawingml/2006/main"/>
          <a:ln xmlns:a="http://schemas.openxmlformats.org/drawingml/2006/main" w="47625">
            <a:solidFill>
              <a:srgbClr val="D8D2C7"/>
            </a:solidFill>
            <a:prstDash val="solid"/>
          </a:ln>
        </p:spPr>
      </p:sp>
      <p:sp>
        <p:nvSpPr>
          <p:cNvPr id="8" name="gap-node">
            <a:extLst xmlns:a="http://schemas.openxmlformats.org/drawingml/2006/main">
              <a:ext uri="{FF2B5EF4-FFF2-40B4-BE49-F238E27FC236}">
                <a16:creationId xmlns:a16="http://schemas.microsoft.com/office/drawing/2014/main" id="{9763468D-F11F-462E-B537-6FCEC56029FE}"/>
              </a:ext>
            </a:extLst>
          </p:cNvPr>
          <p:cNvSpPr>
            <a:spLocks xmlns:a="http://schemas.openxmlformats.org/drawingml/2006/main" noGrp="1"/>
          </p:cNvSpPr>
          <p:nvPr/>
        </p:nvSpPr>
        <p:spPr>
          <a:xfrm xmlns:a="http://schemas.openxmlformats.org/drawingml/2006/main">
            <a:off x="4895850" y="1790700"/>
            <a:ext cx="2400300" cy="1257300"/>
          </a:xfrm>
          <a:prstGeom xmlns:a="http://schemas.openxmlformats.org/drawingml/2006/main" prst="roundRect">
            <a:avLst>
              <a:gd name="adj" fmla="val 12121"/>
            </a:avLst>
          </a:prstGeom>
          <a:solidFill xmlns:a="http://schemas.openxmlformats.org/drawingml/2006/main">
            <a:srgbClr val="FEE500"/>
          </a:solidFill>
          <a:ln xmlns:a="http://schemas.openxmlformats.org/drawingml/2006/main" w="0">
            <a:noFill/>
            <a:prstDash val="solid"/>
          </a:ln>
        </p:spPr>
      </p:sp>
      <p:sp>
        <p:nvSpPr>
          <p:cNvPr id="9" name="gap-label">
            <a:extLst xmlns:a="http://schemas.openxmlformats.org/drawingml/2006/main">
              <a:ext uri="{FF2B5EF4-FFF2-40B4-BE49-F238E27FC236}">
                <a16:creationId xmlns:a16="http://schemas.microsoft.com/office/drawing/2014/main" id="{9D0038C0-1420-40BC-883D-A4F813AF93B5}"/>
              </a:ext>
            </a:extLst>
          </p:cNvPr>
          <p:cNvSpPr>
            <a:spLocks xmlns:a="http://schemas.openxmlformats.org/drawingml/2006/main" noGrp="1"/>
          </p:cNvSpPr>
          <p:nvPr/>
        </p:nvSpPr>
        <p:spPr>
          <a:xfrm xmlns:a="http://schemas.openxmlformats.org/drawingml/2006/main">
            <a:off x="4895850" y="1924050"/>
            <a:ext cx="2400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450" b="1">
                <a:solidFill>
                  <a:srgbClr val="191919"/>
                </a:solidFill>
              </a:defRPr>
            </a:pPr>
            <a:r>
              <a:rPr sz="3450" b="1">
                <a:solidFill>
                  <a:srgbClr val="191919"/>
                </a:solidFill>
              </a:rPr>
              <a:t>괴리</a:t>
            </a:r>
          </a:p>
        </p:txBody>
      </p:sp>
      <p:sp>
        <p:nvSpPr>
          <p:cNvPr id="10" name="gap-question">
            <a:extLst xmlns:a="http://schemas.openxmlformats.org/drawingml/2006/main">
              <a:ext uri="{FF2B5EF4-FFF2-40B4-BE49-F238E27FC236}">
                <a16:creationId xmlns:a16="http://schemas.microsoft.com/office/drawing/2014/main" id="{94C2991F-C3B5-4FEF-BCDA-56B08B8522F3}"/>
              </a:ext>
            </a:extLst>
          </p:cNvPr>
          <p:cNvSpPr>
            <a:spLocks xmlns:a="http://schemas.openxmlformats.org/drawingml/2006/main" noGrp="1"/>
          </p:cNvSpPr>
          <p:nvPr/>
        </p:nvSpPr>
        <p:spPr>
          <a:xfrm xmlns:a="http://schemas.openxmlformats.org/drawingml/2006/main">
            <a:off x="4895850" y="252412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91919"/>
                </a:solidFill>
              </a:defRPr>
            </a:pPr>
            <a:r>
              <a:rPr sz="1275" b="0">
                <a:solidFill>
                  <a:srgbClr val="191919"/>
                </a:solidFill>
              </a:rPr>
              <a:t>왜 같이 움직이지 않는가?</a:t>
            </a:r>
          </a:p>
        </p:txBody>
      </p:sp>
      <p:sp>
        <p:nvSpPr>
          <p:cNvPr id="11" name="claim-band">
            <a:extLst xmlns:a="http://schemas.openxmlformats.org/drawingml/2006/main">
              <a:ext uri="{FF2B5EF4-FFF2-40B4-BE49-F238E27FC236}">
                <a16:creationId xmlns:a16="http://schemas.microsoft.com/office/drawing/2014/main" id="{3D570FB9-AFD5-4690-8047-15B0D4BA518A}"/>
              </a:ext>
            </a:extLst>
          </p:cNvPr>
          <p:cNvSpPr>
            <a:spLocks xmlns:a="http://schemas.openxmlformats.org/drawingml/2006/main" noGrp="1"/>
          </p:cNvSpPr>
          <p:nvPr/>
        </p:nvSpPr>
        <p:spPr>
          <a:xfrm xmlns:a="http://schemas.openxmlformats.org/drawingml/2006/main">
            <a:off x="952500" y="3905250"/>
            <a:ext cx="10287000" cy="1381125"/>
          </a:xfrm>
          <a:prstGeom xmlns:a="http://schemas.openxmlformats.org/drawingml/2006/main" prst="roundRect">
            <a:avLst>
              <a:gd name="adj" fmla="val 11034"/>
            </a:avLst>
          </a:prstGeom>
          <a:solidFill xmlns:a="http://schemas.openxmlformats.org/drawingml/2006/main">
            <a:srgbClr val="191919"/>
          </a:solidFill>
          <a:ln xmlns:a="http://schemas.openxmlformats.org/drawingml/2006/main" w="0">
            <a:noFill/>
            <a:prstDash val="solid"/>
          </a:ln>
        </p:spPr>
      </p:sp>
      <p:sp>
        <p:nvSpPr>
          <p:cNvPr id="12" name="core-claim">
            <a:extLst xmlns:a="http://schemas.openxmlformats.org/drawingml/2006/main">
              <a:ext uri="{FF2B5EF4-FFF2-40B4-BE49-F238E27FC236}">
                <a16:creationId xmlns:a16="http://schemas.microsoft.com/office/drawing/2014/main" id="{05916706-DC91-4B75-92AE-1FDC7ECFB3D7}"/>
              </a:ext>
            </a:extLst>
          </p:cNvPr>
          <p:cNvSpPr>
            <a:spLocks xmlns:a="http://schemas.openxmlformats.org/drawingml/2006/main" noGrp="1"/>
          </p:cNvSpPr>
          <p:nvPr/>
        </p:nvSpPr>
        <p:spPr>
          <a:xfrm xmlns:a="http://schemas.openxmlformats.org/drawingml/2006/main">
            <a:off x="1428750" y="4143375"/>
            <a:ext cx="933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FFFFFF"/>
                </a:solidFill>
              </a:defRPr>
            </a:pPr>
            <a:r>
              <a:rPr sz="2325" b="1">
                <a:solidFill>
                  <a:srgbClr val="FFFFFF"/>
                </a:solidFill>
              </a:rPr>
              <a:t>‘많이 지나가는 곳’과 ‘찾아가서 소비하는 곳’을 분리한다</a:t>
            </a:r>
          </a:p>
        </p:txBody>
      </p:sp>
      <p:sp>
        <p:nvSpPr>
          <p:cNvPr id="13" name="method-claim">
            <a:extLst xmlns:a="http://schemas.openxmlformats.org/drawingml/2006/main">
              <a:ext uri="{FF2B5EF4-FFF2-40B4-BE49-F238E27FC236}">
                <a16:creationId xmlns:a16="http://schemas.microsoft.com/office/drawing/2014/main" id="{FE3044D2-1224-4400-8AAC-BD86C5DA0684}"/>
              </a:ext>
            </a:extLst>
          </p:cNvPr>
          <p:cNvSpPr>
            <a:spLocks xmlns:a="http://schemas.openxmlformats.org/drawingml/2006/main" noGrp="1"/>
          </p:cNvSpPr>
          <p:nvPr/>
        </p:nvSpPr>
        <p:spPr>
          <a:xfrm xmlns:a="http://schemas.openxmlformats.org/drawingml/2006/main">
            <a:off x="1428750" y="47244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FEE500"/>
                </a:solidFill>
              </a:defRPr>
            </a:pPr>
            <a:r>
              <a:rPr sz="1350" b="0">
                <a:solidFill>
                  <a:srgbClr val="FEE500"/>
                </a:solidFill>
              </a:rPr>
              <a:t>선형에 가까운 지역을 삭제하지 않고, 기대매출 대비 잔차가 반복되는 행정동을 찾는다</a:t>
            </a:r>
          </a:p>
        </p:txBody>
      </p:sp>
      <p:sp>
        <p:nvSpPr>
          <p:cNvPr id="14" name="footer-2">
            <a:extLst xmlns:a="http://schemas.openxmlformats.org/drawingml/2006/main">
              <a:ext uri="{FF2B5EF4-FFF2-40B4-BE49-F238E27FC236}">
                <a16:creationId xmlns:a16="http://schemas.microsoft.com/office/drawing/2014/main" id="{6E66081C-7AEA-4070-BEFA-C60F9B2A40C0}"/>
              </a:ext>
            </a:extLst>
          </p:cNvPr>
          <p:cNvSpPr>
            <a:spLocks xmlns:a="http://schemas.openxmlformats.org/drawingml/2006/main" noGrp="1"/>
          </p:cNvSpPr>
          <p:nvPr/>
        </p:nvSpPr>
        <p:spPr>
          <a:xfrm xmlns:a="http://schemas.openxmlformats.org/drawingml/2006/main">
            <a:off x="609600" y="6477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635F"/>
                </a:solidFill>
              </a:defRPr>
            </a:pPr>
            <a:r>
              <a:rPr sz="825" b="1">
                <a:solidFill>
                  <a:srgbClr val="68635F"/>
                </a:solidFill>
              </a:rPr>
              <a:t>TEAM MAXIMUS · DAT</a:t>
            </a:r>
          </a:p>
        </p:txBody>
      </p:sp>
    </p:spTree>
    <p:extLst>
      <p:ext uri="{BB962C8B-B14F-4D97-AF65-F5344CB8AC3E}">
        <p14:creationId xmlns:p14="http://schemas.microsoft.com/office/powerpoint/2010/main" val="1411149750"/>
      </p:ext>
    </p:extLst>
  </p:cSld>
</p:sld>
</file>

<file path=ppt/slides/slide3.xml><?xml version="1.0" encoding="utf-8"?>
<p:sld xmlns:p="http://schemas.openxmlformats.org/presentationml/2006/main">
  <p:cSld>
    <p:bg>
      <p:bgPr>
        <a:solidFill xmlns:a="http://schemas.openxmlformats.org/drawingml/2006/main">
          <a:srgbClr val="FFFEF7"/>
        </a:solidFill>
      </p:bgPr>
    </p:bg>
    <p:spTree>
      <p:nvGrpSpPr>
        <p:cNvPr id="1" name=""/>
        <p:cNvGrpSpPr/>
        <p:nvPr/>
      </p:nvGrpSpPr>
      <p:grpSpPr>
        <a:xfrm xmlns:a="http://schemas.openxmlformats.org/drawingml/2006/main"/>
      </p:grpSpPr>
      <p:sp>
        <p:nvSpPr>
          <p:cNvPr id="26" name="page-3">
            <a:extLst xmlns:a="http://schemas.openxmlformats.org/drawingml/2006/main">
              <a:ext uri="{FF2B5EF4-FFF2-40B4-BE49-F238E27FC236}">
                <a16:creationId xmlns:a16="http://schemas.microsoft.com/office/drawing/2014/main" id="{4FF54861-D2FE-4882-97D8-45FA9CAF0060}"/>
              </a:ext>
            </a:extLst>
          </p:cNvPr>
          <p:cNvSpPr>
            <a:spLocks xmlns:a="http://schemas.openxmlformats.org/drawingml/2006/main" noGrp="1"/>
          </p:cNvSpPr>
          <p:nvPr/>
        </p:nvSpPr>
        <p:spPr>
          <a:xfrm xmlns:a="http://schemas.openxmlformats.org/drawingml/2006/main">
            <a:off x="609600" y="3619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8635F"/>
                </a:solidFill>
              </a:defRPr>
            </a:pPr>
            <a:r>
              <a:rPr sz="1125" b="1">
                <a:solidFill>
                  <a:srgbClr val="68635F"/>
                </a:solidFill>
              </a:rPr>
              <a:t>03</a:t>
            </a:r>
          </a:p>
        </p:txBody>
      </p:sp>
      <p:sp>
        <p:nvSpPr>
          <p:cNvPr id="2" name="title-3">
            <a:extLst xmlns:a="http://schemas.openxmlformats.org/drawingml/2006/main">
              <a:ext uri="{FF2B5EF4-FFF2-40B4-BE49-F238E27FC236}">
                <a16:creationId xmlns:a16="http://schemas.microsoft.com/office/drawing/2014/main" id="{6543240B-E15C-4667-8F0A-3873A142A24D}"/>
              </a:ext>
            </a:extLst>
          </p:cNvPr>
          <p:cNvSpPr>
            <a:spLocks xmlns:a="http://schemas.openxmlformats.org/drawingml/2006/main" noGrp="1"/>
          </p:cNvSpPr>
          <p:nvPr/>
        </p:nvSpPr>
        <p:spPr>
          <a:xfrm xmlns:a="http://schemas.openxmlformats.org/drawingml/2006/main">
            <a:off x="6096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91919"/>
                </a:solidFill>
              </a:defRPr>
            </a:pPr>
            <a:r>
              <a:rPr sz="2700" b="1">
                <a:solidFill>
                  <a:srgbClr val="191919"/>
                </a:solidFill>
              </a:rPr>
              <a:t>네 종류의 데이터를 같은 시공간 단위로 맞춘다</a:t>
            </a:r>
          </a:p>
        </p:txBody>
      </p:sp>
      <p:sp>
        <p:nvSpPr>
          <p:cNvPr id="3" name="subtitle-3">
            <a:extLst xmlns:a="http://schemas.openxmlformats.org/drawingml/2006/main">
              <a:ext uri="{FF2B5EF4-FFF2-40B4-BE49-F238E27FC236}">
                <a16:creationId xmlns:a16="http://schemas.microsoft.com/office/drawing/2014/main" id="{0B8B3CBE-3246-46BC-8072-081656794515}"/>
              </a:ext>
            </a:extLst>
          </p:cNvPr>
          <p:cNvSpPr>
            <a:spLocks xmlns:a="http://schemas.openxmlformats.org/drawingml/2006/main" noGrp="1"/>
          </p:cNvSpPr>
          <p:nvPr/>
        </p:nvSpPr>
        <p:spPr>
          <a:xfrm xmlns:a="http://schemas.openxmlformats.org/drawingml/2006/main">
            <a:off x="628650" y="12382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635F"/>
                </a:solidFill>
              </a:defRPr>
            </a:pPr>
            <a:r>
              <a:rPr sz="1350" b="0">
                <a:solidFill>
                  <a:srgbClr val="68635F"/>
                </a:solidFill>
              </a:rPr>
              <a:t>개인을 억지로 연결하지 않고 기간×행정동×집단 수준에서 결합</a:t>
            </a:r>
          </a:p>
        </p:txBody>
      </p:sp>
      <p:sp>
        <p:nvSpPr>
          <p:cNvPr id="4" name="yellow-rule-3">
            <a:extLst xmlns:a="http://schemas.openxmlformats.org/drawingml/2006/main">
              <a:ext uri="{FF2B5EF4-FFF2-40B4-BE49-F238E27FC236}">
                <a16:creationId xmlns:a16="http://schemas.microsoft.com/office/drawing/2014/main" id="{E8B403F1-7F97-4696-A36B-413AD0A5EE35}"/>
              </a:ext>
            </a:extLst>
          </p:cNvPr>
          <p:cNvSpPr>
            <a:spLocks xmlns:a="http://schemas.openxmlformats.org/drawingml/2006/main" noGrp="1"/>
          </p:cNvSpPr>
          <p:nvPr/>
        </p:nvSpPr>
        <p:spPr>
          <a:xfrm xmlns:a="http://schemas.openxmlformats.org/drawingml/2006/main">
            <a:off x="11068050" y="371475"/>
            <a:ext cx="514350" cy="114300"/>
          </a:xfrm>
          <a:prstGeom xmlns:a="http://schemas.openxmlformats.org/drawingml/2006/main" prst="roundRect">
            <a:avLst>
              <a:gd name="adj" fmla="val 16667"/>
            </a:avLst>
          </a:prstGeom>
          <a:solidFill xmlns:a="http://schemas.openxmlformats.org/drawingml/2006/main">
            <a:srgbClr val="FEE500"/>
          </a:solidFill>
          <a:ln xmlns:a="http://schemas.openxmlformats.org/drawingml/2006/main" w="0">
            <a:noFill/>
            <a:prstDash val="solid"/>
          </a:ln>
        </p:spPr>
      </p:sp>
      <p:sp>
        <p:nvSpPr>
          <p:cNvPr id="5" name="c1">
            <a:extLst xmlns:a="http://schemas.openxmlformats.org/drawingml/2006/main">
              <a:ext uri="{FF2B5EF4-FFF2-40B4-BE49-F238E27FC236}">
                <a16:creationId xmlns:a16="http://schemas.microsoft.com/office/drawing/2014/main" id="{59E9B50D-9AFD-40F1-AAB2-EF9D151E5AEA}"/>
              </a:ext>
            </a:extLst>
          </p:cNvPr>
          <p:cNvSpPr>
            <a:spLocks xmlns:a="http://schemas.openxmlformats.org/drawingml/2006/main" noGrp="1"/>
          </p:cNvSpPr>
          <p:nvPr/>
        </p:nvSpPr>
        <p:spPr>
          <a:xfrm xmlns:a="http://schemas.openxmlformats.org/drawingml/2006/main">
            <a:off x="2667000" y="2857500"/>
            <a:ext cx="2190750" cy="0"/>
          </a:xfrm>
          <a:prstGeom xmlns:a="http://schemas.openxmlformats.org/drawingml/2006/main" prst="line">
            <a:avLst/>
          </a:prstGeom>
          <a:noFill xmlns:a="http://schemas.openxmlformats.org/drawingml/2006/main"/>
          <a:ln xmlns:a="http://schemas.openxmlformats.org/drawingml/2006/main" w="38100">
            <a:solidFill>
              <a:srgbClr val="D8D2C7"/>
            </a:solidFill>
            <a:prstDash val="solid"/>
          </a:ln>
        </p:spPr>
      </p:sp>
      <p:sp>
        <p:nvSpPr>
          <p:cNvPr id="6" name="c2">
            <a:extLst xmlns:a="http://schemas.openxmlformats.org/drawingml/2006/main">
              <a:ext uri="{FF2B5EF4-FFF2-40B4-BE49-F238E27FC236}">
                <a16:creationId xmlns:a16="http://schemas.microsoft.com/office/drawing/2014/main" id="{ACF6165C-717D-4CF8-8DE0-8321C871CA11}"/>
              </a:ext>
            </a:extLst>
          </p:cNvPr>
          <p:cNvSpPr>
            <a:spLocks xmlns:a="http://schemas.openxmlformats.org/drawingml/2006/main" noGrp="1"/>
          </p:cNvSpPr>
          <p:nvPr/>
        </p:nvSpPr>
        <p:spPr>
          <a:xfrm xmlns:a="http://schemas.openxmlformats.org/drawingml/2006/main">
            <a:off x="2667000" y="4000500"/>
            <a:ext cx="2190750" cy="523875"/>
          </a:xfrm>
          <a:prstGeom xmlns:a="http://schemas.openxmlformats.org/drawingml/2006/main" prst="line">
            <a:avLst/>
          </a:prstGeom>
          <a:noFill xmlns:a="http://schemas.openxmlformats.org/drawingml/2006/main"/>
          <a:ln xmlns:a="http://schemas.openxmlformats.org/drawingml/2006/main" w="38100">
            <a:solidFill>
              <a:srgbClr val="D8D2C7"/>
            </a:solidFill>
            <a:prstDash val="solid"/>
          </a:ln>
        </p:spPr>
      </p:sp>
      <p:sp>
        <p:nvSpPr>
          <p:cNvPr id="7" name="c3">
            <a:extLst xmlns:a="http://schemas.openxmlformats.org/drawingml/2006/main">
              <a:ext uri="{FF2B5EF4-FFF2-40B4-BE49-F238E27FC236}">
                <a16:creationId xmlns:a16="http://schemas.microsoft.com/office/drawing/2014/main" id="{D4700045-F25E-4F4D-90FF-26755C99B3FC}"/>
              </a:ext>
            </a:extLst>
          </p:cNvPr>
          <p:cNvSpPr>
            <a:spLocks xmlns:a="http://schemas.openxmlformats.org/drawingml/2006/main" noGrp="1"/>
          </p:cNvSpPr>
          <p:nvPr/>
        </p:nvSpPr>
        <p:spPr>
          <a:xfrm xmlns:a="http://schemas.openxmlformats.org/drawingml/2006/main">
            <a:off x="7334250" y="2857500"/>
            <a:ext cx="2190750" cy="0"/>
          </a:xfrm>
          <a:prstGeom xmlns:a="http://schemas.openxmlformats.org/drawingml/2006/main" prst="line">
            <a:avLst/>
          </a:prstGeom>
          <a:noFill xmlns:a="http://schemas.openxmlformats.org/drawingml/2006/main"/>
          <a:ln xmlns:a="http://schemas.openxmlformats.org/drawingml/2006/main" w="38100">
            <a:solidFill>
              <a:srgbClr val="D8D2C7"/>
            </a:solidFill>
            <a:prstDash val="solid"/>
          </a:ln>
        </p:spPr>
      </p:sp>
      <p:sp>
        <p:nvSpPr>
          <p:cNvPr id="8" name="c4">
            <a:extLst xmlns:a="http://schemas.openxmlformats.org/drawingml/2006/main">
              <a:ext uri="{FF2B5EF4-FFF2-40B4-BE49-F238E27FC236}">
                <a16:creationId xmlns:a16="http://schemas.microsoft.com/office/drawing/2014/main" id="{D54216C4-EF65-49E8-8FDB-6F708A4EA048}"/>
              </a:ext>
            </a:extLst>
          </p:cNvPr>
          <p:cNvSpPr>
            <a:spLocks xmlns:a="http://schemas.openxmlformats.org/drawingml/2006/main" noGrp="1"/>
          </p:cNvSpPr>
          <p:nvPr/>
        </p:nvSpPr>
        <p:spPr>
          <a:xfrm xmlns:a="http://schemas.openxmlformats.org/drawingml/2006/main">
            <a:off x="7334250" y="4000500"/>
            <a:ext cx="2190750" cy="523875"/>
          </a:xfrm>
          <a:prstGeom xmlns:a="http://schemas.openxmlformats.org/drawingml/2006/main" prst="line">
            <a:avLst/>
          </a:prstGeom>
          <a:noFill xmlns:a="http://schemas.openxmlformats.org/drawingml/2006/main"/>
          <a:ln xmlns:a="http://schemas.openxmlformats.org/drawingml/2006/main" w="38100">
            <a:solidFill>
              <a:srgbClr val="D8D2C7"/>
            </a:solidFill>
            <a:prstDash val="solid"/>
          </a:ln>
        </p:spPr>
      </p:sp>
      <p:sp>
        <p:nvSpPr>
          <p:cNvPr id="9" name="B078-node">
            <a:extLst xmlns:a="http://schemas.openxmlformats.org/drawingml/2006/main">
              <a:ext uri="{FF2B5EF4-FFF2-40B4-BE49-F238E27FC236}">
                <a16:creationId xmlns:a16="http://schemas.microsoft.com/office/drawing/2014/main" id="{74DA3B46-4767-4682-9F67-AA287EC8F93C}"/>
              </a:ext>
            </a:extLst>
          </p:cNvPr>
          <p:cNvSpPr>
            <a:spLocks xmlns:a="http://schemas.openxmlformats.org/drawingml/2006/main" noGrp="1"/>
          </p:cNvSpPr>
          <p:nvPr/>
        </p:nvSpPr>
        <p:spPr>
          <a:xfrm xmlns:a="http://schemas.openxmlformats.org/drawingml/2006/main">
            <a:off x="685800" y="2000250"/>
            <a:ext cx="2381250" cy="1200150"/>
          </a:xfrm>
          <a:prstGeom xmlns:a="http://schemas.openxmlformats.org/drawingml/2006/main" prst="roundRect">
            <a:avLst>
              <a:gd name="adj" fmla="val 12698"/>
            </a:avLst>
          </a:prstGeom>
          <a:solidFill xmlns:a="http://schemas.openxmlformats.org/drawingml/2006/main">
            <a:srgbClr val="FFF8C5"/>
          </a:solidFill>
          <a:ln xmlns:a="http://schemas.openxmlformats.org/drawingml/2006/main" w="9525">
            <a:solidFill>
              <a:srgbClr val="D8D2C7"/>
            </a:solidFill>
            <a:prstDash val="solid"/>
          </a:ln>
        </p:spPr>
      </p:sp>
      <p:sp>
        <p:nvSpPr>
          <p:cNvPr id="10" name="B078-head">
            <a:extLst xmlns:a="http://schemas.openxmlformats.org/drawingml/2006/main">
              <a:ext uri="{FF2B5EF4-FFF2-40B4-BE49-F238E27FC236}">
                <a16:creationId xmlns:a16="http://schemas.microsoft.com/office/drawing/2014/main" id="{20D6DA12-C0E8-4B1E-B28D-B0CC89B62549}"/>
              </a:ext>
            </a:extLst>
          </p:cNvPr>
          <p:cNvSpPr>
            <a:spLocks xmlns:a="http://schemas.openxmlformats.org/drawingml/2006/main" noGrp="1"/>
          </p:cNvSpPr>
          <p:nvPr/>
        </p:nvSpPr>
        <p:spPr>
          <a:xfrm xmlns:a="http://schemas.openxmlformats.org/drawingml/2006/main">
            <a:off x="857250" y="21526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91919"/>
                </a:solidFill>
              </a:defRPr>
            </a:pPr>
            <a:r>
              <a:rPr sz="1875" b="1">
                <a:solidFill>
                  <a:srgbClr val="191919"/>
                </a:solidFill>
              </a:rPr>
              <a:t>B078</a:t>
            </a:r>
          </a:p>
        </p:txBody>
      </p:sp>
      <p:sp>
        <p:nvSpPr>
          <p:cNvPr id="11" name="B078-body">
            <a:extLst xmlns:a="http://schemas.openxmlformats.org/drawingml/2006/main">
              <a:ext uri="{FF2B5EF4-FFF2-40B4-BE49-F238E27FC236}">
                <a16:creationId xmlns:a16="http://schemas.microsoft.com/office/drawing/2014/main" id="{5CEC2FCB-C64F-4558-A17B-540B9DF13F83}"/>
              </a:ext>
            </a:extLst>
          </p:cNvPr>
          <p:cNvSpPr>
            <a:spLocks xmlns:a="http://schemas.openxmlformats.org/drawingml/2006/main" noGrp="1"/>
          </p:cNvSpPr>
          <p:nvPr/>
        </p:nvSpPr>
        <p:spPr>
          <a:xfrm xmlns:a="http://schemas.openxmlformats.org/drawingml/2006/main">
            <a:off x="857250" y="251460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35F"/>
                </a:solidFill>
              </a:defRPr>
            </a:pPr>
            <a:r>
              <a:rPr sz="1200" b="0">
                <a:solidFill>
                  <a:srgbClr val="68635F"/>
                </a:solidFill>
              </a:rPr>
              <a:t>이동시간 · 목적코드</a:t>
            </a:r>
          </a:p>
          <a:p xmlns:a="http://schemas.openxmlformats.org/drawingml/2006/main">
            <a:pPr algn="l">
              <a:defRPr sz="1200" b="0">
                <a:solidFill>
                  <a:srgbClr val="68635F"/>
                </a:solidFill>
              </a:defRPr>
            </a:pPr>
            <a:r>
              <a:rPr sz="1200" b="0">
                <a:solidFill>
                  <a:srgbClr val="68635F"/>
                </a:solidFill>
              </a:rPr>
              <a:t>성·연령별 이동량</a:t>
            </a:r>
          </a:p>
        </p:txBody>
      </p:sp>
      <p:sp>
        <p:nvSpPr>
          <p:cNvPr id="12" name="B079-node">
            <a:extLst xmlns:a="http://schemas.openxmlformats.org/drawingml/2006/main">
              <a:ext uri="{FF2B5EF4-FFF2-40B4-BE49-F238E27FC236}">
                <a16:creationId xmlns:a16="http://schemas.microsoft.com/office/drawing/2014/main" id="{F663D098-DEC7-4ADA-A828-0345CD08247E}"/>
              </a:ext>
            </a:extLst>
          </p:cNvPr>
          <p:cNvSpPr>
            <a:spLocks xmlns:a="http://schemas.openxmlformats.org/drawingml/2006/main" noGrp="1"/>
          </p:cNvSpPr>
          <p:nvPr/>
        </p:nvSpPr>
        <p:spPr>
          <a:xfrm xmlns:a="http://schemas.openxmlformats.org/drawingml/2006/main">
            <a:off x="685800" y="3810000"/>
            <a:ext cx="238125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8D2C7"/>
            </a:solidFill>
            <a:prstDash val="solid"/>
          </a:ln>
        </p:spPr>
      </p:sp>
      <p:sp>
        <p:nvSpPr>
          <p:cNvPr id="13" name="B079-head">
            <a:extLst xmlns:a="http://schemas.openxmlformats.org/drawingml/2006/main">
              <a:ext uri="{FF2B5EF4-FFF2-40B4-BE49-F238E27FC236}">
                <a16:creationId xmlns:a16="http://schemas.microsoft.com/office/drawing/2014/main" id="{E8B06542-42CB-46DE-9CAD-C1BA50F9B092}"/>
              </a:ext>
            </a:extLst>
          </p:cNvPr>
          <p:cNvSpPr>
            <a:spLocks xmlns:a="http://schemas.openxmlformats.org/drawingml/2006/main" noGrp="1"/>
          </p:cNvSpPr>
          <p:nvPr/>
        </p:nvSpPr>
        <p:spPr>
          <a:xfrm xmlns:a="http://schemas.openxmlformats.org/drawingml/2006/main">
            <a:off x="857250" y="39624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91919"/>
                </a:solidFill>
              </a:defRPr>
            </a:pPr>
            <a:r>
              <a:rPr sz="1875" b="1">
                <a:solidFill>
                  <a:srgbClr val="191919"/>
                </a:solidFill>
              </a:rPr>
              <a:t>B079</a:t>
            </a:r>
          </a:p>
        </p:txBody>
      </p:sp>
      <p:sp>
        <p:nvSpPr>
          <p:cNvPr id="14" name="B079-body">
            <a:extLst xmlns:a="http://schemas.openxmlformats.org/drawingml/2006/main">
              <a:ext uri="{FF2B5EF4-FFF2-40B4-BE49-F238E27FC236}">
                <a16:creationId xmlns:a16="http://schemas.microsoft.com/office/drawing/2014/main" id="{77BBF361-562F-4CBD-A403-A09640AA22A0}"/>
              </a:ext>
            </a:extLst>
          </p:cNvPr>
          <p:cNvSpPr>
            <a:spLocks xmlns:a="http://schemas.openxmlformats.org/drawingml/2006/main" noGrp="1"/>
          </p:cNvSpPr>
          <p:nvPr/>
        </p:nvSpPr>
        <p:spPr>
          <a:xfrm xmlns:a="http://schemas.openxmlformats.org/drawingml/2006/main">
            <a:off x="857250" y="432435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35F"/>
                </a:solidFill>
              </a:defRPr>
            </a:pPr>
            <a:r>
              <a:rPr sz="1200" b="0">
                <a:solidFill>
                  <a:srgbClr val="68635F"/>
                </a:solidFill>
              </a:rPr>
              <a:t>업종별 건수 · 금액</a:t>
            </a:r>
          </a:p>
          <a:p xmlns:a="http://schemas.openxmlformats.org/drawingml/2006/main">
            <a:pPr algn="l">
              <a:defRPr sz="1200" b="0">
                <a:solidFill>
                  <a:srgbClr val="68635F"/>
                </a:solidFill>
              </a:defRPr>
            </a:pPr>
            <a:r>
              <a:rPr sz="1200" b="0">
                <a:solidFill>
                  <a:srgbClr val="68635F"/>
                </a:solidFill>
              </a:rPr>
              <a:t>고객거주지–가맹점동</a:t>
            </a:r>
          </a:p>
        </p:txBody>
      </p:sp>
      <p:sp>
        <p:nvSpPr>
          <p:cNvPr id="15" name="상권·POI-node">
            <a:extLst xmlns:a="http://schemas.openxmlformats.org/drawingml/2006/main">
              <a:ext uri="{FF2B5EF4-FFF2-40B4-BE49-F238E27FC236}">
                <a16:creationId xmlns:a16="http://schemas.microsoft.com/office/drawing/2014/main" id="{9EB6445F-20B5-407F-A974-EE7D9EC2B49E}"/>
              </a:ext>
            </a:extLst>
          </p:cNvPr>
          <p:cNvSpPr>
            <a:spLocks xmlns:a="http://schemas.openxmlformats.org/drawingml/2006/main" noGrp="1"/>
          </p:cNvSpPr>
          <p:nvPr/>
        </p:nvSpPr>
        <p:spPr>
          <a:xfrm xmlns:a="http://schemas.openxmlformats.org/drawingml/2006/main">
            <a:off x="9124950" y="2000250"/>
            <a:ext cx="238125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8D2C7"/>
            </a:solidFill>
            <a:prstDash val="solid"/>
          </a:ln>
        </p:spPr>
      </p:sp>
      <p:sp>
        <p:nvSpPr>
          <p:cNvPr id="16" name="상권·POI-head">
            <a:extLst xmlns:a="http://schemas.openxmlformats.org/drawingml/2006/main">
              <a:ext uri="{FF2B5EF4-FFF2-40B4-BE49-F238E27FC236}">
                <a16:creationId xmlns:a16="http://schemas.microsoft.com/office/drawing/2014/main" id="{1530CB88-BB27-4CDD-88F8-3EB7485EE6A4}"/>
              </a:ext>
            </a:extLst>
          </p:cNvPr>
          <p:cNvSpPr>
            <a:spLocks xmlns:a="http://schemas.openxmlformats.org/drawingml/2006/main" noGrp="1"/>
          </p:cNvSpPr>
          <p:nvPr/>
        </p:nvSpPr>
        <p:spPr>
          <a:xfrm xmlns:a="http://schemas.openxmlformats.org/drawingml/2006/main">
            <a:off x="9296400" y="21526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91919"/>
                </a:solidFill>
              </a:defRPr>
            </a:pPr>
            <a:r>
              <a:rPr sz="1875" b="1">
                <a:solidFill>
                  <a:srgbClr val="191919"/>
                </a:solidFill>
              </a:rPr>
              <a:t>상권·POI</a:t>
            </a:r>
          </a:p>
        </p:txBody>
      </p:sp>
      <p:sp>
        <p:nvSpPr>
          <p:cNvPr id="17" name="상권·POI-body">
            <a:extLst xmlns:a="http://schemas.openxmlformats.org/drawingml/2006/main">
              <a:ext uri="{FF2B5EF4-FFF2-40B4-BE49-F238E27FC236}">
                <a16:creationId xmlns:a16="http://schemas.microsoft.com/office/drawing/2014/main" id="{CF9D4957-8896-41C1-9F81-E4746A5000AA}"/>
              </a:ext>
            </a:extLst>
          </p:cNvPr>
          <p:cNvSpPr>
            <a:spLocks xmlns:a="http://schemas.openxmlformats.org/drawingml/2006/main" noGrp="1"/>
          </p:cNvSpPr>
          <p:nvPr/>
        </p:nvSpPr>
        <p:spPr>
          <a:xfrm xmlns:a="http://schemas.openxmlformats.org/drawingml/2006/main">
            <a:off x="9296400" y="251460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35F"/>
                </a:solidFill>
              </a:defRPr>
            </a:pPr>
            <a:r>
              <a:rPr sz="1200" b="0">
                <a:solidFill>
                  <a:srgbClr val="68635F"/>
                </a:solidFill>
              </a:rPr>
              <a:t>점포 · 업종다양성</a:t>
            </a:r>
          </a:p>
          <a:p xmlns:a="http://schemas.openxmlformats.org/drawingml/2006/main">
            <a:pPr algn="l">
              <a:defRPr sz="1200" b="0">
                <a:solidFill>
                  <a:srgbClr val="68635F"/>
                </a:solidFill>
              </a:defRPr>
            </a:pPr>
            <a:r>
              <a:rPr sz="1200" b="0">
                <a:solidFill>
                  <a:srgbClr val="68635F"/>
                </a:solidFill>
              </a:rPr>
              <a:t>도서관 · 공원 · 문화시설</a:t>
            </a:r>
          </a:p>
        </p:txBody>
      </p:sp>
      <p:sp>
        <p:nvSpPr>
          <p:cNvPr id="18" name="Kakao API-node">
            <a:extLst xmlns:a="http://schemas.openxmlformats.org/drawingml/2006/main">
              <a:ext uri="{FF2B5EF4-FFF2-40B4-BE49-F238E27FC236}">
                <a16:creationId xmlns:a16="http://schemas.microsoft.com/office/drawing/2014/main" id="{09B3D203-004C-427A-9EA0-CF2B3EAF41EE}"/>
              </a:ext>
            </a:extLst>
          </p:cNvPr>
          <p:cNvSpPr>
            <a:spLocks xmlns:a="http://schemas.openxmlformats.org/drawingml/2006/main" noGrp="1"/>
          </p:cNvSpPr>
          <p:nvPr/>
        </p:nvSpPr>
        <p:spPr>
          <a:xfrm xmlns:a="http://schemas.openxmlformats.org/drawingml/2006/main">
            <a:off x="9124950" y="3810000"/>
            <a:ext cx="2381250" cy="1200150"/>
          </a:xfrm>
          <a:prstGeom xmlns:a="http://schemas.openxmlformats.org/drawingml/2006/main" prst="roundRect">
            <a:avLst>
              <a:gd name="adj" fmla="val 12698"/>
            </a:avLst>
          </a:prstGeom>
          <a:solidFill xmlns:a="http://schemas.openxmlformats.org/drawingml/2006/main">
            <a:srgbClr val="FEE500"/>
          </a:solidFill>
          <a:ln xmlns:a="http://schemas.openxmlformats.org/drawingml/2006/main" w="9525">
            <a:solidFill>
              <a:srgbClr val="D8D2C7"/>
            </a:solidFill>
            <a:prstDash val="solid"/>
          </a:ln>
        </p:spPr>
      </p:sp>
      <p:sp>
        <p:nvSpPr>
          <p:cNvPr id="19" name="Kakao API-head">
            <a:extLst xmlns:a="http://schemas.openxmlformats.org/drawingml/2006/main">
              <a:ext uri="{FF2B5EF4-FFF2-40B4-BE49-F238E27FC236}">
                <a16:creationId xmlns:a16="http://schemas.microsoft.com/office/drawing/2014/main" id="{7D5B2CA2-DBBE-4A65-A8DB-845A71E437DB}"/>
              </a:ext>
            </a:extLst>
          </p:cNvPr>
          <p:cNvSpPr>
            <a:spLocks xmlns:a="http://schemas.openxmlformats.org/drawingml/2006/main" noGrp="1"/>
          </p:cNvSpPr>
          <p:nvPr/>
        </p:nvSpPr>
        <p:spPr>
          <a:xfrm xmlns:a="http://schemas.openxmlformats.org/drawingml/2006/main">
            <a:off x="9296400" y="39624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91919"/>
                </a:solidFill>
              </a:defRPr>
            </a:pPr>
            <a:r>
              <a:rPr sz="1875" b="1">
                <a:solidFill>
                  <a:srgbClr val="191919"/>
                </a:solidFill>
              </a:rPr>
              <a:t>Kakao API</a:t>
            </a:r>
          </a:p>
        </p:txBody>
      </p:sp>
      <p:sp>
        <p:nvSpPr>
          <p:cNvPr id="20" name="Kakao API-body">
            <a:extLst xmlns:a="http://schemas.openxmlformats.org/drawingml/2006/main">
              <a:ext uri="{FF2B5EF4-FFF2-40B4-BE49-F238E27FC236}">
                <a16:creationId xmlns:a16="http://schemas.microsoft.com/office/drawing/2014/main" id="{8D9ECADA-2C91-4A4F-ACB3-ADA8157ED8D5}"/>
              </a:ext>
            </a:extLst>
          </p:cNvPr>
          <p:cNvSpPr>
            <a:spLocks xmlns:a="http://schemas.openxmlformats.org/drawingml/2006/main" noGrp="1"/>
          </p:cNvSpPr>
          <p:nvPr/>
        </p:nvSpPr>
        <p:spPr>
          <a:xfrm xmlns:a="http://schemas.openxmlformats.org/drawingml/2006/main">
            <a:off x="9296400" y="4324350"/>
            <a:ext cx="2038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35F"/>
                </a:solidFill>
              </a:defRPr>
            </a:pPr>
            <a:r>
              <a:rPr sz="1200" b="0">
                <a:solidFill>
                  <a:srgbClr val="68635F"/>
                </a:solidFill>
              </a:rPr>
              <a:t>출발지별 대중교통</a:t>
            </a:r>
          </a:p>
          <a:p xmlns:a="http://schemas.openxmlformats.org/drawingml/2006/main">
            <a:pPr algn="l">
              <a:defRPr sz="1200" b="0">
                <a:solidFill>
                  <a:srgbClr val="68635F"/>
                </a:solidFill>
              </a:defRPr>
            </a:pPr>
            <a:r>
              <a:rPr sz="1200" b="0">
                <a:solidFill>
                  <a:srgbClr val="68635F"/>
                </a:solidFill>
              </a:rPr>
              <a:t>50분 접근시간</a:t>
            </a:r>
          </a:p>
        </p:txBody>
      </p:sp>
      <p:sp>
        <p:nvSpPr>
          <p:cNvPr id="21" name="feature-store">
            <a:extLst xmlns:a="http://schemas.openxmlformats.org/drawingml/2006/main">
              <a:ext uri="{FF2B5EF4-FFF2-40B4-BE49-F238E27FC236}">
                <a16:creationId xmlns:a16="http://schemas.microsoft.com/office/drawing/2014/main" id="{DF86D8CC-0AE5-438F-BD62-8B12BE7CBB19}"/>
              </a:ext>
            </a:extLst>
          </p:cNvPr>
          <p:cNvSpPr>
            <a:spLocks xmlns:a="http://schemas.openxmlformats.org/drawingml/2006/main" noGrp="1"/>
          </p:cNvSpPr>
          <p:nvPr/>
        </p:nvSpPr>
        <p:spPr>
          <a:xfrm xmlns:a="http://schemas.openxmlformats.org/drawingml/2006/main">
            <a:off x="4686300" y="2324100"/>
            <a:ext cx="2819400" cy="2343150"/>
          </a:xfrm>
          <a:prstGeom xmlns:a="http://schemas.openxmlformats.org/drawingml/2006/main" prst="roundRect">
            <a:avLst>
              <a:gd name="adj" fmla="val 6504"/>
            </a:avLst>
          </a:prstGeom>
          <a:solidFill xmlns:a="http://schemas.openxmlformats.org/drawingml/2006/main">
            <a:srgbClr val="191919"/>
          </a:solidFill>
          <a:ln xmlns:a="http://schemas.openxmlformats.org/drawingml/2006/main" w="0">
            <a:noFill/>
            <a:prstDash val="solid"/>
          </a:ln>
        </p:spPr>
      </p:sp>
      <p:sp>
        <p:nvSpPr>
          <p:cNvPr id="22" name="feature-title">
            <a:extLst xmlns:a="http://schemas.openxmlformats.org/drawingml/2006/main">
              <a:ext uri="{FF2B5EF4-FFF2-40B4-BE49-F238E27FC236}">
                <a16:creationId xmlns:a16="http://schemas.microsoft.com/office/drawing/2014/main" id="{F274242F-8051-4252-9034-8B2F039C5AD3}"/>
              </a:ext>
            </a:extLst>
          </p:cNvPr>
          <p:cNvSpPr>
            <a:spLocks xmlns:a="http://schemas.openxmlformats.org/drawingml/2006/main" noGrp="1"/>
          </p:cNvSpPr>
          <p:nvPr/>
        </p:nvSpPr>
        <p:spPr>
          <a:xfrm xmlns:a="http://schemas.openxmlformats.org/drawingml/2006/main">
            <a:off x="4953000" y="25717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FEE500"/>
                </a:solidFill>
              </a:defRPr>
            </a:pPr>
            <a:r>
              <a:rPr sz="2250" b="1">
                <a:solidFill>
                  <a:srgbClr val="FEE500"/>
                </a:solidFill>
              </a:rPr>
              <a:t>Feature Store</a:t>
            </a:r>
          </a:p>
        </p:txBody>
      </p:sp>
      <p:sp>
        <p:nvSpPr>
          <p:cNvPr id="23" name="feature-body">
            <a:extLst xmlns:a="http://schemas.openxmlformats.org/drawingml/2006/main">
              <a:ext uri="{FF2B5EF4-FFF2-40B4-BE49-F238E27FC236}">
                <a16:creationId xmlns:a16="http://schemas.microsoft.com/office/drawing/2014/main" id="{F6B8308D-8E46-4AD6-B10E-E4ACDFF476F3}"/>
              </a:ext>
            </a:extLst>
          </p:cNvPr>
          <p:cNvSpPr>
            <a:spLocks xmlns:a="http://schemas.openxmlformats.org/drawingml/2006/main" noGrp="1"/>
          </p:cNvSpPr>
          <p:nvPr/>
        </p:nvSpPr>
        <p:spPr>
          <a:xfrm xmlns:a="http://schemas.openxmlformats.org/drawingml/2006/main">
            <a:off x="4953000" y="3105150"/>
            <a:ext cx="2286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FFFFFF"/>
                </a:solidFill>
              </a:defRPr>
            </a:pPr>
            <a:r>
              <a:rPr sz="1425" b="0">
                <a:solidFill>
                  <a:srgbClr val="FFFFFF"/>
                </a:solidFill>
              </a:rPr>
              <a:t>분기 × 행정동 × 목적</a:t>
            </a:r>
          </a:p>
          <a:p xmlns:a="http://schemas.openxmlformats.org/drawingml/2006/main">
            <a:r>
              <a:t/>
            </a:r>
          </a:p>
          <a:p xmlns:a="http://schemas.openxmlformats.org/drawingml/2006/main">
            <a:pPr algn="ctr">
              <a:defRPr sz="1425" b="0">
                <a:solidFill>
                  <a:srgbClr val="FFFFFF"/>
                </a:solidFill>
              </a:defRPr>
            </a:pPr>
            <a:r>
              <a:rPr sz="1425" b="0">
                <a:solidFill>
                  <a:srgbClr val="FFFFFF"/>
                </a:solidFill>
              </a:rPr>
              <a:t>접근성 · 유입 · 소비전환</a:t>
            </a:r>
          </a:p>
          <a:p xmlns:a="http://schemas.openxmlformats.org/drawingml/2006/main">
            <a:pPr algn="ctr">
              <a:defRPr sz="1425" b="0">
                <a:solidFill>
                  <a:srgbClr val="FFFFFF"/>
                </a:solidFill>
              </a:defRPr>
            </a:pPr>
            <a:r>
              <a:rPr sz="1425" b="0">
                <a:solidFill>
                  <a:srgbClr val="FFFFFF"/>
                </a:solidFill>
              </a:rPr>
              <a:t>업종집적 · 목적시설</a:t>
            </a:r>
          </a:p>
        </p:txBody>
      </p:sp>
      <p:sp>
        <p:nvSpPr>
          <p:cNvPr id="24" name="join-warning">
            <a:extLst xmlns:a="http://schemas.openxmlformats.org/drawingml/2006/main">
              <a:ext uri="{FF2B5EF4-FFF2-40B4-BE49-F238E27FC236}">
                <a16:creationId xmlns:a16="http://schemas.microsoft.com/office/drawing/2014/main" id="{11A11AF6-8FB1-4395-9E5A-04020A12BC24}"/>
              </a:ext>
            </a:extLst>
          </p:cNvPr>
          <p:cNvSpPr>
            <a:spLocks xmlns:a="http://schemas.openxmlformats.org/drawingml/2006/main" noGrp="1"/>
          </p:cNvSpPr>
          <p:nvPr/>
        </p:nvSpPr>
        <p:spPr>
          <a:xfrm xmlns:a="http://schemas.openxmlformats.org/drawingml/2006/main">
            <a:off x="3524250" y="55245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D94B35"/>
                </a:solidFill>
              </a:defRPr>
            </a:pPr>
            <a:r>
              <a:rPr sz="1200" b="1">
                <a:solidFill>
                  <a:srgbClr val="D94B35"/>
                </a:solidFill>
              </a:rPr>
              <a:t>주의: B078 방문자와 B079 결제자를 동일 개인으로 해석하지 않음</a:t>
            </a:r>
          </a:p>
        </p:txBody>
      </p:sp>
      <p:sp>
        <p:nvSpPr>
          <p:cNvPr id="25" name="footer-3">
            <a:extLst xmlns:a="http://schemas.openxmlformats.org/drawingml/2006/main">
              <a:ext uri="{FF2B5EF4-FFF2-40B4-BE49-F238E27FC236}">
                <a16:creationId xmlns:a16="http://schemas.microsoft.com/office/drawing/2014/main" id="{B7422508-6DAA-4984-8F89-48B01670CBA4}"/>
              </a:ext>
            </a:extLst>
          </p:cNvPr>
          <p:cNvSpPr>
            <a:spLocks xmlns:a="http://schemas.openxmlformats.org/drawingml/2006/main" noGrp="1"/>
          </p:cNvSpPr>
          <p:nvPr/>
        </p:nvSpPr>
        <p:spPr>
          <a:xfrm xmlns:a="http://schemas.openxmlformats.org/drawingml/2006/main">
            <a:off x="609600" y="6477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635F"/>
                </a:solidFill>
              </a:defRPr>
            </a:pPr>
            <a:r>
              <a:rPr sz="825" b="1">
                <a:solidFill>
                  <a:srgbClr val="68635F"/>
                </a:solidFill>
              </a:rPr>
              <a:t>TEAM MAXIMUS · DAT</a:t>
            </a:r>
          </a:p>
        </p:txBody>
      </p:sp>
    </p:spTree>
    <p:extLst>
      <p:ext uri="{BB962C8B-B14F-4D97-AF65-F5344CB8AC3E}">
        <p14:creationId xmlns:p14="http://schemas.microsoft.com/office/powerpoint/2010/main" val="290617184"/>
      </p:ext>
    </p:extLst>
  </p:cSld>
</p:sld>
</file>

<file path=ppt/slides/slide4.xml><?xml version="1.0" encoding="utf-8"?>
<p:sld xmlns:p="http://schemas.openxmlformats.org/presentationml/2006/main">
  <p:cSld>
    <p:bg>
      <p:bgPr>
        <a:solidFill xmlns:a="http://schemas.openxmlformats.org/drawingml/2006/main">
          <a:srgbClr val="FFFEF7"/>
        </a:solidFill>
      </p:bgPr>
    </p:bg>
    <p:spTree>
      <p:nvGrpSpPr>
        <p:cNvPr id="1" name=""/>
        <p:cNvGrpSpPr/>
        <p:nvPr/>
      </p:nvGrpSpPr>
      <p:grpSpPr>
        <a:xfrm xmlns:a="http://schemas.openxmlformats.org/drawingml/2006/main"/>
      </p:grpSpPr>
      <p:sp>
        <p:nvSpPr>
          <p:cNvPr id="12" name="page-4">
            <a:extLst xmlns:a="http://schemas.openxmlformats.org/drawingml/2006/main">
              <a:ext uri="{FF2B5EF4-FFF2-40B4-BE49-F238E27FC236}">
                <a16:creationId xmlns:a16="http://schemas.microsoft.com/office/drawing/2014/main" id="{29C56E66-5C19-44D4-98ED-7D4E2430910D}"/>
              </a:ext>
            </a:extLst>
          </p:cNvPr>
          <p:cNvSpPr>
            <a:spLocks xmlns:a="http://schemas.openxmlformats.org/drawingml/2006/main" noGrp="1"/>
          </p:cNvSpPr>
          <p:nvPr/>
        </p:nvSpPr>
        <p:spPr>
          <a:xfrm xmlns:a="http://schemas.openxmlformats.org/drawingml/2006/main">
            <a:off x="609600" y="3619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8635F"/>
                </a:solidFill>
              </a:defRPr>
            </a:pPr>
            <a:r>
              <a:rPr sz="1125" b="1">
                <a:solidFill>
                  <a:srgbClr val="68635F"/>
                </a:solidFill>
              </a:rPr>
              <a:t>04</a:t>
            </a:r>
          </a:p>
        </p:txBody>
      </p:sp>
      <p:sp>
        <p:nvSpPr>
          <p:cNvPr id="2" name="title-4">
            <a:extLst xmlns:a="http://schemas.openxmlformats.org/drawingml/2006/main">
              <a:ext uri="{FF2B5EF4-FFF2-40B4-BE49-F238E27FC236}">
                <a16:creationId xmlns:a16="http://schemas.microsoft.com/office/drawing/2014/main" id="{23FE6F78-00FA-4004-AB66-59A416D6D893}"/>
              </a:ext>
            </a:extLst>
          </p:cNvPr>
          <p:cNvSpPr>
            <a:spLocks xmlns:a="http://schemas.openxmlformats.org/drawingml/2006/main" noGrp="1"/>
          </p:cNvSpPr>
          <p:nvPr/>
        </p:nvSpPr>
        <p:spPr>
          <a:xfrm xmlns:a="http://schemas.openxmlformats.org/drawingml/2006/main">
            <a:off x="6096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91919"/>
                </a:solidFill>
              </a:defRPr>
            </a:pPr>
            <a:r>
              <a:rPr sz="2700" b="1">
                <a:solidFill>
                  <a:srgbClr val="191919"/>
                </a:solidFill>
              </a:rPr>
              <a:t>매출은 유동보다 ‘상권 구조’와 더 강하게 움직였다</a:t>
            </a:r>
          </a:p>
        </p:txBody>
      </p:sp>
      <p:sp>
        <p:nvSpPr>
          <p:cNvPr id="3" name="subtitle-4">
            <a:extLst xmlns:a="http://schemas.openxmlformats.org/drawingml/2006/main">
              <a:ext uri="{FF2B5EF4-FFF2-40B4-BE49-F238E27FC236}">
                <a16:creationId xmlns:a16="http://schemas.microsoft.com/office/drawing/2014/main" id="{2001380B-3E19-4B2F-BFFF-74E2E0E230FE}"/>
              </a:ext>
            </a:extLst>
          </p:cNvPr>
          <p:cNvSpPr>
            <a:spLocks xmlns:a="http://schemas.openxmlformats.org/drawingml/2006/main" noGrp="1"/>
          </p:cNvSpPr>
          <p:nvPr/>
        </p:nvSpPr>
        <p:spPr>
          <a:xfrm xmlns:a="http://schemas.openxmlformats.org/drawingml/2006/main">
            <a:off x="628650" y="12382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635F"/>
                </a:solidFill>
              </a:defRPr>
            </a:pPr>
            <a:r>
              <a:rPr sz="1350" b="0">
                <a:solidFill>
                  <a:srgbClr val="68635F"/>
                </a:solidFill>
              </a:rPr>
              <a:t>Spearman 상관계수 · 팀원 제공 EDA 수치</a:t>
            </a:r>
          </a:p>
        </p:txBody>
      </p:sp>
      <p:sp>
        <p:nvSpPr>
          <p:cNvPr id="4" name="yellow-rule-4">
            <a:extLst xmlns:a="http://schemas.openxmlformats.org/drawingml/2006/main">
              <a:ext uri="{FF2B5EF4-FFF2-40B4-BE49-F238E27FC236}">
                <a16:creationId xmlns:a16="http://schemas.microsoft.com/office/drawing/2014/main" id="{0A506BD4-5191-46FA-B7B5-11AE46987CCB}"/>
              </a:ext>
            </a:extLst>
          </p:cNvPr>
          <p:cNvSpPr>
            <a:spLocks xmlns:a="http://schemas.openxmlformats.org/drawingml/2006/main" noGrp="1"/>
          </p:cNvSpPr>
          <p:nvPr/>
        </p:nvSpPr>
        <p:spPr>
          <a:xfrm xmlns:a="http://schemas.openxmlformats.org/drawingml/2006/main">
            <a:off x="11068050" y="371475"/>
            <a:ext cx="514350" cy="114300"/>
          </a:xfrm>
          <a:prstGeom xmlns:a="http://schemas.openxmlformats.org/drawingml/2006/main" prst="roundRect">
            <a:avLst>
              <a:gd name="adj" fmla="val 16667"/>
            </a:avLst>
          </a:prstGeom>
          <a:solidFill xmlns:a="http://schemas.openxmlformats.org/drawingml/2006/main">
            <a:srgbClr val="FEE500"/>
          </a:solidFill>
          <a:ln xmlns:a="http://schemas.openxmlformats.org/drawingml/2006/main" w="0">
            <a:noFill/>
            <a:prstDash val="solid"/>
          </a:ln>
        </p:spPr>
      </p:sp>
      <p:graphicFrame>
        <p:nvGraphicFramePr>
          <p:cNvPr id="16" name="Chart"/>
          <p:cNvGraphicFramePr/>
          <p:nvPr/>
        </p:nvGraphicFramePr>
        <p:xfrm>
          <a:off xmlns:a="http://schemas.openxmlformats.org/drawingml/2006/main" x="857250" y="1809750"/>
          <a:ext xmlns:a="http://schemas.openxmlformats.org/drawingml/2006/main" cx="7048500" cy="3714750"/>
        </p:xfrm>
        <a:graphic xmlns:a="http://schemas.openxmlformats.org/drawingml/2006/main">
          <a:graphicData uri="http://schemas.openxmlformats.org/drawingml/2006/chart">
            <c:chart xmlns:r="http://schemas.openxmlformats.org/officeDocument/2006/relationships" xmlns:c="http://schemas.openxmlformats.org/drawingml/2006/chart" r:id="Rbe6c99d0e5c44360"/>
          </a:graphicData>
        </a:graphic>
      </p:graphicFrame>
      <p:sp>
        <p:nvSpPr>
          <p:cNvPr id="6" name="eda-meaning">
            <a:extLst xmlns:a="http://schemas.openxmlformats.org/drawingml/2006/main">
              <a:ext uri="{FF2B5EF4-FFF2-40B4-BE49-F238E27FC236}">
                <a16:creationId xmlns:a16="http://schemas.microsoft.com/office/drawing/2014/main" id="{1927006F-AE09-4343-9834-D3A00AA1D9F0}"/>
              </a:ext>
            </a:extLst>
          </p:cNvPr>
          <p:cNvSpPr>
            <a:spLocks xmlns:a="http://schemas.openxmlformats.org/drawingml/2006/main" noGrp="1"/>
          </p:cNvSpPr>
          <p:nvPr/>
        </p:nvSpPr>
        <p:spPr>
          <a:xfrm xmlns:a="http://schemas.openxmlformats.org/drawingml/2006/main">
            <a:off x="8248650" y="2038350"/>
            <a:ext cx="3048000" cy="2857500"/>
          </a:xfrm>
          <a:prstGeom xmlns:a="http://schemas.openxmlformats.org/drawingml/2006/main" prst="roundRect">
            <a:avLst>
              <a:gd name="adj" fmla="val 5333"/>
            </a:avLst>
          </a:prstGeom>
          <a:solidFill xmlns:a="http://schemas.openxmlformats.org/drawingml/2006/main">
            <a:srgbClr val="191919"/>
          </a:solidFill>
          <a:ln xmlns:a="http://schemas.openxmlformats.org/drawingml/2006/main" w="0">
            <a:noFill/>
            <a:prstDash val="solid"/>
          </a:ln>
        </p:spPr>
      </p:sp>
      <p:sp>
        <p:nvSpPr>
          <p:cNvPr id="7" name="eda-number">
            <a:extLst xmlns:a="http://schemas.openxmlformats.org/drawingml/2006/main">
              <a:ext uri="{FF2B5EF4-FFF2-40B4-BE49-F238E27FC236}">
                <a16:creationId xmlns:a16="http://schemas.microsoft.com/office/drawing/2014/main" id="{F9137765-DE24-414C-841F-CA9D1EE999C8}"/>
              </a:ext>
            </a:extLst>
          </p:cNvPr>
          <p:cNvSpPr>
            <a:spLocks xmlns:a="http://schemas.openxmlformats.org/drawingml/2006/main" noGrp="1"/>
          </p:cNvSpPr>
          <p:nvPr/>
        </p:nvSpPr>
        <p:spPr>
          <a:xfrm xmlns:a="http://schemas.openxmlformats.org/drawingml/2006/main">
            <a:off x="8477250" y="2333625"/>
            <a:ext cx="2590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500" b="1">
                <a:solidFill>
                  <a:srgbClr val="FEE500"/>
                </a:solidFill>
              </a:defRPr>
            </a:pPr>
            <a:r>
              <a:rPr sz="4500" b="1">
                <a:solidFill>
                  <a:srgbClr val="FEE500"/>
                </a:solidFill>
              </a:rPr>
              <a:t>0.555</a:t>
            </a:r>
          </a:p>
        </p:txBody>
      </p:sp>
      <p:sp>
        <p:nvSpPr>
          <p:cNvPr id="8" name="eda-claim">
            <a:extLst xmlns:a="http://schemas.openxmlformats.org/drawingml/2006/main">
              <a:ext uri="{FF2B5EF4-FFF2-40B4-BE49-F238E27FC236}">
                <a16:creationId xmlns:a16="http://schemas.microsoft.com/office/drawing/2014/main" id="{F994BE14-EF07-4F4F-8E6C-62FB59ED9EFD}"/>
              </a:ext>
            </a:extLst>
          </p:cNvPr>
          <p:cNvSpPr>
            <a:spLocks xmlns:a="http://schemas.openxmlformats.org/drawingml/2006/main" noGrp="1"/>
          </p:cNvSpPr>
          <p:nvPr/>
        </p:nvSpPr>
        <p:spPr>
          <a:xfrm xmlns:a="http://schemas.openxmlformats.org/drawingml/2006/main">
            <a:off x="8572500" y="3257550"/>
            <a:ext cx="2400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유동만으로는</a:t>
            </a:r>
          </a:p>
          <a:p xmlns:a="http://schemas.openxmlformats.org/drawingml/2006/main">
            <a:pPr algn="ctr">
              <a:defRPr sz="1800" b="1">
                <a:solidFill>
                  <a:srgbClr val="FFFFFF"/>
                </a:solidFill>
              </a:defRPr>
            </a:pPr>
            <a:r>
              <a:rPr sz="1800" b="1">
                <a:solidFill>
                  <a:srgbClr val="FFFFFF"/>
                </a:solidFill>
              </a:rPr>
              <a:t>매출을 충분히 설명하지 못한다</a:t>
            </a:r>
          </a:p>
        </p:txBody>
      </p:sp>
      <p:sp>
        <p:nvSpPr>
          <p:cNvPr id="9" name="eda-caveat">
            <a:extLst xmlns:a="http://schemas.openxmlformats.org/drawingml/2006/main">
              <a:ext uri="{FF2B5EF4-FFF2-40B4-BE49-F238E27FC236}">
                <a16:creationId xmlns:a16="http://schemas.microsoft.com/office/drawing/2014/main" id="{CFBD62DB-AE70-42B8-B8AF-49AF73F557E0}"/>
              </a:ext>
            </a:extLst>
          </p:cNvPr>
          <p:cNvSpPr>
            <a:spLocks xmlns:a="http://schemas.openxmlformats.org/drawingml/2006/main" noGrp="1"/>
          </p:cNvSpPr>
          <p:nvPr/>
        </p:nvSpPr>
        <p:spPr>
          <a:xfrm xmlns:a="http://schemas.openxmlformats.org/drawingml/2006/main">
            <a:off x="8620125" y="4257675"/>
            <a:ext cx="2305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EE500"/>
                </a:solidFill>
              </a:defRPr>
            </a:pPr>
            <a:r>
              <a:rPr sz="1200" b="0">
                <a:solidFill>
                  <a:srgbClr val="FEE500"/>
                </a:solidFill>
              </a:rPr>
              <a:t>상관 ≠ 인과</a:t>
            </a:r>
          </a:p>
          <a:p xmlns:a="http://schemas.openxmlformats.org/drawingml/2006/main">
            <a:pPr algn="ctr">
              <a:defRPr sz="1200" b="0">
                <a:solidFill>
                  <a:srgbClr val="FEE500"/>
                </a:solidFill>
              </a:defRPr>
            </a:pPr>
            <a:r>
              <a:rPr sz="1200" b="0">
                <a:solidFill>
                  <a:srgbClr val="FEE500"/>
                </a:solidFill>
              </a:rPr>
              <a:t>규모효과를 통제한 잔차 분석 필요</a:t>
            </a:r>
          </a:p>
        </p:txBody>
      </p:sp>
      <p:sp>
        <p:nvSpPr>
          <p:cNvPr id="10" name="eda-source-note">
            <a:extLst xmlns:a="http://schemas.openxmlformats.org/drawingml/2006/main">
              <a:ext uri="{FF2B5EF4-FFF2-40B4-BE49-F238E27FC236}">
                <a16:creationId xmlns:a16="http://schemas.microsoft.com/office/drawing/2014/main" id="{89654088-F622-4B19-84E9-48FE2894DFCB}"/>
              </a:ext>
            </a:extLst>
          </p:cNvPr>
          <p:cNvSpPr>
            <a:spLocks xmlns:a="http://schemas.openxmlformats.org/drawingml/2006/main" noGrp="1"/>
          </p:cNvSpPr>
          <p:nvPr/>
        </p:nvSpPr>
        <p:spPr>
          <a:xfrm xmlns:a="http://schemas.openxmlformats.org/drawingml/2006/main">
            <a:off x="857250" y="58388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8635F"/>
                </a:solidFill>
              </a:defRPr>
            </a:pPr>
            <a:r>
              <a:rPr sz="1050" b="0">
                <a:solidFill>
                  <a:srgbClr val="68635F"/>
                </a:solidFill>
              </a:rPr>
              <a:t>※ 423개 행정동 원자료가 현재 작업공간에 없어 팀원 제공 수치로 표시</a:t>
            </a:r>
          </a:p>
        </p:txBody>
      </p:sp>
      <p:sp>
        <p:nvSpPr>
          <p:cNvPr id="11" name="footer-4">
            <a:extLst xmlns:a="http://schemas.openxmlformats.org/drawingml/2006/main">
              <a:ext uri="{FF2B5EF4-FFF2-40B4-BE49-F238E27FC236}">
                <a16:creationId xmlns:a16="http://schemas.microsoft.com/office/drawing/2014/main" id="{69F7D045-9612-4C84-943E-E24ED9CA0AB0}"/>
              </a:ext>
            </a:extLst>
          </p:cNvPr>
          <p:cNvSpPr>
            <a:spLocks xmlns:a="http://schemas.openxmlformats.org/drawingml/2006/main" noGrp="1"/>
          </p:cNvSpPr>
          <p:nvPr/>
        </p:nvSpPr>
        <p:spPr>
          <a:xfrm xmlns:a="http://schemas.openxmlformats.org/drawingml/2006/main">
            <a:off x="609600" y="6477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635F"/>
                </a:solidFill>
              </a:defRPr>
            </a:pPr>
            <a:r>
              <a:rPr sz="825" b="1">
                <a:solidFill>
                  <a:srgbClr val="68635F"/>
                </a:solidFill>
              </a:rPr>
              <a:t>TEAM MAXIMUS · DAT</a:t>
            </a:r>
          </a:p>
        </p:txBody>
      </p:sp>
    </p:spTree>
    <p:extLst>
      <p:ext uri="{BB962C8B-B14F-4D97-AF65-F5344CB8AC3E}">
        <p14:creationId xmlns:p14="http://schemas.microsoft.com/office/powerpoint/2010/main" val="1937810796"/>
      </p:ext>
    </p:extLst>
  </p:cSld>
</p:sld>
</file>

<file path=ppt/slides/slide5.xml><?xml version="1.0" encoding="utf-8"?>
<p:sld xmlns:p="http://schemas.openxmlformats.org/presentationml/2006/main">
  <p:cSld>
    <p:bg>
      <p:bgPr>
        <a:solidFill xmlns:a="http://schemas.openxmlformats.org/drawingml/2006/main">
          <a:srgbClr val="FFFEF7"/>
        </a:solidFill>
      </p:bgPr>
    </p:bg>
    <p:spTree>
      <p:nvGrpSpPr>
        <p:cNvPr id="1" name=""/>
        <p:cNvGrpSpPr/>
        <p:nvPr/>
      </p:nvGrpSpPr>
      <p:grpSpPr>
        <a:xfrm xmlns:a="http://schemas.openxmlformats.org/drawingml/2006/main"/>
      </p:grpSpPr>
      <p:sp>
        <p:nvSpPr>
          <p:cNvPr id="23" name="page-5">
            <a:extLst xmlns:a="http://schemas.openxmlformats.org/drawingml/2006/main">
              <a:ext uri="{FF2B5EF4-FFF2-40B4-BE49-F238E27FC236}">
                <a16:creationId xmlns:a16="http://schemas.microsoft.com/office/drawing/2014/main" id="{573F2DDB-8ADB-446C-AEC1-06B0B1CCFB96}"/>
              </a:ext>
            </a:extLst>
          </p:cNvPr>
          <p:cNvSpPr>
            <a:spLocks xmlns:a="http://schemas.openxmlformats.org/drawingml/2006/main" noGrp="1"/>
          </p:cNvSpPr>
          <p:nvPr/>
        </p:nvSpPr>
        <p:spPr>
          <a:xfrm xmlns:a="http://schemas.openxmlformats.org/drawingml/2006/main">
            <a:off x="609600" y="3619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8635F"/>
                </a:solidFill>
              </a:defRPr>
            </a:pPr>
            <a:r>
              <a:rPr sz="1125" b="1">
                <a:solidFill>
                  <a:srgbClr val="68635F"/>
                </a:solidFill>
              </a:rPr>
              <a:t>05</a:t>
            </a:r>
          </a:p>
        </p:txBody>
      </p:sp>
      <p:sp>
        <p:nvSpPr>
          <p:cNvPr id="2" name="title-5">
            <a:extLst xmlns:a="http://schemas.openxmlformats.org/drawingml/2006/main">
              <a:ext uri="{FF2B5EF4-FFF2-40B4-BE49-F238E27FC236}">
                <a16:creationId xmlns:a16="http://schemas.microsoft.com/office/drawing/2014/main" id="{07D86098-18C3-4CD2-9EAA-F9AC344E30E0}"/>
              </a:ext>
            </a:extLst>
          </p:cNvPr>
          <p:cNvSpPr>
            <a:spLocks xmlns:a="http://schemas.openxmlformats.org/drawingml/2006/main" noGrp="1"/>
          </p:cNvSpPr>
          <p:nvPr/>
        </p:nvSpPr>
        <p:spPr>
          <a:xfrm xmlns:a="http://schemas.openxmlformats.org/drawingml/2006/main">
            <a:off x="6096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91919"/>
                </a:solidFill>
              </a:defRPr>
            </a:pPr>
            <a:r>
              <a:rPr sz="2700" b="1">
                <a:solidFill>
                  <a:srgbClr val="191919"/>
                </a:solidFill>
              </a:rPr>
              <a:t>‘비선형 지역’은 모델 잔차와 지속성으로 찾는다</a:t>
            </a:r>
          </a:p>
        </p:txBody>
      </p:sp>
      <p:sp>
        <p:nvSpPr>
          <p:cNvPr id="3" name="yellow-rule-5">
            <a:extLst xmlns:a="http://schemas.openxmlformats.org/drawingml/2006/main">
              <a:ext uri="{FF2B5EF4-FFF2-40B4-BE49-F238E27FC236}">
                <a16:creationId xmlns:a16="http://schemas.microsoft.com/office/drawing/2014/main" id="{0DAE23D4-C4D1-4F70-A140-BA9135F7E7EF}"/>
              </a:ext>
            </a:extLst>
          </p:cNvPr>
          <p:cNvSpPr>
            <a:spLocks xmlns:a="http://schemas.openxmlformats.org/drawingml/2006/main" noGrp="1"/>
          </p:cNvSpPr>
          <p:nvPr/>
        </p:nvSpPr>
        <p:spPr>
          <a:xfrm xmlns:a="http://schemas.openxmlformats.org/drawingml/2006/main">
            <a:off x="11068050" y="371475"/>
            <a:ext cx="514350" cy="114300"/>
          </a:xfrm>
          <a:prstGeom xmlns:a="http://schemas.openxmlformats.org/drawingml/2006/main" prst="roundRect">
            <a:avLst>
              <a:gd name="adj" fmla="val 16667"/>
            </a:avLst>
          </a:prstGeom>
          <a:solidFill xmlns:a="http://schemas.openxmlformats.org/drawingml/2006/main">
            <a:srgbClr val="FEE500"/>
          </a:solidFill>
          <a:ln xmlns:a="http://schemas.openxmlformats.org/drawingml/2006/main" w="0">
            <a:noFill/>
            <a:prstDash val="solid"/>
          </a:ln>
        </p:spPr>
      </p:sp>
      <p:sp>
        <p:nvSpPr>
          <p:cNvPr id="4" name="formula-band">
            <a:extLst xmlns:a="http://schemas.openxmlformats.org/drawingml/2006/main">
              <a:ext uri="{FF2B5EF4-FFF2-40B4-BE49-F238E27FC236}">
                <a16:creationId xmlns:a16="http://schemas.microsoft.com/office/drawing/2014/main" id="{C88FA4BC-3B3D-4E2E-9B4B-9F57220454E9}"/>
              </a:ext>
            </a:extLst>
          </p:cNvPr>
          <p:cNvSpPr>
            <a:spLocks xmlns:a="http://schemas.openxmlformats.org/drawingml/2006/main" noGrp="1"/>
          </p:cNvSpPr>
          <p:nvPr/>
        </p:nvSpPr>
        <p:spPr>
          <a:xfrm xmlns:a="http://schemas.openxmlformats.org/drawingml/2006/main">
            <a:off x="742950" y="1771650"/>
            <a:ext cx="10706100" cy="1028700"/>
          </a:xfrm>
          <a:prstGeom xmlns:a="http://schemas.openxmlformats.org/drawingml/2006/main" prst="roundRect">
            <a:avLst>
              <a:gd name="adj" fmla="val 14815"/>
            </a:avLst>
          </a:prstGeom>
          <a:solidFill xmlns:a="http://schemas.openxmlformats.org/drawingml/2006/main">
            <a:srgbClr val="FFF8C5"/>
          </a:solidFill>
          <a:ln xmlns:a="http://schemas.openxmlformats.org/drawingml/2006/main" w="0">
            <a:noFill/>
            <a:prstDash val="solid"/>
          </a:ln>
        </p:spPr>
      </p:sp>
      <p:sp>
        <p:nvSpPr>
          <p:cNvPr id="5" name="formula-main">
            <a:extLst xmlns:a="http://schemas.openxmlformats.org/drawingml/2006/main">
              <a:ext uri="{FF2B5EF4-FFF2-40B4-BE49-F238E27FC236}">
                <a16:creationId xmlns:a16="http://schemas.microsoft.com/office/drawing/2014/main" id="{C492E4C1-774E-43A3-A95D-B36A50D61F92}"/>
              </a:ext>
            </a:extLst>
          </p:cNvPr>
          <p:cNvSpPr>
            <a:spLocks xmlns:a="http://schemas.openxmlformats.org/drawingml/2006/main" noGrp="1"/>
          </p:cNvSpPr>
          <p:nvPr/>
        </p:nvSpPr>
        <p:spPr>
          <a:xfrm xmlns:a="http://schemas.openxmlformats.org/drawingml/2006/main">
            <a:off x="1047750" y="1952625"/>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191919"/>
                </a:solidFill>
              </a:defRPr>
            </a:pPr>
            <a:r>
              <a:rPr sz="2025" b="1">
                <a:solidFill>
                  <a:srgbClr val="191919"/>
                </a:solidFill>
              </a:rPr>
              <a:t>기대매출 ŷ = f(유동, 점포, 면적, 상권유형, 업종구성)</a:t>
            </a:r>
          </a:p>
        </p:txBody>
      </p:sp>
      <p:sp>
        <p:nvSpPr>
          <p:cNvPr id="6" name="formula-gap">
            <a:extLst xmlns:a="http://schemas.openxmlformats.org/drawingml/2006/main">
              <a:ext uri="{FF2B5EF4-FFF2-40B4-BE49-F238E27FC236}">
                <a16:creationId xmlns:a16="http://schemas.microsoft.com/office/drawing/2014/main" id="{22B351D0-A05E-4897-9820-92A55A447260}"/>
              </a:ext>
            </a:extLst>
          </p:cNvPr>
          <p:cNvSpPr>
            <a:spLocks xmlns:a="http://schemas.openxmlformats.org/drawingml/2006/main" noGrp="1"/>
          </p:cNvSpPr>
          <p:nvPr/>
        </p:nvSpPr>
        <p:spPr>
          <a:xfrm xmlns:a="http://schemas.openxmlformats.org/drawingml/2006/main">
            <a:off x="1047750" y="238125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91919"/>
                </a:solidFill>
              </a:defRPr>
            </a:pPr>
            <a:r>
              <a:rPr sz="1425" b="0">
                <a:solidFill>
                  <a:srgbClr val="191919"/>
                </a:solidFill>
              </a:rPr>
              <a:t>Gap = log(1 + 실제매출) − log(1 + 기대매출)</a:t>
            </a:r>
          </a:p>
        </p:txBody>
      </p:sp>
      <p:sp>
        <p:nvSpPr>
          <p:cNvPr id="7" name="m1">
            <a:extLst xmlns:a="http://schemas.openxmlformats.org/drawingml/2006/main">
              <a:ext uri="{FF2B5EF4-FFF2-40B4-BE49-F238E27FC236}">
                <a16:creationId xmlns:a16="http://schemas.microsoft.com/office/drawing/2014/main" id="{DDBF5D8B-9C61-4769-8A27-480B0212D3BA}"/>
              </a:ext>
            </a:extLst>
          </p:cNvPr>
          <p:cNvSpPr>
            <a:spLocks xmlns:a="http://schemas.openxmlformats.org/drawingml/2006/main" noGrp="1"/>
          </p:cNvSpPr>
          <p:nvPr/>
        </p:nvSpPr>
        <p:spPr>
          <a:xfrm xmlns:a="http://schemas.openxmlformats.org/drawingml/2006/main">
            <a:off x="2876550" y="4114800"/>
            <a:ext cx="1390650" cy="0"/>
          </a:xfrm>
          <a:prstGeom xmlns:a="http://schemas.openxmlformats.org/drawingml/2006/main" prst="line">
            <a:avLst/>
          </a:prstGeom>
          <a:noFill xmlns:a="http://schemas.openxmlformats.org/drawingml/2006/main"/>
          <a:ln xmlns:a="http://schemas.openxmlformats.org/drawingml/2006/main" w="38100">
            <a:solidFill>
              <a:srgbClr val="D8D2C7"/>
            </a:solidFill>
            <a:prstDash val="solid"/>
          </a:ln>
        </p:spPr>
      </p:sp>
      <p:sp>
        <p:nvSpPr>
          <p:cNvPr id="8" name="m2">
            <a:extLst xmlns:a="http://schemas.openxmlformats.org/drawingml/2006/main">
              <a:ext uri="{FF2B5EF4-FFF2-40B4-BE49-F238E27FC236}">
                <a16:creationId xmlns:a16="http://schemas.microsoft.com/office/drawing/2014/main" id="{B5084D48-AC93-4A7F-A924-86305719B448}"/>
              </a:ext>
            </a:extLst>
          </p:cNvPr>
          <p:cNvSpPr>
            <a:spLocks xmlns:a="http://schemas.openxmlformats.org/drawingml/2006/main" noGrp="1"/>
          </p:cNvSpPr>
          <p:nvPr/>
        </p:nvSpPr>
        <p:spPr>
          <a:xfrm xmlns:a="http://schemas.openxmlformats.org/drawingml/2006/main">
            <a:off x="6019800" y="4114800"/>
            <a:ext cx="1390650" cy="0"/>
          </a:xfrm>
          <a:prstGeom xmlns:a="http://schemas.openxmlformats.org/drawingml/2006/main" prst="line">
            <a:avLst/>
          </a:prstGeom>
          <a:noFill xmlns:a="http://schemas.openxmlformats.org/drawingml/2006/main"/>
          <a:ln xmlns:a="http://schemas.openxmlformats.org/drawingml/2006/main" w="38100">
            <a:solidFill>
              <a:srgbClr val="D8D2C7"/>
            </a:solidFill>
            <a:prstDash val="solid"/>
          </a:ln>
        </p:spPr>
      </p:sp>
      <p:sp>
        <p:nvSpPr>
          <p:cNvPr id="9" name="model-01">
            <a:extLst xmlns:a="http://schemas.openxmlformats.org/drawingml/2006/main">
              <a:ext uri="{FF2B5EF4-FFF2-40B4-BE49-F238E27FC236}">
                <a16:creationId xmlns:a16="http://schemas.microsoft.com/office/drawing/2014/main" id="{57FC1B29-3512-48DE-B7C8-9885B7E6B100}"/>
              </a:ext>
            </a:extLst>
          </p:cNvPr>
          <p:cNvSpPr>
            <a:spLocks xmlns:a="http://schemas.openxmlformats.org/drawingml/2006/main" noGrp="1"/>
          </p:cNvSpPr>
          <p:nvPr/>
        </p:nvSpPr>
        <p:spPr>
          <a:xfrm xmlns:a="http://schemas.openxmlformats.org/drawingml/2006/main">
            <a:off x="742950" y="3333750"/>
            <a:ext cx="2857500" cy="158115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8D2C7"/>
            </a:solidFill>
            <a:prstDash val="solid"/>
          </a:ln>
        </p:spPr>
      </p:sp>
      <p:sp>
        <p:nvSpPr>
          <p:cNvPr id="10" name="num-01">
            <a:extLst xmlns:a="http://schemas.openxmlformats.org/drawingml/2006/main">
              <a:ext uri="{FF2B5EF4-FFF2-40B4-BE49-F238E27FC236}">
                <a16:creationId xmlns:a16="http://schemas.microsoft.com/office/drawing/2014/main" id="{1506662D-D181-4004-B075-28D7AF541911}"/>
              </a:ext>
            </a:extLst>
          </p:cNvPr>
          <p:cNvSpPr>
            <a:spLocks xmlns:a="http://schemas.openxmlformats.org/drawingml/2006/main" noGrp="1"/>
          </p:cNvSpPr>
          <p:nvPr/>
        </p:nvSpPr>
        <p:spPr>
          <a:xfrm xmlns:a="http://schemas.openxmlformats.org/drawingml/2006/main">
            <a:off x="914400" y="34766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8635F"/>
                </a:solidFill>
              </a:defRPr>
            </a:pPr>
            <a:r>
              <a:rPr sz="1125" b="1">
                <a:solidFill>
                  <a:srgbClr val="68635F"/>
                </a:solidFill>
              </a:rPr>
              <a:t>01</a:t>
            </a:r>
          </a:p>
        </p:txBody>
      </p:sp>
      <p:sp>
        <p:nvSpPr>
          <p:cNvPr id="11" name="head-01">
            <a:extLst xmlns:a="http://schemas.openxmlformats.org/drawingml/2006/main">
              <a:ext uri="{FF2B5EF4-FFF2-40B4-BE49-F238E27FC236}">
                <a16:creationId xmlns:a16="http://schemas.microsoft.com/office/drawing/2014/main" id="{B8DE0210-2C1B-4AA8-AF0E-E40CEAEDB228}"/>
              </a:ext>
            </a:extLst>
          </p:cNvPr>
          <p:cNvSpPr>
            <a:spLocks xmlns:a="http://schemas.openxmlformats.org/drawingml/2006/main" noGrp="1"/>
          </p:cNvSpPr>
          <p:nvPr/>
        </p:nvSpPr>
        <p:spPr>
          <a:xfrm xmlns:a="http://schemas.openxmlformats.org/drawingml/2006/main">
            <a:off x="971550" y="3781425"/>
            <a:ext cx="2400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91919"/>
                </a:solidFill>
              </a:defRPr>
            </a:pPr>
            <a:r>
              <a:rPr sz="2100" b="1">
                <a:solidFill>
                  <a:srgbClr val="191919"/>
                </a:solidFill>
              </a:rPr>
              <a:t>다중회귀</a:t>
            </a:r>
          </a:p>
        </p:txBody>
      </p:sp>
      <p:sp>
        <p:nvSpPr>
          <p:cNvPr id="12" name="body-01">
            <a:extLst xmlns:a="http://schemas.openxmlformats.org/drawingml/2006/main">
              <a:ext uri="{FF2B5EF4-FFF2-40B4-BE49-F238E27FC236}">
                <a16:creationId xmlns:a16="http://schemas.microsoft.com/office/drawing/2014/main" id="{53AE8BC5-E413-4CB1-9C00-B9284A3F2D23}"/>
              </a:ext>
            </a:extLst>
          </p:cNvPr>
          <p:cNvSpPr>
            <a:spLocks xmlns:a="http://schemas.openxmlformats.org/drawingml/2006/main" noGrp="1"/>
          </p:cNvSpPr>
          <p:nvPr/>
        </p:nvSpPr>
        <p:spPr>
          <a:xfrm xmlns:a="http://schemas.openxmlformats.org/drawingml/2006/main">
            <a:off x="933450" y="44005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635F"/>
                </a:solidFill>
              </a:defRPr>
            </a:pPr>
            <a:r>
              <a:rPr sz="1275" b="0">
                <a:solidFill>
                  <a:srgbClr val="68635F"/>
                </a:solidFill>
              </a:rPr>
              <a:t>설명 가능한 기준선</a:t>
            </a:r>
          </a:p>
        </p:txBody>
      </p:sp>
      <p:sp>
        <p:nvSpPr>
          <p:cNvPr id="13" name="model-02">
            <a:extLst xmlns:a="http://schemas.openxmlformats.org/drawingml/2006/main">
              <a:ext uri="{FF2B5EF4-FFF2-40B4-BE49-F238E27FC236}">
                <a16:creationId xmlns:a16="http://schemas.microsoft.com/office/drawing/2014/main" id="{136D2BF6-B312-4C7E-9BE7-2AFB4DED06BA}"/>
              </a:ext>
            </a:extLst>
          </p:cNvPr>
          <p:cNvSpPr>
            <a:spLocks xmlns:a="http://schemas.openxmlformats.org/drawingml/2006/main" noGrp="1"/>
          </p:cNvSpPr>
          <p:nvPr/>
        </p:nvSpPr>
        <p:spPr>
          <a:xfrm xmlns:a="http://schemas.openxmlformats.org/drawingml/2006/main">
            <a:off x="4267200" y="3333750"/>
            <a:ext cx="2857500" cy="158115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8D2C7"/>
            </a:solidFill>
            <a:prstDash val="solid"/>
          </a:ln>
        </p:spPr>
      </p:sp>
      <p:sp>
        <p:nvSpPr>
          <p:cNvPr id="14" name="num-02">
            <a:extLst xmlns:a="http://schemas.openxmlformats.org/drawingml/2006/main">
              <a:ext uri="{FF2B5EF4-FFF2-40B4-BE49-F238E27FC236}">
                <a16:creationId xmlns:a16="http://schemas.microsoft.com/office/drawing/2014/main" id="{8A53A862-23FC-4B0F-BBBB-2584706D9C95}"/>
              </a:ext>
            </a:extLst>
          </p:cNvPr>
          <p:cNvSpPr>
            <a:spLocks xmlns:a="http://schemas.openxmlformats.org/drawingml/2006/main" noGrp="1"/>
          </p:cNvSpPr>
          <p:nvPr/>
        </p:nvSpPr>
        <p:spPr>
          <a:xfrm xmlns:a="http://schemas.openxmlformats.org/drawingml/2006/main">
            <a:off x="4438650" y="34766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8635F"/>
                </a:solidFill>
              </a:defRPr>
            </a:pPr>
            <a:r>
              <a:rPr sz="1125" b="1">
                <a:solidFill>
                  <a:srgbClr val="68635F"/>
                </a:solidFill>
              </a:rPr>
              <a:t>02</a:t>
            </a:r>
          </a:p>
        </p:txBody>
      </p:sp>
      <p:sp>
        <p:nvSpPr>
          <p:cNvPr id="15" name="head-02">
            <a:extLst xmlns:a="http://schemas.openxmlformats.org/drawingml/2006/main">
              <a:ext uri="{FF2B5EF4-FFF2-40B4-BE49-F238E27FC236}">
                <a16:creationId xmlns:a16="http://schemas.microsoft.com/office/drawing/2014/main" id="{AC932606-E77D-408A-9758-4676F9167DC7}"/>
              </a:ext>
            </a:extLst>
          </p:cNvPr>
          <p:cNvSpPr>
            <a:spLocks xmlns:a="http://schemas.openxmlformats.org/drawingml/2006/main" noGrp="1"/>
          </p:cNvSpPr>
          <p:nvPr/>
        </p:nvSpPr>
        <p:spPr>
          <a:xfrm xmlns:a="http://schemas.openxmlformats.org/drawingml/2006/main">
            <a:off x="4495800" y="3781425"/>
            <a:ext cx="2400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91919"/>
                </a:solidFill>
              </a:defRPr>
            </a:pPr>
            <a:r>
              <a:rPr sz="2100" b="1">
                <a:solidFill>
                  <a:srgbClr val="191919"/>
                </a:solidFill>
              </a:rPr>
              <a:t>GAM</a:t>
            </a:r>
          </a:p>
        </p:txBody>
      </p:sp>
      <p:sp>
        <p:nvSpPr>
          <p:cNvPr id="16" name="body-02">
            <a:extLst xmlns:a="http://schemas.openxmlformats.org/drawingml/2006/main">
              <a:ext uri="{FF2B5EF4-FFF2-40B4-BE49-F238E27FC236}">
                <a16:creationId xmlns:a16="http://schemas.microsoft.com/office/drawing/2014/main" id="{FEC63010-8EFA-47A7-ABE6-762083227DF6}"/>
              </a:ext>
            </a:extLst>
          </p:cNvPr>
          <p:cNvSpPr>
            <a:spLocks xmlns:a="http://schemas.openxmlformats.org/drawingml/2006/main" noGrp="1"/>
          </p:cNvSpPr>
          <p:nvPr/>
        </p:nvSpPr>
        <p:spPr>
          <a:xfrm xmlns:a="http://schemas.openxmlformats.org/drawingml/2006/main">
            <a:off x="4457700" y="44005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635F"/>
                </a:solidFill>
              </a:defRPr>
            </a:pPr>
            <a:r>
              <a:rPr sz="1275" b="0">
                <a:solidFill>
                  <a:srgbClr val="68635F"/>
                </a:solidFill>
              </a:rPr>
              <a:t>포화·곡률 포착</a:t>
            </a:r>
          </a:p>
        </p:txBody>
      </p:sp>
      <p:sp>
        <p:nvSpPr>
          <p:cNvPr id="17" name="model-03">
            <a:extLst xmlns:a="http://schemas.openxmlformats.org/drawingml/2006/main">
              <a:ext uri="{FF2B5EF4-FFF2-40B4-BE49-F238E27FC236}">
                <a16:creationId xmlns:a16="http://schemas.microsoft.com/office/drawing/2014/main" id="{438E56D6-188F-46CD-A977-72554261ABF8}"/>
              </a:ext>
            </a:extLst>
          </p:cNvPr>
          <p:cNvSpPr>
            <a:spLocks xmlns:a="http://schemas.openxmlformats.org/drawingml/2006/main" noGrp="1"/>
          </p:cNvSpPr>
          <p:nvPr/>
        </p:nvSpPr>
        <p:spPr>
          <a:xfrm xmlns:a="http://schemas.openxmlformats.org/drawingml/2006/main">
            <a:off x="7791450" y="3333750"/>
            <a:ext cx="2857500" cy="1581150"/>
          </a:xfrm>
          <a:prstGeom xmlns:a="http://schemas.openxmlformats.org/drawingml/2006/main" prst="roundRect">
            <a:avLst>
              <a:gd name="adj" fmla="val 9639"/>
            </a:avLst>
          </a:prstGeom>
          <a:solidFill xmlns:a="http://schemas.openxmlformats.org/drawingml/2006/main">
            <a:srgbClr val="191919"/>
          </a:solidFill>
          <a:ln xmlns:a="http://schemas.openxmlformats.org/drawingml/2006/main" w="9525">
            <a:solidFill>
              <a:srgbClr val="D8D2C7"/>
            </a:solidFill>
            <a:prstDash val="solid"/>
          </a:ln>
        </p:spPr>
      </p:sp>
      <p:sp>
        <p:nvSpPr>
          <p:cNvPr id="18" name="num-03">
            <a:extLst xmlns:a="http://schemas.openxmlformats.org/drawingml/2006/main">
              <a:ext uri="{FF2B5EF4-FFF2-40B4-BE49-F238E27FC236}">
                <a16:creationId xmlns:a16="http://schemas.microsoft.com/office/drawing/2014/main" id="{D736D423-889A-4FBF-87DC-EBD60493F696}"/>
              </a:ext>
            </a:extLst>
          </p:cNvPr>
          <p:cNvSpPr>
            <a:spLocks xmlns:a="http://schemas.openxmlformats.org/drawingml/2006/main" noGrp="1"/>
          </p:cNvSpPr>
          <p:nvPr/>
        </p:nvSpPr>
        <p:spPr>
          <a:xfrm xmlns:a="http://schemas.openxmlformats.org/drawingml/2006/main">
            <a:off x="7962900" y="34766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EE500"/>
                </a:solidFill>
              </a:defRPr>
            </a:pPr>
            <a:r>
              <a:rPr sz="1125" b="1">
                <a:solidFill>
                  <a:srgbClr val="FEE500"/>
                </a:solidFill>
              </a:rPr>
              <a:t>03</a:t>
            </a:r>
          </a:p>
        </p:txBody>
      </p:sp>
      <p:sp>
        <p:nvSpPr>
          <p:cNvPr id="19" name="head-03">
            <a:extLst xmlns:a="http://schemas.openxmlformats.org/drawingml/2006/main">
              <a:ext uri="{FF2B5EF4-FFF2-40B4-BE49-F238E27FC236}">
                <a16:creationId xmlns:a16="http://schemas.microsoft.com/office/drawing/2014/main" id="{FFDECB65-BCA3-4FC0-BE8F-7E1A1C0CCB7A}"/>
              </a:ext>
            </a:extLst>
          </p:cNvPr>
          <p:cNvSpPr>
            <a:spLocks xmlns:a="http://schemas.openxmlformats.org/drawingml/2006/main" noGrp="1"/>
          </p:cNvSpPr>
          <p:nvPr/>
        </p:nvSpPr>
        <p:spPr>
          <a:xfrm xmlns:a="http://schemas.openxmlformats.org/drawingml/2006/main">
            <a:off x="8020050" y="3781425"/>
            <a:ext cx="2400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FFFFF"/>
                </a:solidFill>
              </a:defRPr>
            </a:pPr>
            <a:r>
              <a:rPr sz="2100" b="1">
                <a:solidFill>
                  <a:srgbClr val="FFFFFF"/>
                </a:solidFill>
              </a:rPr>
              <a:t>LightGBM</a:t>
            </a:r>
          </a:p>
          <a:p xmlns:a="http://schemas.openxmlformats.org/drawingml/2006/main">
            <a:pPr algn="ctr">
              <a:defRPr sz="2100" b="1">
                <a:solidFill>
                  <a:srgbClr val="FFFFFF"/>
                </a:solidFill>
              </a:defRPr>
            </a:pPr>
            <a:r>
              <a:rPr sz="2100" b="1">
                <a:solidFill>
                  <a:srgbClr val="FFFFFF"/>
                </a:solidFill>
              </a:rPr>
              <a:t>CatBoost</a:t>
            </a:r>
          </a:p>
        </p:txBody>
      </p:sp>
      <p:sp>
        <p:nvSpPr>
          <p:cNvPr id="20" name="body-03">
            <a:extLst xmlns:a="http://schemas.openxmlformats.org/drawingml/2006/main">
              <a:ext uri="{FF2B5EF4-FFF2-40B4-BE49-F238E27FC236}">
                <a16:creationId xmlns:a16="http://schemas.microsoft.com/office/drawing/2014/main" id="{000695BE-AB4C-4763-B2BC-81D330276601}"/>
              </a:ext>
            </a:extLst>
          </p:cNvPr>
          <p:cNvSpPr>
            <a:spLocks xmlns:a="http://schemas.openxmlformats.org/drawingml/2006/main" noGrp="1"/>
          </p:cNvSpPr>
          <p:nvPr/>
        </p:nvSpPr>
        <p:spPr>
          <a:xfrm xmlns:a="http://schemas.openxmlformats.org/drawingml/2006/main">
            <a:off x="7981950" y="44005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EE500"/>
                </a:solidFill>
              </a:defRPr>
            </a:pPr>
            <a:r>
              <a:rPr sz="1275" b="0">
                <a:solidFill>
                  <a:srgbClr val="FEE500"/>
                </a:solidFill>
              </a:rPr>
              <a:t>복잡한 상호작용</a:t>
            </a:r>
          </a:p>
        </p:txBody>
      </p:sp>
      <p:sp>
        <p:nvSpPr>
          <p:cNvPr id="21" name="gap-explain">
            <a:extLst xmlns:a="http://schemas.openxmlformats.org/drawingml/2006/main">
              <a:ext uri="{FF2B5EF4-FFF2-40B4-BE49-F238E27FC236}">
                <a16:creationId xmlns:a16="http://schemas.microsoft.com/office/drawing/2014/main" id="{5C74459D-06A0-42E0-9BF9-B124EFDAB10A}"/>
              </a:ext>
            </a:extLst>
          </p:cNvPr>
          <p:cNvSpPr>
            <a:spLocks xmlns:a="http://schemas.openxmlformats.org/drawingml/2006/main" noGrp="1"/>
          </p:cNvSpPr>
          <p:nvPr/>
        </p:nvSpPr>
        <p:spPr>
          <a:xfrm xmlns:a="http://schemas.openxmlformats.org/drawingml/2006/main">
            <a:off x="1066800" y="5353050"/>
            <a:ext cx="1005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91919"/>
                </a:solidFill>
              </a:defRPr>
            </a:pPr>
            <a:r>
              <a:rPr sz="1500" b="1">
                <a:solidFill>
                  <a:srgbClr val="191919"/>
                </a:solidFill>
              </a:rPr>
              <a:t>잔차 상·하위 행정동 → SHAP · 부분의존도 · 목적/연령/시간대 · POI 대조 → 원인 가설 검증</a:t>
            </a:r>
          </a:p>
        </p:txBody>
      </p:sp>
      <p:sp>
        <p:nvSpPr>
          <p:cNvPr id="22" name="footer-5">
            <a:extLst xmlns:a="http://schemas.openxmlformats.org/drawingml/2006/main">
              <a:ext uri="{FF2B5EF4-FFF2-40B4-BE49-F238E27FC236}">
                <a16:creationId xmlns:a16="http://schemas.microsoft.com/office/drawing/2014/main" id="{B2A1276E-BE6A-45BF-A140-7C3BF4D0288A}"/>
              </a:ext>
            </a:extLst>
          </p:cNvPr>
          <p:cNvSpPr>
            <a:spLocks xmlns:a="http://schemas.openxmlformats.org/drawingml/2006/main" noGrp="1"/>
          </p:cNvSpPr>
          <p:nvPr/>
        </p:nvSpPr>
        <p:spPr>
          <a:xfrm xmlns:a="http://schemas.openxmlformats.org/drawingml/2006/main">
            <a:off x="609600" y="6477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635F"/>
                </a:solidFill>
              </a:defRPr>
            </a:pPr>
            <a:r>
              <a:rPr sz="825" b="1">
                <a:solidFill>
                  <a:srgbClr val="68635F"/>
                </a:solidFill>
              </a:rPr>
              <a:t>TEAM MAXIMUS · DAT</a:t>
            </a:r>
          </a:p>
        </p:txBody>
      </p:sp>
    </p:spTree>
    <p:extLst>
      <p:ext uri="{BB962C8B-B14F-4D97-AF65-F5344CB8AC3E}">
        <p14:creationId xmlns:p14="http://schemas.microsoft.com/office/powerpoint/2010/main" val="1651831552"/>
      </p:ext>
    </p:extLst>
  </p:cSld>
</p:sld>
</file>

<file path=ppt/slides/slide6.xml><?xml version="1.0" encoding="utf-8"?>
<p:sld xmlns:p="http://schemas.openxmlformats.org/presentationml/2006/main">
  <p:cSld>
    <p:bg>
      <p:bgPr>
        <a:solidFill xmlns:a="http://schemas.openxmlformats.org/drawingml/2006/main">
          <a:srgbClr val="FFFEF7"/>
        </a:solidFill>
      </p:bgPr>
    </p:bg>
    <p:spTree>
      <p:nvGrpSpPr>
        <p:cNvPr id="1" name=""/>
        <p:cNvGrpSpPr/>
        <p:nvPr/>
      </p:nvGrpSpPr>
      <p:grpSpPr>
        <a:xfrm xmlns:a="http://schemas.openxmlformats.org/drawingml/2006/main"/>
      </p:grpSpPr>
      <p:sp>
        <p:nvSpPr>
          <p:cNvPr id="18" name="page-6">
            <a:extLst xmlns:a="http://schemas.openxmlformats.org/drawingml/2006/main">
              <a:ext uri="{FF2B5EF4-FFF2-40B4-BE49-F238E27FC236}">
                <a16:creationId xmlns:a16="http://schemas.microsoft.com/office/drawing/2014/main" id="{820456B6-5E64-432A-836D-383D7B1A3BCA}"/>
              </a:ext>
            </a:extLst>
          </p:cNvPr>
          <p:cNvSpPr>
            <a:spLocks xmlns:a="http://schemas.openxmlformats.org/drawingml/2006/main" noGrp="1"/>
          </p:cNvSpPr>
          <p:nvPr/>
        </p:nvSpPr>
        <p:spPr>
          <a:xfrm xmlns:a="http://schemas.openxmlformats.org/drawingml/2006/main">
            <a:off x="609600" y="3619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8635F"/>
                </a:solidFill>
              </a:defRPr>
            </a:pPr>
            <a:r>
              <a:rPr sz="1125" b="1">
                <a:solidFill>
                  <a:srgbClr val="68635F"/>
                </a:solidFill>
              </a:rPr>
              <a:t>06</a:t>
            </a:r>
          </a:p>
        </p:txBody>
      </p:sp>
      <p:sp>
        <p:nvSpPr>
          <p:cNvPr id="2" name="title-6">
            <a:extLst xmlns:a="http://schemas.openxmlformats.org/drawingml/2006/main">
              <a:ext uri="{FF2B5EF4-FFF2-40B4-BE49-F238E27FC236}">
                <a16:creationId xmlns:a16="http://schemas.microsoft.com/office/drawing/2014/main" id="{A0478330-D14F-4BF9-AADC-DDF9526D72C1}"/>
              </a:ext>
            </a:extLst>
          </p:cNvPr>
          <p:cNvSpPr>
            <a:spLocks xmlns:a="http://schemas.openxmlformats.org/drawingml/2006/main" noGrp="1"/>
          </p:cNvSpPr>
          <p:nvPr/>
        </p:nvSpPr>
        <p:spPr>
          <a:xfrm xmlns:a="http://schemas.openxmlformats.org/drawingml/2006/main">
            <a:off x="6096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91919"/>
                </a:solidFill>
              </a:defRPr>
            </a:pPr>
            <a:r>
              <a:rPr sz="2700" b="1">
                <a:solidFill>
                  <a:srgbClr val="191919"/>
                </a:solidFill>
              </a:rPr>
              <a:t>방문 목적은 이동과 소비의 ‘집단 패턴’으로 추론한다</a:t>
            </a:r>
          </a:p>
        </p:txBody>
      </p:sp>
      <p:sp>
        <p:nvSpPr>
          <p:cNvPr id="3" name="yellow-rule-6">
            <a:extLst xmlns:a="http://schemas.openxmlformats.org/drawingml/2006/main">
              <a:ext uri="{FF2B5EF4-FFF2-40B4-BE49-F238E27FC236}">
                <a16:creationId xmlns:a16="http://schemas.microsoft.com/office/drawing/2014/main" id="{3A318E03-D05D-4D91-AF79-079B1F90F76C}"/>
              </a:ext>
            </a:extLst>
          </p:cNvPr>
          <p:cNvSpPr>
            <a:spLocks xmlns:a="http://schemas.openxmlformats.org/drawingml/2006/main" noGrp="1"/>
          </p:cNvSpPr>
          <p:nvPr/>
        </p:nvSpPr>
        <p:spPr>
          <a:xfrm xmlns:a="http://schemas.openxmlformats.org/drawingml/2006/main">
            <a:off x="11068050" y="371475"/>
            <a:ext cx="514350" cy="114300"/>
          </a:xfrm>
          <a:prstGeom xmlns:a="http://schemas.openxmlformats.org/drawingml/2006/main" prst="roundRect">
            <a:avLst>
              <a:gd name="adj" fmla="val 16667"/>
            </a:avLst>
          </a:prstGeom>
          <a:solidFill xmlns:a="http://schemas.openxmlformats.org/drawingml/2006/main">
            <a:srgbClr val="FEE500"/>
          </a:solidFill>
          <a:ln xmlns:a="http://schemas.openxmlformats.org/drawingml/2006/main" w="0">
            <a:noFill/>
            <a:prstDash val="solid"/>
          </a:ln>
        </p:spPr>
      </p:sp>
      <p:sp>
        <p:nvSpPr>
          <p:cNvPr id="4" name="b078-head">
            <a:extLst xmlns:a="http://schemas.openxmlformats.org/drawingml/2006/main">
              <a:ext uri="{FF2B5EF4-FFF2-40B4-BE49-F238E27FC236}">
                <a16:creationId xmlns:a16="http://schemas.microsoft.com/office/drawing/2014/main" id="{B00D246D-A2EC-415A-ABAA-9F2195F3AD16}"/>
              </a:ext>
            </a:extLst>
          </p:cNvPr>
          <p:cNvSpPr>
            <a:spLocks xmlns:a="http://schemas.openxmlformats.org/drawingml/2006/main" noGrp="1"/>
          </p:cNvSpPr>
          <p:nvPr/>
        </p:nvSpPr>
        <p:spPr>
          <a:xfrm xmlns:a="http://schemas.openxmlformats.org/drawingml/2006/main">
            <a:off x="800100" y="1952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91919"/>
                </a:solidFill>
              </a:defRPr>
            </a:pPr>
            <a:r>
              <a:rPr sz="1875" b="1">
                <a:solidFill>
                  <a:srgbClr val="191919"/>
                </a:solidFill>
              </a:rPr>
              <a:t>B078</a:t>
            </a:r>
          </a:p>
        </p:txBody>
      </p:sp>
      <p:sp>
        <p:nvSpPr>
          <p:cNvPr id="5" name="b078-body">
            <a:extLst xmlns:a="http://schemas.openxmlformats.org/drawingml/2006/main">
              <a:ext uri="{FF2B5EF4-FFF2-40B4-BE49-F238E27FC236}">
                <a16:creationId xmlns:a16="http://schemas.microsoft.com/office/drawing/2014/main" id="{EDB3C271-2C50-43F0-9C8F-650BE5D232F8}"/>
              </a:ext>
            </a:extLst>
          </p:cNvPr>
          <p:cNvSpPr>
            <a:spLocks xmlns:a="http://schemas.openxmlformats.org/drawingml/2006/main" noGrp="1"/>
          </p:cNvSpPr>
          <p:nvPr/>
        </p:nvSpPr>
        <p:spPr>
          <a:xfrm xmlns:a="http://schemas.openxmlformats.org/drawingml/2006/main">
            <a:off x="800100" y="241935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68635F"/>
                </a:solidFill>
              </a:defRPr>
            </a:pPr>
            <a:r>
              <a:rPr sz="1650" b="0">
                <a:solidFill>
                  <a:srgbClr val="68635F"/>
                </a:solidFill>
              </a:rPr>
              <a:t>목적코드 · 이동시간</a:t>
            </a:r>
          </a:p>
          <a:p xmlns:a="http://schemas.openxmlformats.org/drawingml/2006/main">
            <a:pPr algn="l">
              <a:defRPr sz="1650" b="0">
                <a:solidFill>
                  <a:srgbClr val="68635F"/>
                </a:solidFill>
              </a:defRPr>
            </a:pPr>
            <a:r>
              <a:rPr sz="1650" b="0">
                <a:solidFill>
                  <a:srgbClr val="68635F"/>
                </a:solidFill>
              </a:rPr>
              <a:t>성별 · 연령 · 시간대</a:t>
            </a:r>
          </a:p>
        </p:txBody>
      </p:sp>
      <p:sp>
        <p:nvSpPr>
          <p:cNvPr id="6" name="plus">
            <a:extLst xmlns:a="http://schemas.openxmlformats.org/drawingml/2006/main">
              <a:ext uri="{FF2B5EF4-FFF2-40B4-BE49-F238E27FC236}">
                <a16:creationId xmlns:a16="http://schemas.microsoft.com/office/drawing/2014/main" id="{8D1485F1-29E7-4638-B3FA-BD7FD2A3FE7D}"/>
              </a:ext>
            </a:extLst>
          </p:cNvPr>
          <p:cNvSpPr>
            <a:spLocks xmlns:a="http://schemas.openxmlformats.org/drawingml/2006/main" noGrp="1"/>
          </p:cNvSpPr>
          <p:nvPr/>
        </p:nvSpPr>
        <p:spPr>
          <a:xfrm xmlns:a="http://schemas.openxmlformats.org/drawingml/2006/main">
            <a:off x="3762375" y="23622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a:solidFill>
                  <a:srgbClr val="191919"/>
                </a:solidFill>
              </a:defRPr>
            </a:pPr>
            <a:r>
              <a:rPr sz="3600" b="1">
                <a:solidFill>
                  <a:srgbClr val="191919"/>
                </a:solidFill>
              </a:rPr>
              <a:t>+</a:t>
            </a:r>
          </a:p>
        </p:txBody>
      </p:sp>
      <p:sp>
        <p:nvSpPr>
          <p:cNvPr id="7" name="b079-head">
            <a:extLst xmlns:a="http://schemas.openxmlformats.org/drawingml/2006/main">
              <a:ext uri="{FF2B5EF4-FFF2-40B4-BE49-F238E27FC236}">
                <a16:creationId xmlns:a16="http://schemas.microsoft.com/office/drawing/2014/main" id="{016FB90A-B6C4-428E-B8E4-63B63CE247C5}"/>
              </a:ext>
            </a:extLst>
          </p:cNvPr>
          <p:cNvSpPr>
            <a:spLocks xmlns:a="http://schemas.openxmlformats.org/drawingml/2006/main" noGrp="1"/>
          </p:cNvSpPr>
          <p:nvPr/>
        </p:nvSpPr>
        <p:spPr>
          <a:xfrm xmlns:a="http://schemas.openxmlformats.org/drawingml/2006/main">
            <a:off x="4572000" y="1952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91919"/>
                </a:solidFill>
              </a:defRPr>
            </a:pPr>
            <a:r>
              <a:rPr sz="1875" b="1">
                <a:solidFill>
                  <a:srgbClr val="191919"/>
                </a:solidFill>
              </a:rPr>
              <a:t>B079</a:t>
            </a:r>
          </a:p>
        </p:txBody>
      </p:sp>
      <p:sp>
        <p:nvSpPr>
          <p:cNvPr id="8" name="b079-body">
            <a:extLst xmlns:a="http://schemas.openxmlformats.org/drawingml/2006/main">
              <a:ext uri="{FF2B5EF4-FFF2-40B4-BE49-F238E27FC236}">
                <a16:creationId xmlns:a16="http://schemas.microsoft.com/office/drawing/2014/main" id="{B6877791-86A8-4C75-8CA9-9658D32A5005}"/>
              </a:ext>
            </a:extLst>
          </p:cNvPr>
          <p:cNvSpPr>
            <a:spLocks xmlns:a="http://schemas.openxmlformats.org/drawingml/2006/main" noGrp="1"/>
          </p:cNvSpPr>
          <p:nvPr/>
        </p:nvSpPr>
        <p:spPr>
          <a:xfrm xmlns:a="http://schemas.openxmlformats.org/drawingml/2006/main">
            <a:off x="4572000" y="24193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68635F"/>
                </a:solidFill>
              </a:defRPr>
            </a:pPr>
            <a:r>
              <a:rPr sz="1650" b="0">
                <a:solidFill>
                  <a:srgbClr val="68635F"/>
                </a:solidFill>
              </a:rPr>
              <a:t>업종별 건수 · 금액</a:t>
            </a:r>
          </a:p>
          <a:p xmlns:a="http://schemas.openxmlformats.org/drawingml/2006/main">
            <a:pPr algn="l">
              <a:defRPr sz="1650" b="0">
                <a:solidFill>
                  <a:srgbClr val="68635F"/>
                </a:solidFill>
              </a:defRPr>
            </a:pPr>
            <a:r>
              <a:rPr sz="1650" b="0">
                <a:solidFill>
                  <a:srgbClr val="68635F"/>
                </a:solidFill>
              </a:rPr>
              <a:t>건당금액 · 고객거주지</a:t>
            </a:r>
          </a:p>
        </p:txBody>
      </p:sp>
      <p:sp>
        <p:nvSpPr>
          <p:cNvPr id="9" name="purpose-arrow">
            <a:extLst xmlns:a="http://schemas.openxmlformats.org/drawingml/2006/main">
              <a:ext uri="{FF2B5EF4-FFF2-40B4-BE49-F238E27FC236}">
                <a16:creationId xmlns:a16="http://schemas.microsoft.com/office/drawing/2014/main" id="{2BE7C2F0-52CE-4488-93C7-019A4EAFBF41}"/>
              </a:ext>
            </a:extLst>
          </p:cNvPr>
          <p:cNvSpPr>
            <a:spLocks xmlns:a="http://schemas.openxmlformats.org/drawingml/2006/main" noGrp="1"/>
          </p:cNvSpPr>
          <p:nvPr/>
        </p:nvSpPr>
        <p:spPr>
          <a:xfrm xmlns:a="http://schemas.openxmlformats.org/drawingml/2006/main">
            <a:off x="7524750" y="2762250"/>
            <a:ext cx="1047750" cy="0"/>
          </a:xfrm>
          <a:prstGeom xmlns:a="http://schemas.openxmlformats.org/drawingml/2006/main" prst="line">
            <a:avLst/>
          </a:prstGeom>
          <a:noFill xmlns:a="http://schemas.openxmlformats.org/drawingml/2006/main"/>
          <a:ln xmlns:a="http://schemas.openxmlformats.org/drawingml/2006/main" w="38100">
            <a:solidFill>
              <a:srgbClr val="191919"/>
            </a:solidFill>
            <a:prstDash val="solid"/>
          </a:ln>
        </p:spPr>
      </p:sp>
      <p:sp>
        <p:nvSpPr>
          <p:cNvPr id="10" name="purpose-vector">
            <a:extLst xmlns:a="http://schemas.openxmlformats.org/drawingml/2006/main">
              <a:ext uri="{FF2B5EF4-FFF2-40B4-BE49-F238E27FC236}">
                <a16:creationId xmlns:a16="http://schemas.microsoft.com/office/drawing/2014/main" id="{8F44CE72-8BE4-4129-BACF-4E2B70527892}"/>
              </a:ext>
            </a:extLst>
          </p:cNvPr>
          <p:cNvSpPr>
            <a:spLocks xmlns:a="http://schemas.openxmlformats.org/drawingml/2006/main" noGrp="1"/>
          </p:cNvSpPr>
          <p:nvPr/>
        </p:nvSpPr>
        <p:spPr>
          <a:xfrm xmlns:a="http://schemas.openxmlformats.org/drawingml/2006/main">
            <a:off x="8591550" y="1809750"/>
            <a:ext cx="2857500" cy="1676400"/>
          </a:xfrm>
          <a:prstGeom xmlns:a="http://schemas.openxmlformats.org/drawingml/2006/main" prst="roundRect">
            <a:avLst>
              <a:gd name="adj" fmla="val 9091"/>
            </a:avLst>
          </a:prstGeom>
          <a:solidFill xmlns:a="http://schemas.openxmlformats.org/drawingml/2006/main">
            <a:srgbClr val="FEE500"/>
          </a:solidFill>
          <a:ln xmlns:a="http://schemas.openxmlformats.org/drawingml/2006/main" w="0">
            <a:noFill/>
            <a:prstDash val="solid"/>
          </a:ln>
        </p:spPr>
      </p:sp>
      <p:sp>
        <p:nvSpPr>
          <p:cNvPr id="11" name="purpose-title">
            <a:extLst xmlns:a="http://schemas.openxmlformats.org/drawingml/2006/main">
              <a:ext uri="{FF2B5EF4-FFF2-40B4-BE49-F238E27FC236}">
                <a16:creationId xmlns:a16="http://schemas.microsoft.com/office/drawing/2014/main" id="{11408F08-6BF0-44A7-949B-03EC01D9B7CC}"/>
              </a:ext>
            </a:extLst>
          </p:cNvPr>
          <p:cNvSpPr>
            <a:spLocks xmlns:a="http://schemas.openxmlformats.org/drawingml/2006/main" noGrp="1"/>
          </p:cNvSpPr>
          <p:nvPr/>
        </p:nvSpPr>
        <p:spPr>
          <a:xfrm xmlns:a="http://schemas.openxmlformats.org/drawingml/2006/main">
            <a:off x="8810625" y="2038350"/>
            <a:ext cx="2419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191919"/>
                </a:solidFill>
              </a:defRPr>
            </a:pPr>
            <a:r>
              <a:rPr sz="1950" b="1">
                <a:solidFill>
                  <a:srgbClr val="191919"/>
                </a:solidFill>
              </a:rPr>
              <a:t>Purpose Vector</a:t>
            </a:r>
          </a:p>
        </p:txBody>
      </p:sp>
      <p:sp>
        <p:nvSpPr>
          <p:cNvPr id="12" name="purpose-list">
            <a:extLst xmlns:a="http://schemas.openxmlformats.org/drawingml/2006/main">
              <a:ext uri="{FF2B5EF4-FFF2-40B4-BE49-F238E27FC236}">
                <a16:creationId xmlns:a16="http://schemas.microsoft.com/office/drawing/2014/main" id="{1F67A584-B17F-4466-9EDE-02F9CED6AFB9}"/>
              </a:ext>
            </a:extLst>
          </p:cNvPr>
          <p:cNvSpPr>
            <a:spLocks xmlns:a="http://schemas.openxmlformats.org/drawingml/2006/main" noGrp="1"/>
          </p:cNvSpPr>
          <p:nvPr/>
        </p:nvSpPr>
        <p:spPr>
          <a:xfrm xmlns:a="http://schemas.openxmlformats.org/drawingml/2006/main">
            <a:off x="8810625" y="2571750"/>
            <a:ext cx="2419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91919"/>
                </a:solidFill>
              </a:defRPr>
            </a:pPr>
            <a:r>
              <a:rPr sz="1650" b="1">
                <a:solidFill>
                  <a:srgbClr val="191919"/>
                </a:solidFill>
              </a:rPr>
              <a:t>식사 · 카페 · 공부</a:t>
            </a:r>
          </a:p>
          <a:p xmlns:a="http://schemas.openxmlformats.org/drawingml/2006/main">
            <a:pPr algn="ctr">
              <a:defRPr sz="1650" b="1">
                <a:solidFill>
                  <a:srgbClr val="191919"/>
                </a:solidFill>
              </a:defRPr>
            </a:pPr>
            <a:r>
              <a:rPr sz="1650" b="1">
                <a:solidFill>
                  <a:srgbClr val="191919"/>
                </a:solidFill>
              </a:rPr>
              <a:t>여가 · 쇼핑 · 문화</a:t>
            </a:r>
          </a:p>
        </p:txBody>
      </p:sp>
      <p:sp>
        <p:nvSpPr>
          <p:cNvPr id="13" name="purpose-rule">
            <a:extLst xmlns:a="http://schemas.openxmlformats.org/drawingml/2006/main">
              <a:ext uri="{FF2B5EF4-FFF2-40B4-BE49-F238E27FC236}">
                <a16:creationId xmlns:a16="http://schemas.microsoft.com/office/drawing/2014/main" id="{93E87B58-AF75-48B5-8E09-4474963C7071}"/>
              </a:ext>
            </a:extLst>
          </p:cNvPr>
          <p:cNvSpPr>
            <a:spLocks xmlns:a="http://schemas.openxmlformats.org/drawingml/2006/main" noGrp="1"/>
          </p:cNvSpPr>
          <p:nvPr/>
        </p:nvSpPr>
        <p:spPr>
          <a:xfrm xmlns:a="http://schemas.openxmlformats.org/drawingml/2006/main">
            <a:off x="800100" y="4095750"/>
            <a:ext cx="10648950" cy="1200150"/>
          </a:xfrm>
          <a:prstGeom xmlns:a="http://schemas.openxmlformats.org/drawingml/2006/main" prst="roundRect">
            <a:avLst>
              <a:gd name="adj" fmla="val 12698"/>
            </a:avLst>
          </a:prstGeom>
          <a:solidFill xmlns:a="http://schemas.openxmlformats.org/drawingml/2006/main">
            <a:srgbClr val="191919"/>
          </a:solidFill>
          <a:ln xmlns:a="http://schemas.openxmlformats.org/drawingml/2006/main" w="0">
            <a:noFill/>
            <a:prstDash val="solid"/>
          </a:ln>
        </p:spPr>
      </p:sp>
      <p:sp>
        <p:nvSpPr>
          <p:cNvPr id="14" name="purpose-claim">
            <a:extLst xmlns:a="http://schemas.openxmlformats.org/drawingml/2006/main">
              <a:ext uri="{FF2B5EF4-FFF2-40B4-BE49-F238E27FC236}">
                <a16:creationId xmlns:a16="http://schemas.microsoft.com/office/drawing/2014/main" id="{01F666BC-ECD6-4D74-9667-8784B78C7FBF}"/>
              </a:ext>
            </a:extLst>
          </p:cNvPr>
          <p:cNvSpPr>
            <a:spLocks xmlns:a="http://schemas.openxmlformats.org/drawingml/2006/main" noGrp="1"/>
          </p:cNvSpPr>
          <p:nvPr/>
        </p:nvSpPr>
        <p:spPr>
          <a:xfrm xmlns:a="http://schemas.openxmlformats.org/drawingml/2006/main">
            <a:off x="1200150" y="4295775"/>
            <a:ext cx="984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같은 50분 후보군이어도 목적에 따라 최종 순위는 달라진다</a:t>
            </a:r>
          </a:p>
        </p:txBody>
      </p:sp>
      <p:sp>
        <p:nvSpPr>
          <p:cNvPr id="15" name="purpose-detail">
            <a:extLst xmlns:a="http://schemas.openxmlformats.org/drawingml/2006/main">
              <a:ext uri="{FF2B5EF4-FFF2-40B4-BE49-F238E27FC236}">
                <a16:creationId xmlns:a16="http://schemas.microsoft.com/office/drawing/2014/main" id="{B5C30136-CFEC-44FB-B87E-2A05D0D749D2}"/>
              </a:ext>
            </a:extLst>
          </p:cNvPr>
          <p:cNvSpPr>
            <a:spLocks xmlns:a="http://schemas.openxmlformats.org/drawingml/2006/main" noGrp="1"/>
          </p:cNvSpPr>
          <p:nvPr/>
        </p:nvSpPr>
        <p:spPr>
          <a:xfrm xmlns:a="http://schemas.openxmlformats.org/drawingml/2006/main">
            <a:off x="1238250" y="4800600"/>
            <a:ext cx="977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FEE500"/>
                </a:solidFill>
              </a:defRPr>
            </a:pPr>
            <a:r>
              <a:rPr sz="1350" b="0">
                <a:solidFill>
                  <a:srgbClr val="FEE500"/>
                </a:solidFill>
              </a:rPr>
              <a:t>POI · 업종다양성 · 시간대 유입 · 소비전환의 가중치를 목적별로 다르게 적용</a:t>
            </a:r>
          </a:p>
        </p:txBody>
      </p:sp>
      <p:sp>
        <p:nvSpPr>
          <p:cNvPr id="16" name="purpose-warning">
            <a:extLst xmlns:a="http://schemas.openxmlformats.org/drawingml/2006/main">
              <a:ext uri="{FF2B5EF4-FFF2-40B4-BE49-F238E27FC236}">
                <a16:creationId xmlns:a16="http://schemas.microsoft.com/office/drawing/2014/main" id="{29CDA199-3A7B-4689-831B-43F5B96CA089}"/>
              </a:ext>
            </a:extLst>
          </p:cNvPr>
          <p:cNvSpPr>
            <a:spLocks xmlns:a="http://schemas.openxmlformats.org/drawingml/2006/main" noGrp="1"/>
          </p:cNvSpPr>
          <p:nvPr/>
        </p:nvSpPr>
        <p:spPr>
          <a:xfrm xmlns:a="http://schemas.openxmlformats.org/drawingml/2006/main">
            <a:off x="2952750" y="56673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D94B35"/>
                </a:solidFill>
              </a:defRPr>
            </a:pPr>
            <a:r>
              <a:rPr sz="1200" b="1">
                <a:solidFill>
                  <a:srgbClr val="D94B35"/>
                </a:solidFill>
              </a:rPr>
              <a:t>개인 단위 인과 추적이 아니라 행정동·집단 수준의 확률적 추론</a:t>
            </a:r>
          </a:p>
        </p:txBody>
      </p:sp>
      <p:sp>
        <p:nvSpPr>
          <p:cNvPr id="17" name="footer-6">
            <a:extLst xmlns:a="http://schemas.openxmlformats.org/drawingml/2006/main">
              <a:ext uri="{FF2B5EF4-FFF2-40B4-BE49-F238E27FC236}">
                <a16:creationId xmlns:a16="http://schemas.microsoft.com/office/drawing/2014/main" id="{2FCE620F-4D0C-4CAB-849B-3188FB8BF7F6}"/>
              </a:ext>
            </a:extLst>
          </p:cNvPr>
          <p:cNvSpPr>
            <a:spLocks xmlns:a="http://schemas.openxmlformats.org/drawingml/2006/main" noGrp="1"/>
          </p:cNvSpPr>
          <p:nvPr/>
        </p:nvSpPr>
        <p:spPr>
          <a:xfrm xmlns:a="http://schemas.openxmlformats.org/drawingml/2006/main">
            <a:off x="609600" y="6477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635F"/>
                </a:solidFill>
              </a:defRPr>
            </a:pPr>
            <a:r>
              <a:rPr sz="825" b="1">
                <a:solidFill>
                  <a:srgbClr val="68635F"/>
                </a:solidFill>
              </a:rPr>
              <a:t>TEAM MAXIMUS · DAT</a:t>
            </a:r>
          </a:p>
        </p:txBody>
      </p:sp>
    </p:spTree>
    <p:extLst>
      <p:ext uri="{BB962C8B-B14F-4D97-AF65-F5344CB8AC3E}">
        <p14:creationId xmlns:p14="http://schemas.microsoft.com/office/powerpoint/2010/main" val="447794198"/>
      </p:ext>
    </p:extLst>
  </p:cSld>
</p:sld>
</file>

<file path=ppt/slides/slide7.xml><?xml version="1.0" encoding="utf-8"?>
<p:sld xmlns:p="http://schemas.openxmlformats.org/presentationml/2006/main">
  <p:cSld>
    <p:bg>
      <p:bgPr>
        <a:solidFill xmlns:a="http://schemas.openxmlformats.org/drawingml/2006/main">
          <a:srgbClr val="FFFEF7"/>
        </a:solidFill>
      </p:bgPr>
    </p:bg>
    <p:spTree>
      <p:nvGrpSpPr>
        <p:cNvPr id="1" name=""/>
        <p:cNvGrpSpPr/>
        <p:nvPr/>
      </p:nvGrpSpPr>
      <p:grpSpPr>
        <a:xfrm xmlns:a="http://schemas.openxmlformats.org/drawingml/2006/main"/>
      </p:grpSpPr>
      <p:sp>
        <p:nvSpPr>
          <p:cNvPr id="22" name="page-7">
            <a:extLst xmlns:a="http://schemas.openxmlformats.org/drawingml/2006/main">
              <a:ext uri="{FF2B5EF4-FFF2-40B4-BE49-F238E27FC236}">
                <a16:creationId xmlns:a16="http://schemas.microsoft.com/office/drawing/2014/main" id="{CCD58488-0053-4DE9-B8B9-992FF11EEC35}"/>
              </a:ext>
            </a:extLst>
          </p:cNvPr>
          <p:cNvSpPr>
            <a:spLocks xmlns:a="http://schemas.openxmlformats.org/drawingml/2006/main" noGrp="1"/>
          </p:cNvSpPr>
          <p:nvPr/>
        </p:nvSpPr>
        <p:spPr>
          <a:xfrm xmlns:a="http://schemas.openxmlformats.org/drawingml/2006/main">
            <a:off x="609600" y="3619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8635F"/>
                </a:solidFill>
              </a:defRPr>
            </a:pPr>
            <a:r>
              <a:rPr sz="1125" b="1">
                <a:solidFill>
                  <a:srgbClr val="68635F"/>
                </a:solidFill>
              </a:rPr>
              <a:t>07</a:t>
            </a:r>
          </a:p>
        </p:txBody>
      </p:sp>
      <p:sp>
        <p:nvSpPr>
          <p:cNvPr id="2" name="title-7">
            <a:extLst xmlns:a="http://schemas.openxmlformats.org/drawingml/2006/main">
              <a:ext uri="{FF2B5EF4-FFF2-40B4-BE49-F238E27FC236}">
                <a16:creationId xmlns:a16="http://schemas.microsoft.com/office/drawing/2014/main" id="{27CC1BC9-6C5E-411C-9F47-08DB816155CE}"/>
              </a:ext>
            </a:extLst>
          </p:cNvPr>
          <p:cNvSpPr>
            <a:spLocks xmlns:a="http://schemas.openxmlformats.org/drawingml/2006/main" noGrp="1"/>
          </p:cNvSpPr>
          <p:nvPr/>
        </p:nvSpPr>
        <p:spPr>
          <a:xfrm xmlns:a="http://schemas.openxmlformats.org/drawingml/2006/main">
            <a:off x="6096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91919"/>
                </a:solidFill>
              </a:defRPr>
            </a:pPr>
            <a:r>
              <a:rPr sz="2700" b="1">
                <a:solidFill>
                  <a:srgbClr val="191919"/>
                </a:solidFill>
              </a:rPr>
              <a:t>추천은 규칙기반에서 설명가능한 점포 재정렬로 고도화한다</a:t>
            </a:r>
          </a:p>
        </p:txBody>
      </p:sp>
      <p:sp>
        <p:nvSpPr>
          <p:cNvPr id="3" name="yellow-rule-7">
            <a:extLst xmlns:a="http://schemas.openxmlformats.org/drawingml/2006/main">
              <a:ext uri="{FF2B5EF4-FFF2-40B4-BE49-F238E27FC236}">
                <a16:creationId xmlns:a16="http://schemas.microsoft.com/office/drawing/2014/main" id="{7BBA115A-CA74-47BF-9D18-87504C30B7AA}"/>
              </a:ext>
            </a:extLst>
          </p:cNvPr>
          <p:cNvSpPr>
            <a:spLocks xmlns:a="http://schemas.openxmlformats.org/drawingml/2006/main" noGrp="1"/>
          </p:cNvSpPr>
          <p:nvPr/>
        </p:nvSpPr>
        <p:spPr>
          <a:xfrm xmlns:a="http://schemas.openxmlformats.org/drawingml/2006/main">
            <a:off x="11068050" y="371475"/>
            <a:ext cx="514350" cy="114300"/>
          </a:xfrm>
          <a:prstGeom xmlns:a="http://schemas.openxmlformats.org/drawingml/2006/main" prst="roundRect">
            <a:avLst>
              <a:gd name="adj" fmla="val 16667"/>
            </a:avLst>
          </a:prstGeom>
          <a:solidFill xmlns:a="http://schemas.openxmlformats.org/drawingml/2006/main">
            <a:srgbClr val="FEE500"/>
          </a:solidFill>
          <a:ln xmlns:a="http://schemas.openxmlformats.org/drawingml/2006/main" w="0">
            <a:noFill/>
            <a:prstDash val="solid"/>
          </a:ln>
        </p:spPr>
      </p:sp>
      <p:sp>
        <p:nvSpPr>
          <p:cNvPr id="4" name="r0-x1">
            <a:extLst xmlns:a="http://schemas.openxmlformats.org/drawingml/2006/main">
              <a:ext uri="{FF2B5EF4-FFF2-40B4-BE49-F238E27FC236}">
                <a16:creationId xmlns:a16="http://schemas.microsoft.com/office/drawing/2014/main" id="{4304B1E9-D4D3-4E5E-91CB-D301D84014B0}"/>
              </a:ext>
            </a:extLst>
          </p:cNvPr>
          <p:cNvSpPr>
            <a:spLocks xmlns:a="http://schemas.openxmlformats.org/drawingml/2006/main" noGrp="1"/>
          </p:cNvSpPr>
          <p:nvPr/>
        </p:nvSpPr>
        <p:spPr>
          <a:xfrm xmlns:a="http://schemas.openxmlformats.org/drawingml/2006/main">
            <a:off x="3476625" y="3543300"/>
            <a:ext cx="885825" cy="0"/>
          </a:xfrm>
          <a:prstGeom xmlns:a="http://schemas.openxmlformats.org/drawingml/2006/main" prst="line">
            <a:avLst/>
          </a:prstGeom>
          <a:noFill xmlns:a="http://schemas.openxmlformats.org/drawingml/2006/main"/>
          <a:ln xmlns:a="http://schemas.openxmlformats.org/drawingml/2006/main" w="38100">
            <a:solidFill>
              <a:srgbClr val="D8D2C7"/>
            </a:solidFill>
            <a:prstDash val="solid"/>
          </a:ln>
        </p:spPr>
      </p:sp>
      <p:sp>
        <p:nvSpPr>
          <p:cNvPr id="5" name="x1-p2">
            <a:extLst xmlns:a="http://schemas.openxmlformats.org/drawingml/2006/main">
              <a:ext uri="{FF2B5EF4-FFF2-40B4-BE49-F238E27FC236}">
                <a16:creationId xmlns:a16="http://schemas.microsoft.com/office/drawing/2014/main" id="{25E0696C-EF14-4DC6-9F31-889776586B6C}"/>
              </a:ext>
            </a:extLst>
          </p:cNvPr>
          <p:cNvSpPr>
            <a:spLocks xmlns:a="http://schemas.openxmlformats.org/drawingml/2006/main" noGrp="1"/>
          </p:cNvSpPr>
          <p:nvPr/>
        </p:nvSpPr>
        <p:spPr>
          <a:xfrm xmlns:a="http://schemas.openxmlformats.org/drawingml/2006/main">
            <a:off x="7858125" y="3543300"/>
            <a:ext cx="885825" cy="0"/>
          </a:xfrm>
          <a:prstGeom xmlns:a="http://schemas.openxmlformats.org/drawingml/2006/main" prst="line">
            <a:avLst/>
          </a:prstGeom>
          <a:noFill xmlns:a="http://schemas.openxmlformats.org/drawingml/2006/main"/>
          <a:ln xmlns:a="http://schemas.openxmlformats.org/drawingml/2006/main" w="38100">
            <a:solidFill>
              <a:srgbClr val="D8D2C7"/>
            </a:solidFill>
            <a:prstDash val="solid"/>
          </a:ln>
        </p:spPr>
      </p:sp>
      <p:sp>
        <p:nvSpPr>
          <p:cNvPr id="6" name="stack-R0">
            <a:extLst xmlns:a="http://schemas.openxmlformats.org/drawingml/2006/main">
              <a:ext uri="{FF2B5EF4-FFF2-40B4-BE49-F238E27FC236}">
                <a16:creationId xmlns:a16="http://schemas.microsoft.com/office/drawing/2014/main" id="{18DA3CE5-0263-47F2-8BDA-57934EEE48F7}"/>
              </a:ext>
            </a:extLst>
          </p:cNvPr>
          <p:cNvSpPr>
            <a:spLocks xmlns:a="http://schemas.openxmlformats.org/drawingml/2006/main" noGrp="1"/>
          </p:cNvSpPr>
          <p:nvPr/>
        </p:nvSpPr>
        <p:spPr>
          <a:xfrm xmlns:a="http://schemas.openxmlformats.org/drawingml/2006/main">
            <a:off x="666750" y="2095500"/>
            <a:ext cx="2781300" cy="30289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D8D2C7"/>
            </a:solidFill>
            <a:prstDash val="solid"/>
          </a:ln>
        </p:spPr>
      </p:sp>
      <p:sp>
        <p:nvSpPr>
          <p:cNvPr id="7" name="tag-R0">
            <a:extLst xmlns:a="http://schemas.openxmlformats.org/drawingml/2006/main">
              <a:ext uri="{FF2B5EF4-FFF2-40B4-BE49-F238E27FC236}">
                <a16:creationId xmlns:a16="http://schemas.microsoft.com/office/drawing/2014/main" id="{E9653E98-29C9-4C99-AB58-A4076200DBAC}"/>
              </a:ext>
            </a:extLst>
          </p:cNvPr>
          <p:cNvSpPr>
            <a:spLocks xmlns:a="http://schemas.openxmlformats.org/drawingml/2006/main" noGrp="1"/>
          </p:cNvSpPr>
          <p:nvPr/>
        </p:nvSpPr>
        <p:spPr>
          <a:xfrm xmlns:a="http://schemas.openxmlformats.org/drawingml/2006/main">
            <a:off x="895350" y="228600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68635F"/>
                </a:solidFill>
              </a:defRPr>
            </a:pPr>
            <a:r>
              <a:rPr sz="1500" b="1">
                <a:solidFill>
                  <a:srgbClr val="68635F"/>
                </a:solidFill>
              </a:rPr>
              <a:t>R0</a:t>
            </a:r>
          </a:p>
        </p:txBody>
      </p:sp>
      <p:sp>
        <p:nvSpPr>
          <p:cNvPr id="8" name="stack-head-R0">
            <a:extLst xmlns:a="http://schemas.openxmlformats.org/drawingml/2006/main">
              <a:ext uri="{FF2B5EF4-FFF2-40B4-BE49-F238E27FC236}">
                <a16:creationId xmlns:a16="http://schemas.microsoft.com/office/drawing/2014/main" id="{7B6CF812-A912-49E1-A01E-226C6D0CCBE1}"/>
              </a:ext>
            </a:extLst>
          </p:cNvPr>
          <p:cNvSpPr>
            <a:spLocks xmlns:a="http://schemas.openxmlformats.org/drawingml/2006/main" noGrp="1"/>
          </p:cNvSpPr>
          <p:nvPr/>
        </p:nvSpPr>
        <p:spPr>
          <a:xfrm xmlns:a="http://schemas.openxmlformats.org/drawingml/2006/main">
            <a:off x="895350" y="27432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91919"/>
                </a:solidFill>
              </a:defRPr>
            </a:pPr>
            <a:r>
              <a:rPr sz="1875" b="1">
                <a:solidFill>
                  <a:srgbClr val="191919"/>
                </a:solidFill>
              </a:rPr>
              <a:t>Accessible Relevance</a:t>
            </a:r>
          </a:p>
        </p:txBody>
      </p:sp>
      <p:sp>
        <p:nvSpPr>
          <p:cNvPr id="9" name="stack-body-R0">
            <a:extLst xmlns:a="http://schemas.openxmlformats.org/drawingml/2006/main">
              <a:ext uri="{FF2B5EF4-FFF2-40B4-BE49-F238E27FC236}">
                <a16:creationId xmlns:a16="http://schemas.microsoft.com/office/drawing/2014/main" id="{FC5BB1C7-2ED5-4FA1-80F1-14163C0AEC9E}"/>
              </a:ext>
            </a:extLst>
          </p:cNvPr>
          <p:cNvSpPr>
            <a:spLocks xmlns:a="http://schemas.openxmlformats.org/drawingml/2006/main" noGrp="1"/>
          </p:cNvSpPr>
          <p:nvPr/>
        </p:nvSpPr>
        <p:spPr>
          <a:xfrm xmlns:a="http://schemas.openxmlformats.org/drawingml/2006/main">
            <a:off x="952500" y="3619500"/>
            <a:ext cx="2209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68635F"/>
                </a:solidFill>
              </a:defRPr>
            </a:pPr>
            <a:r>
              <a:rPr sz="1500" b="0">
                <a:solidFill>
                  <a:srgbClr val="68635F"/>
                </a:solidFill>
              </a:rPr>
              <a:t>50분 접근성</a:t>
            </a:r>
          </a:p>
          <a:p xmlns:a="http://schemas.openxmlformats.org/drawingml/2006/main">
            <a:pPr algn="ctr">
              <a:defRPr sz="1500" b="0">
                <a:solidFill>
                  <a:srgbClr val="68635F"/>
                </a:solidFill>
              </a:defRPr>
            </a:pPr>
            <a:r>
              <a:rPr sz="1500" b="0">
                <a:solidFill>
                  <a:srgbClr val="68635F"/>
                </a:solidFill>
              </a:rPr>
              <a:t>목적별 규칙점수</a:t>
            </a:r>
          </a:p>
          <a:p xmlns:a="http://schemas.openxmlformats.org/drawingml/2006/main">
            <a:pPr algn="ctr">
              <a:defRPr sz="1500" b="0">
                <a:solidFill>
                  <a:srgbClr val="68635F"/>
                </a:solidFill>
              </a:defRPr>
            </a:pPr>
            <a:r>
              <a:rPr sz="1500" b="0">
                <a:solidFill>
                  <a:srgbClr val="68635F"/>
                </a:solidFill>
              </a:rPr>
              <a:t>Huff 기준선</a:t>
            </a:r>
          </a:p>
        </p:txBody>
      </p:sp>
      <p:sp>
        <p:nvSpPr>
          <p:cNvPr id="10" name="stack-X1">
            <a:extLst xmlns:a="http://schemas.openxmlformats.org/drawingml/2006/main">
              <a:ext uri="{FF2B5EF4-FFF2-40B4-BE49-F238E27FC236}">
                <a16:creationId xmlns:a16="http://schemas.microsoft.com/office/drawing/2014/main" id="{04E9CB58-B47F-479C-BE20-40E8B0A8AA9A}"/>
              </a:ext>
            </a:extLst>
          </p:cNvPr>
          <p:cNvSpPr>
            <a:spLocks xmlns:a="http://schemas.openxmlformats.org/drawingml/2006/main" noGrp="1"/>
          </p:cNvSpPr>
          <p:nvPr/>
        </p:nvSpPr>
        <p:spPr>
          <a:xfrm xmlns:a="http://schemas.openxmlformats.org/drawingml/2006/main">
            <a:off x="4362450" y="2095500"/>
            <a:ext cx="2781300" cy="3028950"/>
          </a:xfrm>
          <a:prstGeom xmlns:a="http://schemas.openxmlformats.org/drawingml/2006/main" prst="roundRect">
            <a:avLst>
              <a:gd name="adj" fmla="val 5479"/>
            </a:avLst>
          </a:prstGeom>
          <a:solidFill xmlns:a="http://schemas.openxmlformats.org/drawingml/2006/main">
            <a:srgbClr val="FFF8C5"/>
          </a:solidFill>
          <a:ln xmlns:a="http://schemas.openxmlformats.org/drawingml/2006/main" w="9525">
            <a:solidFill>
              <a:srgbClr val="D8D2C7"/>
            </a:solidFill>
            <a:prstDash val="solid"/>
          </a:ln>
        </p:spPr>
      </p:sp>
      <p:sp>
        <p:nvSpPr>
          <p:cNvPr id="11" name="tag-X1">
            <a:extLst xmlns:a="http://schemas.openxmlformats.org/drawingml/2006/main">
              <a:ext uri="{FF2B5EF4-FFF2-40B4-BE49-F238E27FC236}">
                <a16:creationId xmlns:a16="http://schemas.microsoft.com/office/drawing/2014/main" id="{9330F806-6C18-417A-A48E-22113BF49212}"/>
              </a:ext>
            </a:extLst>
          </p:cNvPr>
          <p:cNvSpPr>
            <a:spLocks xmlns:a="http://schemas.openxmlformats.org/drawingml/2006/main" noGrp="1"/>
          </p:cNvSpPr>
          <p:nvPr/>
        </p:nvSpPr>
        <p:spPr>
          <a:xfrm xmlns:a="http://schemas.openxmlformats.org/drawingml/2006/main">
            <a:off x="4591050" y="228600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68635F"/>
                </a:solidFill>
              </a:defRPr>
            </a:pPr>
            <a:r>
              <a:rPr sz="1500" b="1">
                <a:solidFill>
                  <a:srgbClr val="68635F"/>
                </a:solidFill>
              </a:rPr>
              <a:t>X1</a:t>
            </a:r>
          </a:p>
        </p:txBody>
      </p:sp>
      <p:sp>
        <p:nvSpPr>
          <p:cNvPr id="12" name="stack-head-X1">
            <a:extLst xmlns:a="http://schemas.openxmlformats.org/drawingml/2006/main">
              <a:ext uri="{FF2B5EF4-FFF2-40B4-BE49-F238E27FC236}">
                <a16:creationId xmlns:a16="http://schemas.microsoft.com/office/drawing/2014/main" id="{7578E266-FA44-4A31-9CA5-E0C709F232EF}"/>
              </a:ext>
            </a:extLst>
          </p:cNvPr>
          <p:cNvSpPr>
            <a:spLocks xmlns:a="http://schemas.openxmlformats.org/drawingml/2006/main" noGrp="1"/>
          </p:cNvSpPr>
          <p:nvPr/>
        </p:nvSpPr>
        <p:spPr>
          <a:xfrm xmlns:a="http://schemas.openxmlformats.org/drawingml/2006/main">
            <a:off x="4591050" y="27432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91919"/>
                </a:solidFill>
              </a:defRPr>
            </a:pPr>
            <a:r>
              <a:rPr sz="1875" b="1">
                <a:solidFill>
                  <a:srgbClr val="191919"/>
                </a:solidFill>
              </a:rPr>
              <a:t>Explainable Ranker</a:t>
            </a:r>
          </a:p>
        </p:txBody>
      </p:sp>
      <p:sp>
        <p:nvSpPr>
          <p:cNvPr id="13" name="stack-body-X1">
            <a:extLst xmlns:a="http://schemas.openxmlformats.org/drawingml/2006/main">
              <a:ext uri="{FF2B5EF4-FFF2-40B4-BE49-F238E27FC236}">
                <a16:creationId xmlns:a16="http://schemas.microsoft.com/office/drawing/2014/main" id="{049D6CB0-D361-40A3-BF0D-D0021A9A0300}"/>
              </a:ext>
            </a:extLst>
          </p:cNvPr>
          <p:cNvSpPr>
            <a:spLocks xmlns:a="http://schemas.openxmlformats.org/drawingml/2006/main" noGrp="1"/>
          </p:cNvSpPr>
          <p:nvPr/>
        </p:nvSpPr>
        <p:spPr>
          <a:xfrm xmlns:a="http://schemas.openxmlformats.org/drawingml/2006/main">
            <a:off x="4648200" y="3619500"/>
            <a:ext cx="2209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68635F"/>
                </a:solidFill>
              </a:defRPr>
            </a:pPr>
            <a:r>
              <a:rPr sz="1500" b="0">
                <a:solidFill>
                  <a:srgbClr val="68635F"/>
                </a:solidFill>
              </a:rPr>
              <a:t>PPML · 로짓</a:t>
            </a:r>
          </a:p>
          <a:p xmlns:a="http://schemas.openxmlformats.org/drawingml/2006/main">
            <a:pPr algn="ctr">
              <a:defRPr sz="1500" b="0">
                <a:solidFill>
                  <a:srgbClr val="68635F"/>
                </a:solidFill>
              </a:defRPr>
            </a:pPr>
            <a:r>
              <a:rPr sz="1500" b="0">
                <a:solidFill>
                  <a:srgbClr val="68635F"/>
                </a:solidFill>
              </a:rPr>
              <a:t>LightGBM/CatBoost</a:t>
            </a:r>
          </a:p>
          <a:p xmlns:a="http://schemas.openxmlformats.org/drawingml/2006/main">
            <a:pPr algn="ctr">
              <a:defRPr sz="1500" b="0">
                <a:solidFill>
                  <a:srgbClr val="68635F"/>
                </a:solidFill>
              </a:defRPr>
            </a:pPr>
            <a:r>
              <a:rPr sz="1500" b="0">
                <a:solidFill>
                  <a:srgbClr val="68635F"/>
                </a:solidFill>
              </a:rPr>
              <a:t>SHAP 근거</a:t>
            </a:r>
          </a:p>
        </p:txBody>
      </p:sp>
      <p:sp>
        <p:nvSpPr>
          <p:cNvPr id="14" name="stack-P2">
            <a:extLst xmlns:a="http://schemas.openxmlformats.org/drawingml/2006/main">
              <a:ext uri="{FF2B5EF4-FFF2-40B4-BE49-F238E27FC236}">
                <a16:creationId xmlns:a16="http://schemas.microsoft.com/office/drawing/2014/main" id="{7C4F3430-2911-427D-B8A7-7A74985C6149}"/>
              </a:ext>
            </a:extLst>
          </p:cNvPr>
          <p:cNvSpPr>
            <a:spLocks xmlns:a="http://schemas.openxmlformats.org/drawingml/2006/main" noGrp="1"/>
          </p:cNvSpPr>
          <p:nvPr/>
        </p:nvSpPr>
        <p:spPr>
          <a:xfrm xmlns:a="http://schemas.openxmlformats.org/drawingml/2006/main">
            <a:off x="8743950" y="2095500"/>
            <a:ext cx="2781300" cy="3028950"/>
          </a:xfrm>
          <a:prstGeom xmlns:a="http://schemas.openxmlformats.org/drawingml/2006/main" prst="roundRect">
            <a:avLst>
              <a:gd name="adj" fmla="val 5479"/>
            </a:avLst>
          </a:prstGeom>
          <a:solidFill xmlns:a="http://schemas.openxmlformats.org/drawingml/2006/main">
            <a:srgbClr val="191919"/>
          </a:solidFill>
          <a:ln xmlns:a="http://schemas.openxmlformats.org/drawingml/2006/main" w="9525">
            <a:solidFill>
              <a:srgbClr val="D8D2C7"/>
            </a:solidFill>
            <a:prstDash val="solid"/>
          </a:ln>
        </p:spPr>
      </p:sp>
      <p:sp>
        <p:nvSpPr>
          <p:cNvPr id="15" name="tag-P2">
            <a:extLst xmlns:a="http://schemas.openxmlformats.org/drawingml/2006/main">
              <a:ext uri="{FF2B5EF4-FFF2-40B4-BE49-F238E27FC236}">
                <a16:creationId xmlns:a16="http://schemas.microsoft.com/office/drawing/2014/main" id="{30DC4B89-5BA7-4686-9BD8-358FB1546561}"/>
              </a:ext>
            </a:extLst>
          </p:cNvPr>
          <p:cNvSpPr>
            <a:spLocks xmlns:a="http://schemas.openxmlformats.org/drawingml/2006/main" noGrp="1"/>
          </p:cNvSpPr>
          <p:nvPr/>
        </p:nvSpPr>
        <p:spPr>
          <a:xfrm xmlns:a="http://schemas.openxmlformats.org/drawingml/2006/main">
            <a:off x="8972550" y="228600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EE500"/>
                </a:solidFill>
              </a:defRPr>
            </a:pPr>
            <a:r>
              <a:rPr sz="1500" b="1">
                <a:solidFill>
                  <a:srgbClr val="FEE500"/>
                </a:solidFill>
              </a:rPr>
              <a:t>P2</a:t>
            </a:r>
          </a:p>
        </p:txBody>
      </p:sp>
      <p:sp>
        <p:nvSpPr>
          <p:cNvPr id="16" name="stack-head-P2">
            <a:extLst xmlns:a="http://schemas.openxmlformats.org/drawingml/2006/main">
              <a:ext uri="{FF2B5EF4-FFF2-40B4-BE49-F238E27FC236}">
                <a16:creationId xmlns:a16="http://schemas.microsoft.com/office/drawing/2014/main" id="{BE578438-12B3-4C93-B7D7-445F94DF1019}"/>
              </a:ext>
            </a:extLst>
          </p:cNvPr>
          <p:cNvSpPr>
            <a:spLocks xmlns:a="http://schemas.openxmlformats.org/drawingml/2006/main" noGrp="1"/>
          </p:cNvSpPr>
          <p:nvPr/>
        </p:nvSpPr>
        <p:spPr>
          <a:xfrm xmlns:a="http://schemas.openxmlformats.org/drawingml/2006/main">
            <a:off x="8972550" y="27432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Point-of-Interest Reranker</a:t>
            </a:r>
          </a:p>
        </p:txBody>
      </p:sp>
      <p:sp>
        <p:nvSpPr>
          <p:cNvPr id="17" name="stack-body-P2">
            <a:extLst xmlns:a="http://schemas.openxmlformats.org/drawingml/2006/main">
              <a:ext uri="{FF2B5EF4-FFF2-40B4-BE49-F238E27FC236}">
                <a16:creationId xmlns:a16="http://schemas.microsoft.com/office/drawing/2014/main" id="{6262E5D6-BAAF-4D09-9FC4-99E23C83C150}"/>
              </a:ext>
            </a:extLst>
          </p:cNvPr>
          <p:cNvSpPr>
            <a:spLocks xmlns:a="http://schemas.openxmlformats.org/drawingml/2006/main" noGrp="1"/>
          </p:cNvSpPr>
          <p:nvPr/>
        </p:nvSpPr>
        <p:spPr>
          <a:xfrm xmlns:a="http://schemas.openxmlformats.org/drawingml/2006/main">
            <a:off x="9029700" y="3619500"/>
            <a:ext cx="2209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FEE500"/>
                </a:solidFill>
              </a:defRPr>
            </a:pPr>
            <a:r>
              <a:rPr sz="1500" b="0">
                <a:solidFill>
                  <a:srgbClr val="FEE500"/>
                </a:solidFill>
              </a:rPr>
              <a:t>KoRoBERTa/SBERT</a:t>
            </a:r>
          </a:p>
          <a:p xmlns:a="http://schemas.openxmlformats.org/drawingml/2006/main">
            <a:pPr algn="ctr">
              <a:defRPr sz="1500" b="0">
                <a:solidFill>
                  <a:srgbClr val="FEE500"/>
                </a:solidFill>
              </a:defRPr>
            </a:pPr>
            <a:r>
              <a:rPr sz="1500" b="0">
                <a:solidFill>
                  <a:srgbClr val="FEE500"/>
                </a:solidFill>
              </a:rPr>
              <a:t>점포·메뉴·후기 텍스트</a:t>
            </a:r>
          </a:p>
          <a:p xmlns:a="http://schemas.openxmlformats.org/drawingml/2006/main">
            <a:pPr algn="ctr">
              <a:defRPr sz="1500" b="0">
                <a:solidFill>
                  <a:srgbClr val="FEE500"/>
                </a:solidFill>
              </a:defRPr>
            </a:pPr>
            <a:r>
              <a:rPr sz="1500" b="0">
                <a:solidFill>
                  <a:srgbClr val="FEE500"/>
                </a:solidFill>
              </a:rPr>
              <a:t>MLP 개인화</a:t>
            </a:r>
          </a:p>
        </p:txBody>
      </p:sp>
      <p:sp>
        <p:nvSpPr>
          <p:cNvPr id="18" name="district-output">
            <a:extLst xmlns:a="http://schemas.openxmlformats.org/drawingml/2006/main">
              <a:ext uri="{FF2B5EF4-FFF2-40B4-BE49-F238E27FC236}">
                <a16:creationId xmlns:a16="http://schemas.microsoft.com/office/drawing/2014/main" id="{FC5426DF-AE55-4D75-A91C-0CD158C9D351}"/>
              </a:ext>
            </a:extLst>
          </p:cNvPr>
          <p:cNvSpPr>
            <a:spLocks xmlns:a="http://schemas.openxmlformats.org/drawingml/2006/main" noGrp="1"/>
          </p:cNvSpPr>
          <p:nvPr/>
        </p:nvSpPr>
        <p:spPr>
          <a:xfrm xmlns:a="http://schemas.openxmlformats.org/drawingml/2006/main">
            <a:off x="1143000" y="54387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91919"/>
                </a:solidFill>
              </a:defRPr>
            </a:pPr>
            <a:r>
              <a:rPr sz="1425" b="1">
                <a:solidFill>
                  <a:srgbClr val="191919"/>
                </a:solidFill>
              </a:rPr>
              <a:t>상권 추천</a:t>
            </a:r>
          </a:p>
        </p:txBody>
      </p:sp>
      <p:sp>
        <p:nvSpPr>
          <p:cNvPr id="19" name="rank-output">
            <a:extLst xmlns:a="http://schemas.openxmlformats.org/drawingml/2006/main">
              <a:ext uri="{FF2B5EF4-FFF2-40B4-BE49-F238E27FC236}">
                <a16:creationId xmlns:a16="http://schemas.microsoft.com/office/drawing/2014/main" id="{FC5F7318-474B-4B18-BECB-C7B3BB86271C}"/>
              </a:ext>
            </a:extLst>
          </p:cNvPr>
          <p:cNvSpPr>
            <a:spLocks xmlns:a="http://schemas.openxmlformats.org/drawingml/2006/main" noGrp="1"/>
          </p:cNvSpPr>
          <p:nvPr/>
        </p:nvSpPr>
        <p:spPr>
          <a:xfrm xmlns:a="http://schemas.openxmlformats.org/drawingml/2006/main">
            <a:off x="4838700" y="54387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91919"/>
                </a:solidFill>
              </a:defRPr>
            </a:pPr>
            <a:r>
              <a:rPr sz="1425" b="1">
                <a:solidFill>
                  <a:srgbClr val="191919"/>
                </a:solidFill>
              </a:rPr>
              <a:t>근거가 있는 순위</a:t>
            </a:r>
          </a:p>
        </p:txBody>
      </p:sp>
      <p:sp>
        <p:nvSpPr>
          <p:cNvPr id="20" name="store-output">
            <a:extLst xmlns:a="http://schemas.openxmlformats.org/drawingml/2006/main">
              <a:ext uri="{FF2B5EF4-FFF2-40B4-BE49-F238E27FC236}">
                <a16:creationId xmlns:a16="http://schemas.microsoft.com/office/drawing/2014/main" id="{BCF4568F-B87F-43B7-A9FD-BADAB54548AF}"/>
              </a:ext>
            </a:extLst>
          </p:cNvPr>
          <p:cNvSpPr>
            <a:spLocks xmlns:a="http://schemas.openxmlformats.org/drawingml/2006/main" noGrp="1"/>
          </p:cNvSpPr>
          <p:nvPr/>
        </p:nvSpPr>
        <p:spPr>
          <a:xfrm xmlns:a="http://schemas.openxmlformats.org/drawingml/2006/main">
            <a:off x="9124950" y="543877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91919"/>
                </a:solidFill>
              </a:defRPr>
            </a:pPr>
            <a:r>
              <a:rPr sz="1425" b="1">
                <a:solidFill>
                  <a:srgbClr val="191919"/>
                </a:solidFill>
              </a:rPr>
              <a:t>상권 내부 점포 추천</a:t>
            </a:r>
          </a:p>
        </p:txBody>
      </p:sp>
      <p:sp>
        <p:nvSpPr>
          <p:cNvPr id="21" name="footer-7">
            <a:extLst xmlns:a="http://schemas.openxmlformats.org/drawingml/2006/main">
              <a:ext uri="{FF2B5EF4-FFF2-40B4-BE49-F238E27FC236}">
                <a16:creationId xmlns:a16="http://schemas.microsoft.com/office/drawing/2014/main" id="{050AB543-FE8F-44FE-91AF-98EC7FF990C4}"/>
              </a:ext>
            </a:extLst>
          </p:cNvPr>
          <p:cNvSpPr>
            <a:spLocks xmlns:a="http://schemas.openxmlformats.org/drawingml/2006/main" noGrp="1"/>
          </p:cNvSpPr>
          <p:nvPr/>
        </p:nvSpPr>
        <p:spPr>
          <a:xfrm xmlns:a="http://schemas.openxmlformats.org/drawingml/2006/main">
            <a:off x="609600" y="6477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635F"/>
                </a:solidFill>
              </a:defRPr>
            </a:pPr>
            <a:r>
              <a:rPr sz="825" b="1">
                <a:solidFill>
                  <a:srgbClr val="68635F"/>
                </a:solidFill>
              </a:rPr>
              <a:t>TEAM MAXIMUS · DAT</a:t>
            </a:r>
          </a:p>
        </p:txBody>
      </p:sp>
    </p:spTree>
    <p:extLst>
      <p:ext uri="{BB962C8B-B14F-4D97-AF65-F5344CB8AC3E}">
        <p14:creationId xmlns:p14="http://schemas.microsoft.com/office/powerpoint/2010/main" val="501335242"/>
      </p:ext>
    </p:extLst>
  </p:cSld>
</p:sld>
</file>

<file path=ppt/slides/slide8.xml><?xml version="1.0" encoding="utf-8"?>
<p:sld xmlns:p="http://schemas.openxmlformats.org/presentationml/2006/main">
  <p:cSld>
    <p:bg>
      <p:bgPr>
        <a:solidFill xmlns:a="http://schemas.openxmlformats.org/drawingml/2006/main">
          <a:srgbClr val="FFFEF7"/>
        </a:solidFill>
      </p:bgPr>
    </p:bg>
    <p:spTree>
      <p:nvGrpSpPr>
        <p:cNvPr id="1" name=""/>
        <p:cNvGrpSpPr/>
        <p:nvPr/>
      </p:nvGrpSpPr>
      <p:grpSpPr>
        <a:xfrm xmlns:a="http://schemas.openxmlformats.org/drawingml/2006/main"/>
      </p:grpSpPr>
      <p:sp>
        <p:nvSpPr>
          <p:cNvPr id="26" name="page-8">
            <a:extLst xmlns:a="http://schemas.openxmlformats.org/drawingml/2006/main">
              <a:ext uri="{FF2B5EF4-FFF2-40B4-BE49-F238E27FC236}">
                <a16:creationId xmlns:a16="http://schemas.microsoft.com/office/drawing/2014/main" id="{CA2CC564-D315-44C0-AD79-B15B5E6B4EB5}"/>
              </a:ext>
            </a:extLst>
          </p:cNvPr>
          <p:cNvSpPr>
            <a:spLocks xmlns:a="http://schemas.openxmlformats.org/drawingml/2006/main" noGrp="1"/>
          </p:cNvSpPr>
          <p:nvPr/>
        </p:nvSpPr>
        <p:spPr>
          <a:xfrm xmlns:a="http://schemas.openxmlformats.org/drawingml/2006/main">
            <a:off x="609600" y="3619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8635F"/>
                </a:solidFill>
              </a:defRPr>
            </a:pPr>
            <a:r>
              <a:rPr sz="1125" b="1">
                <a:solidFill>
                  <a:srgbClr val="68635F"/>
                </a:solidFill>
              </a:rPr>
              <a:t>08</a:t>
            </a:r>
          </a:p>
        </p:txBody>
      </p:sp>
      <p:sp>
        <p:nvSpPr>
          <p:cNvPr id="2" name="title-8">
            <a:extLst xmlns:a="http://schemas.openxmlformats.org/drawingml/2006/main">
              <a:ext uri="{FF2B5EF4-FFF2-40B4-BE49-F238E27FC236}">
                <a16:creationId xmlns:a16="http://schemas.microsoft.com/office/drawing/2014/main" id="{4C591916-FF38-4611-B340-2312BC1A2A66}"/>
              </a:ext>
            </a:extLst>
          </p:cNvPr>
          <p:cNvSpPr>
            <a:spLocks xmlns:a="http://schemas.openxmlformats.org/drawingml/2006/main" noGrp="1"/>
          </p:cNvSpPr>
          <p:nvPr/>
        </p:nvSpPr>
        <p:spPr>
          <a:xfrm xmlns:a="http://schemas.openxmlformats.org/drawingml/2006/main">
            <a:off x="6096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91919"/>
                </a:solidFill>
              </a:defRPr>
            </a:pPr>
            <a:r>
              <a:rPr sz="2700" b="1">
                <a:solidFill>
                  <a:srgbClr val="191919"/>
                </a:solidFill>
              </a:rPr>
              <a:t>이번 학기의 결과물은 ‘설명 가능한 추천모델’이다</a:t>
            </a:r>
          </a:p>
        </p:txBody>
      </p:sp>
      <p:sp>
        <p:nvSpPr>
          <p:cNvPr id="3" name="yellow-rule-8">
            <a:extLst xmlns:a="http://schemas.openxmlformats.org/drawingml/2006/main">
              <a:ext uri="{FF2B5EF4-FFF2-40B4-BE49-F238E27FC236}">
                <a16:creationId xmlns:a16="http://schemas.microsoft.com/office/drawing/2014/main" id="{F8FDC999-D671-4E47-8796-060628EEE59F}"/>
              </a:ext>
            </a:extLst>
          </p:cNvPr>
          <p:cNvSpPr>
            <a:spLocks xmlns:a="http://schemas.openxmlformats.org/drawingml/2006/main" noGrp="1"/>
          </p:cNvSpPr>
          <p:nvPr/>
        </p:nvSpPr>
        <p:spPr>
          <a:xfrm xmlns:a="http://schemas.openxmlformats.org/drawingml/2006/main">
            <a:off x="11068050" y="371475"/>
            <a:ext cx="514350" cy="114300"/>
          </a:xfrm>
          <a:prstGeom xmlns:a="http://schemas.openxmlformats.org/drawingml/2006/main" prst="roundRect">
            <a:avLst>
              <a:gd name="adj" fmla="val 16667"/>
            </a:avLst>
          </a:prstGeom>
          <a:solidFill xmlns:a="http://schemas.openxmlformats.org/drawingml/2006/main">
            <a:srgbClr val="FEE500"/>
          </a:solidFill>
          <a:ln xmlns:a="http://schemas.openxmlformats.org/drawingml/2006/main" w="0">
            <a:noFill/>
            <a:prstDash val="solid"/>
          </a:ln>
        </p:spPr>
      </p:sp>
      <p:sp>
        <p:nvSpPr>
          <p:cNvPr id="4" name="road-line">
            <a:extLst xmlns:a="http://schemas.openxmlformats.org/drawingml/2006/main">
              <a:ext uri="{FF2B5EF4-FFF2-40B4-BE49-F238E27FC236}">
                <a16:creationId xmlns:a16="http://schemas.microsoft.com/office/drawing/2014/main" id="{2C3EEAF0-9C26-4485-9AE1-E0E1FBCCB554}"/>
              </a:ext>
            </a:extLst>
          </p:cNvPr>
          <p:cNvSpPr>
            <a:spLocks xmlns:a="http://schemas.openxmlformats.org/drawingml/2006/main" noGrp="1"/>
          </p:cNvSpPr>
          <p:nvPr/>
        </p:nvSpPr>
        <p:spPr>
          <a:xfrm xmlns:a="http://schemas.openxmlformats.org/drawingml/2006/main">
            <a:off x="1714500" y="2857500"/>
            <a:ext cx="8096250" cy="0"/>
          </a:xfrm>
          <a:prstGeom xmlns:a="http://schemas.openxmlformats.org/drawingml/2006/main" prst="line">
            <a:avLst/>
          </a:prstGeom>
          <a:noFill xmlns:a="http://schemas.openxmlformats.org/drawingml/2006/main"/>
          <a:ln xmlns:a="http://schemas.openxmlformats.org/drawingml/2006/main" w="66675">
            <a:solidFill>
              <a:srgbClr val="D8D2C7"/>
            </a:solidFill>
            <a:prstDash val="solid"/>
          </a:ln>
        </p:spPr>
      </p:sp>
      <p:sp>
        <p:nvSpPr>
          <p:cNvPr id="5" name="dot-01">
            <a:extLst xmlns:a="http://schemas.openxmlformats.org/drawingml/2006/main">
              <a:ext uri="{FF2B5EF4-FFF2-40B4-BE49-F238E27FC236}">
                <a16:creationId xmlns:a16="http://schemas.microsoft.com/office/drawing/2014/main" id="{7BFFE72D-1E70-4C3B-B43F-D957249829B6}"/>
              </a:ext>
            </a:extLst>
          </p:cNvPr>
          <p:cNvSpPr>
            <a:spLocks xmlns:a="http://schemas.openxmlformats.org/drawingml/2006/main" noGrp="1"/>
          </p:cNvSpPr>
          <p:nvPr/>
        </p:nvSpPr>
        <p:spPr>
          <a:xfrm xmlns:a="http://schemas.openxmlformats.org/drawingml/2006/main">
            <a:off x="1428750" y="2628900"/>
            <a:ext cx="457200" cy="457200"/>
          </a:xfrm>
          <a:prstGeom xmlns:a="http://schemas.openxmlformats.org/drawingml/2006/main" prst="roundRect">
            <a:avLst>
              <a:gd name="adj" fmla="val 25000"/>
            </a:avLst>
          </a:prstGeom>
          <a:solidFill xmlns:a="http://schemas.openxmlformats.org/drawingml/2006/main">
            <a:srgbClr val="FEE500"/>
          </a:solidFill>
          <a:ln xmlns:a="http://schemas.openxmlformats.org/drawingml/2006/main" w="0">
            <a:noFill/>
            <a:prstDash val="solid"/>
          </a:ln>
        </p:spPr>
      </p:sp>
      <p:sp>
        <p:nvSpPr>
          <p:cNvPr id="6" name="road-num-01">
            <a:extLst xmlns:a="http://schemas.openxmlformats.org/drawingml/2006/main">
              <a:ext uri="{FF2B5EF4-FFF2-40B4-BE49-F238E27FC236}">
                <a16:creationId xmlns:a16="http://schemas.microsoft.com/office/drawing/2014/main" id="{F94AA629-6038-49A3-8E96-1967CE4F8FF7}"/>
              </a:ext>
            </a:extLst>
          </p:cNvPr>
          <p:cNvSpPr>
            <a:spLocks xmlns:a="http://schemas.openxmlformats.org/drawingml/2006/main" noGrp="1"/>
          </p:cNvSpPr>
          <p:nvPr/>
        </p:nvSpPr>
        <p:spPr>
          <a:xfrm xmlns:a="http://schemas.openxmlformats.org/drawingml/2006/main">
            <a:off x="1428750" y="269557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91919"/>
                </a:solidFill>
              </a:defRPr>
            </a:pPr>
            <a:r>
              <a:rPr sz="1200" b="1">
                <a:solidFill>
                  <a:srgbClr val="191919"/>
                </a:solidFill>
              </a:rPr>
              <a:t>01</a:t>
            </a:r>
          </a:p>
        </p:txBody>
      </p:sp>
      <p:sp>
        <p:nvSpPr>
          <p:cNvPr id="7" name="road-head-01">
            <a:extLst xmlns:a="http://schemas.openxmlformats.org/drawingml/2006/main">
              <a:ext uri="{FF2B5EF4-FFF2-40B4-BE49-F238E27FC236}">
                <a16:creationId xmlns:a16="http://schemas.microsoft.com/office/drawing/2014/main" id="{06C412AE-E171-4531-A0C4-1A470A99276C}"/>
              </a:ext>
            </a:extLst>
          </p:cNvPr>
          <p:cNvSpPr>
            <a:spLocks xmlns:a="http://schemas.openxmlformats.org/drawingml/2006/main" noGrp="1"/>
          </p:cNvSpPr>
          <p:nvPr/>
        </p:nvSpPr>
        <p:spPr>
          <a:xfrm xmlns:a="http://schemas.openxmlformats.org/drawingml/2006/main">
            <a:off x="723900" y="331470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91919"/>
                </a:solidFill>
              </a:defRPr>
            </a:pPr>
            <a:r>
              <a:rPr sz="1650" b="1">
                <a:solidFill>
                  <a:srgbClr val="191919"/>
                </a:solidFill>
              </a:rPr>
              <a:t>DATA</a:t>
            </a:r>
          </a:p>
        </p:txBody>
      </p:sp>
      <p:sp>
        <p:nvSpPr>
          <p:cNvPr id="8" name="road-body-01">
            <a:extLst xmlns:a="http://schemas.openxmlformats.org/drawingml/2006/main">
              <a:ext uri="{FF2B5EF4-FFF2-40B4-BE49-F238E27FC236}">
                <a16:creationId xmlns:a16="http://schemas.microsoft.com/office/drawing/2014/main" id="{38ABCAF0-CD48-4508-A33D-C1DB272A5856}"/>
              </a:ext>
            </a:extLst>
          </p:cNvPr>
          <p:cNvSpPr>
            <a:spLocks xmlns:a="http://schemas.openxmlformats.org/drawingml/2006/main" noGrp="1"/>
          </p:cNvSpPr>
          <p:nvPr/>
        </p:nvSpPr>
        <p:spPr>
          <a:xfrm xmlns:a="http://schemas.openxmlformats.org/drawingml/2006/main">
            <a:off x="723900" y="373380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635F"/>
                </a:solidFill>
              </a:defRPr>
            </a:pPr>
            <a:r>
              <a:rPr sz="1275" b="0">
                <a:solidFill>
                  <a:srgbClr val="68635F"/>
                </a:solidFill>
              </a:rPr>
              <a:t>정식 B078·B079</a:t>
            </a:r>
          </a:p>
          <a:p xmlns:a="http://schemas.openxmlformats.org/drawingml/2006/main">
            <a:pPr algn="ctr">
              <a:defRPr sz="1275" b="0">
                <a:solidFill>
                  <a:srgbClr val="68635F"/>
                </a:solidFill>
              </a:defRPr>
            </a:pPr>
            <a:r>
              <a:rPr sz="1275" b="0">
                <a:solidFill>
                  <a:srgbClr val="68635F"/>
                </a:solidFill>
              </a:rPr>
              <a:t>코드북·POI·접근시간</a:t>
            </a:r>
          </a:p>
        </p:txBody>
      </p:sp>
      <p:sp>
        <p:nvSpPr>
          <p:cNvPr id="9" name="dot-02">
            <a:extLst xmlns:a="http://schemas.openxmlformats.org/drawingml/2006/main">
              <a:ext uri="{FF2B5EF4-FFF2-40B4-BE49-F238E27FC236}">
                <a16:creationId xmlns:a16="http://schemas.microsoft.com/office/drawing/2014/main" id="{8E7D021C-84E8-43EA-AC4C-91F65A8A7110}"/>
              </a:ext>
            </a:extLst>
          </p:cNvPr>
          <p:cNvSpPr>
            <a:spLocks xmlns:a="http://schemas.openxmlformats.org/drawingml/2006/main" noGrp="1"/>
          </p:cNvSpPr>
          <p:nvPr/>
        </p:nvSpPr>
        <p:spPr>
          <a:xfrm xmlns:a="http://schemas.openxmlformats.org/drawingml/2006/main">
            <a:off x="4038600" y="2628900"/>
            <a:ext cx="457200" cy="457200"/>
          </a:xfrm>
          <a:prstGeom xmlns:a="http://schemas.openxmlformats.org/drawingml/2006/main" prst="roundRect">
            <a:avLst>
              <a:gd name="adj" fmla="val 25000"/>
            </a:avLst>
          </a:prstGeom>
          <a:solidFill xmlns:a="http://schemas.openxmlformats.org/drawingml/2006/main">
            <a:srgbClr val="FEE500"/>
          </a:solidFill>
          <a:ln xmlns:a="http://schemas.openxmlformats.org/drawingml/2006/main" w="0">
            <a:noFill/>
            <a:prstDash val="solid"/>
          </a:ln>
        </p:spPr>
      </p:sp>
      <p:sp>
        <p:nvSpPr>
          <p:cNvPr id="10" name="road-num-02">
            <a:extLst xmlns:a="http://schemas.openxmlformats.org/drawingml/2006/main">
              <a:ext uri="{FF2B5EF4-FFF2-40B4-BE49-F238E27FC236}">
                <a16:creationId xmlns:a16="http://schemas.microsoft.com/office/drawing/2014/main" id="{D3F6FD18-8EE0-4A89-A572-D1FA79623A42}"/>
              </a:ext>
            </a:extLst>
          </p:cNvPr>
          <p:cNvSpPr>
            <a:spLocks xmlns:a="http://schemas.openxmlformats.org/drawingml/2006/main" noGrp="1"/>
          </p:cNvSpPr>
          <p:nvPr/>
        </p:nvSpPr>
        <p:spPr>
          <a:xfrm xmlns:a="http://schemas.openxmlformats.org/drawingml/2006/main">
            <a:off x="4038600" y="269557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91919"/>
                </a:solidFill>
              </a:defRPr>
            </a:pPr>
            <a:r>
              <a:rPr sz="1200" b="1">
                <a:solidFill>
                  <a:srgbClr val="191919"/>
                </a:solidFill>
              </a:rPr>
              <a:t>02</a:t>
            </a:r>
          </a:p>
        </p:txBody>
      </p:sp>
      <p:sp>
        <p:nvSpPr>
          <p:cNvPr id="11" name="road-head-02">
            <a:extLst xmlns:a="http://schemas.openxmlformats.org/drawingml/2006/main">
              <a:ext uri="{FF2B5EF4-FFF2-40B4-BE49-F238E27FC236}">
                <a16:creationId xmlns:a16="http://schemas.microsoft.com/office/drawing/2014/main" id="{E5F751FB-8485-4238-B534-120FBE7D7E3A}"/>
              </a:ext>
            </a:extLst>
          </p:cNvPr>
          <p:cNvSpPr>
            <a:spLocks xmlns:a="http://schemas.openxmlformats.org/drawingml/2006/main" noGrp="1"/>
          </p:cNvSpPr>
          <p:nvPr/>
        </p:nvSpPr>
        <p:spPr>
          <a:xfrm xmlns:a="http://schemas.openxmlformats.org/drawingml/2006/main">
            <a:off x="3333750" y="331470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91919"/>
                </a:solidFill>
              </a:defRPr>
            </a:pPr>
            <a:r>
              <a:rPr sz="1650" b="1">
                <a:solidFill>
                  <a:srgbClr val="191919"/>
                </a:solidFill>
              </a:rPr>
              <a:t>BASELINE</a:t>
            </a:r>
          </a:p>
        </p:txBody>
      </p:sp>
      <p:sp>
        <p:nvSpPr>
          <p:cNvPr id="12" name="road-body-02">
            <a:extLst xmlns:a="http://schemas.openxmlformats.org/drawingml/2006/main">
              <a:ext uri="{FF2B5EF4-FFF2-40B4-BE49-F238E27FC236}">
                <a16:creationId xmlns:a16="http://schemas.microsoft.com/office/drawing/2014/main" id="{92482F93-3879-449C-8D50-CE11F5FEC9EC}"/>
              </a:ext>
            </a:extLst>
          </p:cNvPr>
          <p:cNvSpPr>
            <a:spLocks xmlns:a="http://schemas.openxmlformats.org/drawingml/2006/main" noGrp="1"/>
          </p:cNvSpPr>
          <p:nvPr/>
        </p:nvSpPr>
        <p:spPr>
          <a:xfrm xmlns:a="http://schemas.openxmlformats.org/drawingml/2006/main">
            <a:off x="3333750" y="373380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635F"/>
                </a:solidFill>
              </a:defRPr>
            </a:pPr>
            <a:r>
              <a:rPr sz="1275" b="0">
                <a:solidFill>
                  <a:srgbClr val="68635F"/>
                </a:solidFill>
              </a:rPr>
              <a:t>50분 후보군</a:t>
            </a:r>
          </a:p>
          <a:p xmlns:a="http://schemas.openxmlformats.org/drawingml/2006/main">
            <a:pPr algn="ctr">
              <a:defRPr sz="1275" b="0">
                <a:solidFill>
                  <a:srgbClr val="68635F"/>
                </a:solidFill>
              </a:defRPr>
            </a:pPr>
            <a:r>
              <a:rPr sz="1275" b="0">
                <a:solidFill>
                  <a:srgbClr val="68635F"/>
                </a:solidFill>
              </a:rPr>
              <a:t>거리·인기·Huff</a:t>
            </a:r>
          </a:p>
        </p:txBody>
      </p:sp>
      <p:sp>
        <p:nvSpPr>
          <p:cNvPr id="13" name="dot-03">
            <a:extLst xmlns:a="http://schemas.openxmlformats.org/drawingml/2006/main">
              <a:ext uri="{FF2B5EF4-FFF2-40B4-BE49-F238E27FC236}">
                <a16:creationId xmlns:a16="http://schemas.microsoft.com/office/drawing/2014/main" id="{3F98C016-F176-44E8-8679-36E3F1AD8614}"/>
              </a:ext>
            </a:extLst>
          </p:cNvPr>
          <p:cNvSpPr>
            <a:spLocks xmlns:a="http://schemas.openxmlformats.org/drawingml/2006/main" noGrp="1"/>
          </p:cNvSpPr>
          <p:nvPr/>
        </p:nvSpPr>
        <p:spPr>
          <a:xfrm xmlns:a="http://schemas.openxmlformats.org/drawingml/2006/main">
            <a:off x="6648450" y="2628900"/>
            <a:ext cx="457200" cy="457200"/>
          </a:xfrm>
          <a:prstGeom xmlns:a="http://schemas.openxmlformats.org/drawingml/2006/main" prst="roundRect">
            <a:avLst>
              <a:gd name="adj" fmla="val 25000"/>
            </a:avLst>
          </a:prstGeom>
          <a:solidFill xmlns:a="http://schemas.openxmlformats.org/drawingml/2006/main">
            <a:srgbClr val="FEE500"/>
          </a:solidFill>
          <a:ln xmlns:a="http://schemas.openxmlformats.org/drawingml/2006/main" w="0">
            <a:noFill/>
            <a:prstDash val="solid"/>
          </a:ln>
        </p:spPr>
      </p:sp>
      <p:sp>
        <p:nvSpPr>
          <p:cNvPr id="14" name="road-num-03">
            <a:extLst xmlns:a="http://schemas.openxmlformats.org/drawingml/2006/main">
              <a:ext uri="{FF2B5EF4-FFF2-40B4-BE49-F238E27FC236}">
                <a16:creationId xmlns:a16="http://schemas.microsoft.com/office/drawing/2014/main" id="{E6147493-C270-4EC5-A28E-AD3E52D2BD28}"/>
              </a:ext>
            </a:extLst>
          </p:cNvPr>
          <p:cNvSpPr>
            <a:spLocks xmlns:a="http://schemas.openxmlformats.org/drawingml/2006/main" noGrp="1"/>
          </p:cNvSpPr>
          <p:nvPr/>
        </p:nvSpPr>
        <p:spPr>
          <a:xfrm xmlns:a="http://schemas.openxmlformats.org/drawingml/2006/main">
            <a:off x="6648450" y="269557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91919"/>
                </a:solidFill>
              </a:defRPr>
            </a:pPr>
            <a:r>
              <a:rPr sz="1200" b="1">
                <a:solidFill>
                  <a:srgbClr val="191919"/>
                </a:solidFill>
              </a:rPr>
              <a:t>03</a:t>
            </a:r>
          </a:p>
        </p:txBody>
      </p:sp>
      <p:sp>
        <p:nvSpPr>
          <p:cNvPr id="15" name="road-head-03">
            <a:extLst xmlns:a="http://schemas.openxmlformats.org/drawingml/2006/main">
              <a:ext uri="{FF2B5EF4-FFF2-40B4-BE49-F238E27FC236}">
                <a16:creationId xmlns:a16="http://schemas.microsoft.com/office/drawing/2014/main" id="{7A9BA885-DC1E-472F-958A-288AB1FDAC93}"/>
              </a:ext>
            </a:extLst>
          </p:cNvPr>
          <p:cNvSpPr>
            <a:spLocks xmlns:a="http://schemas.openxmlformats.org/drawingml/2006/main" noGrp="1"/>
          </p:cNvSpPr>
          <p:nvPr/>
        </p:nvSpPr>
        <p:spPr>
          <a:xfrm xmlns:a="http://schemas.openxmlformats.org/drawingml/2006/main">
            <a:off x="5943600" y="331470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91919"/>
                </a:solidFill>
              </a:defRPr>
            </a:pPr>
            <a:r>
              <a:rPr sz="1650" b="1">
                <a:solidFill>
                  <a:srgbClr val="191919"/>
                </a:solidFill>
              </a:rPr>
              <a:t>GAP</a:t>
            </a:r>
          </a:p>
        </p:txBody>
      </p:sp>
      <p:sp>
        <p:nvSpPr>
          <p:cNvPr id="16" name="road-body-03">
            <a:extLst xmlns:a="http://schemas.openxmlformats.org/drawingml/2006/main">
              <a:ext uri="{FF2B5EF4-FFF2-40B4-BE49-F238E27FC236}">
                <a16:creationId xmlns:a16="http://schemas.microsoft.com/office/drawing/2014/main" id="{D70DD283-F4D2-4328-9FCB-DF772175B5F7}"/>
              </a:ext>
            </a:extLst>
          </p:cNvPr>
          <p:cNvSpPr>
            <a:spLocks xmlns:a="http://schemas.openxmlformats.org/drawingml/2006/main" noGrp="1"/>
          </p:cNvSpPr>
          <p:nvPr/>
        </p:nvSpPr>
        <p:spPr>
          <a:xfrm xmlns:a="http://schemas.openxmlformats.org/drawingml/2006/main">
            <a:off x="5943600" y="373380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635F"/>
                </a:solidFill>
              </a:defRPr>
            </a:pPr>
            <a:r>
              <a:rPr sz="1275" b="0">
                <a:solidFill>
                  <a:srgbClr val="68635F"/>
                </a:solidFill>
              </a:rPr>
              <a:t>GAM·트리모델</a:t>
            </a:r>
          </a:p>
          <a:p xmlns:a="http://schemas.openxmlformats.org/drawingml/2006/main">
            <a:pPr algn="ctr">
              <a:defRPr sz="1275" b="0">
                <a:solidFill>
                  <a:srgbClr val="68635F"/>
                </a:solidFill>
              </a:defRPr>
            </a:pPr>
            <a:r>
              <a:rPr sz="1275" b="0">
                <a:solidFill>
                  <a:srgbClr val="68635F"/>
                </a:solidFill>
              </a:rPr>
              <a:t>잔차 안정성</a:t>
            </a:r>
          </a:p>
        </p:txBody>
      </p:sp>
      <p:sp>
        <p:nvSpPr>
          <p:cNvPr id="17" name="dot-04">
            <a:extLst xmlns:a="http://schemas.openxmlformats.org/drawingml/2006/main">
              <a:ext uri="{FF2B5EF4-FFF2-40B4-BE49-F238E27FC236}">
                <a16:creationId xmlns:a16="http://schemas.microsoft.com/office/drawing/2014/main" id="{D8FA8A87-4F87-4177-995D-EFCFF7A54CA3}"/>
              </a:ext>
            </a:extLst>
          </p:cNvPr>
          <p:cNvSpPr>
            <a:spLocks xmlns:a="http://schemas.openxmlformats.org/drawingml/2006/main" noGrp="1"/>
          </p:cNvSpPr>
          <p:nvPr/>
        </p:nvSpPr>
        <p:spPr>
          <a:xfrm xmlns:a="http://schemas.openxmlformats.org/drawingml/2006/main">
            <a:off x="9258300" y="2628900"/>
            <a:ext cx="457200" cy="457200"/>
          </a:xfrm>
          <a:prstGeom xmlns:a="http://schemas.openxmlformats.org/drawingml/2006/main" prst="roundRect">
            <a:avLst>
              <a:gd name="adj" fmla="val 25000"/>
            </a:avLst>
          </a:prstGeom>
          <a:solidFill xmlns:a="http://schemas.openxmlformats.org/drawingml/2006/main">
            <a:srgbClr val="FEE500"/>
          </a:solidFill>
          <a:ln xmlns:a="http://schemas.openxmlformats.org/drawingml/2006/main" w="0">
            <a:noFill/>
            <a:prstDash val="solid"/>
          </a:ln>
        </p:spPr>
      </p:sp>
      <p:sp>
        <p:nvSpPr>
          <p:cNvPr id="18" name="road-num-04">
            <a:extLst xmlns:a="http://schemas.openxmlformats.org/drawingml/2006/main">
              <a:ext uri="{FF2B5EF4-FFF2-40B4-BE49-F238E27FC236}">
                <a16:creationId xmlns:a16="http://schemas.microsoft.com/office/drawing/2014/main" id="{6305D14D-7FC6-4A4F-86B3-826766C5E3AE}"/>
              </a:ext>
            </a:extLst>
          </p:cNvPr>
          <p:cNvSpPr>
            <a:spLocks xmlns:a="http://schemas.openxmlformats.org/drawingml/2006/main" noGrp="1"/>
          </p:cNvSpPr>
          <p:nvPr/>
        </p:nvSpPr>
        <p:spPr>
          <a:xfrm xmlns:a="http://schemas.openxmlformats.org/drawingml/2006/main">
            <a:off x="9258300" y="269557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91919"/>
                </a:solidFill>
              </a:defRPr>
            </a:pPr>
            <a:r>
              <a:rPr sz="1200" b="1">
                <a:solidFill>
                  <a:srgbClr val="191919"/>
                </a:solidFill>
              </a:rPr>
              <a:t>04</a:t>
            </a:r>
          </a:p>
        </p:txBody>
      </p:sp>
      <p:sp>
        <p:nvSpPr>
          <p:cNvPr id="19" name="road-head-04">
            <a:extLst xmlns:a="http://schemas.openxmlformats.org/drawingml/2006/main">
              <a:ext uri="{FF2B5EF4-FFF2-40B4-BE49-F238E27FC236}">
                <a16:creationId xmlns:a16="http://schemas.microsoft.com/office/drawing/2014/main" id="{A11AB02B-427E-4AC9-807E-3C4E6745937D}"/>
              </a:ext>
            </a:extLst>
          </p:cNvPr>
          <p:cNvSpPr>
            <a:spLocks xmlns:a="http://schemas.openxmlformats.org/drawingml/2006/main" noGrp="1"/>
          </p:cNvSpPr>
          <p:nvPr/>
        </p:nvSpPr>
        <p:spPr>
          <a:xfrm xmlns:a="http://schemas.openxmlformats.org/drawingml/2006/main">
            <a:off x="8553450" y="331470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91919"/>
                </a:solidFill>
              </a:defRPr>
            </a:pPr>
            <a:r>
              <a:rPr sz="1650" b="1">
                <a:solidFill>
                  <a:srgbClr val="191919"/>
                </a:solidFill>
              </a:rPr>
              <a:t>RANK</a:t>
            </a:r>
          </a:p>
        </p:txBody>
      </p:sp>
      <p:sp>
        <p:nvSpPr>
          <p:cNvPr id="20" name="road-body-04">
            <a:extLst xmlns:a="http://schemas.openxmlformats.org/drawingml/2006/main">
              <a:ext uri="{FF2B5EF4-FFF2-40B4-BE49-F238E27FC236}">
                <a16:creationId xmlns:a16="http://schemas.microsoft.com/office/drawing/2014/main" id="{CB009566-2738-47F4-8609-A9EF763F3DE9}"/>
              </a:ext>
            </a:extLst>
          </p:cNvPr>
          <p:cNvSpPr>
            <a:spLocks xmlns:a="http://schemas.openxmlformats.org/drawingml/2006/main" noGrp="1"/>
          </p:cNvSpPr>
          <p:nvPr/>
        </p:nvSpPr>
        <p:spPr>
          <a:xfrm xmlns:a="http://schemas.openxmlformats.org/drawingml/2006/main">
            <a:off x="8553450" y="373380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8635F"/>
                </a:solidFill>
              </a:defRPr>
            </a:pPr>
            <a:r>
              <a:rPr sz="1275" b="0">
                <a:solidFill>
                  <a:srgbClr val="68635F"/>
                </a:solidFill>
              </a:rPr>
              <a:t>PPML·SHAP</a:t>
            </a:r>
          </a:p>
          <a:p xmlns:a="http://schemas.openxmlformats.org/drawingml/2006/main">
            <a:pPr algn="ctr">
              <a:defRPr sz="1275" b="0">
                <a:solidFill>
                  <a:srgbClr val="68635F"/>
                </a:solidFill>
              </a:defRPr>
            </a:pPr>
            <a:r>
              <a:rPr sz="1275" b="0">
                <a:solidFill>
                  <a:srgbClr val="68635F"/>
                </a:solidFill>
              </a:rPr>
              <a:t>목적별 Top 5</a:t>
            </a:r>
          </a:p>
        </p:txBody>
      </p:sp>
      <p:sp>
        <p:nvSpPr>
          <p:cNvPr id="21" name="success-band">
            <a:extLst xmlns:a="http://schemas.openxmlformats.org/drawingml/2006/main">
              <a:ext uri="{FF2B5EF4-FFF2-40B4-BE49-F238E27FC236}">
                <a16:creationId xmlns:a16="http://schemas.microsoft.com/office/drawing/2014/main" id="{481DE73E-A571-4B80-AC91-BE4192E1328A}"/>
              </a:ext>
            </a:extLst>
          </p:cNvPr>
          <p:cNvSpPr>
            <a:spLocks xmlns:a="http://schemas.openxmlformats.org/drawingml/2006/main" noGrp="1"/>
          </p:cNvSpPr>
          <p:nvPr/>
        </p:nvSpPr>
        <p:spPr>
          <a:xfrm xmlns:a="http://schemas.openxmlformats.org/drawingml/2006/main">
            <a:off x="1238250" y="4857750"/>
            <a:ext cx="9715500" cy="952500"/>
          </a:xfrm>
          <a:prstGeom xmlns:a="http://schemas.openxmlformats.org/drawingml/2006/main" prst="roundRect">
            <a:avLst>
              <a:gd name="adj" fmla="val 16000"/>
            </a:avLst>
          </a:prstGeom>
          <a:solidFill xmlns:a="http://schemas.openxmlformats.org/drawingml/2006/main">
            <a:srgbClr val="191919"/>
          </a:solidFill>
          <a:ln xmlns:a="http://schemas.openxmlformats.org/drawingml/2006/main" w="0">
            <a:noFill/>
            <a:prstDash val="solid"/>
          </a:ln>
        </p:spPr>
      </p:sp>
      <p:sp>
        <p:nvSpPr>
          <p:cNvPr id="22" name="metric-title">
            <a:extLst xmlns:a="http://schemas.openxmlformats.org/drawingml/2006/main">
              <a:ext uri="{FF2B5EF4-FFF2-40B4-BE49-F238E27FC236}">
                <a16:creationId xmlns:a16="http://schemas.microsoft.com/office/drawing/2014/main" id="{16BE2D7A-4FF0-44EB-8185-87375F620507}"/>
              </a:ext>
            </a:extLst>
          </p:cNvPr>
          <p:cNvSpPr>
            <a:spLocks xmlns:a="http://schemas.openxmlformats.org/drawingml/2006/main" noGrp="1"/>
          </p:cNvSpPr>
          <p:nvPr/>
        </p:nvSpPr>
        <p:spPr>
          <a:xfrm xmlns:a="http://schemas.openxmlformats.org/drawingml/2006/main">
            <a:off x="1524000" y="50482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EE500"/>
                </a:solidFill>
              </a:defRPr>
            </a:pPr>
            <a:r>
              <a:rPr sz="1500" b="1">
                <a:solidFill>
                  <a:srgbClr val="FEE500"/>
                </a:solidFill>
              </a:rPr>
              <a:t>검증 지표</a:t>
            </a:r>
          </a:p>
        </p:txBody>
      </p:sp>
      <p:sp>
        <p:nvSpPr>
          <p:cNvPr id="23" name="metric-list">
            <a:extLst xmlns:a="http://schemas.openxmlformats.org/drawingml/2006/main">
              <a:ext uri="{FF2B5EF4-FFF2-40B4-BE49-F238E27FC236}">
                <a16:creationId xmlns:a16="http://schemas.microsoft.com/office/drawing/2014/main" id="{BF72C664-CD1C-4449-AC52-65529E1DE691}"/>
              </a:ext>
            </a:extLst>
          </p:cNvPr>
          <p:cNvSpPr>
            <a:spLocks xmlns:a="http://schemas.openxmlformats.org/drawingml/2006/main" noGrp="1"/>
          </p:cNvSpPr>
          <p:nvPr/>
        </p:nvSpPr>
        <p:spPr>
          <a:xfrm xmlns:a="http://schemas.openxmlformats.org/drawingml/2006/main">
            <a:off x="2952750" y="5010150"/>
            <a:ext cx="7667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시간순 예측 · 잔차 지속성 · NDCG@5 · Hit Rate@5 · 중저인기 노출률</a:t>
            </a:r>
          </a:p>
        </p:txBody>
      </p:sp>
      <p:sp>
        <p:nvSpPr>
          <p:cNvPr id="24" name="closing-line">
            <a:extLst xmlns:a="http://schemas.openxmlformats.org/drawingml/2006/main">
              <a:ext uri="{FF2B5EF4-FFF2-40B4-BE49-F238E27FC236}">
                <a16:creationId xmlns:a16="http://schemas.microsoft.com/office/drawing/2014/main" id="{461C4EA7-1C43-4EEC-B4C6-6EE11488CC52}"/>
              </a:ext>
            </a:extLst>
          </p:cNvPr>
          <p:cNvSpPr>
            <a:spLocks xmlns:a="http://schemas.openxmlformats.org/drawingml/2006/main" noGrp="1"/>
          </p:cNvSpPr>
          <p:nvPr/>
        </p:nvSpPr>
        <p:spPr>
          <a:xfrm xmlns:a="http://schemas.openxmlformats.org/drawingml/2006/main">
            <a:off x="2190750" y="594360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91919"/>
                </a:solidFill>
              </a:defRPr>
            </a:pPr>
            <a:r>
              <a:rPr sz="1725" b="1">
                <a:solidFill>
                  <a:srgbClr val="191919"/>
                </a:solidFill>
              </a:rPr>
              <a:t>“사람이 많은 곳”이 아니라 “목적 있게 선택되는 곳”을 추천한다</a:t>
            </a:r>
          </a:p>
        </p:txBody>
      </p:sp>
      <p:sp>
        <p:nvSpPr>
          <p:cNvPr id="25" name="footer-8">
            <a:extLst xmlns:a="http://schemas.openxmlformats.org/drawingml/2006/main">
              <a:ext uri="{FF2B5EF4-FFF2-40B4-BE49-F238E27FC236}">
                <a16:creationId xmlns:a16="http://schemas.microsoft.com/office/drawing/2014/main" id="{67DE4D12-C208-45B3-B3CD-36205EDEE8E1}"/>
              </a:ext>
            </a:extLst>
          </p:cNvPr>
          <p:cNvSpPr>
            <a:spLocks xmlns:a="http://schemas.openxmlformats.org/drawingml/2006/main" noGrp="1"/>
          </p:cNvSpPr>
          <p:nvPr/>
        </p:nvSpPr>
        <p:spPr>
          <a:xfrm xmlns:a="http://schemas.openxmlformats.org/drawingml/2006/main">
            <a:off x="609600" y="6477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635F"/>
                </a:solidFill>
              </a:defRPr>
            </a:pPr>
            <a:r>
              <a:rPr sz="825" b="1">
                <a:solidFill>
                  <a:srgbClr val="68635F"/>
                </a:solidFill>
              </a:rPr>
              <a:t>TEAM MAXIMUS · DAT</a:t>
            </a:r>
          </a:p>
        </p:txBody>
      </p:sp>
    </p:spTree>
    <p:extLst>
      <p:ext uri="{BB962C8B-B14F-4D97-AF65-F5344CB8AC3E}">
        <p14:creationId xmlns:p14="http://schemas.microsoft.com/office/powerpoint/2010/main" val="90372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2026-08-24T09:55:00.6950000Z</dcterms:created>
  <dcterms:modified xsi:type="dcterms:W3CDTF">2026-08-24T09:55:00.6950000Z</dcterms:modified>
</coreProperties>
</file>