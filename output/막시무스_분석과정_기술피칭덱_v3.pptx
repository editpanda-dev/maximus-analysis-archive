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175110c15f4282" /><Relationship Type="http://schemas.openxmlformats.org/officeDocument/2006/relationships/extended-properties" Target="/docProps/app.xml" Id="R4fc6b9b2041c4030" /><Relationship Type="http://schemas.openxmlformats.org/officeDocument/2006/relationships/officeDocument" Target="/ppt/presentation.xml" Id="Rd7e9e57e28df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43e4cdda84e59"/>
  </p:sldMasterIdLst>
  <p:notesMasterIdLst>
    <p:notesMasterId xmlns:r="http://schemas.openxmlformats.org/officeDocument/2006/relationships" r:id="Rb17269b6e6f1488b"/>
  </p:notesMasterIdLst>
  <p:sldIdLst>
    <p:sldId xmlns:r="http://schemas.openxmlformats.org/officeDocument/2006/relationships" id="256" r:id="R62df96110bc84f8f"/>
    <p:sldId xmlns:r="http://schemas.openxmlformats.org/officeDocument/2006/relationships" id="257" r:id="R701ec607e4324226"/>
    <p:sldId xmlns:r="http://schemas.openxmlformats.org/officeDocument/2006/relationships" id="258" r:id="R56182f01e0904fe2"/>
    <p:sldId xmlns:r="http://schemas.openxmlformats.org/officeDocument/2006/relationships" id="259" r:id="Rb7e9a475048b4954"/>
    <p:sldId xmlns:r="http://schemas.openxmlformats.org/officeDocument/2006/relationships" id="260" r:id="R65a3b798f83f4e99"/>
    <p:sldId xmlns:r="http://schemas.openxmlformats.org/officeDocument/2006/relationships" id="261" r:id="R82b7cdaa0ca241c8"/>
    <p:sldId xmlns:r="http://schemas.openxmlformats.org/officeDocument/2006/relationships" id="262" r:id="R5df8b20fd22e434a"/>
    <p:sldId xmlns:r="http://schemas.openxmlformats.org/officeDocument/2006/relationships" id="263" r:id="Ra7bac8953bce477c"/>
    <p:sldId xmlns:r="http://schemas.openxmlformats.org/officeDocument/2006/relationships" id="264" r:id="R87e3056773a34ee7"/>
    <p:sldId xmlns:r="http://schemas.openxmlformats.org/officeDocument/2006/relationships" id="265" r:id="R68f30abca4534a8a"/>
    <p:sldId xmlns:r="http://schemas.openxmlformats.org/officeDocument/2006/relationships" id="266" r:id="R27c7791136bb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32cf87c284563" /><Relationship Type="http://schemas.openxmlformats.org/officeDocument/2006/relationships/slideMaster" Target="/ppt/slideMasters/slideMaster1.xml" Id="R12743e4cdda84e59" /><Relationship Type="http://schemas.openxmlformats.org/officeDocument/2006/relationships/notesMaster" Target="/ppt/notesMasters/notesMaster1.xml" Id="Rb17269b6e6f1488b" /><Relationship Type="http://schemas.openxmlformats.org/officeDocument/2006/relationships/presProps" Target="/ppt/presProps.xml" Id="R5220001db1d640cc" /><Relationship Type="http://schemas.openxmlformats.org/officeDocument/2006/relationships/tableStyles" Target="/ppt/tableStyles.xml" Id="R2ba57ac9d12d4b8c" /><Relationship Type="http://schemas.openxmlformats.org/officeDocument/2006/relationships/slide" Target="/ppt/slides/slide1.xml" Id="R62df96110bc84f8f" /><Relationship Type="http://schemas.openxmlformats.org/officeDocument/2006/relationships/slide" Target="/ppt/slides/slide2.xml" Id="R701ec607e4324226" /><Relationship Type="http://schemas.openxmlformats.org/officeDocument/2006/relationships/slide" Target="/ppt/slides/slide3.xml" Id="R56182f01e0904fe2" /><Relationship Type="http://schemas.openxmlformats.org/officeDocument/2006/relationships/slide" Target="/ppt/slides/slide4.xml" Id="Rb7e9a475048b4954" /><Relationship Type="http://schemas.openxmlformats.org/officeDocument/2006/relationships/slide" Target="/ppt/slides/slide5.xml" Id="R65a3b798f83f4e99" /><Relationship Type="http://schemas.openxmlformats.org/officeDocument/2006/relationships/slide" Target="/ppt/slides/slide6.xml" Id="R82b7cdaa0ca241c8" /><Relationship Type="http://schemas.openxmlformats.org/officeDocument/2006/relationships/slide" Target="/ppt/slides/slide7.xml" Id="R5df8b20fd22e434a" /><Relationship Type="http://schemas.openxmlformats.org/officeDocument/2006/relationships/slide" Target="/ppt/slides/slide8.xml" Id="Ra7bac8953bce477c" /><Relationship Type="http://schemas.openxmlformats.org/officeDocument/2006/relationships/slide" Target="/ppt/slides/slide9.xml" Id="R87e3056773a34ee7" /><Relationship Type="http://schemas.openxmlformats.org/officeDocument/2006/relationships/slide" Target="/ppt/slides/slide10.xml" Id="R68f30abca4534a8a" /><Relationship Type="http://schemas.openxmlformats.org/officeDocument/2006/relationships/slide" Target="/ppt/slides/slide11.xml" Id="R27c7791136bb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5dcf93245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79eae3734482e" /><Relationship Type="http://schemas.openxmlformats.org/officeDocument/2006/relationships/notesMaster" Target="/ppt/notesMasters/notesMaster1.xml" Id="R1f6fc0d2373f48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545e12279a4240" /><Relationship Type="http://schemas.openxmlformats.org/officeDocument/2006/relationships/notesMaster" Target="/ppt/notesMasters/notesMaster1.xml" Id="R36e9723064cb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6ed123774491b" /><Relationship Type="http://schemas.openxmlformats.org/officeDocument/2006/relationships/notesMaster" Target="/ppt/notesMasters/notesMaster1.xml" Id="R32be893394b446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f6a2ffc5e4821" /><Relationship Type="http://schemas.openxmlformats.org/officeDocument/2006/relationships/notesMaster" Target="/ppt/notesMasters/notesMaster1.xml" Id="R1bc5e13a237e46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9b91e5ed624ba7" /><Relationship Type="http://schemas.openxmlformats.org/officeDocument/2006/relationships/notesMaster" Target="/ppt/notesMasters/notesMaster1.xml" Id="R8412b6ae1f9540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57b4a3d214a56" /><Relationship Type="http://schemas.openxmlformats.org/officeDocument/2006/relationships/notesMaster" Target="/ppt/notesMasters/notesMaster1.xml" Id="R95c8e05fdcab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4383910d841d7" /><Relationship Type="http://schemas.openxmlformats.org/officeDocument/2006/relationships/notesMaster" Target="/ppt/notesMasters/notesMaster1.xml" Id="Red536c970fc5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daac25271640f6" /><Relationship Type="http://schemas.openxmlformats.org/officeDocument/2006/relationships/notesMaster" Target="/ppt/notesMasters/notesMaster1.xml" Id="R26b7fa74f7ce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3371f031d34c8d" /><Relationship Type="http://schemas.openxmlformats.org/officeDocument/2006/relationships/notesMaster" Target="/ppt/notesMasters/notesMaster1.xml" Id="R9811156dce1a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de17f1b264d03" /><Relationship Type="http://schemas.openxmlformats.org/officeDocument/2006/relationships/notesMaster" Target="/ppt/notesMasters/notesMaster1.xml" Id="R8f88b8c4e089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eae7951bef4877" /><Relationship Type="http://schemas.openxmlformats.org/officeDocument/2006/relationships/notesMaster" Target="/ppt/notesMasters/notesMaster1.xml" Id="R9062dba051a1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배경은 프로젝트용 생성 일러스트입니다.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목적별 피처: data/processed/purpose_features.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우리마을가게 상권분석서비스 원본 CSV, B078 표본, 교통 운영 원본. 2023–2025 매출은 68,643 + 67,900 + 67,113행, 점포는 141,235 + 141,001 + 141,218행입니다.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scripts/static_multimodal_accessibility.py, data/processed/local_transit_30min/reachable_dongs_by_origin.csv, time_period_candidates.csv.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docs/odsay_30min_pipeline.md, docs/local_transit_30min_colab.md, scripts/calibrate_transit_times.py. 노선 대기시간은 반 간격 방식으로 보정하며, 초기 가정값은 후속 보정 전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data/processed/purpose_features, data/processed/purpose_rankings/path_v0_purpose_rankings_latest.csv.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평가 기준은 docs/analysis_roadmap.md를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5213435d8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45349e8ea2442d" /><Relationship Type="http://schemas.openxmlformats.org/officeDocument/2006/relationships/slideLayout" Target="/ppt/slideLayouts/slideLayout1.xml" Id="R6150880f6772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0880f6772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20e947b94b9d" /><Relationship Type="http://schemas.openxmlformats.org/officeDocument/2006/relationships/image" Target="/ppt/media/image.png" Id="Rbd1fa1f116604793" /><Relationship Type="http://schemas.openxmlformats.org/officeDocument/2006/relationships/notesSlide" Target="/ppt/notesSlides/notesSlide1.xml" Id="Re1bddad513e0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f488ce2db4584" /><Relationship Type="http://schemas.openxmlformats.org/officeDocument/2006/relationships/notesSlide" Target="/ppt/notesSlides/notesSlide2.xml" Id="Rd99e0122e7694c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78cd31c724645" /><Relationship Type="http://schemas.openxmlformats.org/officeDocument/2006/relationships/notesSlide" Target="/ppt/notesSlides/notesSlide3.xml" Id="Ra777bd95c209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8c184725d4fe6" /><Relationship Type="http://schemas.openxmlformats.org/officeDocument/2006/relationships/notesSlide" Target="/ppt/notesSlides/notesSlide4.xml" Id="R1a7a5000bd51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bec07efc45fa" /><Relationship Type="http://schemas.openxmlformats.org/officeDocument/2006/relationships/notesSlide" Target="/ppt/notesSlides/notesSlide5.xml" Id="Rdf3f66c5f866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a4f3c3f54e2d" /><Relationship Type="http://schemas.openxmlformats.org/officeDocument/2006/relationships/notesSlide" Target="/ppt/notesSlides/notesSlide6.xml" Id="Rba6bfef0b7734d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e36a28cf04552" /><Relationship Type="http://schemas.openxmlformats.org/officeDocument/2006/relationships/chart" Target="/ppt/slides/charts/chart1.xml" Id="R97af417f71d046ed" /><Relationship Type="http://schemas.openxmlformats.org/officeDocument/2006/relationships/notesSlide" Target="/ppt/notesSlides/notesSlide7.xml" Id="R2707e8583aa3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823d90f814308" /><Relationship Type="http://schemas.openxmlformats.org/officeDocument/2006/relationships/notesSlide" Target="/ppt/notesSlides/notesSlide8.xml" Id="R586f4c157c4345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1284341014677" /><Relationship Type="http://schemas.openxmlformats.org/officeDocument/2006/relationships/chart" Target="/ppt/slides/charts/chart2.xml" Id="Rbafc2456e01745e7" /><Relationship Type="http://schemas.openxmlformats.org/officeDocument/2006/relationships/notesSlide" Target="/ppt/notesSlides/notesSlide9.xml" Id="R6563fdebad5c4e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d50478a04d87" /><Relationship Type="http://schemas.openxmlformats.org/officeDocument/2006/relationships/notesSlide" Target="/ppt/notesSlides/notesSlide10.xml" Id="R43ac6085d09e4b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872910724499f" /><Relationship Type="http://schemas.openxmlformats.org/officeDocument/2006/relationships/notesSlide" Target="/ppt/notesSlides/notesSlide11.xml" Id="R31bac54ec07d4a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행정동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195</c:v>
                </c:pt>
                <c:pt idx="1">
                  <c:v>139</c:v>
                </c:pt>
                <c:pt idx="2">
                  <c:v>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fa1f1166047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동대문구 30분 생활권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목적지 추천 분석 파이프라인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출발지 구축부터 공간 매핑, 상권 피처,</a:t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검증 가능한 목적별 순위까지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교통망에서 후보군을 만들고, 상권 데이터로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 공간결합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좌표를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 행정동 경계에 매핑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상권·시설·직전 소비로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641,749개 정류장 좌표–행정동 결합 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151개 안정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‘한 곳에서만 갈 수 있는 동네’의 합집합이 아니라, 여러 출발지와 세 시간대에서 반복 도달 가능한 행정동만 분석한다.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상권은 행정동×분기, 이동은 250m 격자×시간×목적 단위로 유지한다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151개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최종 상권 패널 결합 동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153개 중 코드 일치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행정동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좌표를 서울 행정동 경계에 point-in-polygon으로 결합한 뒤, 출발지 비율로 안정성을 평가한다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공간결합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2026 서울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GeoJSON 내부에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포함되는 동으로 결합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641,749개 point–dong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후보 안정성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동별 도달 출발지 수 / 334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세 시간대에서 반복 계산해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공통 후보만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153개 동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af417f71d046ed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기본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08시 172개 · 14시 153개 · 19시 168개</a:t>
            </a:r>
          </a:p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세 시간대 모두 50% 이상 도달한 공통 후보 153개</a:t>
            </a:r>
          </a:p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패널 코드와 결합 가능한 151개를 분석에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ODsay는 후보 경로의 재검증에, 전체 후보군 계산은 호출 시점에 흔들리지 않는 정적 모형에 사용한다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ODsay를 포기한 것이 아니다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대규모 후보 생성에는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API 응답 형식·호출량·시점 차이가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재현성을 떨어뜨릴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상위 후보의 실제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실서비스 단계: 사용자 출발 위치의 실시간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fc2456e01745e7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목적별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후보군이라도 목적이 바뀌면 순위 근거와 상위 행정동이 바뀐다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2025Q4 1위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사직동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성수1가2동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공릉2동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종로1·2·3·4가동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상봉2동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 공급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동시점 매출은 설명용으로 분리한다. PATH-v0는 B078 실제 목적 이동량 학습모형과 비교할 투명한 기준선이다.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만든 접근성 후보군과 피처 테이블 위에 실제 목적지 선택모형을 학습한다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행정동·시간·연령·목적으로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조건마다 30분 내 후보 행정동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목적지 선택 학습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SHAP과 Recall@5 · NDCG@5 · MRR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 · 전체 인기순 · PATH-v0 · 학습 순위모형을 동일 조건에서 비교하고, 출발지 조건 단위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현재까지의 산출물: 출발지 목록 · 교통망 그래프 · 시간대별 후보 행정동 · 유동–매출 검증 · 목적별 피처 ·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2026-09-09T01:13:21.2100000Z</dcterms:created>
  <dcterms:modified xsi:type="dcterms:W3CDTF">2026-09-09T01:13:21.2100000Z</dcterms:modified>
</coreProperties>
</file>