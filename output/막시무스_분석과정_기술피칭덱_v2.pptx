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84fcf517f3428f" /><Relationship Type="http://schemas.openxmlformats.org/officeDocument/2006/relationships/extended-properties" Target="/docProps/app.xml" Id="Rb9af20775bd24552" /><Relationship Type="http://schemas.openxmlformats.org/officeDocument/2006/relationships/officeDocument" Target="/ppt/presentation.xml" Id="R31593ee5cf2540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052e0102ad43cf"/>
  </p:sldMasterIdLst>
  <p:notesMasterIdLst>
    <p:notesMasterId xmlns:r="http://schemas.openxmlformats.org/officeDocument/2006/relationships" r:id="R6b29de8ae7874748"/>
  </p:notesMasterIdLst>
  <p:sldIdLst>
    <p:sldId xmlns:r="http://schemas.openxmlformats.org/officeDocument/2006/relationships" id="256" r:id="R8235b9773b9f4327"/>
    <p:sldId xmlns:r="http://schemas.openxmlformats.org/officeDocument/2006/relationships" id="257" r:id="Rc44573a173554114"/>
    <p:sldId xmlns:r="http://schemas.openxmlformats.org/officeDocument/2006/relationships" id="258" r:id="R6a26504b4f574a64"/>
    <p:sldId xmlns:r="http://schemas.openxmlformats.org/officeDocument/2006/relationships" id="259" r:id="R1c29d5c4c59b4b27"/>
    <p:sldId xmlns:r="http://schemas.openxmlformats.org/officeDocument/2006/relationships" id="260" r:id="R6daa41c8ca1340df"/>
    <p:sldId xmlns:r="http://schemas.openxmlformats.org/officeDocument/2006/relationships" id="261" r:id="R896cf4343a234818"/>
    <p:sldId xmlns:r="http://schemas.openxmlformats.org/officeDocument/2006/relationships" id="262" r:id="Rde1da4fc2a884820"/>
    <p:sldId xmlns:r="http://schemas.openxmlformats.org/officeDocument/2006/relationships" id="263" r:id="R420a24bb1259437c"/>
    <p:sldId xmlns:r="http://schemas.openxmlformats.org/officeDocument/2006/relationships" id="264" r:id="Rd4238e6a9f594722"/>
    <p:sldId xmlns:r="http://schemas.openxmlformats.org/officeDocument/2006/relationships" id="265" r:id="Rd70a035b79b14d7b"/>
    <p:sldId xmlns:r="http://schemas.openxmlformats.org/officeDocument/2006/relationships" id="266" r:id="Re1985aae965f49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222c2626264e1b" /><Relationship Type="http://schemas.openxmlformats.org/officeDocument/2006/relationships/slideMaster" Target="/ppt/slideMasters/slideMaster1.xml" Id="R68052e0102ad43cf" /><Relationship Type="http://schemas.openxmlformats.org/officeDocument/2006/relationships/notesMaster" Target="/ppt/notesMasters/notesMaster1.xml" Id="R6b29de8ae7874748" /><Relationship Type="http://schemas.openxmlformats.org/officeDocument/2006/relationships/presProps" Target="/ppt/presProps.xml" Id="Rf46a995629ef49a2" /><Relationship Type="http://schemas.openxmlformats.org/officeDocument/2006/relationships/tableStyles" Target="/ppt/tableStyles.xml" Id="R5aaafcd3b689407b" /><Relationship Type="http://schemas.openxmlformats.org/officeDocument/2006/relationships/slide" Target="/ppt/slides/slide1.xml" Id="R8235b9773b9f4327" /><Relationship Type="http://schemas.openxmlformats.org/officeDocument/2006/relationships/slide" Target="/ppt/slides/slide2.xml" Id="Rc44573a173554114" /><Relationship Type="http://schemas.openxmlformats.org/officeDocument/2006/relationships/slide" Target="/ppt/slides/slide3.xml" Id="R6a26504b4f574a64" /><Relationship Type="http://schemas.openxmlformats.org/officeDocument/2006/relationships/slide" Target="/ppt/slides/slide4.xml" Id="R1c29d5c4c59b4b27" /><Relationship Type="http://schemas.openxmlformats.org/officeDocument/2006/relationships/slide" Target="/ppt/slides/slide5.xml" Id="R6daa41c8ca1340df" /><Relationship Type="http://schemas.openxmlformats.org/officeDocument/2006/relationships/slide" Target="/ppt/slides/slide6.xml" Id="R896cf4343a234818" /><Relationship Type="http://schemas.openxmlformats.org/officeDocument/2006/relationships/slide" Target="/ppt/slides/slide7.xml" Id="Rde1da4fc2a884820" /><Relationship Type="http://schemas.openxmlformats.org/officeDocument/2006/relationships/slide" Target="/ppt/slides/slide8.xml" Id="R420a24bb1259437c" /><Relationship Type="http://schemas.openxmlformats.org/officeDocument/2006/relationships/slide" Target="/ppt/slides/slide9.xml" Id="Rd4238e6a9f594722" /><Relationship Type="http://schemas.openxmlformats.org/officeDocument/2006/relationships/slide" Target="/ppt/slides/slide10.xml" Id="Rd70a035b79b14d7b" /><Relationship Type="http://schemas.openxmlformats.org/officeDocument/2006/relationships/slide" Target="/ppt/slides/slide11.xml" Id="Re1985aae965f49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6781eed91c4f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7c1a03137549e8" /><Relationship Type="http://schemas.openxmlformats.org/officeDocument/2006/relationships/notesMaster" Target="/ppt/notesMasters/notesMaster1.xml" Id="R2eda8fd30aa14c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98f8dfa08842aa" /><Relationship Type="http://schemas.openxmlformats.org/officeDocument/2006/relationships/notesMaster" Target="/ppt/notesMasters/notesMaster1.xml" Id="R3961bfd21ca341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e513dd6e4b44d4" /><Relationship Type="http://schemas.openxmlformats.org/officeDocument/2006/relationships/notesMaster" Target="/ppt/notesMasters/notesMaster1.xml" Id="R3a62e21e6c6143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c06da5862c4dbb" /><Relationship Type="http://schemas.openxmlformats.org/officeDocument/2006/relationships/notesMaster" Target="/ppt/notesMasters/notesMaster1.xml" Id="Rbbc08ed66d5246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058dd2ac6f4034" /><Relationship Type="http://schemas.openxmlformats.org/officeDocument/2006/relationships/notesMaster" Target="/ppt/notesMasters/notesMaster1.xml" Id="Rc0f9164f06c740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edee61c3284aaa" /><Relationship Type="http://schemas.openxmlformats.org/officeDocument/2006/relationships/notesMaster" Target="/ppt/notesMasters/notesMaster1.xml" Id="R34d8aa055f8d45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0698115b5d4eb4" /><Relationship Type="http://schemas.openxmlformats.org/officeDocument/2006/relationships/notesMaster" Target="/ppt/notesMasters/notesMaster1.xml" Id="Rca8b32033c334a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2ec7556d2b4d1a" /><Relationship Type="http://schemas.openxmlformats.org/officeDocument/2006/relationships/notesMaster" Target="/ppt/notesMasters/notesMaster1.xml" Id="R069a1736946b44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bf08250e7c4205" /><Relationship Type="http://schemas.openxmlformats.org/officeDocument/2006/relationships/notesMaster" Target="/ppt/notesMasters/notesMaster1.xml" Id="R00dde61a2a4942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132b93dca04f22" /><Relationship Type="http://schemas.openxmlformats.org/officeDocument/2006/relationships/notesMaster" Target="/ppt/notesMasters/notesMaster1.xml" Id="Rc21cc85d7fed41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c814dc68024d1a" /><Relationship Type="http://schemas.openxmlformats.org/officeDocument/2006/relationships/notesMaster" Target="/ppt/notesMasters/notesMaster1.xml" Id="R9361c13c31d24f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배경은 프로젝트용 생성 일러스트입니다.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접근성 산출물: data/processed/local_transit_30min. 목적별 피처: data/processed/purpose_features.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서울시 우리마을가게 상권분석서비스 원본 CSV, B078 표본, 교통 운영 원본. 2023–2025 매출은 68,643 + 67,900 + 67,113행, 점포는 141,235 + 141,001 + 141,218행입니다.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B078 표본: data/external/B078_PURPOSE_250M_202403_sample.csv. 카드매출 예시: data/raw/seoul_commercial_sales_dong_2025.csv 첫 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scripts/build_odsay_origins.py, data/external/odsay_origins.csv. 버스 325개는 ARS_ID 6000–6999, 지하철 9개는 ODsay pointSearch 결과입니다.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scripts/build_seoul_transit_network.py, scripts/static_multimodal_accessibility.py, data/interim/local_transit/network_build_summary.csv, reachable_stops_by_origin.csv.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scripts/static_multimodal_accessibility.py, data/processed/local_transit_30min/reachable_dongs_by_origin.csv, time_period_candidates.csv.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docs/odsay_30min_pipeline.md, docs/local_transit_30min_colab.md, scripts/calibrate_transit_times.py. 노선 대기시간은 반 간격 방식으로 보정하며, 초기 가정값은 후속 보정 전 기준입니다.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data/processed/flow_sales_gap/model_comparison.csv, multi_period_validation. R²는 로그매출 기준입니다.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data/processed/purpose_features, data/processed/purpose_rankings/path_v0_purpose_rankings_latest.csv.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향후 계획. 평가 기준은 docs/analysis_roadmap.md를 따릅니다.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02c75b2b604a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540280a5ac4637" /><Relationship Type="http://schemas.openxmlformats.org/officeDocument/2006/relationships/slideLayout" Target="/ppt/slideLayouts/slideLayout1.xml" Id="R79d3262cf06d46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d3262cf06d46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e25e09c164a1e" /><Relationship Type="http://schemas.openxmlformats.org/officeDocument/2006/relationships/image" Target="/ppt/media/image.png" Id="Re269053660dd4c1a" /><Relationship Type="http://schemas.openxmlformats.org/officeDocument/2006/relationships/notesSlide" Target="/ppt/notesSlides/notesSlide1.xml" Id="Re8434882e53f4b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1744e86d749b5" /><Relationship Type="http://schemas.openxmlformats.org/officeDocument/2006/relationships/notesSlide" Target="/ppt/notesSlides/notesSlide2.xml" Id="R7f976b2198bd4a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fde7cd3df4f73" /><Relationship Type="http://schemas.openxmlformats.org/officeDocument/2006/relationships/notesSlide" Target="/ppt/notesSlides/notesSlide3.xml" Id="R4cd729d4d7934f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93af781104c80" /><Relationship Type="http://schemas.openxmlformats.org/officeDocument/2006/relationships/notesSlide" Target="/ppt/notesSlides/notesSlide4.xml" Id="Rdb28e5f2dd4f46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600b8de3945a3" /><Relationship Type="http://schemas.openxmlformats.org/officeDocument/2006/relationships/notesSlide" Target="/ppt/notesSlides/notesSlide5.xml" Id="R8290701357a74d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bbe2091474cbf" /><Relationship Type="http://schemas.openxmlformats.org/officeDocument/2006/relationships/notesSlide" Target="/ppt/notesSlides/notesSlide6.xml" Id="Rac66b11d550549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2b7f7692f4e04" /><Relationship Type="http://schemas.openxmlformats.org/officeDocument/2006/relationships/chart" Target="/ppt/slides/charts/chart1.xml" Id="R450b5c3534734731" /><Relationship Type="http://schemas.openxmlformats.org/officeDocument/2006/relationships/notesSlide" Target="/ppt/notesSlides/notesSlide7.xml" Id="R6ed1aee19efd41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012c7ceb74d8d" /><Relationship Type="http://schemas.openxmlformats.org/officeDocument/2006/relationships/notesSlide" Target="/ppt/notesSlides/notesSlide8.xml" Id="R4f2ee75e2c034d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4cd630aa447af" /><Relationship Type="http://schemas.openxmlformats.org/officeDocument/2006/relationships/chart" Target="/ppt/slides/charts/chart2.xml" Id="R9e71a6b06e0a434e" /><Relationship Type="http://schemas.openxmlformats.org/officeDocument/2006/relationships/notesSlide" Target="/ppt/notesSlides/notesSlide9.xml" Id="R785be98569d34f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59735bfb143e3" /><Relationship Type="http://schemas.openxmlformats.org/officeDocument/2006/relationships/notesSlide" Target="/ppt/notesSlides/notesSlide10.xml" Id="Rc2d086abb5f24f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7c0155d234707" /><Relationship Type="http://schemas.openxmlformats.org/officeDocument/2006/relationships/notesSlide" Target="/ppt/notesSlides/notesSlide11.xml" Id="R1dca1576125f4e2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행정동 수</c:v>
          </c:tx>
          <c:spPr>
            <a:solidFill xmlns:a="http://schemas.openxmlformats.org/drawingml/2006/main">
              <a:srgbClr val="3182F6"/>
            </a:solidFill>
          </c:spPr>
          <c:cat>
            <c:strRef>
              <c:f>'Chart Data'!$A$2:$A$4</c:f>
              <c:strCache>
                <c:ptCount val="3"/>
                <c:pt idx="0">
                  <c:v>25% 이상</c:v>
                </c:pt>
                <c:pt idx="1">
                  <c:v>50% 이상</c:v>
                </c:pt>
                <c:pt idx="2">
                  <c:v>80% 이상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195</c:v>
                </c:pt>
                <c:pt idx="1">
                  <c:v>139</c:v>
                </c:pt>
                <c:pt idx="2">
                  <c:v>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로그매출 R²</c:v>
          </c:tx>
          <c:spPr>
            <a:solidFill xmlns:a="http://schemas.openxmlformats.org/drawingml/2006/main">
              <a:srgbClr val="3182F6"/>
            </a:solidFill>
          </c:spPr>
          <c:cat>
            <c:strRef>
              <c:f>'Chart Data'!$A$2:$A$4</c:f>
              <c:strCache>
                <c:ptCount val="3"/>
                <c:pt idx="0">
                  <c:v>분기 홀드아웃
확장모형</c:v>
                </c:pt>
                <c:pt idx="1">
                  <c:v>연도 전진 검증
확장모형</c:v>
                </c:pt>
                <c:pt idx="2">
                  <c:v>미관측 동
공간 홀드아웃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0.99</c:v>
                </c:pt>
                <c:pt idx="1">
                  <c:v>0.981</c:v>
                </c:pt>
                <c:pt idx="2">
                  <c:v>0.747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9053660dd4c1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DED37-7E30-432F-8303-0C12499E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>
              <a:alpha val="90196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43294-1994-45EF-9E24-8DA7F75C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E1817-77BD-4BFF-816D-722D217F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막시무스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D3D56-32D1-4E2B-BDCE-07BEBEA5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238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동대문구 30분 생활권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목적지 추천 분석 파이프라인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028EC-5976-42B3-8818-D2577200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출발지 구축부터 공간 매핑, 상권 피처,</a:t>
            </a:r>
          </a:p>
          <a:p xmlns:a="http://schemas.openxmlformats.org/drawingml/2006/main">
            <a:pPr algn="l">
              <a:def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검증 가능한 목적별 순위까지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109A5-EAD2-4BA1-85E3-43048848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6668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82F51-16FB-4138-8172-E4E4C295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53025"/>
            <a:ext cx="1438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rPr>
              <a:t>DATA PIPELINE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C6F3A-9A8F-47D4-B0D6-5EB51C67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장한별 · 지우진 · 최시현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06A66-BA19-4AA8-9039-1CC7D474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8664688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05199C-9B7B-4704-9991-1728DAC7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C0ED7-FF12-4C21-9595-ADAB31E2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분석 파이프라인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98BBA-E9F3-4263-8086-9A08DCF7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교통망에서 후보군을 만들고, 상권 데이터로 목적별 순위를 계산한다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C39EB-227A-4FCD-900A-7939C059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2503A-3DE2-4365-BEEE-385959FB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6260C-A046-4B78-9ED9-6E06A97D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D8C8E-5223-4E1B-BA3D-E95828A3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B3605-3866-45B0-8EEF-1BE9B875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출발지 334개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62934-A877-482A-B44F-9AB80FA0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동대문구 버스 325개</a:t>
            </a:r>
          </a:p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지하철 9개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EC6C2-1732-4184-B1B8-14083F24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56040-42D9-4670-95E7-316E4A37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6E637-042C-419E-AFD5-2A0246B6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A107C-A68D-46AF-B9C9-2D1FF9D5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도달 정류장 탐색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C5A5A-BF21-4389-941C-F6606EAD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버스·지하철 그래프에서</a:t>
            </a:r>
          </a:p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30분 이내 최단시간 계산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1180D7-13CD-4C6B-B3FB-53373697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3B1D2-9DAE-479D-8A44-8DBCBC2E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2CF4AC-099D-4B63-AA79-BEB561E1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6E4AA6-2C6B-4FD3-95C5-2A0C7A5D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행정동 공간결합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06C84-5E10-46E8-BE4B-6651425D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도달 정류장 좌표를</a:t>
            </a:r>
          </a:p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서울 행정동 경계에 매핑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6B8EAA-6743-4A10-9929-67AAF1B4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D8AC5D-F192-4531-ADCC-8EF48811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642E96-5308-4B94-B1DB-B4E9DE8C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ECBB4D-343C-4575-956C-FE34F513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목적별 순위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581855-53B3-46A5-A502-BEDCB27A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상권·시설·직전 소비로</a:t>
            </a:r>
          </a:p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PATH-v0 베이스라인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95B917-7E68-4982-B372-0A1F41A9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후보 생성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CC71C4-AE2E-45CF-85B4-1E541BF5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644,028개 출발지–정류장 도달 기록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F1A2B8-E082-41EE-A035-3904594E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641,749개 정류장 좌표–행정동 결합 기록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AE8938-3851-4FB4-8356-51EB6FFB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151개 안정 후보 × 5개 목적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1373E3-765A-4A1E-8667-92DA1FA0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5A76CB-D135-4BC5-ADCD-0D1AABA7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핵심 원칙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6C1761-1EF1-4AC5-B6E2-EA82F57F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238750"/>
            <a:ext cx="904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‘한 곳에서만 갈 수 있는 동네’의 합집합이 아니라, 여러 출발지와 세 시간대에서 반복 도달 가능한 행정동만 분석한다.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62702D-F41F-4BB0-8A95-EAE5CDCB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1266EF-24AC-47A2-8517-8BFE5093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865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207145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206B0C-E81D-47A0-AAB8-94AA46D7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480D1-091D-4D98-B4AD-98FAF36D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원본 데이터와 분석 단위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BCDD9-95C7-48F5-8830-6D507FFC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상권은 행정동×분기, 이동은 250m 격자×시간×목적 단위로 유지한다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20BA9-1349-4D11-9642-558FAEB1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2000250"/>
                <a:gridCol w="3905250"/>
                <a:gridCol w="3257550"/>
              </a:tblGrid>
              <a:tr h="46037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원본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 수 / 컬럼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핵심 필드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용도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카드매출 2023–2025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203,656행 / 53개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업종·매출·요일·시간대·성·연령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소비 신호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점포 2023–2025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423,454행 / 12개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업종·점포 수·개·폐업·프랜차이즈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상권 구성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유동·집객시설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9,350행 / 25·23개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유동인구·학교·극장·지하철역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지역 맥락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B078 이동 샘플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499행 / 47개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250m OD·시각·목적·이동시간·성연령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스키마 검증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교통 운영 원본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버스·지하철 노드·엣지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정류소·역·구간시간·시간표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도달성 계산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33872-9D09-4601-B2E0-CCD0A1C4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467F9-33E7-414E-B4B8-8094A88D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203,656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F5621-8ED8-4F8A-A421-7D2FE173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카드매출 원본 행</a:t>
            </a:r>
          </a:p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2023Q1–2025Q4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B464F-114B-4B01-AFCF-0BE38B3E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102E9-54C6-44A9-8DBA-CD8950FD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423,454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791F2-38DA-4327-9CBC-F7947118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점포 원본 행</a:t>
            </a:r>
          </a:p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동일 기간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75D89-5961-4EAE-BCDE-C652525D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E44625-A62E-408E-8B7D-F0B49FBA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53 + 47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3604D-FB6C-41EC-B0FA-6B26902D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매출·이동 데이터 컬럼</a:t>
            </a:r>
          </a:p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시간·목적을 보존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17E2F-8750-4D8F-9259-AA380F04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B5D24-6547-426D-BCF4-4CED2B93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151개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99C137-D9F8-427B-A764-26D6CF88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최종 상권 패널 결합 동</a:t>
            </a:r>
          </a:p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153개 중 코드 일치 기준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BBA4A6-FC60-49B6-839C-A1CA4F34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3AA851-CC3D-402D-9240-942E9B54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865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752244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D6DE7-02C3-4371-A40C-551A7CD3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877BD-9188-4397-B3AE-D53C5345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원본 레코드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D7E1F-BD1F-4FCF-AD21-B0BC70D1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개인 단위로 합치지 않고, 공통 공간·시간 단위로 집계한다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38416-BBE6-4BE4-AA3A-EDB6ACBF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909F1-E6BE-4568-9158-E811F53A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B078 이동 데이터 샘플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5191125" cy="1447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33500"/>
                <a:gridCol w="1333500"/>
                <a:gridCol w="809625"/>
                <a:gridCol w="857250"/>
                <a:gridCol w="857250"/>
              </a:tblGrid>
              <a:tr h="482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O_CELL_ID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D_CELL_ID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ST_TIME_CD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MOVE_PURPOSE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MOVE_TIME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다사31004675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다사31004500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 기타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53분</a:t>
                      </a:r>
                    </a:p>
                  </a:txBody>
                  <a:tcPr marL="76200" marR="76200" marT="47625" marB="47625"/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 250m 격자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도착 250m 격자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 시각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이동 목적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 단위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6C2B0-5B8D-4D07-A0C9-61D0B427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서울시 카드매출 원본 행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400800" y="2266950"/>
          <a:ext xmlns:a="http://schemas.openxmlformats.org/drawingml/2006/main" cx="5181600" cy="1447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762000"/>
                <a:gridCol w="1095375"/>
                <a:gridCol w="1143000"/>
                <a:gridCol w="1285875"/>
                <a:gridCol w="895350"/>
              </a:tblGrid>
              <a:tr h="482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분기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행정동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업종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당월 매출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11–14시 매출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2025Q1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청운효자동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한식음식점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3,383,806,701원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1,348,487,189원</a:t>
                      </a:r>
                    </a:p>
                  </a:txBody>
                  <a:tcPr marL="76200" marR="76200" marT="47625" marB="47625"/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분기 집계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행정동 코드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서비스 업종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당월 합계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시간대 합계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3FD4B-85BE-4F51-81F0-E774F4E9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01196-5B71-40BB-A2FC-1F847B10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결합 절차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B1A4C-C233-47F8-9A83-09C975F1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① B078 격자 중심점을 행정동 경계에 공간결합  →  ② 출발·도착·시간·연령·목적별 이동량 집계  →  ③ 동일 행정동·분기의 상권 피처와 연결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A7BF17-5B0B-4CA7-9629-F9D60A24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48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5484D"/>
                </a:solidFill>
                <a:latin typeface="Apple SD Gothic Neo"/>
                <a:ea typeface="Apple SD Gothic Neo"/>
                <a:cs typeface="Apple SD Gothic Neo"/>
              </a:rPr>
              <a:t>B078 전체 원본을 확보하기 전에는 표본 499행으로 목적지 선호나 추천 성능을 주장하지 않는다.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EE5D8-2E9C-4C03-BBA9-E2328163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262D4-5248-4189-A5A0-36636D1E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865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233994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478AF8-B2CC-43EB-957F-2B33D992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A4EB0-434F-42B0-87FB-0C873527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동대문구 출발지 334개를 만든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D172A-2E59-47CB-9D82-8CB0F7CE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버스 정류장 식별코드와 지하철역 좌표를 하나의 출발지 CSV로 표준화했다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15D9C-9464-4EE3-9D2E-F9BBCD6F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5C3BD-2CF0-4A93-A04E-3BBE9C5E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1435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7A28C-6DC3-4283-B24A-36700555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버스 출발지 325개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88A3D-EB8B-41BA-98D9-72C01675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2383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30274-F964-4988-8818-5908FE55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2009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Seoul OA-15067 · 2026-09-02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63462-66BE-4CC9-830B-F06E4412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3905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서울시 버스정류소 위치정보 원본에서</a:t>
            </a:r>
          </a:p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ARS_ID가 6000–6999인 정류소만 필터링했다.</a:t>
            </a:r>
          </a:p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이 ARS 코드 대역이 동대문구 정류소를 식별한다.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1A253-4FFC-461E-BD7F-A2E3586B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필수 컬럼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12DB1-4EFC-4768-9A55-B9CC7B84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NODE_ID · ARS_ID · 정류소명 · X좌표 · Y좌표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2D52F2-4914-489D-8865-EFC4D942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05000"/>
            <a:ext cx="51435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43167-336B-43D6-BA2C-86EC850B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38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지하철 출발지 9개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0854A-D537-4314-83C5-2A00DCE2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67000"/>
            <a:ext cx="2000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71F74-1B14-4075-8663-AC9D166E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1771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ODsay pointSearch 좌표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AE6C11-3DFA-4350-AB7C-F350BB78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81350"/>
            <a:ext cx="3905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동대문구 안의 지하철역을 별도로 검색해</a:t>
            </a:r>
          </a:p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역 ID·역명·경도·위도를 표준화했다.</a:t>
            </a:r>
          </a:p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버스 정류장과 중복하지 않는 출발 노드다.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9A73DA-53F0-463A-96B5-132DD2B3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719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최종 origin CSV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B9172-B774-406F-B885-A40BDA29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482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origin_id · origin_name · longitude · latitude · origin_type · source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1BD7BE-505B-4D6F-BD89-7464B041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47EF3A-2105-4D32-A1F2-AFDC1C46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325개 버스 + 9개 지하철 = 334개 출발지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C06882-E914-43B5-8EC7-40C12344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43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각 출발지를 같은 비중으로 두고 접근 가능한 목적지 비율을 계산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192412-AE54-4B6D-A5EE-67245353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AAD065-5535-49E7-AC68-208E1629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865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387533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2FF788-11ED-49E6-9973-C24675B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1185F-4A08-4B48-939B-3CAB8BF3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정류장·역에서 30분 내 도달 정류장을 찾는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5DA5C-3046-4410-A0B1-CF71F831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공식 운행 원본을 방향성 그래프로 바꾸고, 환승·도보·대기를 비용으로 넣어 최단시간을 계산한다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6B82A-6C1E-4293-8894-95CD2E05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417F6-1CC7-48B1-921C-4558650A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AAB98-B118-4055-9DBF-CCBD277D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FD4BC-7886-4EBC-97F2-C0D67437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9D7EA-DA01-4B82-AEEC-6D3FC414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버스 엣지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6E60A-4111-4999-B61B-A1C4639F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19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노선별 정류장 순서와</a:t>
            </a:r>
          </a:p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시간대 구간 운행시간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620E3-397D-49CB-8D64-95FD2F92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A735F-0BD0-46CD-A180-1FD989A1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78EDE-0533-407F-B332-49616071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50F7D-BCDB-488A-AD40-F7C960CB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8605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지하철 엣지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501F6-E9FF-4551-9F20-AD2930AF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19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평일 시간표에서</a:t>
            </a:r>
          </a:p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역간 운행시간 중앙값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B4E0F4-992E-47FA-9DB5-02DD20DA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3835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B404A-BCA5-4F91-8BD4-16DFB409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2B12F-28A0-4422-95BC-EBD4101A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E33834-3FC1-45BD-9B63-D0D638E2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8605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보행 엣지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F60DC8-8119-4637-B3E3-0D2ADA44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19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250m 이내 정류장·역을</a:t>
            </a:r>
          </a:p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도보 시간으로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24A999-80DA-4E02-A305-BDAD673A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2781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C7A241-3174-42E5-A939-D10076EA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85F7CE-0F63-43A2-A109-B1EF902C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2A84CA-2F13-481F-B80E-167488D1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다익스트라 탐색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98A7B0-327E-41EC-B41A-270A7726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1942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상태 = 정류장, 현재 노선</a:t>
            </a:r>
          </a:p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30분 이하만 유지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C06AFB-AF02-4D47-B2CD-227CDE03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59FB9E-7E4E-48DC-B065-76038378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탐색 비용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4BF660-D7A9-4DCB-BC63-17B01A74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출발지→정류장 도보 + 최초 탑승 대기 + 구간 운행시간 + 환승 시 추가 대기·환승시간 + 정류장 간 도보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8DC212-71D4-435A-BDA0-96E22422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1397B0-DFCA-4A59-B1E6-28DC80AE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40,970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7A43EE-B404-4C0F-B300-7FF5430B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10시 버스 방향 엣지</a:t>
            </a:r>
          </a:p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12,897개 정류장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80F682-0301-429E-9329-0B9E9A23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725020-2092-44DD-980B-8FE11857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946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6654F9-DA51-406B-9EF6-3A43F884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지하철 방향 엣지</a:t>
            </a:r>
          </a:p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454개 좌표 매칭 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59D3D7-88A7-42C8-896D-E16602AD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3EA1EB-6EA0-4829-B310-111A832D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644,028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B02E3B-8D99-4619-A7E8-EEAE0968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출발지–도달 정류장 쌍</a:t>
            </a:r>
          </a:p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334개 출발지 전체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E4A9D1-DD45-40BB-898F-2F766EF7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C2A5F4-1220-4395-AC17-424C845E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30분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B02336-BE74-435A-92CD-F8CCE999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하드 컷오프</a:t>
            </a:r>
          </a:p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도달한 정류장만 저장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FF59FB-C8AF-4495-9B9D-1AF14F74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FFB630-1433-4FA6-A9B3-44F022F0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865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867424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A38598-DEE8-4442-8820-FBA0E9BB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3507F-C55F-451B-9EA1-65A77414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도달 정류장에서 행정동 후보를 뽑는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FB86F-854D-4049-B70E-DF4F81C6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정류장 좌표를 서울 행정동 경계에 point-in-polygon으로 결합한 뒤, 출발지 비율로 안정성을 평가한다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94705-F3FE-479D-A37B-CE510D4B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6FD9D-2BCB-4FBE-BD5A-113EE0AD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77792-93DF-46AD-8366-77E85EC5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① 도달 정류장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B5A03-7F0E-4ED0-AE87-3D6691E4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각 출발지에서 30분 이내로</a:t>
            </a:r>
          </a:p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도달한 정류장·역의 좌표와</a:t>
            </a:r>
          </a:p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최단 소요시간을 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13AA7-E010-4C40-8194-A8774F9B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644,028개 origin–stop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4FD4A-B3A8-4A2D-B9B0-FDC5939A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812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02644-40FC-4700-AD5C-720562F5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② 공간결합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5E754-2C95-4E16-8807-51FDC37E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62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정류장 point를 2026 서울</a:t>
            </a:r>
          </a:p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행정동 GeoJSON 내부에</a:t>
            </a:r>
          </a:p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포함되는 동으로 결합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B450D-4B5C-4BEF-85F6-7B8075B8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10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641,749개 point–dong 기록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E75B0-11E1-4D65-B61F-5E55FD54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812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6F5EF4-B134-441E-AC15-F365570F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③ 후보 안정성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CA75D-A348-4B27-BD3D-EC712C02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62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동별 도달 출발지 수 / 334</a:t>
            </a:r>
          </a:p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세 시간대에서 반복 계산해</a:t>
            </a:r>
          </a:p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공통 후보만 유지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6138E3-6794-4235-9F47-B005AC1A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10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세 시간대 공통 153개 동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609600" y="4810125"/>
          <a:ext xmlns:a="http://schemas.openxmlformats.org/drawingml/2006/main" cx="4953000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0b5c3534734731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E63D97-6E2D-46D1-BD2E-FE33B8E7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기본 후보군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F195E2-C427-49C0-9137-E4CF40E8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08시 172개 · 14시 153개 · 19시 168개</a:t>
            </a:r>
          </a:p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세 시간대 모두 50% 이상 도달한 공통 후보 153개</a:t>
            </a:r>
          </a:p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상권 패널 코드와 결합 가능한 151개를 분석에 사용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1BB2A8-22BE-4DD5-B80E-F1A8CF49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9E8B44-5333-45C4-B9A5-E756CF0F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865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97113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A7B96F-EC30-4D2A-A978-542F501E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3C977-A939-4521-91B7-14050EA6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교통시간 가정과 ODsay의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F07AF-89A6-4BFB-BD25-D96F6FE0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ODsay는 후보 경로의 재검증에, 전체 후보군 계산은 호출 시점에 흔들리지 않는 정적 모형에 사용한다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401AD-DB35-4CDC-9523-7303142A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67627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1476375"/>
                <a:gridCol w="3476625"/>
              </a:tblGrid>
              <a:tr h="4490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비용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기본값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근거·적용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출발지 접근 도보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최대 600m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출발좌표에서 인접 정류장·역 연결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환승 도보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최대 250m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근접한 정류장·역 사이 보행 연결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보행 속도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1.2m/s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거리 ÷ 속도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버스·지하철 대기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노선별 반 간격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운행횟수·시간표 기반, 8·14·19시 보정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환승 추가시간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관측치 기반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시간대별 환승시간 중앙값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컷오프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탐색 중 1,800초 초과 상태 제거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D4555-977E-4DE3-A20B-2DD8DE2E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85950"/>
            <a:ext cx="36004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810DD-F131-417A-A78C-69762931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288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ODsay를 포기한 것이 아니다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464CD-33DC-4F08-A762-10E9EC71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90850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대규모 후보 생성에는</a:t>
            </a:r>
          </a:p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API 응답 형식·호출량·시점 차이가</a:t>
            </a:r>
          </a:p>
          <a:p xmlns:a="http://schemas.openxmlformats.org/drawingml/2006/main">
            <a:pPr algn="l"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재현성을 떨어뜨릴 수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B262D-85D5-4838-87D3-B7FAD774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2971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2B170-1228-415B-9D9A-5AABDF89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6717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상위 후보의 실제 경로 재검증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DE6BB-2EB0-4516-9172-5E73C63E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14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실서비스 단계: 사용자 출발 위치의 실시간 경로 조회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D1094-0F4C-4E5C-8E3D-84E976E8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가정값은 모두 model_assumptions.csv에 남기고, 08·14·19시 결과를 비교했다.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6A531-DD1A-494C-8144-1E948236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2219E-F0D6-4FA8-9850-6ECA72C9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865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860418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F1A32C-281A-4A79-947A-242114BE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59FEE-4A5B-4B0E-AF14-2D57BD7E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상권 EDA와 성능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0900D-4BE9-43CB-A0A8-19CA876C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높은 점수 하나보다, 다른 시간·다른 지역에서도 유지되는지를 먼저 확인했다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1AAE8-1968-42EC-BCBE-C54ACEE1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D8B49-A1FC-4974-97A4-51EDDE71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4C887-F091-4694-8B2F-EA092303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0.555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382C7-70A3-4672-B98D-1105A57E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유동인구–매출 Spearman</a:t>
            </a:r>
          </a:p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유동인구 하나로는 부족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A9F94-2CE5-42AB-8F71-67659FDA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2A297-5D8B-43D6-8B9A-872DB354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0.895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B6812-4243-4E52-8452-6C227292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2025 분기 홀드아웃</a:t>
            </a:r>
          </a:p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비선형 기대매출 R²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107ECD-6C9A-425C-B6DF-80B8A2D9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716C2-3EB3-4B25-B904-DA7270E0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0.792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97FA6-060C-4D76-8089-98302045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동일 조건 선형 Ridge</a:t>
            </a:r>
          </a:p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로그매출 R²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5A498C-9A33-4803-9B8D-9C2BFC86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7FC5AB-8C66-4739-B4D1-E002D8F2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0.747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11E07-8466-4128-BFB9-B104106F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미관측 행정동</a:t>
            </a:r>
          </a:p>
          <a:p xmlns:a="http://schemas.openxmlformats.org/drawingml/2006/main">
            <a:pPr algn="l"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공간 홀드아웃 R²</a:t>
            </a:r>
          </a:p>
        </p:txBody>
      </p:sp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609600" y="3619500"/>
          <a:ext xmlns:a="http://schemas.openxmlformats.org/drawingml/2006/main" cx="54292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71a6b06e0a434e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1F1656-63B2-465E-AC45-57007828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19500"/>
            <a:ext cx="48768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0145B6-C414-4948-9400-DE5A33CA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05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해석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897BAB-4F24-4B55-BA97-E518B83C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862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0.98~0.99는 같은 동의 과거 패턴을</a:t>
            </a:r>
          </a:p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다음 분기에 맞히는 성능이다.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29676E-EBB2-47DC-B6FB-0EC11514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911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새로운 동네에 대한 일반화 성능은 0.747로 별도 보고한다.</a:t>
            </a:r>
          </a:p>
          <a:p xmlns:a="http://schemas.openxmlformats.org/drawingml/2006/main">
            <a:pPr algn="l">
              <a:def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따라서 현재 결과를 최종 추천 성능이라고 부르지 않는다.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31C42-AEF7-4D36-A411-89D83005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괴리 후보는 ‘원인 확정’이 아니라, 유동인구·점포 수로 기대한 매출에서 반복적으로 벗어난 지역을 후속 조사 대상으로 선별한 결과다.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36A0FC-D3A5-46DE-A75F-C28B0B6C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1BDEF7-B344-413B-9864-E4E2098F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865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081923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E35D2-0F5D-433A-A2DA-0624311C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46374-1EDF-4812-A9AD-313547F6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목적별 피처와 PATH-v0 베이스라인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7D32D-E4F0-4C42-A40C-6E1AF372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같은 후보군이라도 목적이 바뀌면 순위 근거와 상위 행정동이 바뀐다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5EDD1-A3E9-479F-AEAB-0667CE02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143000"/>
                <a:gridCol w="4286250"/>
                <a:gridCol w="3095625"/>
                <a:gridCol w="2447925"/>
              </a:tblGrid>
              <a:tr h="4286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목적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공급 피처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직전 분기 소비 신호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2025Q4 1위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식사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음식점·제과·주점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점심·저녁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사직동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카페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커피-음료 점포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점심·오후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성수1가2동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공부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독서실·학원·서적·학교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점심·오후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공릉2동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쇼핑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소매 업종·백화점·슈퍼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오후·저녁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종로1·2·3·4가동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여가문화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오락·스포츠·숙박·극장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저녁·야간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상봉2동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AC6E3-6440-484E-88AC-C3A505AB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4F1C2-4B59-411A-9069-32D98DA3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339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PATH-v0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4B49C-43A6-4748-A819-D0C0CB5E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Purpose-Aware Transit-constrained Heuristic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459E6-07F8-4BD6-8161-CB1E530C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1435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점수 = 목적 공급 신호 70% + 직전 분기 소비 신호 30%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99A63-F72D-4405-A38C-6E3A1038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4768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동시점 매출은 설명용으로 분리한다. PATH-v0는 B078 실제 목적 이동량 학습모형과 비교할 투명한 기준선이다.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304DE-2427-4704-BF99-1ECA029E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0BF87-3224-406E-B71A-51DA1293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865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893637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CE20A0-6B0F-4AF9-8BF0-B75B1E6F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다음 분석 단계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FF919-7EAC-46FE-8FF2-99B55723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4EC95-6253-4655-A343-C8689D32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현재 만든 접근성 후보군과 피처 테이블 위에 실제 목적지 선택모형을 학습한다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93ECA-DBE6-4E40-B51D-FFFE500A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C6186-CF46-4DAA-B3B2-C136281C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3F4BE-643D-474D-AD99-E1CC3B8F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A9CF3-3D43-4A63-8E38-22F18D6A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B078 전체 원본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B2E55-20A9-4D8E-8C9D-73A2ED20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575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08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250m OD를 행정동·시간·연령·목적으로 집계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BCB3B-13FB-42C3-A74A-D3E03E91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91DC2-2191-4CE3-B204-E7E31D70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F06C5-8658-4ADE-B091-30DE360E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86261-79E8-4BAB-8D11-1F1938DA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2420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Choice set 생성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B947B-C6B4-4D0F-B7A4-6D051A5F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575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9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출발지 조건마다 30분 내 후보 행정동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E0840-6274-4CA1-8BB7-AEB275C5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7650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B028C-8BAB-4BFA-A3B2-387766F0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138E6E-E3A0-4A66-AE9C-6742510D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AE598-3885-49CB-AE85-91665348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2420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목적지 선택 학습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3FB1CF-2B4D-45B7-B51F-9249B7FF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575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54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Conditional Logit · LightGBM · CatBoost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75F56-8695-4380-902F-D196C7CD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781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C961FE-7DA1-42B6-91BA-F4BF71A4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C6A81F-5636-4639-AE3A-FD6C18E0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B87FB9-FBCF-4BA2-9C1A-D4E08226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설명·검증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3446D9-E8D2-406B-AB85-7DD340C4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575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SHAP과 Recall@5 · NDCG@5 · MRR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6D1B72-3319-4F93-AC8D-CDA84D58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C4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C68374-FA4A-4180-8747-575A4E20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rPr>
              <a:t>비교 기준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30F937-20D4-48AE-BAE7-E55EE6CC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191125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이동시간 최단순 · 전체 인기순 · PATH-v0 · 학습 순위모형을 동일 조건에서 비교하고, 출발지 조건 단위 paired bootstrap 95% CI로 차이를 검증한다.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6143E5-3B5D-49B8-8987-AA5EDF52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현재까지의 산출물: 출발지 목록 · 교통망 그래프 · 시간대별 후보 행정동 · 유동–매출 검증 · 목적별 피처 · PATH-v0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EE57BC-7393-4DBA-AC6F-A5770836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6B4679-4C5F-46A2-B70F-D755A3F7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865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192208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2026-09-09T01:07:25.9470000Z</dcterms:created>
  <dcterms:modified xsi:type="dcterms:W3CDTF">2026-09-09T01:07:25.9470000Z</dcterms:modified>
</coreProperties>
</file>