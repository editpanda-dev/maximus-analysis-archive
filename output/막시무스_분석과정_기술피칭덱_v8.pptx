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slides/charts/chart1.xml" ContentType="application/vnd.openxmlformats-officedocument.drawingml.chart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slides/charts/chart2.xml" ContentType="application/vnd.openxmlformats-officedocument.drawingml.chart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Default Extension="xlsx" ContentType="application/vnd.openxmlformats-officedocument.spreadsheetml.sheet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363a984521c46f5" /><Relationship Type="http://schemas.openxmlformats.org/officeDocument/2006/relationships/extended-properties" Target="/docProps/app.xml" Id="R7a257a7521f64791" /><Relationship Type="http://schemas.openxmlformats.org/officeDocument/2006/relationships/officeDocument" Target="/ppt/presentation.xml" Id="R8be38d746bc147b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5fa9708d9dbe4e1b"/>
  </p:sldMasterIdLst>
  <p:notesMasterIdLst>
    <p:notesMasterId xmlns:r="http://schemas.openxmlformats.org/officeDocument/2006/relationships" r:id="R1d0e9b0330f743fa"/>
  </p:notesMasterIdLst>
  <p:sldIdLst>
    <p:sldId xmlns:r="http://schemas.openxmlformats.org/officeDocument/2006/relationships" id="256" r:id="Rebbc547457354b85"/>
    <p:sldId xmlns:r="http://schemas.openxmlformats.org/officeDocument/2006/relationships" id="257" r:id="Rb266105a640e48de"/>
    <p:sldId xmlns:r="http://schemas.openxmlformats.org/officeDocument/2006/relationships" id="258" r:id="Ra8046f48f2e54d2f"/>
    <p:sldId xmlns:r="http://schemas.openxmlformats.org/officeDocument/2006/relationships" id="259" r:id="R4ddfcdf13d8e441c"/>
    <p:sldId xmlns:r="http://schemas.openxmlformats.org/officeDocument/2006/relationships" id="260" r:id="R9215fc8f82234b31"/>
    <p:sldId xmlns:r="http://schemas.openxmlformats.org/officeDocument/2006/relationships" id="261" r:id="Rbe7f4bd59b074204"/>
    <p:sldId xmlns:r="http://schemas.openxmlformats.org/officeDocument/2006/relationships" id="262" r:id="Re5c0112ed16e49b2"/>
    <p:sldId xmlns:r="http://schemas.openxmlformats.org/officeDocument/2006/relationships" id="263" r:id="R5325a020395044bf"/>
    <p:sldId xmlns:r="http://schemas.openxmlformats.org/officeDocument/2006/relationships" id="264" r:id="Reba5d7dddd45421f"/>
    <p:sldId xmlns:r="http://schemas.openxmlformats.org/officeDocument/2006/relationships" id="265" r:id="Raed12ad1b215422e"/>
    <p:sldId xmlns:r="http://schemas.openxmlformats.org/officeDocument/2006/relationships" id="266" r:id="R8091b79352d74abf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0a93ec8ada44aaa" /><Relationship Type="http://schemas.openxmlformats.org/officeDocument/2006/relationships/slideMaster" Target="/ppt/slideMasters/slideMaster1.xml" Id="R5fa9708d9dbe4e1b" /><Relationship Type="http://schemas.openxmlformats.org/officeDocument/2006/relationships/notesMaster" Target="/ppt/notesMasters/notesMaster1.xml" Id="R1d0e9b0330f743fa" /><Relationship Type="http://schemas.openxmlformats.org/officeDocument/2006/relationships/presProps" Target="/ppt/presProps.xml" Id="Red483c54477b47d3" /><Relationship Type="http://schemas.openxmlformats.org/officeDocument/2006/relationships/tableStyles" Target="/ppt/tableStyles.xml" Id="Ree8352b631064dfb" /><Relationship Type="http://schemas.openxmlformats.org/officeDocument/2006/relationships/slide" Target="/ppt/slides/slide1.xml" Id="Rebbc547457354b85" /><Relationship Type="http://schemas.openxmlformats.org/officeDocument/2006/relationships/slide" Target="/ppt/slides/slide2.xml" Id="Rb266105a640e48de" /><Relationship Type="http://schemas.openxmlformats.org/officeDocument/2006/relationships/slide" Target="/ppt/slides/slide3.xml" Id="Ra8046f48f2e54d2f" /><Relationship Type="http://schemas.openxmlformats.org/officeDocument/2006/relationships/slide" Target="/ppt/slides/slide4.xml" Id="R4ddfcdf13d8e441c" /><Relationship Type="http://schemas.openxmlformats.org/officeDocument/2006/relationships/slide" Target="/ppt/slides/slide5.xml" Id="R9215fc8f82234b31" /><Relationship Type="http://schemas.openxmlformats.org/officeDocument/2006/relationships/slide" Target="/ppt/slides/slide6.xml" Id="Rbe7f4bd59b074204" /><Relationship Type="http://schemas.openxmlformats.org/officeDocument/2006/relationships/slide" Target="/ppt/slides/slide7.xml" Id="Re5c0112ed16e49b2" /><Relationship Type="http://schemas.openxmlformats.org/officeDocument/2006/relationships/slide" Target="/ppt/slides/slide8.xml" Id="R5325a020395044bf" /><Relationship Type="http://schemas.openxmlformats.org/officeDocument/2006/relationships/slide" Target="/ppt/slides/slide9.xml" Id="Reba5d7dddd45421f" /><Relationship Type="http://schemas.openxmlformats.org/officeDocument/2006/relationships/slide" Target="/ppt/slides/slide10.xml" Id="Raed12ad1b215422e" /><Relationship Type="http://schemas.openxmlformats.org/officeDocument/2006/relationships/slide" Target="/ppt/slides/slide11.xml" Id="R8091b79352d74abf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6d586c170104c1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d6bfcc950c340c7" /><Relationship Type="http://schemas.openxmlformats.org/officeDocument/2006/relationships/notesMaster" Target="/ppt/notesMasters/notesMaster1.xml" Id="R6df9e7cfbde14ba4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6a7914eebf44f0" /><Relationship Type="http://schemas.openxmlformats.org/officeDocument/2006/relationships/notesMaster" Target="/ppt/notesMasters/notesMaster1.xml" Id="R49cc3538064642cb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40e29ab3039425b" /><Relationship Type="http://schemas.openxmlformats.org/officeDocument/2006/relationships/notesMaster" Target="/ppt/notesMasters/notesMaster1.xml" Id="R79874f218a3b49c4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4678cda66f4543b0" /><Relationship Type="http://schemas.openxmlformats.org/officeDocument/2006/relationships/notesMaster" Target="/ppt/notesMasters/notesMaster1.xml" Id="Rf7ee8332c11b4ee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98f8c860c184ebd" /><Relationship Type="http://schemas.openxmlformats.org/officeDocument/2006/relationships/notesMaster" Target="/ppt/notesMasters/notesMaster1.xml" Id="R49dbce51da4e4d7a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a184d784f7684e68" /><Relationship Type="http://schemas.openxmlformats.org/officeDocument/2006/relationships/notesMaster" Target="/ppt/notesMasters/notesMaster1.xml" Id="R0f9db8f9c30f4a3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cd6eff5972634529" /><Relationship Type="http://schemas.openxmlformats.org/officeDocument/2006/relationships/notesMaster" Target="/ppt/notesMasters/notesMaster1.xml" Id="Rb8d8876c8ea74553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60c46006f8504282" /><Relationship Type="http://schemas.openxmlformats.org/officeDocument/2006/relationships/notesMaster" Target="/ppt/notesMasters/notesMaster1.xml" Id="Rf660dd5ec185484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3e20437fafd4a38" /><Relationship Type="http://schemas.openxmlformats.org/officeDocument/2006/relationships/notesMaster" Target="/ppt/notesMasters/notesMaster1.xml" Id="Ra98446bc1a664c25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a8e6447216a84a35" /><Relationship Type="http://schemas.openxmlformats.org/officeDocument/2006/relationships/notesMaster" Target="/ppt/notesMasters/notesMaster1.xml" Id="R7d19809ea3964f5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6c460142a1844128" /><Relationship Type="http://schemas.openxmlformats.org/officeDocument/2006/relationships/notesMaster" Target="/ppt/notesMasters/notesMaster1.xml" Id="R5341aa472b8b4c9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표지 사진 출처: 한국경제, ‘한국외국어대 서울캠퍼스 전경. 한국외국어대 제공’ 사진. https://www.hankyung.com/article/2026083014201 (열람: 2026-09-09)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접근성 산출물: data/processed/local_transit_30min. 공식 상권 후보: data/processed/commercial_area_accessibility. 행정동은 탐색 생활권, 공식 상권은 추천 후보 단위로 사용합니다.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서울시 상권분석서비스 원본 CSV, 공식 상권 영역 폴리곤, 교통 운영 원본, B078 표본을 사용했습니다. 공식 상권 1,650개 중 26개가 세 시간대 25% 접근 기준을 통과했습니다.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B078 표본: data/external/B078_PURPOSE_250M_202403_sample.csv. 격자 중심점은 EPSG:5179 좌표계에서 WGS84로 변환한 뒤 서울 행정동 GeoJSON과 point-in-polygon 공간결합합니다.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scripts/build_odsay_origins.py, data/external/odsay_origins.csv. 버스 325개는 ARS_ID 6000–6999, 지하철 9개는 ODsay pointSearch 결과입니다.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scripts/build_seoul_transit_network.py, scripts/static_multimodal_accessibility.py, data/interim/local_transit/network_build_summary.csv, reachable_stops_by_origin.csv.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data/processed/local_transit_30min/time_period_candidates.csv 및 data/processed/commercial_area_accessibility/commercial_area_candidates_25pct.csv. 204개는 25% 기준의 세 시간대 공통 행정동, 26개는 상권 자체의 세 시간대 공통 접근률 25% 이상 후보입니다.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data/processed/transit_validation/ODSAY_STATIC_VALIDATION_REPORT.md. ODsay 등시권 폴리곤과 정적 모형 도달 정류장을 비교했습니다. 정밀도는 0.977~0.986, 재현율은 0.474~0.531입니다. 이는 실시간 분 단위 경로 오차 검증이 아니라 도달 범위 겹침 검증입니다.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data/processed/flow_sales_gap/model_comparison.csv, multi_period_validation. R²는 로그매출 기준입니다.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출처: 서울시 상권분석서비스 점포-상권·추정매출-상권 2025 원본과 data/processed/commercial_area_accessibility. PATH-v0는 학습모형이 아닌 투명한 기준선입니다.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향후 계획. 현재 26개 공식 상권 후보는 공간·접근성 기준선이며, B078 전체 원본 확보 후 목적지 선택 확률을 학습합니다. 평가는 docs/analysis_roadmap.md의 시간 순·공간 홀드아웃 및 ranking 지표를 따릅니다.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bfa18acc8384d08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5b9132c91b0343ee" /><Relationship Type="http://schemas.openxmlformats.org/officeDocument/2006/relationships/slideLayout" Target="/ppt/slideLayouts/slideLayout1.xml" Id="R8fcd805c07664795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8fcd805c07664795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511db506614423" /><Relationship Type="http://schemas.openxmlformats.org/officeDocument/2006/relationships/image" Target="/ppt/media/image.jpeg" Id="Rda8482b823864cfd" /><Relationship Type="http://schemas.openxmlformats.org/officeDocument/2006/relationships/notesSlide" Target="/ppt/notesSlides/notesSlide1.xml" Id="Rc7e49e5d49c147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9209cb80634ebc" /><Relationship Type="http://schemas.openxmlformats.org/officeDocument/2006/relationships/notesSlide" Target="/ppt/notesSlides/notesSlide2.xml" Id="R519549ca5b72486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6305e0512aa4ed7" /><Relationship Type="http://schemas.openxmlformats.org/officeDocument/2006/relationships/notesSlide" Target="/ppt/notesSlides/notesSlide3.xml" Id="Rba2cb3a8b75843e5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041143dbd344e14" /><Relationship Type="http://schemas.openxmlformats.org/officeDocument/2006/relationships/notesSlide" Target="/ppt/notesSlides/notesSlide4.xml" Id="Rd5b73e12b3c9416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6b06c86055743df" /><Relationship Type="http://schemas.openxmlformats.org/officeDocument/2006/relationships/notesSlide" Target="/ppt/notesSlides/notesSlide5.xml" Id="Radc0eb7ea3cb4a4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4ed53ccacba47b0" /><Relationship Type="http://schemas.openxmlformats.org/officeDocument/2006/relationships/notesSlide" Target="/ppt/notesSlides/notesSlide6.xml" Id="R8f8d228a2bae491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b2123cceb8745bb" /><Relationship Type="http://schemas.openxmlformats.org/officeDocument/2006/relationships/chart" Target="/ppt/slides/charts/chart1.xml" Id="R0b8f416d09a34e13" /><Relationship Type="http://schemas.openxmlformats.org/officeDocument/2006/relationships/notesSlide" Target="/ppt/notesSlides/notesSlide7.xml" Id="R26db429a85664cc0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a34e61749fc430d" /><Relationship Type="http://schemas.openxmlformats.org/officeDocument/2006/relationships/notesSlide" Target="/ppt/notesSlides/notesSlide8.xml" Id="R3c133a7bf70f43f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cdf12145ebd49c3" /><Relationship Type="http://schemas.openxmlformats.org/officeDocument/2006/relationships/chart" Target="/ppt/slides/charts/chart2.xml" Id="R59b5edbbef7b4a50" /><Relationship Type="http://schemas.openxmlformats.org/officeDocument/2006/relationships/notesSlide" Target="/ppt/notesSlides/notesSlide9.xml" Id="R834740fe2db9442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7786fe61a146b4" /><Relationship Type="http://schemas.openxmlformats.org/officeDocument/2006/relationships/notesSlide" Target="/ppt/notesSlides/notesSlide10.xml" Id="R6480e8c652aa4912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3fb6a07e9634211" /><Relationship Type="http://schemas.openxmlformats.org/officeDocument/2006/relationships/notesSlide" Target="/ppt/notesSlides/notesSlide11.xml" Id="R07ba4718a5b7439e" /></Relationships>
</file>

<file path=ppt/slides/charts/_rels/chart1.xml.rels><Relationships xmlns="http://schemas.openxmlformats.org/package/2006/relationships"><Relationship Id="rIdChartSnapshot1" Type="http://schemas.openxmlformats.org/officeDocument/2006/relationships/package" Target="../../embeddings/chart-data-snapshot-001.xlsx"/></Relationships>
</file>

<file path=ppt/slides/charts/_rels/chart2.xml.rels><Relationships xmlns="http://schemas.openxmlformats.org/package/2006/relationships"><Relationship Id="rIdChartSnapshot1" Type="http://schemas.openxmlformats.org/officeDocument/2006/relationships/package" Target="../../embeddings/chart-data-snapshot-002.xlsx"/></Relationships>
</file>

<file path=ppt/slides/charts/chart1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공식 상권 수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25% 이상</c:v>
                </c:pt>
                <c:pt idx="1">
                  <c:v>50% 이상</c:v>
                </c:pt>
                <c:pt idx="2">
                  <c:v>80% 이상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26</c:v>
                </c:pt>
                <c:pt idx="1">
                  <c:v>14</c:v>
                </c:pt>
                <c:pt idx="2">
                  <c:v>5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30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  <c:majorUnit val="10"/>
      </c:valAx>
    </c:plotArea>
    <c:plotVisOnly val="1"/>
  </c:chart>
  <c:externalData r:id="rIdChartSnapshot1">
    <c:autoUpdate val="0"/>
  </c:externalData>
</c:chartSpace>
</file>

<file path=ppt/slides/charts/chart2.xml><?xml version="1.0" encoding="utf-8"?>
<c:chartSpace xmlns:c="http://schemas.openxmlformats.org/drawingml/2006/chart" xmlns:r="http://schemas.openxmlformats.org/officeDocument/2006/relationships">
  <c:lang val="en-US"/>
  <c:chart>
    <c:plotArea>
      <c:barChart>
        <c:barDir val="col"/>
        <c:grouping val="clustered"/>
        <c:varyColors val="0"/>
        <c:ser>
          <c:idx val="0"/>
          <c:order val="0"/>
          <c:tx>
            <c:v>로그매출 R²</c:v>
          </c:tx>
          <c:spPr>
            <a:solidFill xmlns:a="http://schemas.openxmlformats.org/drawingml/2006/main">
              <a:srgbClr val="3182F6"/>
            </a:solidFill>
          </c:spPr>
          <c:cat>
            <c:strRef>
              <c:f>'Chart Data'!$A$2:$A$4</c:f>
              <c:strCache>
                <c:ptCount val="3"/>
                <c:pt idx="0">
                  <c:v>분기 홀드아웃
확장모형</c:v>
                </c:pt>
                <c:pt idx="1">
                  <c:v>연도 전진 검증
확장모형</c:v>
                </c:pt>
                <c:pt idx="2">
                  <c:v>미관측 동
공간 홀드아웃</c:v>
                </c:pt>
              </c:strCache>
            </c:strRef>
          </c:cat>
          <c:val>
            <c:numRef>
              <c:f>'Chart Data'!$B$2:$B$4</c:f>
              <c:numCache>
                <c:formatCode>General</c:formatCode>
                <c:ptCount val="3"/>
                <c:pt idx="0">
                  <c:v>0.99</c:v>
                </c:pt>
                <c:pt idx="1">
                  <c:v>0.981</c:v>
                </c:pt>
                <c:pt idx="2">
                  <c:v>0.747</c:v>
                </c:pt>
              </c:numCache>
            </c:numRef>
          </c:val>
        </c:ser>
        <c:dLbls>
          <c:txPr>
            <a:bodyPr xmlns:a="http://schemas.openxmlformats.org/drawingml/2006/main" anchorCtr="1"/>
            <a:lstStyle xmlns:a="http://schemas.openxmlformats.org/drawingml/2006/main"/>
            <a:p xmlns:a="http://schemas.openxmlformats.org/drawingml/2006/main">
              <a:pPr>
                <a:defRPr>
                  <a:latin typeface="Apple SD Gothic Neo"/>
                  <a:ea typeface="Apple SD Gothic Neo"/>
                  <a:cs typeface="Apple SD Gothic Neo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72768"/>
      </c:catAx>
      <c:valAx>
        <c:axId val="48672768"/>
        <c:scaling>
          <c:orientation val="minMax"/>
          <c:max val="1"/>
          <c:min val="0"/>
        </c:scaling>
        <c:delete val="0"/>
        <c:axPos val="l"/>
        <c:numFmt formatCode="General"/>
        <c:majorTickMark val="none"/>
        <c:minorTickMark val="none"/>
        <c:spPr>
          <a:ln xmlns:a="http://schemas.openxmlformats.org/drawingml/2006/main" w="9525">
            <a:solidFill>
              <a:srgbClr val="D4D4D4"/>
            </a:solidFill>
            <a:prstDash val="solid"/>
          </a:ln>
        </c:spPr>
        <c:txPr>
          <a:bodyPr xmlns:a="http://schemas.openxmlformats.org/drawingml/2006/main" anchorCtr="1"/>
          <a:lstStyle xmlns:a="http://schemas.openxmlformats.org/drawingml/2006/main"/>
          <a:p xmlns:a="http://schemas.openxmlformats.org/drawingml/2006/main">
            <a:pPr>
              <a:defRPr>
                <a:solidFill>
                  <a:srgbClr val="666666"/>
                </a:solidFill>
                <a:latin typeface="Apple SD Gothic Neo"/>
                <a:ea typeface="Apple SD Gothic Neo"/>
                <a:cs typeface="Apple SD Gothic Neo"/>
              </a:defRPr>
            </a:pPr>
          </a:p>
        </c:txPr>
        <c:crossAx val="48650112"/>
        <c:crossBetween val="between"/>
      </c:valAx>
    </c:plotArea>
    <c:plotVisOnly val="1"/>
  </c:chart>
  <c:externalData r:id="rIdChartSnapshot1">
    <c:autoUpdate val="0"/>
  </c:externalData>
</c:chartSpace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8482b823864cfd"/>
          <a:srcRect xmlns:a="http://schemas.openxmlformats.org/drawingml/2006/main" l="0" t="27" r="0" b="2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 flipH="0" flipV="0">
            <a:off x="0" y="0"/>
            <a:ext cx="1219200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BB6444-F59A-48DB-A203-C88B579A1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477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3">
              <a:alpha val="90196"/>
            </a:srgbClr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1D14C95-3B36-43AF-A0B5-D106036873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66800"/>
            <a:ext cx="78105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80F31A-F890-4C84-876C-AF4D05D283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57325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7500"/>
          </a:bodyPr>
          <a:lstStyle xmlns:a="http://schemas.openxmlformats.org/drawingml/2006/main"/>
          <a:p xmlns:a="http://schemas.openxmlformats.org/drawingml/2006/main">
            <a:pPr algn="l">
              <a:buNone/>
              <a:def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36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막시무스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7057174-19AF-44A0-8CDB-143BFF4CDD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5238750" cy="971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한국외대 서울캠퍼스 생활권</a:t>
            </a:r>
          </a:p>
          <a:p xmlns:a="http://schemas.openxmlformats.org/drawingml/2006/main">
            <a:pPr algn="l">
              <a:buNone/>
              <a:def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공식 상권 단위 목적지 추천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A184E1-9845-4BEE-A94F-6E3D5EA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476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동대문구 334개 출발지에서 교통 접근성을 계산하고</a:t>
            </a:r>
          </a:p>
          <a:p xmlns:a="http://schemas.openxmlformats.org/drawingml/2006/main">
            <a:pPr algn="l">
              <a:buNone/>
              <a:def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공식 상권 피처로 목적별 순위를 산출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FE99CD0-DA93-437A-AB2D-87FE25B52A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95875"/>
            <a:ext cx="16668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D78381-A2DB-47F7-84E7-5A70F172D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153025"/>
            <a:ext cx="14382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DATA PIPELINE REVIEW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B5699CA-33CF-44F6-8F45-47421B2D1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857875"/>
            <a:ext cx="342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장한별 · 지우진 · 최시현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7395C1-413E-49E7-8A6B-FE0C7C16C2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00775"/>
            <a:ext cx="1905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2222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2026.09</a:t>
            </a:r>
          </a:p>
        </p:txBody>
      </p:sp>
    </p:spTree>
    <p:extLst>
      <p:ext uri="{BB962C8B-B14F-4D97-AF65-F5344CB8AC3E}">
        <p14:creationId xmlns:p14="http://schemas.microsoft.com/office/powerpoint/2010/main" val="52290678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95875F9-C4D6-4226-8B23-8FAA419C39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8FED40-216E-451C-92B9-EE5F52ABAF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분석 파이프라인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B17D80F-0602-4CC9-813F-8FE576ED4D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교통망으로 탐색 생활권을 만들고, 공식 상권 단위에서 목적별 순위를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E29A5-1071-4057-8869-C2B57F05B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2E6DEA6-E8D7-4F48-9AF9-7954E337C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0EC673-F90C-4627-88F0-709801150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25C018C-1068-447E-A7D5-E817D174C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6EC32C6-870D-4226-987B-A8E7FD3560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 334개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889EEC0-BCA3-44A4-9380-1817DFF50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버스 325개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9개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2D039C-ABA6-45B9-A989-3BEE61D3C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75EBCE8-A274-45EA-9F00-ABB88FC13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DE22818-A604-41D7-A2DF-ABBDF25AB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C1FAAF5-78E4-4C1C-8CFB-8E59C83BE9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 탐색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13543C1-6BAB-48C7-A876-E8B7FEDE50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버스·지하철 그래프에서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이내 최단시간 계산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72D24AA-81FD-4A7C-B0B6-DF4ECAB3FD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507C156-2126-46D6-8B0F-0D9DE5255F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1A9FD89-01D3-4CF6-9119-5C75EC786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B3BEB2D-84FC-4EE7-B5AC-D7CB591D0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단위 세분화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DF6F3D5-74EE-4D99-885D-7F68327109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 안의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폴리곤을 선택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C4F36E6-0490-451D-B169-E75BA280F8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2190750"/>
            <a:ext cx="230505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ED99D78-7B48-4877-BABC-B497158EF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3907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E347295-432A-4F09-8314-E91A2F4E26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4669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2821123-8841-412B-8386-13921D4D3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2838450"/>
            <a:ext cx="18859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상권별 순위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566366F-2BA6-48BD-A274-AC6488BAC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91575" y="3171825"/>
            <a:ext cx="1885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점포·매출·시설 피처로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PATH-v0 베이스라인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222CDB0-4828-4F23-83CD-AEB9B6945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후보 생성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A7F91369-45E5-4A02-A652-8B1B131898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6707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출발지–정류장 도달 기록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BAA08BF-8D47-4BF0-A974-4269C1442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24550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130개 공식 상권을 행정동 생활권과 공간결합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5A34A90-A225-442D-954B-8C1A87E72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82025" y="4238625"/>
            <a:ext cx="2286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26개 공식 상권 후보 × 5개 목적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215C346-84AD-4B15-9B43-C25C093B9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48250"/>
            <a:ext cx="10972800" cy="704850"/>
          </a:xfrm>
          <a:prstGeom xmlns:a="http://schemas.openxmlformats.org/drawingml/2006/main" prst="roundRect">
            <a:avLst>
              <a:gd name="adj" fmla="val 108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EAC30C9-7A1F-4A6D-94F8-FC39378AB4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257800"/>
            <a:ext cx="1143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핵심 원칙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98ADDCA0-21EE-411B-A0E6-3B89A2FA53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5238750"/>
            <a:ext cx="9048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5294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행정동은 탐색 범위를 정하고, 실제 후보와 순위는 골목상권·발달상권·전통시장 같은 공식 상권 단위에서 계산한다.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6139F12-F04B-4B9B-B989-E6DA34E318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A298C7C2-27CD-47A5-921B-C7D1DEE5C1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02 / 11</a:t>
            </a:r>
          </a:p>
        </p:txBody>
      </p:sp>
    </p:spTree>
    <p:extLst>
      <p:ext uri="{BB962C8B-B14F-4D97-AF65-F5344CB8AC3E}">
        <p14:creationId xmlns:p14="http://schemas.microsoft.com/office/powerpoint/2010/main" val="1401610438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4C9842D-45DD-4142-994D-27F07672D2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4926523-59C0-4D2F-A7E5-4FCE9F91B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데이터와 분석 단위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57972C7-8943-47DF-868F-CEB7A025FE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 패널로 탐색하고, 공식 상권 폴리곤에서 최종 후보·피처를 정의한다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45E3151-E8CC-43DC-9C23-485EB5034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6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762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2000250"/>
                <a:gridCol w="3905250"/>
                <a:gridCol w="3257550"/>
              </a:tblGrid>
              <a:tr h="46037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원본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 수 / 컬럼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핵심 필드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용도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카드매출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203,656행 / 53개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업종·매출·요일·시간대·성·연령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소비 신호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점포 2023–2025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423,454행 / 12개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업종·점포 수·개·폐업·프랜차이즈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상권 구성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유동·집객시설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9,350행 / 25·23개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유동인구·학교·극장·지하철역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지역 맥락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B078 이동 샘플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499행 / 47개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250m OD·시각·목적·이동시간·성연령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스키마 검증</a:t>
                      </a:r>
                    </a:p>
                  </a:txBody>
                  <a:tcPr marL="76200" marR="76200" marT="47625" marB="47625"/>
                </a:tc>
              </a:tr>
              <a:tr h="46037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교통 운영 원본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노드·엣지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정류소·역·구간시간·시간표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도달성 계산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668CE0-8CF0-4D9F-B15E-4AAE2210A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9171E53-8B66-4835-9265-13B7DAFF2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203,656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EAF0E2F-9DCE-4A89-8BAA-8C3BF7780C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카드매출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2023Q1–2025Q4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74925B-D574-43D9-A161-5AF14AB4B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817443B-3CE5-4851-87FB-D79F621638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423,454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DA488EA-63D2-4E88-A33C-E6ED486D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점포 원본 행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기간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8DADAC1-FF7E-49AB-A8D3-F5B4200C9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02D1DCA-3F4D-480F-8873-60BDA20C2E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53 + 47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ED7111B-73F5-4BF0-89A6-7BCA7995B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매출·이동 데이터 컬럼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시간·목적을 보존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DB34F5B-DF94-4EA3-AA53-69E874751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52387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6EA905D-771B-427F-B01E-611A7CE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387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C149C6E-E725-4871-A26A-D7048DCED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6673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상권 최종 후보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기준·세 시간대 공통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172FDC0-8B5E-4636-8D10-1B5F34E04B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원본 데이터와 공식 상권 단위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3D73DC-90C2-4D01-A78D-1701E874A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03 / 11</a:t>
            </a:r>
          </a:p>
        </p:txBody>
      </p:sp>
    </p:spTree>
    <p:extLst>
      <p:ext uri="{BB962C8B-B14F-4D97-AF65-F5344CB8AC3E}">
        <p14:creationId xmlns:p14="http://schemas.microsoft.com/office/powerpoint/2010/main" val="2020226664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28FECFE-7BAD-41F8-BC8F-C6B21FE35C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DF71AD5-562F-456C-8FBC-84155122C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원본 레코드 구조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F8E2286-59C5-4021-A43B-20D4086489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개인 단위로 합치지 않고, 공통 공간·시간 단위로 집계한다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B6668C0-C9BA-42B9-9BB3-11611F152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3A638B4-459E-45BB-951A-09CE8F1D6B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885950"/>
            <a:ext cx="3143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이동 데이터 샘플</a:t>
            </a:r>
          </a:p>
        </p:txBody>
      </p:sp>
      <p:graphicFrame>
        <p:nvGraphicFramePr>
          <p:cNvPr id="23" name=""/>
          <p:cNvGraphicFramePr/>
          <p:nvPr/>
        </p:nvGraphicFramePr>
        <p:xfrm>
          <a:off xmlns:a="http://schemas.openxmlformats.org/drawingml/2006/main" x="609600" y="2266950"/>
          <a:ext xmlns:a="http://schemas.openxmlformats.org/drawingml/2006/main" cx="5191125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333500"/>
                <a:gridCol w="1333500"/>
                <a:gridCol w="809625"/>
                <a:gridCol w="857250"/>
                <a:gridCol w="8572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O_CELL_ID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D_CELL_ID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ST_TIME_CD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MOVE_PURPOSE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MOVE_TIME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다사31004675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다사31004500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7 기타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53분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도착 250m 격자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 시각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이동 목적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 단위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572842-596E-42C0-B806-75C2745EE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1885950"/>
            <a:ext cx="3429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926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서울시 카드매출 원본 행</a:t>
            </a:r>
          </a:p>
        </p:txBody>
      </p:sp>
      <p:graphicFrame>
        <p:nvGraphicFramePr>
          <p:cNvPr id="25" name=""/>
          <p:cNvGraphicFramePr/>
          <p:nvPr/>
        </p:nvGraphicFramePr>
        <p:xfrm>
          <a:off xmlns:a="http://schemas.openxmlformats.org/drawingml/2006/main" x="6400800" y="2266950"/>
          <a:ext xmlns:a="http://schemas.openxmlformats.org/drawingml/2006/main" cx="5181600" cy="144780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762000"/>
                <a:gridCol w="1095375"/>
                <a:gridCol w="1143000"/>
                <a:gridCol w="1285875"/>
                <a:gridCol w="895350"/>
              </a:tblGrid>
              <a:tr h="482600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업종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11–14시 매출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2025Q1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청운효자동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한식음식점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3,383,806,701원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1,348,487,189원</a:t>
                      </a:r>
                    </a:p>
                  </a:txBody>
                  <a:tcPr marL="76200" marR="76200" marT="47625" marB="47625"/>
                </a:tc>
              </a:tr>
              <a:tr h="482600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분기 집계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행정동 코드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서비스 업종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당월 합계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 합계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45BC589-B7C7-46AB-B1A8-247FC70B7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333875"/>
            <a:ext cx="10972800" cy="1000125"/>
          </a:xfrm>
          <a:prstGeom xmlns:a="http://schemas.openxmlformats.org/drawingml/2006/main" prst="roundRect">
            <a:avLst>
              <a:gd name="adj" fmla="val 7619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E8DFC5B-B55D-4074-ADB3-1734ABCDD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524375"/>
            <a:ext cx="138112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격자–행정동 결합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F7C643D-F58A-4384-90FA-7FFAC5C913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57750"/>
            <a:ext cx="10001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ID만 보고 위치를 아는 것이 아니다. O_CELL_X·O_CELL_Y 좌표를 격자 중심점으로 만들고, 그 점이 포함되는 행정동 경계 폴리곤을 찾아 동 코드와 이름을 붙인다.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DB2152-D83A-442B-B662-08E226BE3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753100"/>
            <a:ext cx="10287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E5484D"/>
                </a:solidFill>
                <a:latin typeface="Apple SD Gothic Neo"/>
                <a:ea typeface="Apple SD Gothic Neo"/>
                <a:cs typeface="Apple SD Gothic Neo"/>
              </a:rPr>
              <a:t>B078 전체 원본을 확보하기 전에는 표본 499행으로 목적지 선호나 추천 성능을 주장하지 않는다.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E7CC1A7-54FC-4FA0-8F37-52A4D9FB8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EB2420A-E81B-43E8-97E2-D94933C4E8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04 / 11</a:t>
            </a:r>
          </a:p>
        </p:txBody>
      </p:sp>
    </p:spTree>
    <p:extLst>
      <p:ext uri="{BB962C8B-B14F-4D97-AF65-F5344CB8AC3E}">
        <p14:creationId xmlns:p14="http://schemas.microsoft.com/office/powerpoint/2010/main" val="44617814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828970E-1183-4AC2-AB0C-718D49716B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A7A533-8DD2-404B-B750-DBB3114385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동대문구 출발지 334개를 만든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424272-E2A5-4F4B-B5E1-B2C8889A7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 식별코드와 지하철역 좌표를 하나의 출발지 CSV로 표준화했다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6C1928-E216-4F99-8180-F27ACDE66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269C3AF-4116-4B30-86D2-245172FD0A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DFC1B52-F4D0-4E6C-8740-DC10599460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출발지 325개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DD7B714-3140-4186-83CD-C131C9398A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67000"/>
            <a:ext cx="2238375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47D8294-8342-4395-8340-34F4E7BAD0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28700" y="2724150"/>
            <a:ext cx="2009775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Seoul OA-15067 · 2026-09-02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8FF499-5A47-4641-A6E1-D5B31F85B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서울시 버스정류소 위치정보 원본에서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ARS_ID가 6000–6999인 정류소만 필터링했다.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이 ARS 코드 대역이 동대문구 정류소를 식별한다.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04CAD2B-0239-4E0F-8B1D-78E30CA885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371975"/>
            <a:ext cx="9525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필수 컬럼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EC5BC2-87C7-40D0-9CCB-C9364EF98D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648200"/>
            <a:ext cx="3714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NODE_ID · ARS_ID · 정류소명 · X좌표 · Y좌표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AD0251F-8A86-48D7-9768-0CD591A34F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38900" y="1905000"/>
            <a:ext cx="5143500" cy="3219450"/>
          </a:xfrm>
          <a:prstGeom xmlns:a="http://schemas.openxmlformats.org/drawingml/2006/main" prst="roundRect">
            <a:avLst>
              <a:gd name="adj" fmla="val 2367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285578E-93AC-4A1A-90E3-8AED487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238375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8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출발지 9개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6F5DF9F-93D9-4385-8AAA-B89CC586B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2667000"/>
            <a:ext cx="2000250" cy="266700"/>
          </a:xfrm>
          <a:prstGeom xmlns:a="http://schemas.openxmlformats.org/drawingml/2006/main" prst="roundRect">
            <a:avLst>
              <a:gd name="adj" fmla="val 2857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EED0510-9F1D-4A06-8584-10742CC6B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724150"/>
            <a:ext cx="17716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48485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ODsay pointSearch 좌표 확인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3313A29-EF4A-4C38-8A35-FCA9CE3240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3181350"/>
            <a:ext cx="3905250" cy="819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동대문구 안의 지하철역을 별도로 검색해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 ID·역명·경도·위도를 표준화했다.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버스 정류장과 중복하지 않는 출발 노드다.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417D0D0-9D82-475D-98BE-5BA887758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371975"/>
            <a:ext cx="1238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최종 origin CSV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D7E61DE-5AA9-49DF-9FEE-33D34107D6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43700" y="4648200"/>
            <a:ext cx="4191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origin_id · origin_name · longitude · latitude · origin_type · source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336A5D6-338A-4738-8C92-007F6996D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72125"/>
            <a:ext cx="1097280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0B1F33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C08B0EF-3403-4D95-91B3-A0847C330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5715000"/>
            <a:ext cx="53340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3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325개 버스 + 9개 지하철 = 334개 출발지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68A376F-2C1F-46FA-82A3-BD85F08CC7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0" y="5743575"/>
            <a:ext cx="4286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각 출발지를 같은 비중으로 두고 접근 가능한 목적지 비율을 계산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CA46D98-3578-462A-A6CF-92A9A2EE06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FF8FEF54-EB62-4063-9C2C-A850EBF4CB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05 / 11</a:t>
            </a:r>
          </a:p>
        </p:txBody>
      </p:sp>
    </p:spTree>
    <p:extLst>
      <p:ext uri="{BB962C8B-B14F-4D97-AF65-F5344CB8AC3E}">
        <p14:creationId xmlns:p14="http://schemas.microsoft.com/office/powerpoint/2010/main" val="1601036666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5391FD1B-AC9F-4D3E-95A3-32358350A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91B3A1-07EB-4B2E-A7C0-A2567650BE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정류장·역에서 30분 내 도달 정류장을 찾는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F1FF599-9842-4913-8983-4CE5B12E14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공식 운행 원본을 방향성 그래프로 바꾸고, 환승·도보·대기를 비용으로 넣어 최단시간을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ECE5AF7-6BA5-436A-9522-D69ED5C11E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A2E2A4-04EA-4CA8-8CFF-70AA261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3D2A62-1FF0-4D85-8698-ED7E92493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49C3A59-C128-4194-B617-867BD9ECC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17AE3B-187D-4127-A8AE-BD80BBA202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버스 엣지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A2917B-9C55-42E1-B504-FEB9FE44C0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노선별 정류장 순서와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시간대 구간 운행시간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AACEC7E-1E7F-4071-B0B0-9C0D4DB7C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8F6D709-AD9E-4D42-8248-B37665BD7A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3DAFCA9-5151-45D4-B3FA-F75364A84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0B27477-4F1C-4C9C-9E9D-CA144EE16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지하철 엣지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51CF434-68EE-4336-B251-F6911107F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평일 시간표에서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역간 운행시간 중앙값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733473D-B917-4BA1-A05E-081D29117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03835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76300F9-6411-4A1F-9786-DC6D73C322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77E2EEB-C260-4D1E-AD57-06481C443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5CEE9DA-F1B4-4308-88D1-32E99814E9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8605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보행 엣지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9C568A-6F30-4D7D-BB5C-8749D3E29E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01942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이내 정류장·역을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도보 시간으로 연결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3097D88-EDAB-4A0A-ADD2-3270D49E7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03835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44FECA5-775A-4817-8BC5-EEBFC1FA6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23837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6DC5D3F-24BA-44C4-B51F-7F7506666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31457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81047A-B5F3-474F-9023-5C53C7679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8605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다익스트라 탐색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9DF97FB-44C6-4122-85BD-E810A99A7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01942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0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상태 = 정류장, 현재 노선</a:t>
            </a:r>
          </a:p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30분 이하만 유지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1123670-FFD6-4C9C-B2D7-D8D3614462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943350"/>
            <a:ext cx="10972800" cy="895350"/>
          </a:xfrm>
          <a:prstGeom xmlns:a="http://schemas.openxmlformats.org/drawingml/2006/main" prst="roundRect">
            <a:avLst>
              <a:gd name="adj" fmla="val 8511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CBF1C1-0912-41AD-BA7B-4BEC398A69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0477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1905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탐색 비용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253CC82-E08C-4025-B5CA-884129BF96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438650"/>
            <a:ext cx="99060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549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출발지→정류장 도보 + 최초 탑승 대기 + 구간 운행시간 + 환승 시 추가 대기·환승시간 + 정류장 간 도보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8C8BFA7-6D0C-41F5-AFCC-11795935F5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5BD15CB-10A2-49AA-A174-FBAD270F42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40,970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40743EC2-F261-4313-9832-4554D353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10시 버스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12,897개 정류장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8FFF88C5-69F9-4DD6-A199-460FC70E1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B8DD1C77-7078-4136-8F50-75E029CE5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946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C00EFA-B51F-4CD6-B464-20E9FDD403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지하철 방향 엣지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454개 좌표 매칭 역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893BD891-B407-43EF-93F5-D53E3A5415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8AC3940B-92E5-4E4B-BF59-EC20AF54B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644,028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370F48A1-F04D-4BA6-ACA5-0220BA8A9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출발지–도달 정류장 쌍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334개 출발지 전체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0B5074EB-DE30-4B0D-92A3-9EB0CACC00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52768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40FA2697-317C-4CDE-9E18-428D0DF415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2768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30분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7C85687D-A93C-4F71-87C7-668BD3911B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24950" y="57054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하드 컷오프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정류장만 저장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4061C168-3BBB-4797-87BC-DD23E6AC63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5D7C28F9-B5B9-43F1-8136-4EE20E830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06 / 11</a:t>
            </a:r>
          </a:p>
        </p:txBody>
      </p:sp>
    </p:spTree>
    <p:extLst>
      <p:ext uri="{BB962C8B-B14F-4D97-AF65-F5344CB8AC3E}">
        <p14:creationId xmlns:p14="http://schemas.microsoft.com/office/powerpoint/2010/main" val="57677537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A22D1C6-9154-4AD8-BFD1-D45A04981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F447523-16F8-482F-BEA0-59CEAD85AF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도달 정류장에서 공식 상권 후보를 뽑는 방법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0046C9-44F1-4E44-8F9D-AFCBC8FC9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행정동은 25% 탐색 생활권으로 쓰고, 공식 상권 폴리곤별 접근률을 세 시간대에서 다시 계산한다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99DDD7-BAB9-4579-991E-F9EA68617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5D22A2-336A-413E-A379-C29400699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39DC51-8473-4298-93BF-01973289C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① 도달 정류장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C93055A-30BB-45EA-B35D-8BB337457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각 출발지에서 30분 이내로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도달한 정류장·역의 좌표와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최단 소요시간을 저장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91B0B0E-9542-411B-80B3-27D078F5C5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644,028개 origin–stop 기록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DC1CB0B-8B4A-41E1-8311-4B6E7603FD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25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612C455-16A6-47A6-8394-136969D65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② 탐색 생활권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F5B5D77-349F-424F-955F-6695C2230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정류장 point를 서울 행정동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경계에 결합하고 세 시간대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최소 접근률 25%를 적용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BA2FBF-5BA0-4952-94EB-6F67B3946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95825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세 시간대 공통 204개 행정동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76EAA65-F554-4B3F-950D-82711A3D8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48650" y="1981200"/>
            <a:ext cx="3333750" cy="2381250"/>
          </a:xfrm>
          <a:prstGeom xmlns:a="http://schemas.openxmlformats.org/drawingml/2006/main" prst="roundRect">
            <a:avLst>
              <a:gd name="adj" fmla="val 3200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69D2202-5CEB-48BE-A5B1-19FD021895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286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③ 공식 상권 접근률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542CCD-89A0-4161-BB30-006D769850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2762250"/>
            <a:ext cx="2381250" cy="742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상권 경계 400m 안 도달 정류장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보유 출발지 수 / 334를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08·14·19시에 각각 계산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7835CB-4B66-4658-BCAD-58F4453C5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3810000"/>
            <a:ext cx="238125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25% 기준 공식 상권 26개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139F78-E33C-4F62-9FE4-540E07706D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905375"/>
            <a:ext cx="1524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공식 상권 후보군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B2279F-0B1C-4CBF-A019-CAEC6B8D8C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5238750"/>
            <a:ext cx="4572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25% 기준 26개 · 50% 기준 14개 · 80% 기준 5개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경계를 넘는 경우 교집합 면적을 모두 보존</a:t>
            </a:r>
          </a:p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26개 후보에 점포·매출·목적별 피처를 결합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F9CC89D-EE94-4276-95B9-7464487122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B962E6F-A171-4A72-8173-52B48C60E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07 / 11</a:t>
            </a:r>
          </a:p>
        </p:txBody>
      </p:sp>
      <p:graphicFrame>
        <p:nvGraphicFramePr>
          <p:cNvPr id="44" name="Chart"/>
          <p:cNvGraphicFramePr/>
          <p:nvPr/>
        </p:nvGraphicFramePr>
        <p:xfrm>
          <a:off xmlns:a="http://schemas.openxmlformats.org/drawingml/2006/main" x="609600" y="4810125"/>
          <a:ext xmlns:a="http://schemas.openxmlformats.org/drawingml/2006/main" cx="4953000" cy="1333500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0b8f416d09a34e13"/>
          </a:graphicData>
        </a:graphic>
      </p:graphicFrame>
    </p:spTree>
    <p:extLst>
      <p:ext uri="{BB962C8B-B14F-4D97-AF65-F5344CB8AC3E}">
        <p14:creationId xmlns:p14="http://schemas.microsoft.com/office/powerpoint/2010/main" val="19610849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A7D782C-8B79-44AD-ADE7-3E39860AA9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9FB5235-1366-4F1E-B03F-D8CF9A35B3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교통시간 가정과 ODsay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15F9D4D-E39C-4AE4-AB12-35F8C4F65F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전체 후보군은 정적 교통망으로 계산하고, ODsay 30분 등시권과 겹침을 비교해 정적 모형의 방향을 점검한다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E1942BB-51AE-4A81-9BAE-00EE83B1C4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21" name=""/>
          <p:cNvGraphicFramePr/>
          <p:nvPr/>
        </p:nvGraphicFramePr>
        <p:xfrm>
          <a:off xmlns:a="http://schemas.openxmlformats.org/drawingml/2006/main" x="609600" y="1885950"/>
          <a:ext xmlns:a="http://schemas.openxmlformats.org/drawingml/2006/main" cx="6762750" cy="31432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809750"/>
                <a:gridCol w="1476375"/>
                <a:gridCol w="3476625"/>
              </a:tblGrid>
              <a:tr h="449036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비용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기본값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근거·적용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출발지 접근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600m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출발좌표에서 인접 정류장·역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도보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최대 250m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근접한 정류장·역 사이 보행 연결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보행 속도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1.2m/s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거리 ÷ 속도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버스·지하철 대기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노선별 반 간격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운행횟수·시간표 기반, 8·14·19시 보정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환승 추가시간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관측치 기반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시간대별 환승시간 중앙값</a:t>
                      </a:r>
                    </a:p>
                  </a:txBody>
                  <a:tcPr marL="76200" marR="76200" marT="47625" marB="47625"/>
                </a:tc>
              </a:tr>
              <a:tr h="449036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컷오프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30분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탐색 중 1,800초 초과 상태 제거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63E883-7511-4DDC-B614-F602D979A7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1885950"/>
            <a:ext cx="3600450" cy="3143250"/>
          </a:xfrm>
          <a:prstGeom xmlns:a="http://schemas.openxmlformats.org/drawingml/2006/main" prst="roundRect">
            <a:avLst>
              <a:gd name="adj" fmla="val 2424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0F28F40-683F-4FA3-9D57-D0081E5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228850"/>
            <a:ext cx="2857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ODsay 겹침 검증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A987313-6DD2-4D59-B36C-5167626501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2990850"/>
            <a:ext cx="27813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도달 정류장 정밀도는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08·14·19시 모두 0.98 수준이다.</a:t>
            </a:r>
          </a:p>
          <a:p xmlns:a="http://schemas.openxmlformats.org/drawingml/2006/main">
            <a:pPr algn="l">
              <a:buNone/>
              <a:def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정적 모형은 ODsay보다 보수적이다.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060817F-EE9D-4213-BEDF-3DD18C3B1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3905250"/>
            <a:ext cx="2971800" cy="628650"/>
          </a:xfrm>
          <a:prstGeom xmlns:a="http://schemas.openxmlformats.org/drawingml/2006/main" prst="roundRect">
            <a:avLst>
              <a:gd name="adj" fmla="val 12121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C14B1B6-CCA5-4BC3-AC59-5883D7631C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4067175"/>
            <a:ext cx="2619375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458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실서비스 경로 재검증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D41C16F-2716-4A18-A290-D5D52C8FD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67700" y="4714875"/>
            <a:ext cx="2857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정적 후보 생성 후 실제 사용자 경로 조회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1A4B64D-AC2D-4670-91AE-FDA1FFA59D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0"/>
            <a:ext cx="1000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가정값은 모두 model_assumptions.csv에 남기고, 08·14·19시 결과를 비교했다.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83F833A-F89A-40DB-A85C-F46DB7AFB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ODsay 정류장 겹침 검증: 정밀도 0.977~0.986, 재현율 0.474~0.531. 가정값과 시간대별 결과는 모두 파일로 보존했다.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1013DB-FA5C-42B1-96ED-0F7DF4446D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08 / 11</a:t>
            </a:r>
          </a:p>
        </p:txBody>
      </p:sp>
    </p:spTree>
    <p:extLst>
      <p:ext uri="{BB962C8B-B14F-4D97-AF65-F5344CB8AC3E}">
        <p14:creationId xmlns:p14="http://schemas.microsoft.com/office/powerpoint/2010/main" val="386034050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9F91532-E83A-4152-9A54-8A3402BE7E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4CFFC40-B414-4EFD-A732-622B378911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상권 EDA와 성능 검증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E4FBEC-669C-46C3-9CA8-D1392F834A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높은 점수 하나보다, 다른 시간·다른 지역에서도 유지되는지를 먼저 확인했다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C1A70A-A88F-4587-A0BE-B17C72E97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2618A6-A3C2-4136-BAB9-7DD0FBEB57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3F3D62A-377C-4447-AF99-4704E5F49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0.555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C8D14EA-02C3-432E-B7AE-76B3CD38A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유동인구–매출 Spearman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유동인구 하나로는 부족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3C16968-B10F-4853-BF74-B3CFAF76E4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B3E7EFE-10B4-427A-9092-C280513FC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0.895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66A671A-406B-412F-8556-8B390B89E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2025 분기 홀드아웃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비선형 기대매출 R²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72BDA39-2FAA-4BBF-9183-05D8D045F0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5790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EE500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241FD63-C920-441A-885D-0136F081E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0.792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2CDFFD5-F61A-4399-9B49-DECA5C2E66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935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동일 조건 선형 Ridge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로그매출 R²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6E9E33A-34DF-4FE4-AE96-7A9F08A560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1962150"/>
            <a:ext cx="38100" cy="838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94F9697-C385-4DAE-8C29-9E76FF38B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196215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2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0.747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79F95F5-0E8D-4F07-AE17-7465891342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0" y="2390775"/>
            <a:ext cx="2095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8205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미관측 행정동</a:t>
            </a:r>
          </a:p>
          <a:p xmlns:a="http://schemas.openxmlformats.org/drawingml/2006/main">
            <a:pPr algn="l">
              <a:buNone/>
              <a:def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공간 홀드아웃 R²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7EA30C4-FA0C-40B8-9D54-24AE795E95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05600" y="3619500"/>
            <a:ext cx="4876800" cy="1952625"/>
          </a:xfrm>
          <a:prstGeom xmlns:a="http://schemas.openxmlformats.org/drawingml/2006/main" prst="roundRect">
            <a:avLst>
              <a:gd name="adj" fmla="val 3902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261304E-97E9-48A0-843D-894C680E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90525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8889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해석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1D29AE1-792F-44A2-82CD-80D9EC8A7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810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98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0.98~0.99는 같은 동의 과거 패턴을</a:t>
            </a:r>
          </a:p>
          <a:p xmlns:a="http://schemas.openxmlformats.org/drawingml/2006/main">
            <a:pPr algn="l">
              <a:buNone/>
              <a:def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다음 분기에 맞히는 성능이다.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5E6733-5266-43DE-BE64-8C0C3A1575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991100"/>
            <a:ext cx="4000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4524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새로운 동네에 대한 일반화 성능은 0.747로 별도 보고한다.</a:t>
            </a:r>
          </a:p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따라서 현재 결과를 최종 추천 성능이라고 부르지 않는다.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8EED35-9A5A-48DD-A68E-82045A1855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905500"/>
            <a:ext cx="10668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괴리 후보는 ‘원인 확정’이 아니라, 유동인구·점포 수로 기대한 매출에서 반복적으로 벗어난 지역을 후속 조사 대상으로 선별한 결과다.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B69E840-C21C-4609-AF12-2AB64954BE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21C43B-0380-425F-85B1-720825B65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09 / 11</a:t>
            </a:r>
          </a:p>
        </p:txBody>
      </p:sp>
      <p:graphicFrame>
        <p:nvGraphicFramePr>
          <p:cNvPr id="50" name="Chart"/>
          <p:cNvGraphicFramePr/>
          <p:nvPr/>
        </p:nvGraphicFramePr>
        <p:xfrm>
          <a:off xmlns:a="http://schemas.openxmlformats.org/drawingml/2006/main" x="609600" y="3619500"/>
          <a:ext xmlns:a="http://schemas.openxmlformats.org/drawingml/2006/main" cx="5429250" cy="1952625"/>
        </p:xfrm>
        <a:graphic xmlns:a="http://schemas.openxmlformats.org/drawingml/2006/main">
          <a:graphicData uri="http://schemas.openxmlformats.org/drawingml/2006/chart">
            <c:chart xmlns:r="http://schemas.openxmlformats.org/officeDocument/2006/relationships" xmlns:c="http://schemas.openxmlformats.org/drawingml/2006/chart" r:id="R59b5edbbef7b4a50"/>
          </a:graphicData>
        </a:graphic>
      </p:graphicFrame>
    </p:spTree>
    <p:extLst>
      <p:ext uri="{BB962C8B-B14F-4D97-AF65-F5344CB8AC3E}">
        <p14:creationId xmlns:p14="http://schemas.microsoft.com/office/powerpoint/2010/main" val="1720310026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D403241-10B9-49F7-BB76-E72BEFA4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352425"/>
            <a:ext cx="428625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AA384A8-B477-4DE1-8C74-52DF5AB81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28650"/>
            <a:ext cx="10668000" cy="4286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161"/>
          </a:bodyPr>
          <a:lstStyle xmlns:a="http://schemas.openxmlformats.org/drawingml/2006/main"/>
          <a:p xmlns:a="http://schemas.openxmlformats.org/drawingml/2006/main">
            <a:pPr algn="l">
              <a:buNone/>
              <a:def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32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피처와 PATH-v0 베이스라인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92D41-1375-4541-93FC-777E706B6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04900"/>
            <a:ext cx="1057275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6667"/>
          </a:bodyPr>
          <a:lstStyle xmlns:a="http://schemas.openxmlformats.org/drawingml/2006/main"/>
          <a:p xmlns:a="http://schemas.openxmlformats.org/drawingml/2006/main">
            <a:pPr algn="l">
              <a:buNone/>
              <a:def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125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같은 공식 상권 후보라도 목적이 바뀌면 업종 구성·소비 신호·순위 근거가 달라진다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715272-735E-4D2D-ABA8-6A4F1D3F97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5049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5E8EB"/>
          </a:solidFill>
          <a:ln xmlns:a="http://schemas.openxmlformats.org/drawingml/2006/main" w="0">
            <a:noFill/>
          </a:ln>
        </p:spPr>
      </p:sp>
      <p:graphicFrame>
        <p:nvGraphicFramePr>
          <p:cNvPr id="19" name=""/>
          <p:cNvGraphicFramePr/>
          <p:nvPr/>
        </p:nvGraphicFramePr>
        <p:xfrm>
          <a:off xmlns:a="http://schemas.openxmlformats.org/drawingml/2006/main" x="609600" y="1857375"/>
          <a:ext xmlns:a="http://schemas.openxmlformats.org/drawingml/2006/main" cx="10972800" cy="2571750"/>
        </p:xfrm>
        <a:graphic xmlns:a="http://schemas.openxmlformats.org/drawingml/2006/main">
          <a:graphicData uri="http://schemas.openxmlformats.org/drawingml/2006/table">
            <a:tbl>
              <a:tblPr firstRow="1" bandRow="1"/>
              <a:tblGrid>
                <a:gridCol w="1143000"/>
                <a:gridCol w="4286250"/>
                <a:gridCol w="3095625"/>
                <a:gridCol w="2447925"/>
              </a:tblGrid>
              <a:tr h="428625"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목적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공급 피처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직전 분기 소비 신호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900" b="1">
                          <a:solidFill>
                            <a:srgbClr val="FFFFFF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공식 상권 활용</a:t>
                      </a:r>
                    </a:p>
                  </a:txBody>
                  <a:tcPr marL="91440" marR="91440" marT="45720" marB="45720">
                    <a:solidFill>
                      <a:srgbClr val="0B1F33"/>
                    </a:solidFill>
                  </a:tcPr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식사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음식점·제과·주점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카페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커피-음료 점포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공부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독서실·학원·서적·학교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점심·오후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쇼핑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소매 업종·백화점·슈퍼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오후·저녁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  <a:tr h="428625"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여가문화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오락·스포츠·숙박·극장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저녁·야간 매출</a:t>
                      </a:r>
                    </a:p>
                  </a:txBody>
                  <a:tcPr marL="76200" marR="76200" marT="47625" marB="47625"/>
                </a:tc>
                <a:tc>
                  <a:txBody>
                    <a:bodyPr/>
                    <a:lstStyle/>
                    <a:p>
                      <a:r>
                        <a:rPr sz="863">
                          <a:solidFill>
                            <a:srgbClr val="19212D"/>
                          </a:solidFill>
                          <a:latin typeface="Apple SD Gothic Neo"/>
                          <a:ea typeface="Apple SD Gothic Neo"/>
                          <a:cs typeface="Apple SD Gothic Neo"/>
                        </a:rPr>
                        <a:t>26개 후보 비교</a:t>
                      </a:r>
                    </a:p>
                  </a:txBody>
                  <a:tcPr marL="76200" marR="76200" marT="47625" marB="47625"/>
                </a:tc>
              </a:tr>
            </a:tbl>
          </a:graphicData>
        </a:graphic>
      </p:graphicFrame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5C4D6E4-27FE-4D99-9392-E906DEC608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4905375"/>
            <a:ext cx="10972800" cy="857250"/>
          </a:xfrm>
          <a:prstGeom xmlns:a="http://schemas.openxmlformats.org/drawingml/2006/main" prst="roundRect">
            <a:avLst>
              <a:gd name="adj" fmla="val 8889"/>
            </a:avLst>
          </a:prstGeom>
          <a:solidFill xmlns:a="http://schemas.openxmlformats.org/drawingml/2006/main">
            <a:srgbClr val="E8F3FF"/>
          </a:solidFill>
          <a:ln xmlns:a="http://schemas.openxmlformats.org/drawingml/2006/main" w="0">
            <a:noFill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4312732-83A1-47D0-8EA2-4D71531F2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133975"/>
            <a:ext cx="138112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69697"/>
          </a:bodyPr>
          <a:lstStyle xmlns:a="http://schemas.openxmlformats.org/drawingml/2006/main"/>
          <a:p xmlns:a="http://schemas.openxmlformats.org/drawingml/2006/main">
            <a:pPr algn="l">
              <a:buNone/>
              <a:def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65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PATH-v0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B2E100C-9CC1-47D2-9C5A-18CA56C16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448300"/>
            <a:ext cx="40005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3846"/>
          </a:bodyPr>
          <a:lstStyle xmlns:a="http://schemas.openxmlformats.org/drawingml/2006/main"/>
          <a:p xmlns:a="http://schemas.openxmlformats.org/drawingml/2006/main">
            <a:pPr algn="l">
              <a:buNone/>
              <a:def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Purpose-Aware Transit-constrained Heuristic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EE3773-AF82-41B0-9207-FE9224FDF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143500"/>
            <a:ext cx="533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016"/>
          </a:bodyPr>
          <a:lstStyle xmlns:a="http://schemas.openxmlformats.org/drawingml/2006/main"/>
          <a:p xmlns:a="http://schemas.openxmlformats.org/drawingml/2006/main">
            <a:pPr algn="l">
              <a:buNone/>
              <a:def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575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점수 = 목적별 점포·시설 신호 70% + 직전 분기 소비 신호 30%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81084B-E446-4A2B-AF66-98B1F0284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5476875"/>
            <a:ext cx="533400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0000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26개 공식 상권의 목적별 피처를 비교한다. 동시점 매출은 설명용으로 분리하고, PATH-v0는 B078 학습모형과 비교할 투명한 기준선으로 둔다.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6A11AC6-E866-4299-BA33-E942729FE3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A6EC082-FB52-411F-8976-AAD8A3A60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10 / 11</a:t>
            </a:r>
          </a:p>
        </p:txBody>
      </p:sp>
    </p:spTree>
    <p:extLst>
      <p:ext uri="{BB962C8B-B14F-4D97-AF65-F5344CB8AC3E}">
        <p14:creationId xmlns:p14="http://schemas.microsoft.com/office/powerpoint/2010/main" val="1264206197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B1F3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7C44DD1-F2DB-4916-924A-A86E7FA39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85800"/>
            <a:ext cx="400050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583"/>
          </a:bodyPr>
          <a:lstStyle xmlns:a="http://schemas.openxmlformats.org/drawingml/2006/main"/>
          <a:p xmlns:a="http://schemas.openxmlformats.org/drawingml/2006/main">
            <a:pPr algn="l">
              <a:buNone/>
              <a:def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24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다음 분석 단계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43008C1-5E9A-475C-83F3-2DF088FF7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27635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1295B3E-93EC-40DF-948F-E1C09787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609725"/>
            <a:ext cx="9144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702"/>
          </a:bodyPr>
          <a:lstStyle xmlns:a="http://schemas.openxmlformats.org/drawingml/2006/main"/>
          <a:p xmlns:a="http://schemas.openxmlformats.org/drawingml/2006/main">
            <a:pPr algn="l">
              <a:buNone/>
              <a:def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425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26개 공식 상권 후보와 목적별 피처를 기준선으로 두고, B078 목적지 선택모형으로 확장한다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18168CC-A8D5-47A2-84F3-C36D8411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4C51A81-01BB-48EF-9B1F-F34574336C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287AA11-49E0-45DF-8CF8-4E35329AB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4EEFDC-4454-46FB-A043-9D6A729E6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공식 상권 26개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F3338-4520-493E-B839-F8F04189C5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11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25% 탐색 생활권에서 골목·발달·시장 단위로 세분화 완료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630D36A-30A4-4BBC-9A8C-79E1D2DC21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693A759-77F9-4ED0-9AFA-FD4AC9168C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C3F44BA-8317-4E72-80E0-07BCB3F314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E76FB3-14AF-406C-BF23-58640695D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B078 전체 원본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3A192A5-9B94-43F7-BDF8-1574A489C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08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250m OD를 행정동·상권·시간·목적으로 집계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5B98D1-BFE6-4F2A-8AB3-BEFFD0341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476500"/>
            <a:ext cx="2400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3C08F53-4494-429C-9550-8CCAF2AC2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1348A0F-F2E6-480E-B939-FEBD151C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D286A50-187E-4ADF-BEEA-FA9CD0134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124200"/>
            <a:ext cx="1981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Choice set 생성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B62E10-D35D-4673-AA6E-22DB5106CE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457575"/>
            <a:ext cx="1981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3729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출발지 조건별 30분 내 공식 상권 후보 생성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BF91CAC-4884-4C63-8097-1F90168CC2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476500"/>
            <a:ext cx="2781300" cy="1447800"/>
          </a:xfrm>
          <a:prstGeom xmlns:a="http://schemas.openxmlformats.org/drawingml/2006/main" prst="roundRect">
            <a:avLst>
              <a:gd name="adj" fmla="val 5263"/>
            </a:avLst>
          </a:prstGeom>
          <a:solidFill xmlns:a="http://schemas.openxmlformats.org/drawingml/2006/main">
            <a:srgbClr val="F5F9FE"/>
          </a:solidFill>
          <a:ln xmlns:a="http://schemas.openxmlformats.org/drawingml/2006/main" w="0">
            <a:noFill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6DDBD6B-FB2D-4798-B230-9638D3544B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676525"/>
            <a:ext cx="285750" cy="285750"/>
          </a:xfrm>
          <a:prstGeom xmlns:a="http://schemas.openxmlformats.org/drawingml/2006/main" prst="roundRect">
            <a:avLst>
              <a:gd name="adj" fmla="val 26667"/>
            </a:avLst>
          </a:prstGeom>
          <a:solidFill xmlns:a="http://schemas.openxmlformats.org/drawingml/2006/main">
            <a:srgbClr val="3182F6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9486B3B-56F9-4809-84B0-79AB4E374C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2752725"/>
            <a:ext cx="285750" cy="133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33333"/>
          </a:bodyPr>
          <a:lstStyle xmlns:a="http://schemas.openxmlformats.org/drawingml/2006/main"/>
          <a:p xmlns:a="http://schemas.openxmlformats.org/drawingml/2006/main">
            <a:pPr algn="ctr">
              <a:buNone/>
              <a:def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825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56ADF95-1D4B-4C58-9B89-0AF1D3FD2A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124200"/>
            <a:ext cx="2362200" cy="2571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0555"/>
          </a:bodyPr>
          <a:lstStyle xmlns:a="http://schemas.openxmlformats.org/drawingml/2006/main"/>
          <a:p xmlns:a="http://schemas.openxmlformats.org/drawingml/2006/main">
            <a:pPr algn="l">
              <a:buNone/>
              <a:def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350" b="1">
                <a:solidFill>
                  <a:srgbClr val="0B1F33"/>
                </a:solidFill>
                <a:latin typeface="Apple SD Gothic Neo"/>
                <a:ea typeface="Apple SD Gothic Neo"/>
                <a:cs typeface="Apple SD Gothic Neo"/>
              </a:rPr>
              <a:t>학습·설명·검증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6DD7527-8E59-4897-8F76-FDC5E2F0E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20100" y="3457575"/>
            <a:ext cx="23622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337"/>
          </a:bodyPr>
          <a:lstStyle xmlns:a="http://schemas.openxmlformats.org/drawingml/2006/main"/>
          <a:p xmlns:a="http://schemas.openxmlformats.org/drawingml/2006/main">
            <a:pPr algn="l">
              <a:buNone/>
              <a:def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0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Conditional Logit · LightGBM · CatBoost · SHAP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0C86C20-4360-4403-BE3E-2E9874AB8E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000625"/>
            <a:ext cx="10972800" cy="723900"/>
          </a:xfrm>
          <a:prstGeom xmlns:a="http://schemas.openxmlformats.org/drawingml/2006/main" prst="roundRect">
            <a:avLst>
              <a:gd name="adj" fmla="val 10526"/>
            </a:avLst>
          </a:prstGeom>
          <a:solidFill xmlns:a="http://schemas.openxmlformats.org/drawingml/2006/main">
            <a:srgbClr val="102C48"/>
          </a:solidFill>
          <a:ln xmlns:a="http://schemas.openxmlformats.org/drawingml/2006/main" w="0">
            <a:noFill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DE1C1D04-02D9-4635-8FCC-3B68C614D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19700"/>
            <a:ext cx="9525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1">
                <a:solidFill>
                  <a:srgbClr val="FEE500"/>
                </a:solidFill>
                <a:latin typeface="Apple SD Gothic Neo"/>
                <a:ea typeface="Apple SD Gothic Neo"/>
                <a:cs typeface="Apple SD Gothic Neo"/>
              </a:rPr>
              <a:t>비교 기준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E6A938F-51CC-4556-9282-85916CCC28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57375" y="5191125"/>
            <a:ext cx="9239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9728"/>
          </a:bodyPr>
          <a:lstStyle xmlns:a="http://schemas.openxmlformats.org/drawingml/2006/main"/>
          <a:p xmlns:a="http://schemas.openxmlformats.org/drawingml/2006/main">
            <a:pPr algn="l">
              <a:buNone/>
              <a:def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200" b="1">
                <a:solidFill>
                  <a:srgbClr val="FFFFFF"/>
                </a:solidFill>
                <a:latin typeface="Apple SD Gothic Neo"/>
                <a:ea typeface="Apple SD Gothic Neo"/>
                <a:cs typeface="Apple SD Gothic Neo"/>
              </a:rPr>
              <a:t>이동시간 최단순, 전체 인기순, PATH-v0, 학습 순위모형을 같은 출발지 조건에서 비교한다. Recall@5·NDCG@5·MRR과 paired bootstrap 95% CI로 차이를 검증한다.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21E175C-BA28-4C01-8124-DD17A37486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048375"/>
            <a:ext cx="10668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buNone/>
              <a:def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1050" b="0">
                <a:solidFill>
                  <a:srgbClr val="DCEBFA"/>
                </a:solidFill>
                <a:latin typeface="Apple SD Gothic Neo"/>
                <a:ea typeface="Apple SD Gothic Neo"/>
                <a:cs typeface="Apple SD Gothic Neo"/>
              </a:rPr>
              <a:t>현재 산출물: 334개 출발지, 시간대별 교통망, 204개 탐색 행정동, 26개 공식 상권 후보, 목적별 점포·매출 피처, PATH-v0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9B7491-1702-4DBC-80DA-EBC62A732F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486525"/>
            <a:ext cx="2952750" cy="152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59259"/>
          </a:bodyPr>
          <a:lstStyle xmlns:a="http://schemas.openxmlformats.org/drawingml/2006/main"/>
          <a:p xmlns:a="http://schemas.openxmlformats.org/drawingml/2006/main">
            <a:pPr algn="l">
              <a:buNone/>
              <a:def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675" b="1">
                <a:solidFill>
                  <a:srgbClr val="6B7684"/>
                </a:solidFill>
                <a:latin typeface="Apple SD Gothic Neo"/>
                <a:ea typeface="Apple SD Gothic Neo"/>
                <a:cs typeface="Apple SD Gothic Neo"/>
              </a:rPr>
              <a:t>MAXIMUS  /  TRANSIT × COMMERCIAL ANALYTICS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34A9DDEA-39B4-47E1-AFA6-2077E67029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763250" y="6429375"/>
            <a:ext cx="8191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6111"/>
          </a:bodyPr>
          <a:lstStyle xmlns:a="http://schemas.openxmlformats.org/drawingml/2006/main"/>
          <a:p xmlns:a="http://schemas.openxmlformats.org/drawingml/2006/main">
            <a:pPr algn="r">
              <a:buNone/>
              <a:def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defRPr>
            </a:pPr>
            <a:r>
              <a:rPr sz="900" b="1">
                <a:solidFill>
                  <a:srgbClr val="3182F6"/>
                </a:solidFill>
                <a:latin typeface="Apple SD Gothic Neo"/>
                <a:ea typeface="Apple SD Gothic Neo"/>
                <a:cs typeface="Apple SD Gothic Neo"/>
              </a:rPr>
              <a:t>11 / 11</a:t>
            </a:r>
          </a:p>
        </p:txBody>
      </p:sp>
    </p:spTree>
    <p:extLst>
      <p:ext uri="{BB962C8B-B14F-4D97-AF65-F5344CB8AC3E}">
        <p14:creationId xmlns:p14="http://schemas.microsoft.com/office/powerpoint/2010/main" val="1399506940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2026-09-09T04:55:46.8800000Z</dcterms:created>
  <dcterms:modified xsi:type="dcterms:W3CDTF">2026-09-09T04:55:46.8800000Z</dcterms:modified>
</coreProperties>
</file>